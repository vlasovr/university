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Начать с ограничения: Apple не раскрывает полную внутреннюю микроархитектуру, поэтому доклад строится на публичных характеристиках и общих принципах ARM/SoC.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Важно разделить ISA и микроархитектуру: ARM/AArch64 — набор команд, Apple M5 Max — конкретная реализация.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не надо углубляться в маркетинг; сказать только, что Max — старший вариант с большим GPU и памятью.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 рисунку пояснить: CPU, GPU, Neural Engine, media/security/I/O взаимодействуют через общую память и системную фабрику.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Сказать, что exact-параметры Apple не раскрывает, но классическая схема high-performance ARM-ядер включает фронтенд, rename, планировщики, execution units и retire.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Объяснить pipeline как конвейер: каждый этап обрабатывает свою часть, а параллелизм достигается за счет потока микроопераций.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Связать с лабораторными: кэш, локальность, ассоциативность и порядок обхода массивов напрямую влияют на время выполнения.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 графику сказать: Max нужен не только ради ядер, но и ради широкой подсистемы памяти.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слайда — показать, что в современном SoC вычисления распределены по блокам.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привязать к предмету и лабам: измерение времени в Release, кэш-локальность, векторизация и матричные вычисления.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Финальный слайд удобно использовать как план ответа.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sleek_high_tech_promotional_concept_illustrat_batch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126480" cy="6858000"/>
          </a:xfrm>
          <a:prstGeom prst="rect">
            <a:avLst/>
          </a:prstGeom>
          <a:solidFill>
            <a:srgbClr val="06101F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960120"/>
            <a:ext cx="73152" cy="4023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9808" y="960120"/>
            <a:ext cx="5303520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M5 Max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микроархитектура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86384" y="2670048"/>
            <a:ext cx="52120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ARM/AArch64 • SoC • память • ускорители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86384" y="3840480"/>
            <a:ext cx="219456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" y="4114800"/>
            <a:ext cx="52120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Контрольная работа — презентация к докладу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значит «микроархитектура»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 описывает команды, микроархитектура — как процессор их реально выполняет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M5 Max: микроархитектура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22960" y="1371600"/>
            <a:ext cx="3200400" cy="1325880"/>
          </a:xfrm>
          <a:prstGeom prst="rect">
            <a:avLst/>
          </a:prstGeom>
          <a:solidFill>
            <a:srgbClr val="15233F"/>
          </a:solidFill>
          <a:ln w="12700">
            <a:solidFill>
              <a:srgbClr val="38BDF8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видно программе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AArch64, регистры, команды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35424" y="189280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257800" y="1371600"/>
            <a:ext cx="3200400" cy="1325880"/>
          </a:xfrm>
          <a:prstGeom prst="rect">
            <a:avLst/>
          </a:prstGeom>
          <a:solidFill>
            <a:srgbClr val="15233F"/>
          </a:solidFill>
          <a:ln w="12700">
            <a:solidFill>
              <a:srgbClr val="10B981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Микроархитектура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это выполняется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конвейер, OoO, кэши, предсказание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901684" y="189280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555480" y="1371600"/>
            <a:ext cx="1920240" cy="1325880"/>
          </a:xfrm>
          <a:prstGeom prst="rect">
            <a:avLst/>
          </a:prstGeom>
          <a:solidFill>
            <a:srgbClr val="15233F"/>
          </a:solidFill>
          <a:ln w="12700">
            <a:solidFill>
              <a:srgbClr val="F59E0B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система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+ GPU + NPU + память + I/O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14400" y="3749040"/>
            <a:ext cx="987552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команда может внутри распадаться на микрооперации</a:t>
            </a:r>
            <a:pPr indent="0" marL="0">
              <a:buNone/>
            </a:pPr>
            <a:r>
              <a:rPr lang="en-US" sz="16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 зависит от фронтенда, backend, кэшей и памяти</a:t>
            </a:r>
            <a:pPr indent="0" marL="0">
              <a:buNone/>
            </a:pPr>
            <a:r>
              <a:rPr lang="en-US" sz="16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M5 Max важна не только CPU-часть, но и ускорители на одном кристалле/пакете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Семейство Apple M5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архитектурная идея масштабируется от базового M5 до M5 Max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M5 Max: микроархитектура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68680" y="1417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057400" y="1417320"/>
            <a:ext cx="19202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10-core CPU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069080" y="1417320"/>
            <a:ext cx="19202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10-core GPU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080760" y="1417320"/>
            <a:ext cx="12801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 ГБ/с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635240" y="1463040"/>
            <a:ext cx="754380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25877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Pro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057400" y="2587752"/>
            <a:ext cx="19202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18-core CPU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069080" y="2587752"/>
            <a:ext cx="19202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20-core GPU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080760" y="2587752"/>
            <a:ext cx="12801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307 ГБ/с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635240" y="2633472"/>
            <a:ext cx="150876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37581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Max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2057400" y="3758184"/>
            <a:ext cx="19202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18-core CPU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069080" y="3758184"/>
            <a:ext cx="19202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32/40-core GPU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080760" y="3758184"/>
            <a:ext cx="12801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460/614 ГБ/с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635240" y="3803904"/>
            <a:ext cx="301752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14400" y="5166360"/>
            <a:ext cx="54864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78992" y="5166360"/>
            <a:ext cx="1007668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темы микроархитектуры важно: M5 Max — не «отдельный компьютер», а SoC с общей памятью и специализированными вычислительными блоками.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30352" y="6099048"/>
            <a:ext cx="10972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Apple Newsroom 2026 · Apple Support Tech Specs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Max как SoC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— только один из блоков общей системы на кристалле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M5 Max: микроархитектура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4/11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49808" y="1143000"/>
            <a:ext cx="10652760" cy="3931920"/>
          </a:xfrm>
          <a:prstGeom prst="roundRect">
            <a:avLst>
              <a:gd name="adj" fmla="val 2791"/>
            </a:avLst>
          </a:prstGeom>
          <a:solidFill>
            <a:srgbClr val="F8FAFC"/>
          </a:solidFill>
          <a:ln w="8890">
            <a:solidFill>
              <a:srgbClr val="CAD5E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/mnt/data/extracted_doc_images/apple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2848" y="1252728"/>
            <a:ext cx="6326680" cy="3712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5413248"/>
            <a:ext cx="105156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SoC-подход уменьшает задержки обмена между блоками и снижает копирование данных между CPU, GPU и ускорителями.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CPU-подсистема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гетерогенные ядра + внеочередное выполнение + широкая работа с памятью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M5 Max: микроархитектура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5/11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13232" y="1143000"/>
            <a:ext cx="10789920" cy="1965960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8890">
            <a:solidFill>
              <a:srgbClr val="CAD5E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/mnt/data/extracted_doc_images/apple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9305" y="1216152"/>
            <a:ext cx="5037773" cy="18196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2688" y="3520440"/>
            <a:ext cx="10058400" cy="1920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front-end: выборка инструкций, декодирование, предсказание ветвлений</a:t>
            </a:r>
            <a:pPr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back-end: переименование регистров, планировщики, ALU/FPU/Load-Store</a:t>
            </a:r>
            <a:pPr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OoO execution скрывает задержки, пока есть независимые инструкции</a:t>
            </a:r>
            <a:pPr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гетерогенные ядра позволяют балансировать производительность и энергопотребление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выполняется инструкция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упрощенный путь команды внутри высокопроизводительного ядра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M5 Max: микроархитектура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417320" y="22860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907792" y="22860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398264" y="22860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888736" y="22860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79208" y="22860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869680" y="22860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5800" y="1938528"/>
            <a:ext cx="1124712" cy="960120"/>
          </a:xfrm>
          <a:prstGeom prst="rect">
            <a:avLst/>
          </a:prstGeom>
          <a:solidFill>
            <a:srgbClr val="15233F"/>
          </a:solidFill>
          <a:ln w="12700">
            <a:solidFill>
              <a:srgbClr val="38BDF8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выборка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2176272" y="1938528"/>
            <a:ext cx="1124712" cy="960120"/>
          </a:xfrm>
          <a:prstGeom prst="rect">
            <a:avLst/>
          </a:prstGeom>
          <a:solidFill>
            <a:srgbClr val="15233F"/>
          </a:solidFill>
          <a:ln w="12700">
            <a:solidFill>
              <a:srgbClr val="38BDF8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ветвления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3666744" y="1938528"/>
            <a:ext cx="1124712" cy="960120"/>
          </a:xfrm>
          <a:prstGeom prst="rect">
            <a:avLst/>
          </a:prstGeom>
          <a:solidFill>
            <a:srgbClr val="15233F"/>
          </a:solidFill>
          <a:ln w="12700">
            <a:solidFill>
              <a:srgbClr val="38BDF8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декод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157216" y="1938528"/>
            <a:ext cx="1124712" cy="960120"/>
          </a:xfrm>
          <a:prstGeom prst="rect">
            <a:avLst/>
          </a:prstGeom>
          <a:solidFill>
            <a:srgbClr val="142642"/>
          </a:solidFill>
          <a:ln w="12700">
            <a:solidFill>
              <a:srgbClr val="10B981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регистры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647688" y="1938528"/>
            <a:ext cx="1124712" cy="960120"/>
          </a:xfrm>
          <a:prstGeom prst="rect">
            <a:avLst/>
          </a:prstGeom>
          <a:solidFill>
            <a:srgbClr val="142642"/>
          </a:solidFill>
          <a:ln w="12700">
            <a:solidFill>
              <a:srgbClr val="10B981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очереди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138160" y="1938528"/>
            <a:ext cx="1124712" cy="960120"/>
          </a:xfrm>
          <a:prstGeom prst="rect">
            <a:avLst/>
          </a:prstGeom>
          <a:solidFill>
            <a:srgbClr val="142642"/>
          </a:solidFill>
          <a:ln w="12700">
            <a:solidFill>
              <a:srgbClr val="10B981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ALU/FPU/LSU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628632" y="1938528"/>
            <a:ext cx="1124712" cy="960120"/>
          </a:xfrm>
          <a:prstGeom prst="rect">
            <a:avLst/>
          </a:prstGeom>
          <a:solidFill>
            <a:srgbClr val="142642"/>
          </a:solidFill>
          <a:ln w="12700">
            <a:solidFill>
              <a:srgbClr val="10B981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914400" y="3886200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78992" y="3886200"/>
            <a:ext cx="9893808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Конвейер ускоряет поток команд, но ветвления, промахи кэша и зависимости могут создавать простои.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143000" y="4983480"/>
            <a:ext cx="960120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предсказание ветвлений уменьшает паузы при if/циклах</a:t>
            </a:r>
            <a:pPr indent="0" marL="0">
              <a:buNone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переименование регистров убирает ложные зависимости</a:t>
            </a:r>
            <a:pPr indent="0" marL="0">
              <a:buNone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Load/Store-блоки связывают ядро с кэшами и памятью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Подсистема памяти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 часто ограничивается не ALU, а доступом к данным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M5 Max: микроархитектура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7/11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58952" y="1143000"/>
            <a:ext cx="5532120" cy="4297680"/>
          </a:xfrm>
          <a:prstGeom prst="roundRect">
            <a:avLst>
              <a:gd name="adj" fmla="val 2553"/>
            </a:avLst>
          </a:prstGeom>
          <a:solidFill>
            <a:srgbClr val="F8FAFC"/>
          </a:solidFill>
          <a:ln w="8890">
            <a:solidFill>
              <a:srgbClr val="CAD5E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/mnt/data/extracted_doc_images/apple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9581"/>
            <a:ext cx="5312664" cy="32845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29400" y="1417320"/>
            <a:ext cx="4572000" cy="3291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ближе уровень памяти к ядру, тем меньше задержка и объем</a:t>
            </a:r>
            <a:pPr indent="0" marL="0">
              <a:buNone/>
            </a:pPr>
            <a:r>
              <a:rPr lang="en-US" sz="16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20" dirty="0"/>
          </a:p>
          <a:p>
            <a:pPr marL="177800" indent="-177800">
              <a:buSzPct val="100000"/>
              <a:buChar char="•"/>
            </a:pPr>
            <a:r>
              <a:rPr lang="en-US" sz="16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memory — общий пул для CPU, GPU и ускорителей</a:t>
            </a:r>
            <a:pPr indent="0" marL="0">
              <a:buNone/>
            </a:pPr>
            <a:r>
              <a:rPr lang="en-US" sz="16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20" dirty="0"/>
          </a:p>
          <a:p>
            <a:pPr marL="177800" indent="-177800">
              <a:buSzPct val="100000"/>
              <a:buChar char="•"/>
            </a:pPr>
            <a:r>
              <a:rPr lang="en-US" sz="16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локальность данных важна для матриц, изображений и потоковой обработки</a:t>
            </a:r>
            <a:pPr indent="0" marL="0">
              <a:buNone/>
            </a:pPr>
            <a:r>
              <a:rPr lang="en-US" sz="16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20" dirty="0"/>
          </a:p>
          <a:p>
            <a:pPr marL="177800" indent="-177800">
              <a:buSzPct val="100000"/>
              <a:buChar char="•"/>
            </a:pPr>
            <a:r>
              <a:rPr lang="en-US" sz="16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копирование между блоками дороже, чем работа с общими буферами</a:t>
            </a:r>
            <a:endParaRPr lang="en-US" sz="1620" dirty="0"/>
          </a:p>
        </p:txBody>
      </p:sp>
      <p:sp>
        <p:nvSpPr>
          <p:cNvPr id="13" name="Shape 9"/>
          <p:cNvSpPr/>
          <p:nvPr/>
        </p:nvSpPr>
        <p:spPr>
          <a:xfrm>
            <a:off x="6629400" y="5074920"/>
            <a:ext cx="54864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793992" y="5074920"/>
            <a:ext cx="413308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программиста: алгоритм должен идти по памяти предсказуемо и блочно.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memory bandwidth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пропускная способность памяти влияет на CPU, GPU и AI-задачи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M5 Max: микроархитектура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8/11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77240" y="1234440"/>
            <a:ext cx="6766560" cy="4279392"/>
          </a:xfrm>
          <a:prstGeom prst="roundRect">
            <a:avLst>
              <a:gd name="adj" fmla="val 2564"/>
            </a:avLst>
          </a:prstGeom>
          <a:solidFill>
            <a:srgbClr val="F8FAFC"/>
          </a:solidFill>
          <a:ln w="8890">
            <a:solidFill>
              <a:srgbClr val="CAD5E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/mnt/data/extracted_doc_images/apple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85625"/>
            <a:ext cx="6583680" cy="33770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95528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ЭТО ДАЕТ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818120" y="1627632"/>
            <a:ext cx="3383280" cy="2468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8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крупные матрицы и изображения меньше упираются в копирование</a:t>
            </a:r>
            <a:pPr indent="0" marL="0">
              <a:buNone/>
            </a:pPr>
            <a:r>
              <a:rPr lang="en-US" sz="148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80" dirty="0"/>
          </a:p>
          <a:p>
            <a:pPr marL="177800" indent="-177800">
              <a:buSzPct val="100000"/>
              <a:buChar char="•"/>
            </a:pPr>
            <a:r>
              <a:rPr lang="en-US" sz="148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и Neural Engine могут работать с тем же пулом данных</a:t>
            </a:r>
            <a:pPr indent="0" marL="0">
              <a:buNone/>
            </a:pPr>
            <a:r>
              <a:rPr lang="en-US" sz="148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80" dirty="0"/>
          </a:p>
          <a:p>
            <a:pPr marL="177800" indent="-177800">
              <a:buSzPct val="100000"/>
              <a:buChar char="•"/>
            </a:pPr>
            <a:r>
              <a:rPr lang="en-US" sz="148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высокая bandwidth важна для видео, 3D, ML и многопоточности</a:t>
            </a:r>
            <a:pPr indent="0" marL="0">
              <a:buNone/>
            </a:pPr>
            <a:r>
              <a:rPr lang="en-US" sz="148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80" dirty="0"/>
          </a:p>
          <a:p>
            <a:pPr marL="177800" indent="-177800">
              <a:buSzPct val="100000"/>
              <a:buChar char="•"/>
            </a:pPr>
            <a:r>
              <a:rPr lang="en-US" sz="148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узкое место смещается к алгоритму и доступу к памяти</a:t>
            </a:r>
            <a:endParaRPr lang="en-US" sz="1480" dirty="0"/>
          </a:p>
        </p:txBody>
      </p:sp>
      <p:sp>
        <p:nvSpPr>
          <p:cNvPr id="14" name="Text 10"/>
          <p:cNvSpPr/>
          <p:nvPr/>
        </p:nvSpPr>
        <p:spPr>
          <a:xfrm>
            <a:off x="7818120" y="5074920"/>
            <a:ext cx="338328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Публичные данные: M5 Max — до 614 ГБ/с memory bandwidth.</a:t>
            </a:r>
            <a:endParaRPr lang="en-US" sz="1230" dirty="0"/>
          </a:p>
        </p:txBody>
      </p:sp>
      <p:sp>
        <p:nvSpPr>
          <p:cNvPr id="15" name="Text 11"/>
          <p:cNvSpPr/>
          <p:nvPr/>
        </p:nvSpPr>
        <p:spPr>
          <a:xfrm>
            <a:off x="530352" y="6099048"/>
            <a:ext cx="10972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Apple MacBook Pro Tech Specs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GPU, Neural Engine и Media Engine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специализированные блоки ускоряют разные типы параллелизма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M5 Max: микроархитектура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22960" y="1417320"/>
            <a:ext cx="3063240" cy="1417320"/>
          </a:xfrm>
          <a:prstGeom prst="rect">
            <a:avLst/>
          </a:prstGeom>
          <a:solidFill>
            <a:srgbClr val="15233F"/>
          </a:solidFill>
          <a:ln w="12700">
            <a:solidFill>
              <a:srgbClr val="38BDF8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 потоков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шейдеры, матрицы, графика, Metal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26280" y="1417320"/>
            <a:ext cx="3063240" cy="1417320"/>
          </a:xfrm>
          <a:prstGeom prst="rect">
            <a:avLst/>
          </a:prstGeom>
          <a:solidFill>
            <a:srgbClr val="15233F"/>
          </a:solidFill>
          <a:ln w="12700">
            <a:solidFill>
              <a:srgbClr val="7C3AED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Engine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тензорные операции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ML, инференс, INT/FP-вычисления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0" y="1417320"/>
            <a:ext cx="3063240" cy="1417320"/>
          </a:xfrm>
          <a:prstGeom prst="rect">
            <a:avLst/>
          </a:prstGeom>
          <a:solidFill>
            <a:srgbClr val="15233F"/>
          </a:solidFill>
          <a:ln w="12700">
            <a:solidFill>
              <a:srgbClr val="F59E0B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Engine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кодеки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H.264, HEVC, ProRes, AV1 decode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249424" y="32918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952744" y="32918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656064" y="32918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2960" y="3977640"/>
            <a:ext cx="3063240" cy="777240"/>
          </a:xfrm>
          <a:prstGeom prst="rect">
            <a:avLst/>
          </a:prstGeom>
          <a:solidFill>
            <a:srgbClr val="111C33"/>
          </a:solidFill>
          <a:ln w="12700">
            <a:solidFill>
              <a:srgbClr val="38BDF8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одинаковые операции над большими массивами данных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26280" y="3977640"/>
            <a:ext cx="3063240" cy="777240"/>
          </a:xfrm>
          <a:prstGeom prst="rect">
            <a:avLst/>
          </a:prstGeom>
          <a:solidFill>
            <a:srgbClr val="111C33"/>
          </a:solidFill>
          <a:ln w="12700">
            <a:solidFill>
              <a:srgbClr val="7C3AED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нейросетевые слои и матричные умножения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229600" y="3977640"/>
            <a:ext cx="3063240" cy="777240"/>
          </a:xfrm>
          <a:prstGeom prst="rect">
            <a:avLst/>
          </a:prstGeom>
          <a:solidFill>
            <a:srgbClr val="111C33"/>
          </a:solidFill>
          <a:ln w="12700">
            <a:solidFill>
              <a:srgbClr val="F59E0B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аппаратное кодирование/декодирование видео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1051560" y="5303520"/>
            <a:ext cx="54864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16152" y="5303520"/>
            <a:ext cx="971092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SoC: выбирать блок под задачу, а не выполнять всё универсальными CPU-ядрами.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Практический взгляд программиста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писать и измерять код для такой архитектуры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M5 Max: микроархитектура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14400" y="1325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ОПТИМИЗАЦИЯ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14400" y="1691640"/>
            <a:ext cx="4846320" cy="1737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использовать векторизацию компилятора и SIMD-библиотеки</a:t>
            </a:r>
            <a:pPr indent="0" marL="0">
              <a:buNone/>
            </a:pPr>
            <a:r>
              <a:rPr lang="en-US" sz="16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20" dirty="0"/>
          </a:p>
          <a:p>
            <a:pPr marL="177800" indent="-177800">
              <a:buSzPct val="100000"/>
              <a:buChar char="•"/>
            </a:pPr>
            <a:r>
              <a:rPr lang="en-US" sz="16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матриц — блочный обход и Accelerate/BLAS</a:t>
            </a:r>
            <a:pPr indent="0" marL="0">
              <a:buNone/>
            </a:pPr>
            <a:r>
              <a:rPr lang="en-US" sz="16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20" dirty="0"/>
          </a:p>
          <a:p>
            <a:pPr marL="177800" indent="-177800">
              <a:buSzPct val="100000"/>
              <a:buChar char="•"/>
            </a:pPr>
            <a:r>
              <a:rPr lang="en-US" sz="16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GPU — Metal/Compute kernels, когда задача массово параллельная</a:t>
            </a:r>
            <a:endParaRPr lang="en-US" sz="1620" dirty="0"/>
          </a:p>
        </p:txBody>
      </p:sp>
      <p:sp>
        <p:nvSpPr>
          <p:cNvPr id="12" name="Text 9"/>
          <p:cNvSpPr/>
          <p:nvPr/>
        </p:nvSpPr>
        <p:spPr>
          <a:xfrm>
            <a:off x="6446520" y="1325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ЭКСПЕРИМЕНТ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46520" y="1691640"/>
            <a:ext cx="4663440" cy="1737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измерять ключевые участки в Release</a:t>
            </a:r>
            <a:pPr indent="0" marL="0">
              <a:buNone/>
            </a:pPr>
            <a:r>
              <a:rPr lang="en-US" sz="16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20" dirty="0"/>
          </a:p>
          <a:p>
            <a:pPr marL="177800" indent="-177800">
              <a:buSzPct val="100000"/>
              <a:buChar char="•"/>
            </a:pPr>
            <a:r>
              <a:rPr lang="en-US" sz="16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использовать clock()/time() для точных замеров</a:t>
            </a:r>
            <a:pPr indent="0" marL="0">
              <a:buNone/>
            </a:pPr>
            <a:r>
              <a:rPr lang="en-US" sz="16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20" dirty="0"/>
          </a:p>
          <a:p>
            <a:pPr marL="177800" indent="-177800">
              <a:buSzPct val="100000"/>
              <a:buChar char="•"/>
            </a:pPr>
            <a:r>
              <a:rPr lang="en-US" sz="16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сравнивать алгоритмы на одинаковых данных и прогревать кэши</a:t>
            </a:r>
            <a:endParaRPr lang="en-US" sz="1620" dirty="0"/>
          </a:p>
        </p:txBody>
      </p:sp>
      <p:sp>
        <p:nvSpPr>
          <p:cNvPr id="14" name="Shape 11"/>
          <p:cNvSpPr/>
          <p:nvPr/>
        </p:nvSpPr>
        <p:spPr>
          <a:xfrm>
            <a:off x="960120" y="4343400"/>
            <a:ext cx="54864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24712" y="4343400"/>
            <a:ext cx="998524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процессор не спасает алгоритм, который случайно ходит по памяти и постоянно промахивается по кэшу.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87552" y="5486400"/>
            <a:ext cx="99669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Связь с лабораторными: векторизация, матричное умножение, кэш-память, порядок обхода массивов, корректное измерение времени.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Коротко для защиты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самые важные тезисы по Apple M5 Max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M5 Max: микроархитектура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005840" y="1325880"/>
            <a:ext cx="9875520" cy="3063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M5 Max — ARM/AArch64 SoC, а не только CPU</a:t>
            </a:r>
            <a:pPr indent="0" marL="0">
              <a:buNone/>
            </a:pPr>
            <a:r>
              <a:rPr lang="en-US" sz="18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использует гетерогенные ядра, конвейер и внеочередное выполнение</a:t>
            </a:r>
            <a:pPr indent="0" marL="0">
              <a:buNone/>
            </a:pPr>
            <a:r>
              <a:rPr lang="en-US" sz="18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memory уменьшает копирование данных между CPU/GPU/ускорителями</a:t>
            </a:r>
            <a:pPr indent="0" marL="0">
              <a:buNone/>
            </a:pPr>
            <a:r>
              <a:rPr lang="en-US" sz="18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GPU, Neural Engine и Media Engine ускоряют специализированные классы задач</a:t>
            </a:r>
            <a:pPr indent="0" marL="0">
              <a:buNone/>
            </a:pPr>
            <a:r>
              <a:rPr lang="en-US" sz="18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 зависит от локальности памяти, векторизации и корректного измерения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005840" y="4937760"/>
            <a:ext cx="54864" cy="73152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4937760"/>
            <a:ext cx="971092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вывод: сила M5 Max — в связке CPU, памяти и специализированных блоков внутри единой SoC.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30352" y="6099048"/>
            <a:ext cx="10972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Apple Newsroom · Apple Support: MacBook Pro Tech Specs · материалы лабораторных по векторизации и кэшу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Apple M5 Max: микроархитектура</dc:title>
  <dc:subject>Apple M5 Max: микроархитектура</dc:subject>
  <dc:creator>OpenAI</dc:creator>
  <cp:lastModifiedBy>OpenAI</cp:lastModifiedBy>
  <cp:revision>1</cp:revision>
  <dcterms:created xsi:type="dcterms:W3CDTF">2026-06-10T11:40:29Z</dcterms:created>
  <dcterms:modified xsi:type="dcterms:W3CDTF">2026-06-10T11:40:29Z</dcterms:modified>
</cp:coreProperties>
</file>