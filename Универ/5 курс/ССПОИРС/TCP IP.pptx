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31" r:id="rId48"/>
    <p:sldId id="333" r:id="rId49"/>
    <p:sldId id="334" r:id="rId50"/>
    <p:sldId id="335" r:id="rId51"/>
    <p:sldId id="336" r:id="rId52"/>
    <p:sldId id="337" r:id="rId53"/>
    <p:sldId id="338" r:id="rId54"/>
    <p:sldId id="346" r:id="rId55"/>
    <p:sldId id="347" r:id="rId56"/>
    <p:sldId id="348" r:id="rId57"/>
    <p:sldId id="349" r:id="rId58"/>
    <p:sldId id="350" r:id="rId59"/>
    <p:sldId id="351" r:id="rId60"/>
    <p:sldId id="345" r:id="rId61"/>
    <p:sldId id="339" r:id="rId62"/>
    <p:sldId id="340" r:id="rId63"/>
    <p:sldId id="341" r:id="rId64"/>
    <p:sldId id="342" r:id="rId65"/>
    <p:sldId id="343" r:id="rId66"/>
    <p:sldId id="344" r:id="rId67"/>
    <p:sldId id="352" r:id="rId68"/>
    <p:sldId id="353" r:id="rId69"/>
    <p:sldId id="354" r:id="rId70"/>
    <p:sldId id="355" r:id="rId71"/>
    <p:sldId id="356" r:id="rId72"/>
    <p:sldId id="357" r:id="rId73"/>
    <p:sldId id="358" r:id="rId74"/>
    <p:sldId id="359" r:id="rId75"/>
    <p:sldId id="360" r:id="rId76"/>
    <p:sldId id="361" r:id="rId77"/>
    <p:sldId id="362" r:id="rId78"/>
    <p:sldId id="363" r:id="rId79"/>
    <p:sldId id="364" r:id="rId80"/>
    <p:sldId id="365" r:id="rId81"/>
    <p:sldId id="366" r:id="rId82"/>
    <p:sldId id="367" r:id="rId83"/>
    <p:sldId id="368" r:id="rId84"/>
    <p:sldId id="369" r:id="rId85"/>
    <p:sldId id="370" r:id="rId86"/>
    <p:sldId id="371" r:id="rId87"/>
    <p:sldId id="386" r:id="rId88"/>
    <p:sldId id="385" r:id="rId89"/>
    <p:sldId id="372" r:id="rId90"/>
    <p:sldId id="388" r:id="rId91"/>
    <p:sldId id="395" r:id="rId92"/>
    <p:sldId id="394" r:id="rId93"/>
    <p:sldId id="389" r:id="rId94"/>
    <p:sldId id="387" r:id="rId95"/>
    <p:sldId id="390" r:id="rId96"/>
    <p:sldId id="391" r:id="rId97"/>
    <p:sldId id="392" r:id="rId98"/>
    <p:sldId id="393" r:id="rId99"/>
    <p:sldId id="373" r:id="rId100"/>
    <p:sldId id="374" r:id="rId101"/>
    <p:sldId id="375" r:id="rId102"/>
    <p:sldId id="376" r:id="rId103"/>
    <p:sldId id="377" r:id="rId104"/>
    <p:sldId id="378" r:id="rId105"/>
    <p:sldId id="379" r:id="rId106"/>
    <p:sldId id="380" r:id="rId107"/>
    <p:sldId id="381" r:id="rId108"/>
    <p:sldId id="382" r:id="rId109"/>
    <p:sldId id="383" r:id="rId110"/>
    <p:sldId id="384" r:id="rId111"/>
    <p:sldId id="396" r:id="rId112"/>
    <p:sldId id="397" r:id="rId113"/>
    <p:sldId id="398" r:id="rId114"/>
    <p:sldId id="399" r:id="rId115"/>
    <p:sldId id="400" r:id="rId116"/>
    <p:sldId id="401" r:id="rId117"/>
    <p:sldId id="402" r:id="rId118"/>
    <p:sldId id="403" r:id="rId119"/>
    <p:sldId id="404" r:id="rId120"/>
    <p:sldId id="405" r:id="rId121"/>
    <p:sldId id="406" r:id="rId122"/>
    <p:sldId id="407" r:id="rId123"/>
    <p:sldId id="408" r:id="rId124"/>
    <p:sldId id="409" r:id="rId125"/>
    <p:sldId id="410" r:id="rId126"/>
    <p:sldId id="411" r:id="rId127"/>
    <p:sldId id="412" r:id="rId128"/>
    <p:sldId id="413" r:id="rId129"/>
    <p:sldId id="414" r:id="rId130"/>
    <p:sldId id="415" r:id="rId131"/>
    <p:sldId id="416" r:id="rId132"/>
    <p:sldId id="417" r:id="rId133"/>
    <p:sldId id="418" r:id="rId134"/>
    <p:sldId id="419" r:id="rId135"/>
    <p:sldId id="420" r:id="rId136"/>
    <p:sldId id="421" r:id="rId137"/>
    <p:sldId id="422" r:id="rId138"/>
    <p:sldId id="423" r:id="rId139"/>
    <p:sldId id="424" r:id="rId140"/>
    <p:sldId id="425" r:id="rId141"/>
    <p:sldId id="426" r:id="rId142"/>
    <p:sldId id="427" r:id="rId143"/>
    <p:sldId id="428" r:id="rId144"/>
    <p:sldId id="429" r:id="rId145"/>
    <p:sldId id="430" r:id="rId146"/>
    <p:sldId id="431" r:id="rId147"/>
    <p:sldId id="432" r:id="rId148"/>
    <p:sldId id="433" r:id="rId149"/>
    <p:sldId id="434" r:id="rId150"/>
    <p:sldId id="435" r:id="rId151"/>
    <p:sldId id="436" r:id="rId152"/>
    <p:sldId id="437" r:id="rId153"/>
    <p:sldId id="438" r:id="rId154"/>
    <p:sldId id="439" r:id="rId155"/>
    <p:sldId id="440" r:id="rId156"/>
    <p:sldId id="441" r:id="rId157"/>
    <p:sldId id="442" r:id="rId158"/>
    <p:sldId id="444" r:id="rId159"/>
    <p:sldId id="445" r:id="rId160"/>
    <p:sldId id="446" r:id="rId161"/>
    <p:sldId id="448" r:id="rId162"/>
    <p:sldId id="449" r:id="rId163"/>
    <p:sldId id="332" r:id="rId164"/>
    <p:sldId id="303" r:id="rId165"/>
    <p:sldId id="304" r:id="rId166"/>
    <p:sldId id="305" r:id="rId167"/>
    <p:sldId id="306" r:id="rId168"/>
    <p:sldId id="307" r:id="rId169"/>
    <p:sldId id="326" r:id="rId170"/>
    <p:sldId id="327" r:id="rId171"/>
    <p:sldId id="328" r:id="rId172"/>
    <p:sldId id="329" r:id="rId173"/>
    <p:sldId id="330" r:id="rId174"/>
    <p:sldId id="308" r:id="rId175"/>
    <p:sldId id="309" r:id="rId176"/>
    <p:sldId id="310" r:id="rId177"/>
    <p:sldId id="311" r:id="rId178"/>
    <p:sldId id="312" r:id="rId179"/>
    <p:sldId id="313" r:id="rId180"/>
    <p:sldId id="314" r:id="rId181"/>
    <p:sldId id="315" r:id="rId182"/>
    <p:sldId id="316" r:id="rId183"/>
    <p:sldId id="317" r:id="rId184"/>
    <p:sldId id="318" r:id="rId185"/>
    <p:sldId id="319" r:id="rId186"/>
    <p:sldId id="320" r:id="rId187"/>
    <p:sldId id="321" r:id="rId188"/>
    <p:sldId id="322" r:id="rId189"/>
    <p:sldId id="323" r:id="rId190"/>
    <p:sldId id="324" r:id="rId191"/>
    <p:sldId id="325" r:id="rId1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43" autoAdjust="0"/>
    <p:restoredTop sz="94660"/>
  </p:normalViewPr>
  <p:slideViewPr>
    <p:cSldViewPr snapToGrid="0">
      <p:cViewPr varScale="1">
        <p:scale>
          <a:sx n="85" d="100"/>
          <a:sy n="85" d="100"/>
        </p:scale>
        <p:origin x="595"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presProps" Target="presProps.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theme" Target="theme/theme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tableStyles" Target="tableStyle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C56CD5E-1FF8-4A31-B9A6-771A148E0DE5}"/>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a:p>
        </p:txBody>
      </p:sp>
      <p:sp>
        <p:nvSpPr>
          <p:cNvPr id="3" name="Подзаголовок 2">
            <a:extLst>
              <a:ext uri="{FF2B5EF4-FFF2-40B4-BE49-F238E27FC236}">
                <a16:creationId xmlns:a16="http://schemas.microsoft.com/office/drawing/2014/main" id="{2B3975BA-4B17-4BB7-AEAD-BB76D33686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a:p>
        </p:txBody>
      </p:sp>
      <p:sp>
        <p:nvSpPr>
          <p:cNvPr id="4" name="Дата 3">
            <a:extLst>
              <a:ext uri="{FF2B5EF4-FFF2-40B4-BE49-F238E27FC236}">
                <a16:creationId xmlns:a16="http://schemas.microsoft.com/office/drawing/2014/main" id="{1EE31FA9-73E0-4494-B346-A8A8BD1B9791}"/>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5" name="Нижний колонтитул 4">
            <a:extLst>
              <a:ext uri="{FF2B5EF4-FFF2-40B4-BE49-F238E27FC236}">
                <a16:creationId xmlns:a16="http://schemas.microsoft.com/office/drawing/2014/main" id="{92BD775D-4E95-4075-819B-3DF195074C0E}"/>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04016D97-C45E-45B8-B8DD-0AC45CCA13FC}"/>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57299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303CDD-D1C0-4990-B11F-EEE5D59FBA4C}"/>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82975ABF-53AB-4192-8343-FD269407DDC4}"/>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32B9D8F9-3E75-465B-BD7F-64F162AC8670}"/>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5" name="Нижний колонтитул 4">
            <a:extLst>
              <a:ext uri="{FF2B5EF4-FFF2-40B4-BE49-F238E27FC236}">
                <a16:creationId xmlns:a16="http://schemas.microsoft.com/office/drawing/2014/main" id="{A6ABDB92-533B-43A0-8E8A-05E75C25956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82759D8A-B414-4651-985A-BC74C9802675}"/>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090722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B60C8A1-E4C6-4376-B84A-31FEC054C808}"/>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a:p>
        </p:txBody>
      </p:sp>
      <p:sp>
        <p:nvSpPr>
          <p:cNvPr id="3" name="Текст 2">
            <a:extLst>
              <a:ext uri="{FF2B5EF4-FFF2-40B4-BE49-F238E27FC236}">
                <a16:creationId xmlns:a16="http://schemas.microsoft.com/office/drawing/2014/main" id="{C904FE65-D76D-447D-90B4-4629140307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5338852B-9554-400A-864B-F2862BAD2B5B}"/>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5" name="Нижний колонтитул 4">
            <a:extLst>
              <a:ext uri="{FF2B5EF4-FFF2-40B4-BE49-F238E27FC236}">
                <a16:creationId xmlns:a16="http://schemas.microsoft.com/office/drawing/2014/main" id="{79B73BC0-0A96-4D10-8E89-E5597C3715C4}"/>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DDB0900A-626D-42AD-9377-F278FF3331A9}"/>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496609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4B9651-9A9E-4956-9841-A82BCDB8CBC3}"/>
              </a:ext>
            </a:extLst>
          </p:cNvPr>
          <p:cNvSpPr>
            <a:spLocks noGrp="1"/>
          </p:cNvSpPr>
          <p:nvPr>
            <p:ph type="title"/>
          </p:nvPr>
        </p:nvSpPr>
        <p:spPr/>
        <p:txBody>
          <a:bodyPr/>
          <a:lstStyle/>
          <a:p>
            <a:r>
              <a:rPr lang="ru-RU"/>
              <a:t>Образец заголовка</a:t>
            </a:r>
            <a:endParaRPr lang="en-US"/>
          </a:p>
        </p:txBody>
      </p:sp>
      <p:sp>
        <p:nvSpPr>
          <p:cNvPr id="3" name="Объект 2">
            <a:extLst>
              <a:ext uri="{FF2B5EF4-FFF2-40B4-BE49-F238E27FC236}">
                <a16:creationId xmlns:a16="http://schemas.microsoft.com/office/drawing/2014/main" id="{AEE07AC5-BEC7-496E-8C46-7524BB005D00}"/>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Объект 3">
            <a:extLst>
              <a:ext uri="{FF2B5EF4-FFF2-40B4-BE49-F238E27FC236}">
                <a16:creationId xmlns:a16="http://schemas.microsoft.com/office/drawing/2014/main" id="{DF66DD49-C286-48C5-A2DD-6ED347C30E62}"/>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Дата 4">
            <a:extLst>
              <a:ext uri="{FF2B5EF4-FFF2-40B4-BE49-F238E27FC236}">
                <a16:creationId xmlns:a16="http://schemas.microsoft.com/office/drawing/2014/main" id="{14E2A7C3-8CFD-4A63-BD4C-B4F7E08ED2EB}"/>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6" name="Нижний колонтитул 5">
            <a:extLst>
              <a:ext uri="{FF2B5EF4-FFF2-40B4-BE49-F238E27FC236}">
                <a16:creationId xmlns:a16="http://schemas.microsoft.com/office/drawing/2014/main" id="{5D2F5318-BED9-4A4C-900D-783DF4D44E68}"/>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2CBEAFEC-8528-4493-B244-78A8C49DD34F}"/>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49071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55F7F56-5C77-43B0-A6E1-FA96CB5B8234}"/>
              </a:ext>
            </a:extLst>
          </p:cNvPr>
          <p:cNvSpPr>
            <a:spLocks noGrp="1"/>
          </p:cNvSpPr>
          <p:nvPr>
            <p:ph type="title"/>
          </p:nvPr>
        </p:nvSpPr>
        <p:spPr>
          <a:xfrm>
            <a:off x="839788" y="365125"/>
            <a:ext cx="10515600" cy="1325563"/>
          </a:xfrm>
        </p:spPr>
        <p:txBody>
          <a:bodyPr/>
          <a:lstStyle/>
          <a:p>
            <a:r>
              <a:rPr lang="ru-RU"/>
              <a:t>Образец заголовка</a:t>
            </a:r>
            <a:endParaRPr lang="en-US"/>
          </a:p>
        </p:txBody>
      </p:sp>
      <p:sp>
        <p:nvSpPr>
          <p:cNvPr id="3" name="Текст 2">
            <a:extLst>
              <a:ext uri="{FF2B5EF4-FFF2-40B4-BE49-F238E27FC236}">
                <a16:creationId xmlns:a16="http://schemas.microsoft.com/office/drawing/2014/main" id="{9C61DF2B-DC3A-4F81-8895-175D290F56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87FD6BE8-BD38-4362-B8FC-205826021241}"/>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5" name="Текст 4">
            <a:extLst>
              <a:ext uri="{FF2B5EF4-FFF2-40B4-BE49-F238E27FC236}">
                <a16:creationId xmlns:a16="http://schemas.microsoft.com/office/drawing/2014/main" id="{62E93257-CB76-4719-9745-E0EC05229F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802E1892-6334-417B-87D4-92B5B5FD6DDB}"/>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7" name="Дата 6">
            <a:extLst>
              <a:ext uri="{FF2B5EF4-FFF2-40B4-BE49-F238E27FC236}">
                <a16:creationId xmlns:a16="http://schemas.microsoft.com/office/drawing/2014/main" id="{116F5B94-A6BB-4DC8-B864-C5F0D4F8C32F}"/>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8" name="Нижний колонтитул 7">
            <a:extLst>
              <a:ext uri="{FF2B5EF4-FFF2-40B4-BE49-F238E27FC236}">
                <a16:creationId xmlns:a16="http://schemas.microsoft.com/office/drawing/2014/main" id="{EC5FDC61-45EB-4EB3-B245-95428FC93E1D}"/>
              </a:ext>
            </a:extLst>
          </p:cNvPr>
          <p:cNvSpPr>
            <a:spLocks noGrp="1"/>
          </p:cNvSpPr>
          <p:nvPr>
            <p:ph type="ftr" sz="quarter" idx="11"/>
          </p:nvPr>
        </p:nvSpPr>
        <p:spPr/>
        <p:txBody>
          <a:bodyPr/>
          <a:lstStyle/>
          <a:p>
            <a:endParaRPr lang="en-US"/>
          </a:p>
        </p:txBody>
      </p:sp>
      <p:sp>
        <p:nvSpPr>
          <p:cNvPr id="9" name="Номер слайда 8">
            <a:extLst>
              <a:ext uri="{FF2B5EF4-FFF2-40B4-BE49-F238E27FC236}">
                <a16:creationId xmlns:a16="http://schemas.microsoft.com/office/drawing/2014/main" id="{B5E031DC-25E2-42C8-840B-9C5DAA1E7328}"/>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1926804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1FE59B-22E6-4F7C-B993-92BD518315CF}"/>
              </a:ext>
            </a:extLst>
          </p:cNvPr>
          <p:cNvSpPr>
            <a:spLocks noGrp="1"/>
          </p:cNvSpPr>
          <p:nvPr>
            <p:ph type="title"/>
          </p:nvPr>
        </p:nvSpPr>
        <p:spPr/>
        <p:txBody>
          <a:bodyPr/>
          <a:lstStyle/>
          <a:p>
            <a:r>
              <a:rPr lang="ru-RU"/>
              <a:t>Образец заголовка</a:t>
            </a:r>
            <a:endParaRPr lang="en-US"/>
          </a:p>
        </p:txBody>
      </p:sp>
      <p:sp>
        <p:nvSpPr>
          <p:cNvPr id="3" name="Дата 2">
            <a:extLst>
              <a:ext uri="{FF2B5EF4-FFF2-40B4-BE49-F238E27FC236}">
                <a16:creationId xmlns:a16="http://schemas.microsoft.com/office/drawing/2014/main" id="{3961E128-7025-476B-8CFA-F298B8C0B68E}"/>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4" name="Нижний колонтитул 3">
            <a:extLst>
              <a:ext uri="{FF2B5EF4-FFF2-40B4-BE49-F238E27FC236}">
                <a16:creationId xmlns:a16="http://schemas.microsoft.com/office/drawing/2014/main" id="{8DC4498D-07EB-4597-9040-25CB99389875}"/>
              </a:ext>
            </a:extLst>
          </p:cNvPr>
          <p:cNvSpPr>
            <a:spLocks noGrp="1"/>
          </p:cNvSpPr>
          <p:nvPr>
            <p:ph type="ftr" sz="quarter" idx="11"/>
          </p:nvPr>
        </p:nvSpPr>
        <p:spPr/>
        <p:txBody>
          <a:bodyPr/>
          <a:lstStyle/>
          <a:p>
            <a:endParaRPr lang="en-US"/>
          </a:p>
        </p:txBody>
      </p:sp>
      <p:sp>
        <p:nvSpPr>
          <p:cNvPr id="5" name="Номер слайда 4">
            <a:extLst>
              <a:ext uri="{FF2B5EF4-FFF2-40B4-BE49-F238E27FC236}">
                <a16:creationId xmlns:a16="http://schemas.microsoft.com/office/drawing/2014/main" id="{94D6266A-3E00-49E7-9A90-18C5C169C6D4}"/>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516217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41C15F8-EFF0-4E02-8353-409031B442E3}"/>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3" name="Нижний колонтитул 2">
            <a:extLst>
              <a:ext uri="{FF2B5EF4-FFF2-40B4-BE49-F238E27FC236}">
                <a16:creationId xmlns:a16="http://schemas.microsoft.com/office/drawing/2014/main" id="{DFA9BBA0-814A-4D78-BD9C-5C1549BC4FD8}"/>
              </a:ext>
            </a:extLst>
          </p:cNvPr>
          <p:cNvSpPr>
            <a:spLocks noGrp="1"/>
          </p:cNvSpPr>
          <p:nvPr>
            <p:ph type="ftr" sz="quarter" idx="11"/>
          </p:nvPr>
        </p:nvSpPr>
        <p:spPr/>
        <p:txBody>
          <a:bodyPr/>
          <a:lstStyle/>
          <a:p>
            <a:endParaRPr lang="en-US"/>
          </a:p>
        </p:txBody>
      </p:sp>
      <p:sp>
        <p:nvSpPr>
          <p:cNvPr id="4" name="Номер слайда 3">
            <a:extLst>
              <a:ext uri="{FF2B5EF4-FFF2-40B4-BE49-F238E27FC236}">
                <a16:creationId xmlns:a16="http://schemas.microsoft.com/office/drawing/2014/main" id="{82E23872-094B-4688-8D39-495BE5113F8E}"/>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4073605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63948FA-418A-426B-975B-8E688748A11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Объект 2">
            <a:extLst>
              <a:ext uri="{FF2B5EF4-FFF2-40B4-BE49-F238E27FC236}">
                <a16:creationId xmlns:a16="http://schemas.microsoft.com/office/drawing/2014/main" id="{D0DA4C56-EA5C-443E-82BB-7A8F7AF44F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Текст 3">
            <a:extLst>
              <a:ext uri="{FF2B5EF4-FFF2-40B4-BE49-F238E27FC236}">
                <a16:creationId xmlns:a16="http://schemas.microsoft.com/office/drawing/2014/main" id="{7AFAB498-A5E8-4CC5-88FE-5E70DF4CD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67B5C720-6B2E-4ED0-8460-44F6848E50C3}"/>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6" name="Нижний колонтитул 5">
            <a:extLst>
              <a:ext uri="{FF2B5EF4-FFF2-40B4-BE49-F238E27FC236}">
                <a16:creationId xmlns:a16="http://schemas.microsoft.com/office/drawing/2014/main" id="{463CEB2D-5B52-44C8-99AA-9E6FA6B4DC67}"/>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B22ABBC2-224B-405D-8F57-7145FBB35756}"/>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171698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0EF9CA-65EA-4C21-9352-FFC5949A3240}"/>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a:p>
        </p:txBody>
      </p:sp>
      <p:sp>
        <p:nvSpPr>
          <p:cNvPr id="3" name="Рисунок 2">
            <a:extLst>
              <a:ext uri="{FF2B5EF4-FFF2-40B4-BE49-F238E27FC236}">
                <a16:creationId xmlns:a16="http://schemas.microsoft.com/office/drawing/2014/main" id="{06F80196-9CE3-4CF4-A967-AED5DCCE3F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a:extLst>
              <a:ext uri="{FF2B5EF4-FFF2-40B4-BE49-F238E27FC236}">
                <a16:creationId xmlns:a16="http://schemas.microsoft.com/office/drawing/2014/main" id="{AF99486F-A336-4762-822B-C2DC94E837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A33CBE24-A1BF-4C4B-AA29-725351147799}"/>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6" name="Нижний колонтитул 5">
            <a:extLst>
              <a:ext uri="{FF2B5EF4-FFF2-40B4-BE49-F238E27FC236}">
                <a16:creationId xmlns:a16="http://schemas.microsoft.com/office/drawing/2014/main" id="{5A745642-91CF-4AAA-9343-E8432BD7DE60}"/>
              </a:ext>
            </a:extLst>
          </p:cNvPr>
          <p:cNvSpPr>
            <a:spLocks noGrp="1"/>
          </p:cNvSpPr>
          <p:nvPr>
            <p:ph type="ftr" sz="quarter" idx="11"/>
          </p:nvPr>
        </p:nvSpPr>
        <p:spPr/>
        <p:txBody>
          <a:bodyPr/>
          <a:lstStyle/>
          <a:p>
            <a:endParaRPr lang="en-US"/>
          </a:p>
        </p:txBody>
      </p:sp>
      <p:sp>
        <p:nvSpPr>
          <p:cNvPr id="7" name="Номер слайда 6">
            <a:extLst>
              <a:ext uri="{FF2B5EF4-FFF2-40B4-BE49-F238E27FC236}">
                <a16:creationId xmlns:a16="http://schemas.microsoft.com/office/drawing/2014/main" id="{F83F93C1-FFAC-4ED7-99F0-E1733C93D066}"/>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1069117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160466-9581-414B-9CB5-7ADA11D1A64A}"/>
              </a:ext>
            </a:extLst>
          </p:cNvPr>
          <p:cNvSpPr>
            <a:spLocks noGrp="1"/>
          </p:cNvSpPr>
          <p:nvPr>
            <p:ph type="title"/>
          </p:nvPr>
        </p:nvSpPr>
        <p:spPr/>
        <p:txBody>
          <a:bodyPr/>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4CB0AEA4-4A18-4461-80A9-C6F4767B4293}"/>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BB582A08-7832-4B03-80A1-7A5832579BDC}"/>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5" name="Нижний колонтитул 4">
            <a:extLst>
              <a:ext uri="{FF2B5EF4-FFF2-40B4-BE49-F238E27FC236}">
                <a16:creationId xmlns:a16="http://schemas.microsoft.com/office/drawing/2014/main" id="{692EAA74-20F1-470B-8B9B-64BEE6AC236C}"/>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9F532FCF-4C2A-4E22-8980-49C7599845BA}"/>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3781938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E6EA9BE-7FCC-43D6-B2F2-C66942D38C1A}"/>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en-US"/>
          </a:p>
        </p:txBody>
      </p:sp>
      <p:sp>
        <p:nvSpPr>
          <p:cNvPr id="3" name="Вертикальный текст 2">
            <a:extLst>
              <a:ext uri="{FF2B5EF4-FFF2-40B4-BE49-F238E27FC236}">
                <a16:creationId xmlns:a16="http://schemas.microsoft.com/office/drawing/2014/main" id="{AD9E4EEE-EF7B-4877-BD84-48E1E12AB404}"/>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D2322E6C-D557-4D92-91B9-3A468EC75E1F}"/>
              </a:ext>
            </a:extLst>
          </p:cNvPr>
          <p:cNvSpPr>
            <a:spLocks noGrp="1"/>
          </p:cNvSpPr>
          <p:nvPr>
            <p:ph type="dt" sz="half" idx="10"/>
          </p:nvPr>
        </p:nvSpPr>
        <p:spPr/>
        <p:txBody>
          <a:bodyPr/>
          <a:lstStyle/>
          <a:p>
            <a:fld id="{3D791C9D-3BD3-4532-A6B7-41E94DC5A121}" type="datetimeFigureOut">
              <a:rPr lang="en-US" smtClean="0"/>
              <a:t>4/28/2026</a:t>
            </a:fld>
            <a:endParaRPr lang="en-US"/>
          </a:p>
        </p:txBody>
      </p:sp>
      <p:sp>
        <p:nvSpPr>
          <p:cNvPr id="5" name="Нижний колонтитул 4">
            <a:extLst>
              <a:ext uri="{FF2B5EF4-FFF2-40B4-BE49-F238E27FC236}">
                <a16:creationId xmlns:a16="http://schemas.microsoft.com/office/drawing/2014/main" id="{D2DA470C-4916-4EF7-9FE1-75A197EF73F6}"/>
              </a:ext>
            </a:extLst>
          </p:cNvPr>
          <p:cNvSpPr>
            <a:spLocks noGrp="1"/>
          </p:cNvSpPr>
          <p:nvPr>
            <p:ph type="ftr" sz="quarter" idx="11"/>
          </p:nvPr>
        </p:nvSpPr>
        <p:spPr/>
        <p:txBody>
          <a:bodyPr/>
          <a:lstStyle/>
          <a:p>
            <a:endParaRPr lang="en-US"/>
          </a:p>
        </p:txBody>
      </p:sp>
      <p:sp>
        <p:nvSpPr>
          <p:cNvPr id="6" name="Номер слайда 5">
            <a:extLst>
              <a:ext uri="{FF2B5EF4-FFF2-40B4-BE49-F238E27FC236}">
                <a16:creationId xmlns:a16="http://schemas.microsoft.com/office/drawing/2014/main" id="{97B65A96-F76C-4B94-A8BD-BD9531DAF6AE}"/>
              </a:ext>
            </a:extLst>
          </p:cNvPr>
          <p:cNvSpPr>
            <a:spLocks noGrp="1"/>
          </p:cNvSpPr>
          <p:nvPr>
            <p:ph type="sldNum" sz="quarter" idx="12"/>
          </p:nvPr>
        </p:nvSpPr>
        <p:spPr/>
        <p:txBody>
          <a:bodyPr/>
          <a:lstStyle/>
          <a:p>
            <a:fld id="{B83F82D1-544A-4A8E-89F2-7E14151FD193}" type="slidenum">
              <a:rPr lang="en-US" smtClean="0"/>
              <a:t>‹#›</a:t>
            </a:fld>
            <a:endParaRPr lang="en-US"/>
          </a:p>
        </p:txBody>
      </p:sp>
    </p:spTree>
    <p:extLst>
      <p:ext uri="{BB962C8B-B14F-4D97-AF65-F5344CB8AC3E}">
        <p14:creationId xmlns:p14="http://schemas.microsoft.com/office/powerpoint/2010/main" val="149354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15E51C-2515-4813-BD7B-208FA84D22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a:p>
        </p:txBody>
      </p:sp>
      <p:sp>
        <p:nvSpPr>
          <p:cNvPr id="3" name="Текст 2">
            <a:extLst>
              <a:ext uri="{FF2B5EF4-FFF2-40B4-BE49-F238E27FC236}">
                <a16:creationId xmlns:a16="http://schemas.microsoft.com/office/drawing/2014/main" id="{0FFD09E4-9B2D-407E-9B83-871204E139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a:p>
        </p:txBody>
      </p:sp>
      <p:sp>
        <p:nvSpPr>
          <p:cNvPr id="4" name="Дата 3">
            <a:extLst>
              <a:ext uri="{FF2B5EF4-FFF2-40B4-BE49-F238E27FC236}">
                <a16:creationId xmlns:a16="http://schemas.microsoft.com/office/drawing/2014/main" id="{EDD581A6-E8A9-48D9-8ADF-D9C29EB95E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91C9D-3BD3-4532-A6B7-41E94DC5A121}" type="datetimeFigureOut">
              <a:rPr lang="en-US" smtClean="0"/>
              <a:t>4/28/2026</a:t>
            </a:fld>
            <a:endParaRPr lang="en-US"/>
          </a:p>
        </p:txBody>
      </p:sp>
      <p:sp>
        <p:nvSpPr>
          <p:cNvPr id="5" name="Нижний колонтитул 4">
            <a:extLst>
              <a:ext uri="{FF2B5EF4-FFF2-40B4-BE49-F238E27FC236}">
                <a16:creationId xmlns:a16="http://schemas.microsoft.com/office/drawing/2014/main" id="{6752A2B4-D4E4-485C-844C-E49715BD02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a:extLst>
              <a:ext uri="{FF2B5EF4-FFF2-40B4-BE49-F238E27FC236}">
                <a16:creationId xmlns:a16="http://schemas.microsoft.com/office/drawing/2014/main" id="{2178BBB6-CD80-4710-A6D3-4A66949B98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3F82D1-544A-4A8E-89F2-7E14151FD193}" type="slidenum">
              <a:rPr lang="en-US" smtClean="0"/>
              <a:t>‹#›</a:t>
            </a:fld>
            <a:endParaRPr lang="en-US"/>
          </a:p>
        </p:txBody>
      </p:sp>
    </p:spTree>
    <p:extLst>
      <p:ext uri="{BB962C8B-B14F-4D97-AF65-F5344CB8AC3E}">
        <p14:creationId xmlns:p14="http://schemas.microsoft.com/office/powerpoint/2010/main" val="1929278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timeweb.com/ru/community/articles/vvedenie-v-terminologiyu-elementy-i-ponyatiya-dns-1" TargetMode="External"/><Relationship Id="rId2" Type="http://schemas.openxmlformats.org/officeDocument/2006/relationships/hyperlink" Target="https://timeweb.com/ru/community/articles/chto-takoe-ftp-i-kak-rabotat-v-filezilla-1"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hyperlink" Target="http://tools.ietf.org/html/rfc2616" TargetMode="External"/><Relationship Id="rId2" Type="http://schemas.openxmlformats.org/officeDocument/2006/relationships/hyperlink" Target="http://en.wikipedia.org/wiki/OSI_model" TargetMode="Externa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hyperlink" Target="http://evm.bsuir.by/" TargetMode="Externa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habr.com/ru/articles/215117/#uri" TargetMode="External"/><Relationship Id="rId2" Type="http://schemas.openxmlformats.org/officeDocument/2006/relationships/hyperlink" Target="https://habr.com/ru/articles/215117/#method" TargetMode="External"/><Relationship Id="rId1" Type="http://schemas.openxmlformats.org/officeDocument/2006/relationships/slideLayout" Target="../slideLayouts/slideLayout1.xml"/><Relationship Id="rId4" Type="http://schemas.openxmlformats.org/officeDocument/2006/relationships/hyperlink" Target="https://habr.com/ru/articles/215117/#requestversion" TargetMode="External"/></Relationships>
</file>

<file path=ppt/slides/_rels/slide14.xml.rels><?xml version="1.0" encoding="UTF-8" standalone="yes"?>
<Relationships xmlns="http://schemas.openxmlformats.org/package/2006/relationships"><Relationship Id="rId2" Type="http://schemas.openxmlformats.org/officeDocument/2006/relationships/hyperlink" Target="http://evm.bsuir.by/"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habr.com/ru/articles/215117/#statuscode" TargetMode="External"/><Relationship Id="rId2" Type="http://schemas.openxmlformats.org/officeDocument/2006/relationships/hyperlink" Target="https://habr.com/ru/articles/215117/#responseversion" TargetMode="External"/><Relationship Id="rId1" Type="http://schemas.openxmlformats.org/officeDocument/2006/relationships/slideLayout" Target="../slideLayouts/slideLayout1.xml"/><Relationship Id="rId4" Type="http://schemas.openxmlformats.org/officeDocument/2006/relationships/hyperlink" Target="https://habr.com/ru/articles/215117/#reasonphrase"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tools.ietf.org/html/rfc6455"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eveloper.mozilla.org/ru/docs/Glossary/Protocol"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developer.mozilla.org/ru/docs/Glossary/TLS" TargetMode="External"/><Relationship Id="rId7" Type="http://schemas.openxmlformats.org/officeDocument/2006/relationships/image" Target="../media/image8.png"/><Relationship Id="rId2" Type="http://schemas.openxmlformats.org/officeDocument/2006/relationships/hyperlink" Target="https://developer.mozilla.org/ru/docs/Glossary/TCP" TargetMode="External"/><Relationship Id="rId1" Type="http://schemas.openxmlformats.org/officeDocument/2006/relationships/slideLayout" Target="../slideLayouts/slideLayout1.xml"/><Relationship Id="rId6" Type="http://schemas.openxmlformats.org/officeDocument/2006/relationships/hyperlink" Target="https://developer.mozilla.org/ru/docs/Glossary/Cache" TargetMode="External"/><Relationship Id="rId5" Type="http://schemas.openxmlformats.org/officeDocument/2006/relationships/hyperlink" Target="https://developer.mozilla.org/ru/docs/Glossary/Proxy_server" TargetMode="External"/><Relationship Id="rId4" Type="http://schemas.openxmlformats.org/officeDocument/2006/relationships/hyperlink" Target="https://developer.mozilla.org/ru/docs/Web/HTTP/Overview#%D1%81%D0%BE%D1%81%D1%82%D0%B0%D0%B2%D0%BB%D1%8F%D1%8E%D1%89%D0%B8%D0%B5_%D1%81%D0%B8%D1%81%D1%82%D0%B5%D0%BC_%D0%BE%D1%81%D0%BD%D0%BE%D0%B2%D0%B0%D0%BD%D0%BD%D1%8B%D1%85_%D0%BD%D0%B0_http"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hyperlink" Target="https://developer.mozilla.org/ru/docs/Web/HTTP/Overview#%D0%BA%D0%BB%D0%B8%D0%B5%D0%BD%D1%82_%D1%83%D1%87%D0%B0%D1%81%D1%82%D0%BD%D0%B8%D0%BA_%D0%BE%D0%B1%D0%BC%D0%B5%D0%BD%D0%B0"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hyperlink" Target="https://developer.mozilla.org/ru/docs/Web/HTTP/Overview#%D0%B2%D0%B5%D0%B1-%D1%81%D0%B5%D1%80%D0%B2%D0%B5%D1%80" TargetMode="Externa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hyperlink" Target="https://developer.mozilla.org/ru/docs/Web/HTTP/Overview#%D0%BF%D1%80%D0%BE%D0%BA%D1%81%D0%B8" TargetMode="Externa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hyperlink" Target="https://developer.mozilla.org/ru/docs/Web/HTTP/Overview#http_-_%D0%BF%D1%80%D0%BE%D1%81%D1%82" TargetMode="External"/><Relationship Id="rId2" Type="http://schemas.openxmlformats.org/officeDocument/2006/relationships/hyperlink" Target="https://developer.mozilla.org/ru/docs/Web/HTTP/Overview#%D0%BE%D1%81%D0%BD%D0%BE%D0%B2%D0%BD%D1%8B%D0%B5_%D0%B0%D1%81%D0%BF%D0%B5%D0%BA%D1%82%D1%8B_http" TargetMode="External"/><Relationship Id="rId1" Type="http://schemas.openxmlformats.org/officeDocument/2006/relationships/slideLayout" Target="../slideLayouts/slideLayout1.xml"/><Relationship Id="rId5" Type="http://schemas.openxmlformats.org/officeDocument/2006/relationships/hyperlink" Target="https://developer.mozilla.org/ru/docs/Web/HTTP/Overview#http_%D0%BD%D0%B5_%D0%B8%D0%BC%D0%B5%D0%B5%D1%82_%D1%81%D0%BE%D1%81%D1%82%D0%BE%D1%8F%D0%BD%D0%B8%D1%8F_%D0%BD%D0%BE_%D0%B8%D0%BC%D0%B5%D0%B5%D1%82_%D1%81%D0%B5%D1%81%D1%81%D0%B8%D1%8E" TargetMode="External"/><Relationship Id="rId4" Type="http://schemas.openxmlformats.org/officeDocument/2006/relationships/hyperlink" Target="https://developer.mozilla.org/ru/docs/Web/HTTP/Overview#http_-_%D1%80%D0%B0%D1%81%D1%88%D0%B8%D1%80%D1%8F%D0%B5%D0%BC%D1%8B%D0%B9" TargetMode="External"/></Relationships>
</file>

<file path=ppt/slides/_rels/slide28.xml.rels><?xml version="1.0" encoding="UTF-8" standalone="yes"?>
<Relationships xmlns="http://schemas.openxmlformats.org/package/2006/relationships"><Relationship Id="rId2" Type="http://schemas.openxmlformats.org/officeDocument/2006/relationships/hyperlink" Target="https://developer.mozilla.org/ru/docs/Web/HTTP/Overview#http_%D0%B8_%D1%81%D0%BE%D0%B5%D0%B4%D0%B8%D0%BD%D0%B5%D0%BD%D0%B8%D1%8F" TargetMode="Externa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hyperlink" Target="https://developer.mozilla.org/ru/docs/Web/HTTP/Overview#%D1%87%D0%B5%D0%BC_%D0%BC%D0%BE%D0%B6%D0%BD%D0%BE_%D1%83%D0%BF%D1%80%D0%B0%D0%B2%D0%BB%D1%8F%D1%82%D1%8C_%D1%87%D0%B5%D1%80%D0%B5%D0%B7_http" TargetMode="Externa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hyperlink" Target="https://developer.mozilla.org/ru/docs/Web/HTTP/Overview#http_%D0%BF%D0%BE%D1%82%D0%BE%D0%BA" TargetMode="Externa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developer.mozilla.org/ru/docs/Web/HTTP/Overview#%D0%B7%D0%B0%D0%BF%D1%80%D0%BE%D1%81%D1%8B" TargetMode="External"/><Relationship Id="rId2" Type="http://schemas.openxmlformats.org/officeDocument/2006/relationships/hyperlink" Target="https://developer.mozilla.org/ru/docs/Web/HTTP/Overview#http_%D1%81%D0%BE%D0%BE%D0%B1%D1%89%D0%B5%D0%BD%D0%B8%D1%8F"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eveloper.mozilla.org/ru/docs/Web/HTTP/Overview#%D0%BE%D1%82%D0%B2%D0%B5%D1%82%D1%8B" TargetMode="Externa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hyperlink" Target="https://developer.mozilla.org/ru/docs/Web/HTTP/Overview#%D0%B2%D1%8B%D0%B2%D0%BE%D0%B4"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hyperlink" Target="https://selectel.ru/services/cloud/servers/ftp/" TargetMode="Externa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hyperlink" Target="http://www.example.com/" TargetMode="Externa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hyperlink" Target="https://vasexperts.ru/resources/glossary/rtt/" TargetMode="Externa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1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1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F6AE2C3F-26E8-41E6-9E2D-6D62C07FB340}"/>
              </a:ext>
            </a:extLst>
          </p:cNvPr>
          <p:cNvSpPr txBox="1"/>
          <p:nvPr/>
        </p:nvSpPr>
        <p:spPr>
          <a:xfrm>
            <a:off x="363983" y="267095"/>
            <a:ext cx="11381173" cy="5816977"/>
          </a:xfrm>
          <a:prstGeom prst="rect">
            <a:avLst/>
          </a:prstGeom>
          <a:noFill/>
        </p:spPr>
        <p:txBody>
          <a:bodyPr wrap="square">
            <a:spAutoFit/>
          </a:bodyPr>
          <a:lstStyle/>
          <a:p>
            <a:r>
              <a:rPr lang="ru-RU" sz="2400" b="1" i="0" dirty="0">
                <a:solidFill>
                  <a:srgbClr val="0E0E0F"/>
                </a:solidFill>
                <a:effectLst/>
                <a:latin typeface="Inter"/>
              </a:rPr>
              <a:t>TCP/IP и как работает этот протокол</a:t>
            </a:r>
            <a:endParaRPr lang="en-US" sz="2400" b="1" i="0" dirty="0">
              <a:solidFill>
                <a:srgbClr val="0E0E0F"/>
              </a:solidFill>
              <a:effectLst/>
              <a:latin typeface="Inter"/>
            </a:endParaRPr>
          </a:p>
          <a:p>
            <a:br>
              <a:rPr lang="en-US" sz="2400" b="1" i="0" dirty="0">
                <a:solidFill>
                  <a:srgbClr val="0E0E0F"/>
                </a:solidFill>
                <a:effectLst/>
                <a:latin typeface="Inter"/>
              </a:rPr>
            </a:br>
            <a:r>
              <a:rPr lang="ru-RU" sz="1800" b="0" i="0" dirty="0">
                <a:solidFill>
                  <a:srgbClr val="0E0E0F"/>
                </a:solidFill>
                <a:effectLst/>
                <a:latin typeface="Times New Roman" panose="02020603050405020304" pitchFamily="18" charset="0"/>
                <a:cs typeface="Times New Roman" panose="02020603050405020304" pitchFamily="18" charset="0"/>
              </a:rPr>
              <a:t>Протокол TCP/IP – это целая сетевая модель, описывающая способ передачи данных в цифровом виде. На правилах, включенных в нее, базируется работа интернета и локальных сетей независимо от их назначения и структуры.</a:t>
            </a:r>
            <a:endParaRPr lang="en-US" sz="1800" b="0" i="0" dirty="0">
              <a:solidFill>
                <a:srgbClr val="0E0E0F"/>
              </a:solidFill>
              <a:effectLst/>
              <a:latin typeface="Times New Roman" panose="02020603050405020304" pitchFamily="18" charset="0"/>
              <a:cs typeface="Times New Roman" panose="02020603050405020304" pitchFamily="18" charset="0"/>
            </a:endParaRPr>
          </a:p>
          <a:p>
            <a:br>
              <a:rPr lang="en-US" sz="1800" b="1" i="0" dirty="0">
                <a:solidFill>
                  <a:srgbClr val="0E0E0F"/>
                </a:solidFill>
                <a:effectLst/>
                <a:latin typeface="Times New Roman" panose="02020603050405020304" pitchFamily="18" charset="0"/>
                <a:cs typeface="Times New Roman" panose="02020603050405020304" pitchFamily="18" charset="0"/>
              </a:rPr>
            </a:br>
            <a:r>
              <a:rPr lang="ru-RU" sz="1800" b="1" i="0" dirty="0">
                <a:solidFill>
                  <a:srgbClr val="0E0E0F"/>
                </a:solidFill>
                <a:effectLst/>
                <a:latin typeface="Times New Roman" panose="02020603050405020304" pitchFamily="18" charset="0"/>
                <a:cs typeface="Times New Roman" panose="02020603050405020304" pitchFamily="18" charset="0"/>
              </a:rPr>
              <a:t>Что такое TCP/IP</a:t>
            </a:r>
            <a:br>
              <a:rPr lang="ru-RU" sz="1800" b="1" i="0" dirty="0">
                <a:solidFill>
                  <a:srgbClr val="0E0E0F"/>
                </a:solidFill>
                <a:effectLst/>
                <a:latin typeface="Times New Roman" panose="02020603050405020304" pitchFamily="18" charset="0"/>
                <a:cs typeface="Times New Roman" panose="02020603050405020304" pitchFamily="18" charset="0"/>
              </a:rPr>
            </a:br>
            <a:r>
              <a:rPr lang="ru-RU" sz="1800" b="0" i="0" dirty="0">
                <a:solidFill>
                  <a:srgbClr val="0E0E0F"/>
                </a:solidFill>
                <a:effectLst/>
                <a:latin typeface="Times New Roman" panose="02020603050405020304" pitchFamily="18" charset="0"/>
                <a:cs typeface="Times New Roman" panose="02020603050405020304" pitchFamily="18" charset="0"/>
              </a:rPr>
              <a:t>Произошло наименование протокола от сокращения двух английских понятий – </a:t>
            </a:r>
            <a:r>
              <a:rPr lang="ru-RU" sz="1800" b="0" i="0" dirty="0" err="1">
                <a:solidFill>
                  <a:srgbClr val="0E0E0F"/>
                </a:solidFill>
                <a:effectLst/>
                <a:latin typeface="Times New Roman" panose="02020603050405020304" pitchFamily="18" charset="0"/>
                <a:cs typeface="Times New Roman" panose="02020603050405020304" pitchFamily="18" charset="0"/>
              </a:rPr>
              <a:t>Transmission</a:t>
            </a:r>
            <a:r>
              <a:rPr lang="ru-RU" sz="1800" b="0" i="0" dirty="0">
                <a:solidFill>
                  <a:srgbClr val="0E0E0F"/>
                </a:solidFill>
                <a:effectLst/>
                <a:latin typeface="Times New Roman" panose="02020603050405020304" pitchFamily="18" charset="0"/>
                <a:cs typeface="Times New Roman" panose="02020603050405020304" pitchFamily="18" charset="0"/>
              </a:rPr>
              <a:t> </a:t>
            </a:r>
            <a:r>
              <a:rPr lang="ru-RU" sz="1800" b="0" i="0" dirty="0" err="1">
                <a:solidFill>
                  <a:srgbClr val="0E0E0F"/>
                </a:solidFill>
                <a:effectLst/>
                <a:latin typeface="Times New Roman" panose="02020603050405020304" pitchFamily="18" charset="0"/>
                <a:cs typeface="Times New Roman" panose="02020603050405020304" pitchFamily="18" charset="0"/>
              </a:rPr>
              <a:t>Control</a:t>
            </a:r>
            <a:r>
              <a:rPr lang="ru-RU" sz="1800" b="0" i="0" dirty="0">
                <a:solidFill>
                  <a:srgbClr val="0E0E0F"/>
                </a:solidFill>
                <a:effectLst/>
                <a:latin typeface="Times New Roman" panose="02020603050405020304" pitchFamily="18" charset="0"/>
                <a:cs typeface="Times New Roman" panose="02020603050405020304" pitchFamily="18" charset="0"/>
              </a:rPr>
              <a:t> </a:t>
            </a:r>
            <a:r>
              <a:rPr lang="ru-RU" sz="1800" b="0" i="0" dirty="0" err="1">
                <a:solidFill>
                  <a:srgbClr val="0E0E0F"/>
                </a:solidFill>
                <a:effectLst/>
                <a:latin typeface="Times New Roman" panose="02020603050405020304" pitchFamily="18" charset="0"/>
                <a:cs typeface="Times New Roman" panose="02020603050405020304" pitchFamily="18" charset="0"/>
              </a:rPr>
              <a:t>Protocol</a:t>
            </a:r>
            <a:r>
              <a:rPr lang="ru-RU" sz="1800" b="0" i="0" dirty="0">
                <a:solidFill>
                  <a:srgbClr val="0E0E0F"/>
                </a:solidFill>
                <a:effectLst/>
                <a:latin typeface="Times New Roman" panose="02020603050405020304" pitchFamily="18" charset="0"/>
                <a:cs typeface="Times New Roman" panose="02020603050405020304" pitchFamily="18" charset="0"/>
              </a:rPr>
              <a:t> и </a:t>
            </a:r>
            <a:r>
              <a:rPr lang="ru-RU" sz="1800" b="0" i="0" dirty="0" err="1">
                <a:solidFill>
                  <a:srgbClr val="0E0E0F"/>
                </a:solidFill>
                <a:effectLst/>
                <a:latin typeface="Times New Roman" panose="02020603050405020304" pitchFamily="18" charset="0"/>
                <a:cs typeface="Times New Roman" panose="02020603050405020304" pitchFamily="18" charset="0"/>
              </a:rPr>
              <a:t>Internet</a:t>
            </a:r>
            <a:r>
              <a:rPr lang="ru-RU" sz="1800" b="0" i="0" dirty="0">
                <a:solidFill>
                  <a:srgbClr val="0E0E0F"/>
                </a:solidFill>
                <a:effectLst/>
                <a:latin typeface="Times New Roman" panose="02020603050405020304" pitchFamily="18" charset="0"/>
                <a:cs typeface="Times New Roman" panose="02020603050405020304" pitchFamily="18" charset="0"/>
              </a:rPr>
              <a:t> </a:t>
            </a:r>
            <a:r>
              <a:rPr lang="ru-RU" sz="1800" b="0" i="0" dirty="0" err="1">
                <a:solidFill>
                  <a:srgbClr val="0E0E0F"/>
                </a:solidFill>
                <a:effectLst/>
                <a:latin typeface="Times New Roman" panose="02020603050405020304" pitchFamily="18" charset="0"/>
                <a:cs typeface="Times New Roman" panose="02020603050405020304" pitchFamily="18" charset="0"/>
              </a:rPr>
              <a:t>Protocol</a:t>
            </a:r>
            <a:r>
              <a:rPr lang="ru-RU" sz="1800" b="0" i="0" dirty="0">
                <a:solidFill>
                  <a:srgbClr val="0E0E0F"/>
                </a:solidFill>
                <a:effectLst/>
                <a:latin typeface="Times New Roman" panose="02020603050405020304" pitchFamily="18" charset="0"/>
                <a:cs typeface="Times New Roman" panose="02020603050405020304" pitchFamily="18" charset="0"/>
              </a:rPr>
              <a:t>. Набор правил, входящий в него, позволяет обрабатывать как сквозную передачу данных, так и другие детали этого механизма. Сюда входит формирование пакетов, способ их отправки, получения, маршрутизации, распаковки для передачи программному обеспечению.</a:t>
            </a:r>
            <a:endParaRPr lang="en-US" sz="1800" b="0" i="0" dirty="0">
              <a:solidFill>
                <a:srgbClr val="0E0E0F"/>
              </a:solidFill>
              <a:effectLst/>
              <a:latin typeface="Times New Roman" panose="02020603050405020304" pitchFamily="18" charset="0"/>
              <a:cs typeface="Times New Roman" panose="02020603050405020304" pitchFamily="18" charset="0"/>
            </a:endParaRPr>
          </a:p>
          <a:p>
            <a:endParaRPr lang="en-US" sz="1800" b="0" i="0" dirty="0">
              <a:solidFill>
                <a:srgbClr val="0E0E0F"/>
              </a:solidFill>
              <a:effectLst/>
              <a:latin typeface="Times New Roman" panose="02020603050405020304" pitchFamily="18" charset="0"/>
              <a:cs typeface="Times New Roman" panose="02020603050405020304" pitchFamily="18" charset="0"/>
            </a:endParaRPr>
          </a:p>
          <a:p>
            <a:pPr algn="l"/>
            <a:r>
              <a:rPr lang="ru-RU" dirty="0">
                <a:solidFill>
                  <a:srgbClr val="0E0E0F"/>
                </a:solidFill>
                <a:latin typeface="Times New Roman" panose="02020603050405020304" pitchFamily="18" charset="0"/>
                <a:cs typeface="Times New Roman" panose="02020603050405020304" pitchFamily="18" charset="0"/>
              </a:rPr>
              <a:t>Стек протоколов TCP/IP был создан в 1972 году на базе NCP (</a:t>
            </a:r>
            <a:r>
              <a:rPr lang="ru-RU" dirty="0" err="1">
                <a:solidFill>
                  <a:srgbClr val="0E0E0F"/>
                </a:solidFill>
                <a:latin typeface="Times New Roman" panose="02020603050405020304" pitchFamily="18" charset="0"/>
                <a:cs typeface="Times New Roman" panose="02020603050405020304" pitchFamily="18" charset="0"/>
              </a:rPr>
              <a:t>Network</a:t>
            </a:r>
            <a:r>
              <a:rPr lang="ru-RU" dirty="0">
                <a:solidFill>
                  <a:srgbClr val="0E0E0F"/>
                </a:solidFill>
                <a:latin typeface="Times New Roman" panose="02020603050405020304" pitchFamily="18" charset="0"/>
                <a:cs typeface="Times New Roman" panose="02020603050405020304" pitchFamily="18" charset="0"/>
              </a:rPr>
              <a:t> </a:t>
            </a:r>
            <a:r>
              <a:rPr lang="ru-RU" dirty="0" err="1">
                <a:solidFill>
                  <a:srgbClr val="0E0E0F"/>
                </a:solidFill>
                <a:latin typeface="Times New Roman" panose="02020603050405020304" pitchFamily="18" charset="0"/>
                <a:cs typeface="Times New Roman" panose="02020603050405020304" pitchFamily="18" charset="0"/>
              </a:rPr>
              <a:t>Control</a:t>
            </a:r>
            <a:r>
              <a:rPr lang="ru-RU" dirty="0">
                <a:solidFill>
                  <a:srgbClr val="0E0E0F"/>
                </a:solidFill>
                <a:latin typeface="Times New Roman" panose="02020603050405020304" pitchFamily="18" charset="0"/>
                <a:cs typeface="Times New Roman" panose="02020603050405020304" pitchFamily="18" charset="0"/>
              </a:rPr>
              <a:t> </a:t>
            </a:r>
            <a:r>
              <a:rPr lang="ru-RU" dirty="0" err="1">
                <a:solidFill>
                  <a:srgbClr val="0E0E0F"/>
                </a:solidFill>
                <a:latin typeface="Times New Roman" panose="02020603050405020304" pitchFamily="18" charset="0"/>
                <a:cs typeface="Times New Roman" panose="02020603050405020304" pitchFamily="18" charset="0"/>
              </a:rPr>
              <a:t>Protocol</a:t>
            </a:r>
            <a:r>
              <a:rPr lang="ru-RU" dirty="0">
                <a:solidFill>
                  <a:srgbClr val="0E0E0F"/>
                </a:solidFill>
                <a:latin typeface="Times New Roman" panose="02020603050405020304" pitchFamily="18" charset="0"/>
                <a:cs typeface="Times New Roman" panose="02020603050405020304" pitchFamily="18" charset="0"/>
              </a:rPr>
              <a:t>), в январе 1983 года он стал официальным стандартом для всего интернета. Техническая спецификация уровней взаимодействия описана в документе RFC 1122.</a:t>
            </a:r>
          </a:p>
          <a:p>
            <a:pPr algn="l"/>
            <a:r>
              <a:rPr lang="ru-RU" dirty="0">
                <a:solidFill>
                  <a:srgbClr val="0E0E0F"/>
                </a:solidFill>
                <a:latin typeface="Times New Roman" panose="02020603050405020304" pitchFamily="18" charset="0"/>
                <a:cs typeface="Times New Roman" panose="02020603050405020304" pitchFamily="18" charset="0"/>
              </a:rPr>
              <a:t>В составе стека есть и другие известные протоколы передачи данных – UDP, FTP, ICMP, IGMP, SMTP. Они представляют собой частные случаи применения технологии: например, у SMTP единственное предназначение заключается в отправке электронных писем. </a:t>
            </a:r>
          </a:p>
          <a:p>
            <a:br>
              <a:rPr lang="ru-RU" sz="1800" b="0" i="0" dirty="0">
                <a:solidFill>
                  <a:srgbClr val="0E0E0F"/>
                </a:solidFill>
                <a:effectLst/>
                <a:latin typeface="Times New Roman" panose="02020603050405020304" pitchFamily="18" charset="0"/>
                <a:cs typeface="Times New Roman" panose="02020603050405020304" pitchFamily="18" charset="0"/>
              </a:rPr>
            </a:br>
            <a:endParaRPr lang="en-US" dirty="0"/>
          </a:p>
        </p:txBody>
      </p:sp>
    </p:spTree>
    <p:extLst>
      <p:ext uri="{BB962C8B-B14F-4D97-AF65-F5344CB8AC3E}">
        <p14:creationId xmlns:p14="http://schemas.microsoft.com/office/powerpoint/2010/main" val="19380384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pic>
        <p:nvPicPr>
          <p:cNvPr id="1026" name="Picture 2" descr="Что такое TCP/IP">
            <a:extLst>
              <a:ext uri="{FF2B5EF4-FFF2-40B4-BE49-F238E27FC236}">
                <a16:creationId xmlns:a16="http://schemas.microsoft.com/office/drawing/2014/main" id="{29F90C77-D84A-4F34-BFF4-973BB6AE65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842" y="568171"/>
            <a:ext cx="8096112" cy="5882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8827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5" name="TextBox 4">
            <a:extLst>
              <a:ext uri="{FF2B5EF4-FFF2-40B4-BE49-F238E27FC236}">
                <a16:creationId xmlns:a16="http://schemas.microsoft.com/office/drawing/2014/main" id="{B22945E7-F805-4F3D-AFC7-6030DC797E05}"/>
              </a:ext>
            </a:extLst>
          </p:cNvPr>
          <p:cNvSpPr txBox="1"/>
          <p:nvPr/>
        </p:nvSpPr>
        <p:spPr>
          <a:xfrm>
            <a:off x="396906" y="292964"/>
            <a:ext cx="11596825" cy="923330"/>
          </a:xfrm>
          <a:prstGeom prst="rect">
            <a:avLst/>
          </a:prstGeom>
          <a:noFill/>
        </p:spPr>
        <p:txBody>
          <a:bodyPr wrap="square">
            <a:spAutoFit/>
          </a:bodyPr>
          <a:lstStyle/>
          <a:p>
            <a:pPr algn="l"/>
            <a:r>
              <a:rPr lang="ru-RU" b="1" i="0" dirty="0">
                <a:solidFill>
                  <a:srgbClr val="0E0E0F"/>
                </a:solidFill>
                <a:effectLst/>
                <a:latin typeface="Inter"/>
              </a:rPr>
              <a:t>Уровни модели TCP/IP</a:t>
            </a:r>
          </a:p>
          <a:p>
            <a:pPr algn="l"/>
            <a:r>
              <a:rPr lang="ru-RU" b="0" i="0" dirty="0">
                <a:solidFill>
                  <a:srgbClr val="0E0E0F"/>
                </a:solidFill>
                <a:effectLst/>
                <a:latin typeface="Inter"/>
              </a:rPr>
              <a:t>Протокол TCP/IP основан на OSI и так же, как предшественник, имеет несколько уровней, которые и составляют его архитектуру. Всего выделяют 4 уровня – канальный (интерфейсный), межсетевой, транспортный и прикладной. </a:t>
            </a:r>
          </a:p>
        </p:txBody>
      </p:sp>
      <p:pic>
        <p:nvPicPr>
          <p:cNvPr id="2050" name="Picture 2" descr="Уровни&amp;nbsp;модели TCP/IP">
            <a:extLst>
              <a:ext uri="{FF2B5EF4-FFF2-40B4-BE49-F238E27FC236}">
                <a16:creationId xmlns:a16="http://schemas.microsoft.com/office/drawing/2014/main" id="{F7675C92-B99F-47EF-B4B4-C91D2B66A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582" y="1647825"/>
            <a:ext cx="10582275" cy="5210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69015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6" name="TextBox 5">
            <a:extLst>
              <a:ext uri="{FF2B5EF4-FFF2-40B4-BE49-F238E27FC236}">
                <a16:creationId xmlns:a16="http://schemas.microsoft.com/office/drawing/2014/main" id="{0ABDFBCA-AEAA-4030-A64C-E4932558D914}"/>
              </a:ext>
            </a:extLst>
          </p:cNvPr>
          <p:cNvSpPr txBox="1"/>
          <p:nvPr/>
        </p:nvSpPr>
        <p:spPr>
          <a:xfrm>
            <a:off x="328474" y="-62145"/>
            <a:ext cx="11771790" cy="6771084"/>
          </a:xfrm>
          <a:prstGeom prst="rect">
            <a:avLst/>
          </a:prstGeom>
          <a:noFill/>
        </p:spPr>
        <p:txBody>
          <a:bodyPr wrap="square">
            <a:spAutoFit/>
          </a:bodyPr>
          <a:lstStyle/>
          <a:p>
            <a:pPr algn="l"/>
            <a:r>
              <a:rPr lang="ru-RU" sz="2600" b="1" i="0" dirty="0">
                <a:solidFill>
                  <a:srgbClr val="FF0000"/>
                </a:solidFill>
                <a:effectLst/>
                <a:latin typeface="Inter"/>
              </a:rPr>
              <a:t>Канальный (сетевой интерфейс)</a:t>
            </a:r>
          </a:p>
          <a:p>
            <a:pPr algn="l"/>
            <a:r>
              <a:rPr lang="ru-RU" sz="2600" b="0" i="0" dirty="0">
                <a:solidFill>
                  <a:srgbClr val="0E0E0F"/>
                </a:solidFill>
                <a:effectLst/>
                <a:latin typeface="Inter"/>
              </a:rPr>
              <a:t>Аппаратный уровень обеспечивает взаимодействие сетевого оборудования </a:t>
            </a:r>
            <a:r>
              <a:rPr lang="ru-RU" sz="2600" b="0" i="0" dirty="0" err="1">
                <a:solidFill>
                  <a:srgbClr val="0E0E0F"/>
                </a:solidFill>
                <a:effectLst/>
                <a:latin typeface="Inter"/>
              </a:rPr>
              <a:t>Ethernet</a:t>
            </a:r>
            <a:r>
              <a:rPr lang="ru-RU" sz="2600" b="0" i="0" dirty="0">
                <a:solidFill>
                  <a:srgbClr val="0E0E0F"/>
                </a:solidFill>
                <a:effectLst/>
                <a:latin typeface="Inter"/>
              </a:rPr>
              <a:t> и </a:t>
            </a:r>
            <a:r>
              <a:rPr lang="ru-RU" sz="2600" b="0" i="0" dirty="0" err="1">
                <a:solidFill>
                  <a:srgbClr val="0E0E0F"/>
                </a:solidFill>
                <a:effectLst/>
                <a:latin typeface="Inter"/>
              </a:rPr>
              <a:t>Wi-Fi</a:t>
            </a:r>
            <a:r>
              <a:rPr lang="ru-RU" sz="2600" b="0" i="0" dirty="0">
                <a:solidFill>
                  <a:srgbClr val="0E0E0F"/>
                </a:solidFill>
                <a:effectLst/>
                <a:latin typeface="Inter"/>
              </a:rPr>
              <a:t>. Он соответствует физическому из предыдущего стандарта OSI. Здесь задача состоит в кодировании информации, ее делению на пакеты и отправке по нужному каналу. Также измеряются параметры сигнала вроде задержки ответа и расстояния между хостами.</a:t>
            </a:r>
          </a:p>
          <a:p>
            <a:pPr algn="l"/>
            <a:r>
              <a:rPr lang="ru-RU" sz="2600" b="1" i="0" dirty="0">
                <a:solidFill>
                  <a:srgbClr val="0E0E0F"/>
                </a:solidFill>
                <a:effectLst/>
                <a:latin typeface="Inter"/>
              </a:rPr>
              <a:t>Межсетевой (</a:t>
            </a:r>
            <a:r>
              <a:rPr lang="ru-RU" sz="2600" b="1" i="0" dirty="0" err="1">
                <a:solidFill>
                  <a:srgbClr val="0E0E0F"/>
                </a:solidFill>
                <a:effectLst/>
                <a:latin typeface="Inter"/>
              </a:rPr>
              <a:t>Internet</a:t>
            </a:r>
            <a:r>
              <a:rPr lang="ru-RU" sz="2600" b="1" i="0" dirty="0">
                <a:solidFill>
                  <a:srgbClr val="0E0E0F"/>
                </a:solidFill>
                <a:effectLst/>
                <a:latin typeface="Inter"/>
              </a:rPr>
              <a:t> </a:t>
            </a:r>
            <a:r>
              <a:rPr lang="ru-RU" sz="2600" b="1" i="0" dirty="0" err="1">
                <a:solidFill>
                  <a:srgbClr val="0E0E0F"/>
                </a:solidFill>
                <a:effectLst/>
                <a:latin typeface="Inter"/>
              </a:rPr>
              <a:t>Layer</a:t>
            </a:r>
            <a:r>
              <a:rPr lang="ru-RU" sz="2600" b="1" i="0" dirty="0">
                <a:solidFill>
                  <a:srgbClr val="0E0E0F"/>
                </a:solidFill>
                <a:effectLst/>
                <a:latin typeface="Inter"/>
              </a:rPr>
              <a:t>)</a:t>
            </a:r>
          </a:p>
          <a:p>
            <a:pPr algn="l"/>
            <a:r>
              <a:rPr lang="ru-RU" sz="2600" b="0" i="0" dirty="0">
                <a:solidFill>
                  <a:srgbClr val="0E0E0F"/>
                </a:solidFill>
                <a:effectLst/>
                <a:latin typeface="Inter"/>
              </a:rPr>
              <a:t>Интернет состоит из множества локальных сетей, объединенных между собой как раз за счет протокола связи TCP/IP. Межсетевой уровень регламентирует взаимодействие между отдельными подсетями. Маршрутизация осуществляется путем обращения к определенному IP-адресу с использованием маски.</a:t>
            </a:r>
          </a:p>
          <a:p>
            <a:pPr algn="l"/>
            <a:r>
              <a:rPr lang="ru-RU" sz="2600" b="0" i="0" dirty="0">
                <a:solidFill>
                  <a:srgbClr val="0E0E0F"/>
                </a:solidFill>
                <a:effectLst/>
                <a:latin typeface="Inter"/>
              </a:rPr>
              <a:t>Если хосты находятся в одной подсети, маркируемой одной маской, данные передаются напрямую. В противном случае информация «путешествует» по целой цепочке промежуточных звеньев, пока не достигнет нужной точки. Назначение IP-адреса проводится по стандарту IPv4 или IPv6 (они не совместимы между собой).</a:t>
            </a:r>
            <a:endParaRPr lang="en-US" sz="2600" b="0" i="0" dirty="0">
              <a:solidFill>
                <a:srgbClr val="0E0E0F"/>
              </a:solidFill>
              <a:effectLst/>
              <a:latin typeface="Inter"/>
            </a:endParaRPr>
          </a:p>
          <a:p>
            <a:pPr algn="l"/>
            <a:endParaRPr lang="ru-RU" b="0" i="0" dirty="0">
              <a:solidFill>
                <a:srgbClr val="0E0E0F"/>
              </a:solidFill>
              <a:effectLst/>
              <a:latin typeface="Inter"/>
            </a:endParaRPr>
          </a:p>
        </p:txBody>
      </p:sp>
    </p:spTree>
    <p:extLst>
      <p:ext uri="{BB962C8B-B14F-4D97-AF65-F5344CB8AC3E}">
        <p14:creationId xmlns:p14="http://schemas.microsoft.com/office/powerpoint/2010/main" val="1337952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C8674AE3-DDAB-46B7-983D-563F24E117B7}"/>
              </a:ext>
            </a:extLst>
          </p:cNvPr>
          <p:cNvSpPr txBox="1"/>
          <p:nvPr/>
        </p:nvSpPr>
        <p:spPr>
          <a:xfrm>
            <a:off x="328473" y="78898"/>
            <a:ext cx="11691891" cy="6463308"/>
          </a:xfrm>
          <a:prstGeom prst="rect">
            <a:avLst/>
          </a:prstGeom>
          <a:noFill/>
        </p:spPr>
        <p:txBody>
          <a:bodyPr wrap="square">
            <a:spAutoFit/>
          </a:bodyPr>
          <a:lstStyle/>
          <a:p>
            <a:pPr algn="l"/>
            <a:r>
              <a:rPr lang="ru-RU" sz="2200" b="1" i="0" dirty="0">
                <a:solidFill>
                  <a:srgbClr val="0E0E0F"/>
                </a:solidFill>
                <a:effectLst/>
                <a:latin typeface="Times New Roman" panose="02020603050405020304" pitchFamily="18" charset="0"/>
                <a:cs typeface="Times New Roman" panose="02020603050405020304" pitchFamily="18" charset="0"/>
              </a:rPr>
              <a:t>Транспортный уровень (</a:t>
            </a:r>
            <a:r>
              <a:rPr lang="ru-RU" sz="2200" b="1" i="0" dirty="0" err="1">
                <a:solidFill>
                  <a:srgbClr val="0E0E0F"/>
                </a:solidFill>
                <a:effectLst/>
                <a:latin typeface="Times New Roman" panose="02020603050405020304" pitchFamily="18" charset="0"/>
                <a:cs typeface="Times New Roman" panose="02020603050405020304" pitchFamily="18" charset="0"/>
              </a:rPr>
              <a:t>Transport</a:t>
            </a:r>
            <a:r>
              <a:rPr lang="ru-RU" sz="2200" b="1" i="0" dirty="0">
                <a:solidFill>
                  <a:srgbClr val="0E0E0F"/>
                </a:solidFill>
                <a:effectLst/>
                <a:latin typeface="Times New Roman" panose="02020603050405020304" pitchFamily="18" charset="0"/>
                <a:cs typeface="Times New Roman" panose="02020603050405020304" pitchFamily="18" charset="0"/>
              </a:rPr>
              <a:t> </a:t>
            </a:r>
            <a:r>
              <a:rPr lang="ru-RU" sz="2200" b="1" i="0" dirty="0" err="1">
                <a:solidFill>
                  <a:srgbClr val="0E0E0F"/>
                </a:solidFill>
                <a:effectLst/>
                <a:latin typeface="Times New Roman" panose="02020603050405020304" pitchFamily="18" charset="0"/>
                <a:cs typeface="Times New Roman" panose="02020603050405020304" pitchFamily="18" charset="0"/>
              </a:rPr>
              <a:t>Layer</a:t>
            </a:r>
            <a:r>
              <a:rPr lang="ru-RU" sz="2200" b="1" i="0" dirty="0">
                <a:solidFill>
                  <a:srgbClr val="0E0E0F"/>
                </a:solidFill>
                <a:effectLst/>
                <a:latin typeface="Times New Roman" panose="02020603050405020304" pitchFamily="18" charset="0"/>
                <a:cs typeface="Times New Roman" panose="02020603050405020304" pitchFamily="18" charset="0"/>
              </a:rPr>
              <a:t>)</a:t>
            </a:r>
          </a:p>
          <a:p>
            <a:pPr algn="l"/>
            <a:r>
              <a:rPr lang="ru-RU" sz="2200" b="0" i="0" dirty="0">
                <a:solidFill>
                  <a:srgbClr val="0E0E0F"/>
                </a:solidFill>
                <a:effectLst/>
                <a:latin typeface="Times New Roman" panose="02020603050405020304" pitchFamily="18" charset="0"/>
                <a:cs typeface="Times New Roman" panose="02020603050405020304" pitchFamily="18" charset="0"/>
              </a:rPr>
              <a:t>Следующий уровень отвечает за контроль доставки, чтобы не возникало дублей пакетов данных. В случае обнаружения потерь или ошибок информация запрашивается повторно. Такой подход дает возможность полностью автоматизировать процессы независимо от скорости и качества связи между отдельными участками интернета или внутри конкретной подсети.</a:t>
            </a:r>
          </a:p>
          <a:p>
            <a:pPr algn="l"/>
            <a:r>
              <a:rPr lang="ru-RU" sz="2200" b="0" i="0" dirty="0">
                <a:solidFill>
                  <a:srgbClr val="0E0E0F"/>
                </a:solidFill>
                <a:effectLst/>
                <a:latin typeface="Times New Roman" panose="02020603050405020304" pitchFamily="18" charset="0"/>
                <a:cs typeface="Times New Roman" panose="02020603050405020304" pitchFamily="18" charset="0"/>
              </a:rPr>
              <a:t>Протокол TCP отличается большей достоверностью передачи данных по сравнению с тем же UDP, который подходит только для передачи потокового видео и игровой графики. Там некритичны потери части пакетов, чего нельзя сказать о копировании программных файлов и документов. На этом уровне данные не интерпретируются.</a:t>
            </a:r>
            <a:endParaRPr lang="en-US" sz="2200" b="0" i="0" dirty="0">
              <a:solidFill>
                <a:srgbClr val="0E0E0F"/>
              </a:solidFill>
              <a:effectLst/>
              <a:latin typeface="Times New Roman" panose="02020603050405020304" pitchFamily="18" charset="0"/>
              <a:cs typeface="Times New Roman" panose="02020603050405020304" pitchFamily="18" charset="0"/>
            </a:endParaRPr>
          </a:p>
          <a:p>
            <a:pPr algn="l"/>
            <a:r>
              <a:rPr lang="ru-RU" sz="2200" b="1" i="0" dirty="0">
                <a:solidFill>
                  <a:srgbClr val="0E0E0F"/>
                </a:solidFill>
                <a:effectLst/>
                <a:latin typeface="Times New Roman" panose="02020603050405020304" pitchFamily="18" charset="0"/>
                <a:cs typeface="Times New Roman" panose="02020603050405020304" pitchFamily="18" charset="0"/>
              </a:rPr>
              <a:t>Прикладной уровень (</a:t>
            </a:r>
            <a:r>
              <a:rPr lang="ru-RU" sz="2200" b="1" i="0" dirty="0" err="1">
                <a:solidFill>
                  <a:srgbClr val="0E0E0F"/>
                </a:solidFill>
                <a:effectLst/>
                <a:latin typeface="Times New Roman" panose="02020603050405020304" pitchFamily="18" charset="0"/>
                <a:cs typeface="Times New Roman" panose="02020603050405020304" pitchFamily="18" charset="0"/>
              </a:rPr>
              <a:t>Application</a:t>
            </a:r>
            <a:r>
              <a:rPr lang="ru-RU" sz="2200" b="1" i="0" dirty="0">
                <a:solidFill>
                  <a:srgbClr val="0E0E0F"/>
                </a:solidFill>
                <a:effectLst/>
                <a:latin typeface="Times New Roman" panose="02020603050405020304" pitchFamily="18" charset="0"/>
                <a:cs typeface="Times New Roman" panose="02020603050405020304" pitchFamily="18" charset="0"/>
              </a:rPr>
              <a:t> </a:t>
            </a:r>
            <a:r>
              <a:rPr lang="ru-RU" sz="2200" b="1" i="0" dirty="0" err="1">
                <a:solidFill>
                  <a:srgbClr val="0E0E0F"/>
                </a:solidFill>
                <a:effectLst/>
                <a:latin typeface="Times New Roman" panose="02020603050405020304" pitchFamily="18" charset="0"/>
                <a:cs typeface="Times New Roman" panose="02020603050405020304" pitchFamily="18" charset="0"/>
              </a:rPr>
              <a:t>Layer</a:t>
            </a:r>
            <a:r>
              <a:rPr lang="ru-RU" sz="2200" b="1" i="0" dirty="0">
                <a:solidFill>
                  <a:srgbClr val="0E0E0F"/>
                </a:solidFill>
                <a:effectLst/>
                <a:latin typeface="Times New Roman" panose="02020603050405020304" pitchFamily="18" charset="0"/>
                <a:cs typeface="Times New Roman" panose="02020603050405020304" pitchFamily="18" charset="0"/>
              </a:rPr>
              <a:t>)</a:t>
            </a:r>
          </a:p>
          <a:p>
            <a:pPr algn="l"/>
            <a:r>
              <a:rPr lang="ru-RU" sz="2200" b="0" i="0" dirty="0">
                <a:solidFill>
                  <a:srgbClr val="0E0E0F"/>
                </a:solidFill>
                <a:effectLst/>
                <a:latin typeface="Times New Roman" panose="02020603050405020304" pitchFamily="18" charset="0"/>
                <a:cs typeface="Times New Roman" panose="02020603050405020304" pitchFamily="18" charset="0"/>
              </a:rPr>
              <a:t>Здесь объединены 3 уровня модели OSI – сеансовый, представления и прикладной. На него ложатся задачи по поддержанию сеанса связи, преобразованию данных, взаимодействию с пользователем и сетью. На этом уровне применяются стандарты интерфейса API, позволяющего передавать команды на выполнение определенных задач.</a:t>
            </a:r>
          </a:p>
          <a:p>
            <a:pPr algn="l"/>
            <a:r>
              <a:rPr lang="ru-RU" sz="2200" b="0" i="0" dirty="0">
                <a:solidFill>
                  <a:srgbClr val="0E0E0F"/>
                </a:solidFill>
                <a:effectLst/>
                <a:latin typeface="Times New Roman" panose="02020603050405020304" pitchFamily="18" charset="0"/>
                <a:cs typeface="Times New Roman" panose="02020603050405020304" pitchFamily="18" charset="0"/>
              </a:rPr>
              <a:t>Возможно и использование «производных» протоколов. Например, для открытия сайтов используется HTTPS, при отправке электронной почты – SMTP, для назначения IP-адресов – DHCP. Такой подход упрощает программирование, снижает нагрузку на сеть, увеличивает скорость обработки команд и передачи данных.</a:t>
            </a:r>
          </a:p>
          <a:p>
            <a:pPr algn="l"/>
            <a:endParaRPr lang="ru-RU" b="0" i="0" dirty="0">
              <a:solidFill>
                <a:srgbClr val="0E0E0F"/>
              </a:solidFill>
              <a:effectLst/>
              <a:latin typeface="Inter"/>
            </a:endParaRPr>
          </a:p>
        </p:txBody>
      </p:sp>
    </p:spTree>
    <p:extLst>
      <p:ext uri="{BB962C8B-B14F-4D97-AF65-F5344CB8AC3E}">
        <p14:creationId xmlns:p14="http://schemas.microsoft.com/office/powerpoint/2010/main" val="3909701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DF1FFF66-61E1-40DE-86FF-CF56CB452BC5}"/>
              </a:ext>
            </a:extLst>
          </p:cNvPr>
          <p:cNvSpPr txBox="1"/>
          <p:nvPr/>
        </p:nvSpPr>
        <p:spPr>
          <a:xfrm>
            <a:off x="266700" y="292964"/>
            <a:ext cx="11744787" cy="6247864"/>
          </a:xfrm>
          <a:prstGeom prst="rect">
            <a:avLst/>
          </a:prstGeom>
          <a:noFill/>
        </p:spPr>
        <p:txBody>
          <a:bodyPr wrap="square">
            <a:spAutoFit/>
          </a:bodyPr>
          <a:lstStyle/>
          <a:p>
            <a:pPr algn="l"/>
            <a:r>
              <a:rPr lang="ru-RU" sz="2000" b="1" i="0" dirty="0">
                <a:solidFill>
                  <a:srgbClr val="0E0E0F"/>
                </a:solidFill>
                <a:effectLst/>
                <a:latin typeface="Inter"/>
              </a:rPr>
              <a:t>Порты и сокеты – что это и зачем они нужны</a:t>
            </a:r>
          </a:p>
          <a:p>
            <a:pPr algn="l"/>
            <a:r>
              <a:rPr lang="ru-RU" sz="2000" b="0" i="0" dirty="0">
                <a:solidFill>
                  <a:srgbClr val="0E0E0F"/>
                </a:solidFill>
                <a:effectLst/>
                <a:latin typeface="Inter"/>
              </a:rPr>
              <a:t>Процессы, работающие на прикладном уровне, «общаются» с транспортным, но они видны ему как «черные ящики» с зашифрованной информацией. Зато он понимает, на какой IP-адрес адресованы данные и через какой порт надо их принимать. Этого достаточно для точного распределения пакетов по сети независимо от месторасположения хостов. Порты с 0 до 1023 зарезервированы операционными системами, остальные, в диапазоне от 1024 до 49151, условно свободны и могут использоваться сторонними приложениями.</a:t>
            </a:r>
          </a:p>
          <a:p>
            <a:pPr algn="l"/>
            <a:r>
              <a:rPr lang="ru-RU" sz="2000" b="0" i="0" dirty="0">
                <a:solidFill>
                  <a:srgbClr val="0E0E0F"/>
                </a:solidFill>
                <a:effectLst/>
                <a:latin typeface="Inter"/>
              </a:rPr>
              <a:t>Комбинация IP-адреса и порта называется сокетом и используется при идентификации компьютера. Если первый критерий уникален для каждого хоста, второй обычно фиксирован для определенного типа приложений. Так, получение электронной почты проходит через 110 порт, передача данных по </a:t>
            </a:r>
            <a:r>
              <a:rPr lang="ru-RU" sz="2000" b="0" i="0" u="none" strike="noStrike" dirty="0">
                <a:solidFill>
                  <a:srgbClr val="0E0E0F"/>
                </a:solidFill>
                <a:effectLst/>
                <a:latin typeface="Inter"/>
                <a:hlinkClick r:id="rId2"/>
              </a:rPr>
              <a:t>протоколу FTP</a:t>
            </a:r>
            <a:r>
              <a:rPr lang="ru-RU" sz="2000" b="0" i="0" dirty="0">
                <a:solidFill>
                  <a:srgbClr val="0E0E0F"/>
                </a:solidFill>
                <a:effectLst/>
                <a:latin typeface="Inter"/>
              </a:rPr>
              <a:t> – по 21, открытие сайтов – по 80.</a:t>
            </a:r>
          </a:p>
          <a:p>
            <a:pPr algn="l"/>
            <a:r>
              <a:rPr lang="ru-RU" sz="2000" b="1" i="0" dirty="0">
                <a:solidFill>
                  <a:srgbClr val="0E0E0F"/>
                </a:solidFill>
                <a:effectLst/>
                <a:latin typeface="Inter"/>
              </a:rPr>
              <a:t>Преобразование IP-адресов в символьные адреса</a:t>
            </a:r>
          </a:p>
          <a:p>
            <a:pPr algn="l"/>
            <a:r>
              <a:rPr lang="ru-RU" sz="2000" b="0" i="0" dirty="0">
                <a:solidFill>
                  <a:srgbClr val="0E0E0F"/>
                </a:solidFill>
                <a:effectLst/>
                <a:latin typeface="Inter"/>
              </a:rPr>
              <a:t>Технология активно используется для назначения буквенно-цифровых названий веб-ресурсов. При вводе домена в адресной строке браузера сначала происходит обращение к специальному серверу </a:t>
            </a:r>
            <a:r>
              <a:rPr lang="ru-RU" sz="2000" b="0" i="0" u="none" strike="noStrike" dirty="0">
                <a:solidFill>
                  <a:srgbClr val="0E0E0F"/>
                </a:solidFill>
                <a:effectLst/>
                <a:latin typeface="Inter"/>
                <a:hlinkClick r:id="rId3"/>
              </a:rPr>
              <a:t>DNS</a:t>
            </a:r>
            <a:r>
              <a:rPr lang="ru-RU" sz="2000" b="0" i="0" dirty="0">
                <a:solidFill>
                  <a:srgbClr val="0E0E0F"/>
                </a:solidFill>
                <a:effectLst/>
                <a:latin typeface="Inter"/>
              </a:rPr>
              <a:t>. Он всегда прослушивает порт 53 у всех компьютеров, которые подключены к интернету, и по запросу преобразует введенное название в стандартный IP-адрес.</a:t>
            </a:r>
          </a:p>
          <a:p>
            <a:pPr algn="l"/>
            <a:r>
              <a:rPr lang="ru-RU" sz="2000" b="0" i="0" dirty="0">
                <a:solidFill>
                  <a:srgbClr val="0E0E0F"/>
                </a:solidFill>
                <a:effectLst/>
                <a:latin typeface="Inter"/>
              </a:rPr>
              <a:t>После определения точного местонахождения файлов сайта включается обычная схема работы – от прикладного уровня с кодированием данных до обращения к физическому оборудованию на уровне сетевых интерфейсов. Процесс называется инкапсуляцией информации. На принимающей стороне происходит обратная процедура – </a:t>
            </a:r>
            <a:r>
              <a:rPr lang="ru-RU" sz="2000" b="0" i="0" dirty="0" err="1">
                <a:solidFill>
                  <a:srgbClr val="0E0E0F"/>
                </a:solidFill>
                <a:effectLst/>
                <a:latin typeface="Inter"/>
              </a:rPr>
              <a:t>декапсуляция</a:t>
            </a:r>
            <a:r>
              <a:rPr lang="ru-RU" sz="2000" b="0" i="0" dirty="0">
                <a:solidFill>
                  <a:srgbClr val="0E0E0F"/>
                </a:solidFill>
                <a:effectLst/>
                <a:latin typeface="Inter"/>
              </a:rPr>
              <a:t>.</a:t>
            </a:r>
          </a:p>
        </p:txBody>
      </p:sp>
    </p:spTree>
    <p:extLst>
      <p:ext uri="{BB962C8B-B14F-4D97-AF65-F5344CB8AC3E}">
        <p14:creationId xmlns:p14="http://schemas.microsoft.com/office/powerpoint/2010/main" val="25501965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14B88A37-FFDF-45DF-8B11-5F6521BFE054}"/>
              </a:ext>
            </a:extLst>
          </p:cNvPr>
          <p:cNvSpPr txBox="1"/>
          <p:nvPr/>
        </p:nvSpPr>
        <p:spPr>
          <a:xfrm>
            <a:off x="1003176" y="476564"/>
            <a:ext cx="10670959" cy="5509200"/>
          </a:xfrm>
          <a:prstGeom prst="rect">
            <a:avLst/>
          </a:prstGeom>
          <a:noFill/>
        </p:spPr>
        <p:txBody>
          <a:bodyPr wrap="square">
            <a:spAutoFit/>
          </a:bodyPr>
          <a:lstStyle/>
          <a:p>
            <a:pPr algn="l" fontAlgn="base"/>
            <a:r>
              <a:rPr lang="ru-RU" sz="2200" b="0" i="0" dirty="0">
                <a:solidFill>
                  <a:srgbClr val="161616"/>
                </a:solidFill>
                <a:effectLst/>
                <a:latin typeface="IBM Plex Sans"/>
              </a:rPr>
              <a:t>В протоколе TCP/IP строго зафиксированы правила передачи информации от отправителя к получателю. Сообщение или поток данных приложения отправляется протоколу </a:t>
            </a:r>
            <a:r>
              <a:rPr lang="ru-RU" sz="2200" b="0" i="0" dirty="0" err="1">
                <a:solidFill>
                  <a:srgbClr val="161616"/>
                </a:solidFill>
                <a:effectLst/>
                <a:latin typeface="IBM Plex Sans"/>
              </a:rPr>
              <a:t>Internet</a:t>
            </a:r>
            <a:r>
              <a:rPr lang="ru-RU" sz="2200" b="0" i="0" dirty="0">
                <a:solidFill>
                  <a:srgbClr val="161616"/>
                </a:solidFill>
                <a:effectLst/>
                <a:latin typeface="IBM Plex Sans"/>
              </a:rPr>
              <a:t> транспортного уровня, то есть </a:t>
            </a:r>
            <a:r>
              <a:rPr lang="ru-RU" sz="2200" b="1" i="0" dirty="0">
                <a:solidFill>
                  <a:srgbClr val="161616"/>
                </a:solidFill>
                <a:effectLst/>
                <a:latin typeface="inherit"/>
              </a:rPr>
              <a:t>Протоколу пользовательских дейтаграмм</a:t>
            </a:r>
            <a:r>
              <a:rPr lang="ru-RU" sz="2200" b="0" i="0" dirty="0">
                <a:solidFill>
                  <a:srgbClr val="161616"/>
                </a:solidFill>
                <a:effectLst/>
                <a:latin typeface="IBM Plex Sans"/>
              </a:rPr>
              <a:t> (</a:t>
            </a:r>
            <a:r>
              <a:rPr lang="ru-RU" sz="2200" b="1" i="0" dirty="0">
                <a:solidFill>
                  <a:srgbClr val="161616"/>
                </a:solidFill>
                <a:effectLst/>
                <a:latin typeface="inherit"/>
              </a:rPr>
              <a:t> UDP</a:t>
            </a:r>
            <a:r>
              <a:rPr lang="ru-RU" sz="2200" b="0" i="0" dirty="0">
                <a:solidFill>
                  <a:srgbClr val="161616"/>
                </a:solidFill>
                <a:effectLst/>
                <a:latin typeface="IBM Plex Sans"/>
              </a:rPr>
              <a:t>) или </a:t>
            </a:r>
            <a:r>
              <a:rPr lang="ru-RU" sz="2200" b="1" i="0" dirty="0">
                <a:solidFill>
                  <a:srgbClr val="161616"/>
                </a:solidFill>
                <a:effectLst/>
                <a:latin typeface="inherit"/>
              </a:rPr>
              <a:t>Протоколу управления передачей</a:t>
            </a:r>
            <a:r>
              <a:rPr lang="ru-RU" sz="2200" b="0" i="0" dirty="0">
                <a:solidFill>
                  <a:srgbClr val="161616"/>
                </a:solidFill>
                <a:effectLst/>
                <a:latin typeface="IBM Plex Sans"/>
              </a:rPr>
              <a:t> (</a:t>
            </a:r>
            <a:r>
              <a:rPr lang="ru-RU" sz="2200" b="1" i="0" dirty="0">
                <a:solidFill>
                  <a:srgbClr val="161616"/>
                </a:solidFill>
                <a:effectLst/>
                <a:latin typeface="inherit"/>
              </a:rPr>
              <a:t>TCP</a:t>
            </a:r>
            <a:r>
              <a:rPr lang="ru-RU" sz="2200" b="0" i="0" dirty="0">
                <a:solidFill>
                  <a:srgbClr val="161616"/>
                </a:solidFill>
                <a:effectLst/>
                <a:latin typeface="IBM Plex Sans"/>
              </a:rPr>
              <a:t>). Получив данные от приложения, эти протоколы разделяют всю информацию на небольшие блоки, которые называются </a:t>
            </a:r>
            <a:r>
              <a:rPr lang="ru-RU" sz="2200" b="0" i="1" dirty="0">
                <a:solidFill>
                  <a:srgbClr val="161616"/>
                </a:solidFill>
                <a:effectLst/>
                <a:latin typeface="inherit"/>
              </a:rPr>
              <a:t>пакетами</a:t>
            </a:r>
            <a:r>
              <a:rPr lang="ru-RU" sz="2200" b="0" i="0" dirty="0">
                <a:solidFill>
                  <a:srgbClr val="161616"/>
                </a:solidFill>
                <a:effectLst/>
                <a:latin typeface="IBM Plex Sans"/>
              </a:rPr>
              <a:t>. К каждому пакету добавляется адрес назначения, а затем пакет передается на следующий уровень протоколов </a:t>
            </a:r>
            <a:r>
              <a:rPr lang="ru-RU" sz="2200" b="0" i="0" dirty="0" err="1">
                <a:solidFill>
                  <a:srgbClr val="161616"/>
                </a:solidFill>
                <a:effectLst/>
                <a:latin typeface="IBM Plex Sans"/>
              </a:rPr>
              <a:t>Internet</a:t>
            </a:r>
            <a:r>
              <a:rPr lang="ru-RU" sz="2200" b="0" i="0" dirty="0">
                <a:solidFill>
                  <a:srgbClr val="161616"/>
                </a:solidFill>
                <a:effectLst/>
                <a:latin typeface="IBM Plex Sans"/>
              </a:rPr>
              <a:t>, то есть сетевой уровень.</a:t>
            </a:r>
          </a:p>
          <a:p>
            <a:pPr algn="l" fontAlgn="base"/>
            <a:r>
              <a:rPr lang="ru-RU" sz="2200" b="0" i="0" dirty="0">
                <a:solidFill>
                  <a:srgbClr val="161616"/>
                </a:solidFill>
                <a:effectLst/>
                <a:latin typeface="IBM Plex Sans"/>
              </a:rPr>
              <a:t>На сетевом уровне пакет помещается в дейтаграмму </a:t>
            </a:r>
            <a:r>
              <a:rPr lang="ru-RU" sz="2200" b="1" i="0" dirty="0">
                <a:solidFill>
                  <a:srgbClr val="161616"/>
                </a:solidFill>
                <a:effectLst/>
                <a:latin typeface="inherit"/>
              </a:rPr>
              <a:t>протокола </a:t>
            </a:r>
            <a:r>
              <a:rPr lang="ru-RU" sz="2200" b="1" i="0" dirty="0" err="1">
                <a:solidFill>
                  <a:srgbClr val="161616"/>
                </a:solidFill>
                <a:effectLst/>
                <a:latin typeface="inherit"/>
              </a:rPr>
              <a:t>Internet</a:t>
            </a:r>
            <a:r>
              <a:rPr lang="ru-RU" sz="2200" b="0" i="0" dirty="0">
                <a:solidFill>
                  <a:srgbClr val="161616"/>
                </a:solidFill>
                <a:effectLst/>
                <a:latin typeface="IBM Plex Sans"/>
              </a:rPr>
              <a:t> (</a:t>
            </a:r>
            <a:r>
              <a:rPr lang="ru-RU" sz="2200" b="1" i="0" dirty="0">
                <a:solidFill>
                  <a:srgbClr val="161616"/>
                </a:solidFill>
                <a:effectLst/>
                <a:latin typeface="inherit"/>
              </a:rPr>
              <a:t>IP</a:t>
            </a:r>
            <a:r>
              <a:rPr lang="ru-RU" sz="2200" b="0" i="0" dirty="0">
                <a:solidFill>
                  <a:srgbClr val="161616"/>
                </a:solidFill>
                <a:effectLst/>
                <a:latin typeface="IBM Plex Sans"/>
              </a:rPr>
              <a:t>), к которой добавляется заголовок и </a:t>
            </a:r>
            <a:r>
              <a:rPr lang="ru-RU" sz="2200" b="0" i="0" dirty="0" err="1">
                <a:solidFill>
                  <a:srgbClr val="161616"/>
                </a:solidFill>
                <a:effectLst/>
                <a:latin typeface="IBM Plex Sans"/>
              </a:rPr>
              <a:t>концевик</a:t>
            </a:r>
            <a:r>
              <a:rPr lang="ru-RU" sz="2200" b="0" i="0" dirty="0">
                <a:solidFill>
                  <a:srgbClr val="161616"/>
                </a:solidFill>
                <a:effectLst/>
                <a:latin typeface="IBM Plex Sans"/>
              </a:rPr>
              <a:t>. Протокол сетевого уровня определяет адрес следующего пункта назначения IP-дейтаграммы (она может быть передана сразу получателю или на промежуточный шлюз) и отправляют ее на уровень сетевого интерфейса.</a:t>
            </a:r>
          </a:p>
          <a:p>
            <a:pPr algn="l" fontAlgn="base"/>
            <a:r>
              <a:rPr lang="ru-RU" sz="2200" b="0" i="0" dirty="0">
                <a:solidFill>
                  <a:srgbClr val="161616"/>
                </a:solidFill>
                <a:effectLst/>
                <a:latin typeface="IBM Plex Sans"/>
              </a:rPr>
              <a:t>Уровень сетевого интерфейса принимает </a:t>
            </a:r>
            <a:r>
              <a:rPr lang="ru-RU" sz="2200" b="1" i="0" dirty="0">
                <a:solidFill>
                  <a:srgbClr val="161616"/>
                </a:solidFill>
                <a:effectLst/>
                <a:latin typeface="inherit"/>
              </a:rPr>
              <a:t>IP</a:t>
            </a:r>
            <a:r>
              <a:rPr lang="ru-RU" sz="2200" b="0" i="0" dirty="0">
                <a:solidFill>
                  <a:srgbClr val="161616"/>
                </a:solidFill>
                <a:effectLst/>
                <a:latin typeface="IBM Plex Sans"/>
              </a:rPr>
              <a:t>-дейтаграммы и передает их в виде </a:t>
            </a:r>
            <a:r>
              <a:rPr lang="ru-RU" sz="2200" b="0" i="1" dirty="0">
                <a:solidFill>
                  <a:srgbClr val="161616"/>
                </a:solidFill>
                <a:effectLst/>
                <a:latin typeface="inherit"/>
              </a:rPr>
              <a:t>кадров</a:t>
            </a:r>
            <a:r>
              <a:rPr lang="ru-RU" sz="2200" b="0" i="0" dirty="0">
                <a:solidFill>
                  <a:srgbClr val="161616"/>
                </a:solidFill>
                <a:effectLst/>
                <a:latin typeface="IBM Plex Sans"/>
              </a:rPr>
              <a:t> с помощью аппаратного обеспечения, такого как адаптер </a:t>
            </a:r>
            <a:r>
              <a:rPr lang="ru-RU" sz="2200" b="0" i="0" dirty="0" err="1">
                <a:solidFill>
                  <a:srgbClr val="161616"/>
                </a:solidFill>
                <a:effectLst/>
                <a:latin typeface="IBM Plex Sans"/>
              </a:rPr>
              <a:t>Ethernet</a:t>
            </a:r>
            <a:r>
              <a:rPr lang="ru-RU" sz="2200" b="0" i="0" dirty="0">
                <a:solidFill>
                  <a:srgbClr val="161616"/>
                </a:solidFill>
                <a:effectLst/>
                <a:latin typeface="IBM Plex Sans"/>
              </a:rPr>
              <a:t> или </a:t>
            </a:r>
            <a:r>
              <a:rPr lang="ru-RU" sz="2200" b="0" i="0" dirty="0" err="1">
                <a:solidFill>
                  <a:srgbClr val="161616"/>
                </a:solidFill>
                <a:effectLst/>
                <a:latin typeface="IBM Plex Sans"/>
              </a:rPr>
              <a:t>Token-Ring</a:t>
            </a:r>
            <a:r>
              <a:rPr lang="ru-RU" sz="2200" b="0" i="0" dirty="0">
                <a:solidFill>
                  <a:srgbClr val="161616"/>
                </a:solidFill>
                <a:effectLst/>
                <a:latin typeface="IBM Plex Sans"/>
              </a:rPr>
              <a:t>.</a:t>
            </a:r>
          </a:p>
        </p:txBody>
      </p:sp>
    </p:spTree>
    <p:extLst>
      <p:ext uri="{BB962C8B-B14F-4D97-AF65-F5344CB8AC3E}">
        <p14:creationId xmlns:p14="http://schemas.microsoft.com/office/powerpoint/2010/main" val="2568767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2DA4B0EF-AB2C-444E-B94D-A9ABD7B54C3C}"/>
              </a:ext>
            </a:extLst>
          </p:cNvPr>
          <p:cNvSpPr txBox="1"/>
          <p:nvPr/>
        </p:nvSpPr>
        <p:spPr>
          <a:xfrm>
            <a:off x="561511" y="400364"/>
            <a:ext cx="11183645" cy="1938992"/>
          </a:xfrm>
          <a:prstGeom prst="rect">
            <a:avLst/>
          </a:prstGeom>
          <a:noFill/>
        </p:spPr>
        <p:txBody>
          <a:bodyPr wrap="square">
            <a:spAutoFit/>
          </a:bodyPr>
          <a:lstStyle/>
          <a:p>
            <a:r>
              <a:rPr lang="ru-RU" sz="2400" b="1" i="1" dirty="0">
                <a:solidFill>
                  <a:srgbClr val="161616"/>
                </a:solidFill>
                <a:effectLst/>
                <a:latin typeface="IBM Plex Sans"/>
              </a:rPr>
              <a:t>Передача информации от приложения-отправителя целевому хосту</a:t>
            </a:r>
            <a:endParaRPr lang="en-US" sz="2400" b="1" i="1" dirty="0">
              <a:solidFill>
                <a:srgbClr val="161616"/>
              </a:solidFill>
              <a:effectLst/>
              <a:latin typeface="IBM Plex Sans"/>
            </a:endParaRPr>
          </a:p>
          <a:p>
            <a:pPr algn="l" fontAlgn="base"/>
            <a:r>
              <a:rPr lang="ru-RU" b="0" i="0" dirty="0">
                <a:solidFill>
                  <a:srgbClr val="161616"/>
                </a:solidFill>
                <a:effectLst/>
                <a:latin typeface="IBM Plex Sans"/>
              </a:rPr>
              <a:t>схема передачи информации через стек протоколов TCP/IP от отправителя целевому хосту.</a:t>
            </a:r>
          </a:p>
          <a:p>
            <a:pPr algn="l" fontAlgn="base"/>
            <a:r>
              <a:rPr lang="ru-RU" b="0" i="0" dirty="0">
                <a:solidFill>
                  <a:srgbClr val="161616"/>
                </a:solidFill>
                <a:effectLst/>
                <a:latin typeface="IBM Plex Sans"/>
              </a:rPr>
              <a:t>Кадры доставляются на компьютер получателя, после чего они проходят все уровни протоколов в обратном порядке. На каждом уровне удаляются соответствующие этому уровню заголовки, после чего данные передаются на уровень приложения.</a:t>
            </a:r>
          </a:p>
          <a:p>
            <a:endParaRPr lang="en-US" sz="2400" b="1" dirty="0"/>
          </a:p>
        </p:txBody>
      </p:sp>
      <p:sp>
        <p:nvSpPr>
          <p:cNvPr id="5" name="Заголовок 1">
            <a:extLst>
              <a:ext uri="{FF2B5EF4-FFF2-40B4-BE49-F238E27FC236}">
                <a16:creationId xmlns:a16="http://schemas.microsoft.com/office/drawing/2014/main" id="{62ABB487-2023-4956-988C-60E2E2EF84FB}"/>
              </a:ext>
            </a:extLst>
          </p:cNvPr>
          <p:cNvSpPr txBox="1">
            <a:spLocks/>
          </p:cNvSpPr>
          <p:nvPr/>
        </p:nvSpPr>
        <p:spPr>
          <a:xfrm>
            <a:off x="297586" y="266331"/>
            <a:ext cx="17815919" cy="366316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br>
              <a:rPr lang="ru-RU" b="1">
                <a:solidFill>
                  <a:srgbClr val="0E0E0F"/>
                </a:solidFill>
                <a:latin typeface="Inter"/>
              </a:rPr>
            </a:br>
            <a:endParaRPr lang="en-US" dirty="0"/>
          </a:p>
        </p:txBody>
      </p:sp>
      <p:pic>
        <p:nvPicPr>
          <p:cNvPr id="3074" name="Picture 2" descr="Передача информации от приложения-отправителя целевому хосту">
            <a:extLst>
              <a:ext uri="{FF2B5EF4-FFF2-40B4-BE49-F238E27FC236}">
                <a16:creationId xmlns:a16="http://schemas.microsoft.com/office/drawing/2014/main" id="{BCBC94F5-0985-48B2-97D7-B58FC31103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7815" y="2097912"/>
            <a:ext cx="7514713" cy="4510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686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22FBF7A3-62E7-4B39-ADBA-664827B04F91}"/>
              </a:ext>
            </a:extLst>
          </p:cNvPr>
          <p:cNvSpPr txBox="1"/>
          <p:nvPr/>
        </p:nvSpPr>
        <p:spPr>
          <a:xfrm>
            <a:off x="266700" y="361310"/>
            <a:ext cx="11658599" cy="2062103"/>
          </a:xfrm>
          <a:prstGeom prst="rect">
            <a:avLst/>
          </a:prstGeom>
          <a:noFill/>
        </p:spPr>
        <p:txBody>
          <a:bodyPr wrap="square">
            <a:spAutoFit/>
          </a:bodyPr>
          <a:lstStyle/>
          <a:p>
            <a:r>
              <a:rPr lang="ru-RU" sz="2000" b="1" i="1" dirty="0">
                <a:solidFill>
                  <a:srgbClr val="161616"/>
                </a:solidFill>
                <a:effectLst/>
                <a:latin typeface="IBM Plex Sans"/>
              </a:rPr>
              <a:t>Передача информации от хоста приложению</a:t>
            </a:r>
            <a:endParaRPr lang="en-US" sz="2000" b="1" i="1" dirty="0">
              <a:solidFill>
                <a:srgbClr val="161616"/>
              </a:solidFill>
              <a:effectLst/>
              <a:latin typeface="IBM Plex Sans"/>
            </a:endParaRPr>
          </a:p>
          <a:p>
            <a:pPr algn="l" fontAlgn="base"/>
            <a:r>
              <a:rPr lang="ru-RU" b="0" i="0" dirty="0">
                <a:solidFill>
                  <a:srgbClr val="161616"/>
                </a:solidFill>
                <a:effectLst/>
                <a:latin typeface="IBM Plex Sans"/>
              </a:rPr>
              <a:t>Кадры передаются на уровень сетевого интерфейса (в данном случае, адаптеру </a:t>
            </a:r>
            <a:r>
              <a:rPr lang="ru-RU" b="0" i="0" dirty="0" err="1">
                <a:solidFill>
                  <a:srgbClr val="161616"/>
                </a:solidFill>
                <a:effectLst/>
                <a:latin typeface="IBM Plex Sans"/>
              </a:rPr>
              <a:t>Ethernet</a:t>
            </a:r>
            <a:r>
              <a:rPr lang="ru-RU" b="0" i="0" dirty="0">
                <a:solidFill>
                  <a:srgbClr val="161616"/>
                </a:solidFill>
                <a:effectLst/>
                <a:latin typeface="IBM Plex Sans"/>
              </a:rPr>
              <a:t>). Уровень сетевого интерфейса отбрасывает заголовок </a:t>
            </a:r>
            <a:r>
              <a:rPr lang="ru-RU" b="0" i="0" dirty="0" err="1">
                <a:solidFill>
                  <a:srgbClr val="161616"/>
                </a:solidFill>
                <a:effectLst/>
                <a:latin typeface="IBM Plex Sans"/>
              </a:rPr>
              <a:t>Ethernet</a:t>
            </a:r>
            <a:r>
              <a:rPr lang="ru-RU" b="0" i="0" dirty="0">
                <a:solidFill>
                  <a:srgbClr val="161616"/>
                </a:solidFill>
                <a:effectLst/>
                <a:latin typeface="IBM Plex Sans"/>
              </a:rPr>
              <a:t> и отправляет дейтаграмму на верхний сетевой уровень. На сетевом уровне Протокол </a:t>
            </a:r>
            <a:r>
              <a:rPr lang="ru-RU" b="0" i="0" dirty="0" err="1">
                <a:solidFill>
                  <a:srgbClr val="161616"/>
                </a:solidFill>
                <a:effectLst/>
                <a:latin typeface="IBM Plex Sans"/>
              </a:rPr>
              <a:t>Internet</a:t>
            </a:r>
            <a:r>
              <a:rPr lang="ru-RU" b="0" i="0" dirty="0">
                <a:solidFill>
                  <a:srgbClr val="161616"/>
                </a:solidFill>
                <a:effectLst/>
                <a:latin typeface="IBM Plex Sans"/>
              </a:rPr>
              <a:t> отбрасывает IP-заголовок и отправляет пакет на верхний транспортный уровень. Протокол транспортного уровня (в данном случае - </a:t>
            </a:r>
            <a:r>
              <a:rPr lang="ru-RU" b="1" i="0" dirty="0">
                <a:solidFill>
                  <a:srgbClr val="161616"/>
                </a:solidFill>
                <a:effectLst/>
                <a:latin typeface="inherit"/>
              </a:rPr>
              <a:t>TCP</a:t>
            </a:r>
            <a:r>
              <a:rPr lang="ru-RU" b="0" i="0" dirty="0">
                <a:solidFill>
                  <a:srgbClr val="161616"/>
                </a:solidFill>
                <a:effectLst/>
                <a:latin typeface="IBM Plex Sans"/>
              </a:rPr>
              <a:t>) удаляет заголовок </a:t>
            </a:r>
            <a:r>
              <a:rPr lang="ru-RU" b="1" i="0" dirty="0">
                <a:solidFill>
                  <a:srgbClr val="161616"/>
                </a:solidFill>
                <a:effectLst/>
                <a:latin typeface="inherit"/>
              </a:rPr>
              <a:t>TCP</a:t>
            </a:r>
            <a:r>
              <a:rPr lang="ru-RU" b="0" i="0" dirty="0">
                <a:solidFill>
                  <a:srgbClr val="161616"/>
                </a:solidFill>
                <a:effectLst/>
                <a:latin typeface="IBM Plex Sans"/>
              </a:rPr>
              <a:t> и передает данные на верхний уровень приложения.</a:t>
            </a:r>
          </a:p>
          <a:p>
            <a:endParaRPr lang="en-US" dirty="0"/>
          </a:p>
        </p:txBody>
      </p:sp>
      <p:pic>
        <p:nvPicPr>
          <p:cNvPr id="4098" name="Picture 2" descr="Передача информации от хоста приложению">
            <a:extLst>
              <a:ext uri="{FF2B5EF4-FFF2-40B4-BE49-F238E27FC236}">
                <a16:creationId xmlns:a16="http://schemas.microsoft.com/office/drawing/2014/main" id="{F4B97226-52E8-40F9-9E2B-F08EF191BD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1158" y="1961966"/>
            <a:ext cx="6915704" cy="4741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780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75492C38-D58F-419E-A907-3BCE7E18C508}"/>
              </a:ext>
            </a:extLst>
          </p:cNvPr>
          <p:cNvSpPr txBox="1"/>
          <p:nvPr/>
        </p:nvSpPr>
        <p:spPr>
          <a:xfrm>
            <a:off x="419469" y="364854"/>
            <a:ext cx="11174767" cy="400110"/>
          </a:xfrm>
          <a:prstGeom prst="rect">
            <a:avLst/>
          </a:prstGeom>
          <a:noFill/>
        </p:spPr>
        <p:txBody>
          <a:bodyPr wrap="square">
            <a:spAutoFit/>
          </a:bodyPr>
          <a:lstStyle/>
          <a:p>
            <a:r>
              <a:rPr lang="ru-RU" sz="2000" b="1" i="0" dirty="0">
                <a:solidFill>
                  <a:srgbClr val="161616"/>
                </a:solidFill>
                <a:effectLst/>
                <a:latin typeface="IBM Plex Sans"/>
              </a:rPr>
              <a:t>Хосты в сети получают и передают информацию одновременно</a:t>
            </a:r>
            <a:endParaRPr lang="en-US" sz="2000" b="1" dirty="0"/>
          </a:p>
        </p:txBody>
      </p:sp>
      <p:pic>
        <p:nvPicPr>
          <p:cNvPr id="5122" name="Picture 2" descr="Передача и прием данных">
            <a:extLst>
              <a:ext uri="{FF2B5EF4-FFF2-40B4-BE49-F238E27FC236}">
                <a16:creationId xmlns:a16="http://schemas.microsoft.com/office/drawing/2014/main" id="{97C601D4-D62F-402E-B5B5-BA48E44F64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0226" y="1090553"/>
            <a:ext cx="8912002" cy="5402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4301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D0442A49-0C4B-411C-8263-86D52510CC7F}"/>
              </a:ext>
            </a:extLst>
          </p:cNvPr>
          <p:cNvSpPr txBox="1"/>
          <p:nvPr/>
        </p:nvSpPr>
        <p:spPr>
          <a:xfrm>
            <a:off x="266700" y="292964"/>
            <a:ext cx="11434069" cy="5632311"/>
          </a:xfrm>
          <a:prstGeom prst="rect">
            <a:avLst/>
          </a:prstGeom>
          <a:noFill/>
        </p:spPr>
        <p:txBody>
          <a:bodyPr wrap="square">
            <a:spAutoFit/>
          </a:bodyPr>
          <a:lstStyle/>
          <a:p>
            <a:r>
              <a:rPr lang="ru-RU" b="1" i="0" dirty="0">
                <a:solidFill>
                  <a:srgbClr val="333333"/>
                </a:solidFill>
                <a:effectLst/>
                <a:latin typeface="-apple-system"/>
              </a:rPr>
              <a:t>HTTP</a:t>
            </a:r>
            <a:r>
              <a:rPr lang="ru-RU" b="0" i="0" dirty="0">
                <a:solidFill>
                  <a:srgbClr val="333333"/>
                </a:solidFill>
                <a:effectLst/>
                <a:latin typeface="-apple-system"/>
              </a:rPr>
              <a:t> — широко распространённый протокол передачи данных, изначально предназначенный для передачи гипертекстовых документов (то есть документов, которые могут содержать ссылки, позволяющие организовать переход к другим документам).</a:t>
            </a:r>
            <a:br>
              <a:rPr lang="ru-RU" dirty="0"/>
            </a:br>
            <a:br>
              <a:rPr lang="ru-RU" dirty="0"/>
            </a:br>
            <a:r>
              <a:rPr lang="ru-RU" b="0" i="0" dirty="0">
                <a:solidFill>
                  <a:srgbClr val="333333"/>
                </a:solidFill>
                <a:effectLst/>
                <a:latin typeface="-apple-system"/>
              </a:rPr>
              <a:t>Аббревиатура HTTP расшифровывается как </a:t>
            </a:r>
            <a:r>
              <a:rPr lang="ru-RU" b="0" i="1" dirty="0" err="1">
                <a:solidFill>
                  <a:srgbClr val="333333"/>
                </a:solidFill>
                <a:effectLst/>
                <a:latin typeface="-apple-system"/>
              </a:rPr>
              <a:t>HyperText</a:t>
            </a:r>
            <a:r>
              <a:rPr lang="ru-RU" b="0" i="1" dirty="0">
                <a:solidFill>
                  <a:srgbClr val="333333"/>
                </a:solidFill>
                <a:effectLst/>
                <a:latin typeface="-apple-system"/>
              </a:rPr>
              <a:t> </a:t>
            </a:r>
            <a:r>
              <a:rPr lang="ru-RU" b="0" i="1" dirty="0" err="1">
                <a:solidFill>
                  <a:srgbClr val="333333"/>
                </a:solidFill>
                <a:effectLst/>
                <a:latin typeface="-apple-system"/>
              </a:rPr>
              <a:t>Transfer</a:t>
            </a:r>
            <a:r>
              <a:rPr lang="ru-RU" b="0" i="1" dirty="0">
                <a:solidFill>
                  <a:srgbClr val="333333"/>
                </a:solidFill>
                <a:effectLst/>
                <a:latin typeface="-apple-system"/>
              </a:rPr>
              <a:t> </a:t>
            </a:r>
            <a:r>
              <a:rPr lang="ru-RU" b="0" i="1" dirty="0" err="1">
                <a:solidFill>
                  <a:srgbClr val="333333"/>
                </a:solidFill>
                <a:effectLst/>
                <a:latin typeface="-apple-system"/>
              </a:rPr>
              <a:t>Protocol</a:t>
            </a:r>
            <a:r>
              <a:rPr lang="ru-RU" b="0" i="0" dirty="0">
                <a:solidFill>
                  <a:srgbClr val="333333"/>
                </a:solidFill>
                <a:effectLst/>
                <a:latin typeface="-apple-system"/>
              </a:rPr>
              <a:t>, «протокол передачи гипертекста». В соответствии со спецификацией </a:t>
            </a:r>
            <a:r>
              <a:rPr lang="ru-RU" b="0" i="0" u="none" strike="noStrike" dirty="0">
                <a:solidFill>
                  <a:srgbClr val="548EAA"/>
                </a:solidFill>
                <a:effectLst/>
                <a:latin typeface="-apple-system"/>
                <a:hlinkClick r:id="rId2"/>
              </a:rPr>
              <a:t>OSI</a:t>
            </a:r>
            <a:r>
              <a:rPr lang="ru-RU" b="0" i="0" dirty="0">
                <a:solidFill>
                  <a:srgbClr val="333333"/>
                </a:solidFill>
                <a:effectLst/>
                <a:latin typeface="-apple-system"/>
              </a:rPr>
              <a:t>, HTTP является протоколом прикладного (верхнего, 7-го) уровня. Актуальная на данный момент версия протокола, HTTP 1.1, описана в спецификации </a:t>
            </a:r>
            <a:r>
              <a:rPr lang="ru-RU" b="0" i="0" u="none" strike="noStrike" dirty="0">
                <a:solidFill>
                  <a:srgbClr val="548EAA"/>
                </a:solidFill>
                <a:effectLst/>
                <a:latin typeface="-apple-system"/>
                <a:hlinkClick r:id="rId3"/>
              </a:rPr>
              <a:t>RFC 2616</a:t>
            </a:r>
            <a:r>
              <a:rPr lang="ru-RU" b="0" i="0" dirty="0">
                <a:solidFill>
                  <a:srgbClr val="333333"/>
                </a:solidFill>
                <a:effectLst/>
                <a:latin typeface="-apple-system"/>
              </a:rPr>
              <a:t>.</a:t>
            </a:r>
            <a:br>
              <a:rPr lang="ru-RU" dirty="0"/>
            </a:br>
            <a:br>
              <a:rPr lang="ru-RU" dirty="0"/>
            </a:br>
            <a:r>
              <a:rPr lang="ru-RU" b="0" i="0" dirty="0">
                <a:solidFill>
                  <a:srgbClr val="333333"/>
                </a:solidFill>
                <a:effectLst/>
                <a:latin typeface="-apple-system"/>
              </a:rPr>
              <a:t>Протокол HTTP предполагает использование клиент-серверной структуры передачи данных. Клиентское приложение формирует запрос и отправляет его на сервер, после чего серверное программное обеспечение обрабатывает данный запрос, формирует ответ и передаёт его обратно клиенту. После этого клиентское приложение может продолжить отправлять другие запросы, которые будут обработаны аналогичным образом.</a:t>
            </a:r>
            <a:br>
              <a:rPr lang="ru-RU" dirty="0"/>
            </a:br>
            <a:br>
              <a:rPr lang="ru-RU" dirty="0"/>
            </a:br>
            <a:r>
              <a:rPr lang="ru-RU" b="0" i="0" dirty="0">
                <a:solidFill>
                  <a:srgbClr val="333333"/>
                </a:solidFill>
                <a:effectLst/>
                <a:latin typeface="-apple-system"/>
              </a:rPr>
              <a:t>Задача, которая традиционно решается с помощью протокола HTTP — обмен данными между пользовательским приложением, осуществляющим доступ к веб-ресурсам (обычно это веб-браузер) и веб-сервером. На данный момент именно благодаря протоколу HTTP обеспечивается работа Всемирной паутины.</a:t>
            </a:r>
            <a:br>
              <a:rPr lang="ru-RU" dirty="0"/>
            </a:br>
            <a:br>
              <a:rPr lang="ru-RU" dirty="0"/>
            </a:br>
            <a:r>
              <a:rPr lang="ru-RU" b="0" i="0" dirty="0">
                <a:solidFill>
                  <a:srgbClr val="333333"/>
                </a:solidFill>
                <a:effectLst/>
                <a:latin typeface="-apple-system"/>
              </a:rPr>
              <a:t>Также HTTP часто используется как протокол передачи информации для других протоколов прикладного уровня, таких как SOAP, XML-RPC и </a:t>
            </a:r>
            <a:r>
              <a:rPr lang="ru-RU" b="0" i="0" dirty="0" err="1">
                <a:solidFill>
                  <a:srgbClr val="333333"/>
                </a:solidFill>
                <a:effectLst/>
                <a:latin typeface="-apple-system"/>
              </a:rPr>
              <a:t>WebDAV</a:t>
            </a:r>
            <a:r>
              <a:rPr lang="ru-RU" b="0" i="0" dirty="0">
                <a:solidFill>
                  <a:srgbClr val="333333"/>
                </a:solidFill>
                <a:effectLst/>
                <a:latin typeface="-apple-system"/>
              </a:rPr>
              <a:t>. В таком случае говорят, что протокол HTTP используется как «транспорт».</a:t>
            </a:r>
            <a:br>
              <a:rPr lang="ru-RU" dirty="0"/>
            </a:br>
            <a:endParaRPr lang="en-US" dirty="0"/>
          </a:p>
        </p:txBody>
      </p:sp>
    </p:spTree>
    <p:extLst>
      <p:ext uri="{BB962C8B-B14F-4D97-AF65-F5344CB8AC3E}">
        <p14:creationId xmlns:p14="http://schemas.microsoft.com/office/powerpoint/2010/main" val="1262758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5" name="TextBox 4">
            <a:extLst>
              <a:ext uri="{FF2B5EF4-FFF2-40B4-BE49-F238E27FC236}">
                <a16:creationId xmlns:a16="http://schemas.microsoft.com/office/drawing/2014/main" id="{C4830607-2ED2-4C89-8698-408AE4A8D6F6}"/>
              </a:ext>
            </a:extLst>
          </p:cNvPr>
          <p:cNvSpPr txBox="1"/>
          <p:nvPr/>
        </p:nvSpPr>
        <p:spPr>
          <a:xfrm>
            <a:off x="328474" y="292964"/>
            <a:ext cx="11434069" cy="5078313"/>
          </a:xfrm>
          <a:prstGeom prst="rect">
            <a:avLst/>
          </a:prstGeom>
          <a:noFill/>
        </p:spPr>
        <p:txBody>
          <a:bodyPr wrap="square">
            <a:spAutoFit/>
          </a:bodyPr>
          <a:lstStyle/>
          <a:p>
            <a:r>
              <a:rPr lang="ru-RU" b="0" i="0" dirty="0">
                <a:solidFill>
                  <a:srgbClr val="333333"/>
                </a:solidFill>
                <a:effectLst/>
                <a:latin typeface="Fira Sans"/>
              </a:rPr>
              <a:t>Как отправить </a:t>
            </a:r>
            <a:r>
              <a:rPr lang="en-US" b="0" i="0" dirty="0">
                <a:solidFill>
                  <a:srgbClr val="333333"/>
                </a:solidFill>
                <a:effectLst/>
                <a:latin typeface="Fira Sans"/>
              </a:rPr>
              <a:t>HTTP-</a:t>
            </a:r>
            <a:r>
              <a:rPr lang="ru-RU" b="0" i="0" dirty="0">
                <a:solidFill>
                  <a:srgbClr val="333333"/>
                </a:solidFill>
                <a:effectLst/>
                <a:latin typeface="Fira Sans"/>
              </a:rPr>
              <a:t>запрос?</a:t>
            </a:r>
          </a:p>
          <a:p>
            <a:r>
              <a:rPr lang="ru-RU" b="0" i="0" dirty="0">
                <a:solidFill>
                  <a:srgbClr val="333333"/>
                </a:solidFill>
                <a:effectLst/>
                <a:latin typeface="-apple-system"/>
              </a:rPr>
              <a:t>Предположим, что он ввёл в адресной строке следующее:</a:t>
            </a:r>
            <a:br>
              <a:rPr lang="ru-RU" dirty="0"/>
            </a:br>
            <a:r>
              <a:rPr lang="en-US" dirty="0">
                <a:hlinkClick r:id="rId2"/>
              </a:rPr>
              <a:t>HTTP://evm.bsuir.by</a:t>
            </a:r>
            <a:endParaRPr lang="en-US" dirty="0"/>
          </a:p>
          <a:p>
            <a:r>
              <a:rPr lang="ru-RU" b="0" i="0" dirty="0">
                <a:solidFill>
                  <a:srgbClr val="333333"/>
                </a:solidFill>
                <a:effectLst/>
                <a:latin typeface="-apple-system"/>
              </a:rPr>
              <a:t>Соответственно вам, как веб-браузеру, теперь необходимо подключиться к веб-серверу по адресу </a:t>
            </a:r>
            <a:r>
              <a:rPr lang="en-US">
                <a:solidFill>
                  <a:srgbClr val="333333"/>
                </a:solidFill>
                <a:latin typeface="-apple-system"/>
              </a:rPr>
              <a:t>evm.bsuir.by </a:t>
            </a:r>
            <a:r>
              <a:rPr lang="ru-RU" b="0" i="0">
                <a:solidFill>
                  <a:srgbClr val="333333"/>
                </a:solidFill>
                <a:effectLst/>
                <a:latin typeface="-apple-system"/>
              </a:rPr>
              <a:t>.</a:t>
            </a:r>
            <a:br>
              <a:rPr lang="ru-RU" dirty="0"/>
            </a:br>
            <a:br>
              <a:rPr lang="ru-RU" dirty="0"/>
            </a:br>
            <a:r>
              <a:rPr lang="ru-RU" b="0" i="0" dirty="0">
                <a:solidFill>
                  <a:srgbClr val="333333"/>
                </a:solidFill>
                <a:effectLst/>
                <a:latin typeface="-apple-system"/>
              </a:rPr>
              <a:t>Для этого вы можете воспользоваться любой подходящей утилитой командной строки. Например, telnet:</a:t>
            </a:r>
            <a:endParaRPr lang="en-US" b="0" i="0" dirty="0">
              <a:solidFill>
                <a:srgbClr val="333333"/>
              </a:solidFill>
              <a:effectLst/>
              <a:latin typeface="-apple-system"/>
            </a:endParaRPr>
          </a:p>
          <a:p>
            <a:r>
              <a:rPr lang="en-US" dirty="0">
                <a:solidFill>
                  <a:srgbClr val="333333"/>
                </a:solidFill>
                <a:latin typeface="-apple-system"/>
              </a:rPr>
              <a:t>telnet evm.bsuir.by 80</a:t>
            </a:r>
          </a:p>
          <a:p>
            <a:r>
              <a:rPr lang="ru-RU" b="0" i="0" dirty="0">
                <a:solidFill>
                  <a:srgbClr val="333333"/>
                </a:solidFill>
                <a:effectLst/>
                <a:latin typeface="-apple-system"/>
              </a:rPr>
              <a:t>Для того, чтобы сформировать HTTP-запрос, необходимо составить стартовую строку, а также задать по крайней мере один заголовок — это заголовок </a:t>
            </a:r>
            <a:r>
              <a:rPr lang="ru-RU" b="0" i="0" dirty="0" err="1">
                <a:solidFill>
                  <a:srgbClr val="333333"/>
                </a:solidFill>
                <a:effectLst/>
                <a:latin typeface="-apple-system"/>
              </a:rPr>
              <a:t>Host</a:t>
            </a:r>
            <a:r>
              <a:rPr lang="ru-RU" b="0" i="0" dirty="0">
                <a:solidFill>
                  <a:srgbClr val="333333"/>
                </a:solidFill>
                <a:effectLst/>
                <a:latin typeface="-apple-system"/>
              </a:rPr>
              <a:t>, который является обязательным, и должен присутствовать в каждом запросе. Дело в том, что преобразование доменного имени в IP-адрес осуществляется на стороне клиента, и, соответственно, когда вы открываете TCP-соединение, то удалённый сервер не обладает никакой информацией о том, какой именно адрес использовался для соединения: это мог быть, например, адрес alizar.habrahabr.ru, habrahabr.ru или m.habrahabr.ru — и во всех этих случаях ответ может отличаться. Однако фактически сетевое соединение во всех случаях открывается с узлом 212.24.43.44, и даже если первоначально при открытии соединения был задан не этот IP-адрес, а какое-либо доменное имя, то сервер об этом никак не информируется — и именно поэтому этот адрес необходимо передать в заголовке </a:t>
            </a:r>
            <a:r>
              <a:rPr lang="ru-RU" b="0" i="0" dirty="0" err="1">
                <a:solidFill>
                  <a:srgbClr val="333333"/>
                </a:solidFill>
                <a:effectLst/>
                <a:latin typeface="-apple-system"/>
              </a:rPr>
              <a:t>Host</a:t>
            </a:r>
            <a:r>
              <a:rPr lang="ru-RU" b="0" i="0" dirty="0">
                <a:solidFill>
                  <a:srgbClr val="333333"/>
                </a:solidFill>
                <a:effectLst/>
                <a:latin typeface="-apple-system"/>
              </a:rPr>
              <a:t>.</a:t>
            </a:r>
            <a:br>
              <a:rPr lang="ru-RU" dirty="0"/>
            </a:br>
            <a:br>
              <a:rPr lang="ru-RU" dirty="0"/>
            </a:br>
            <a:endParaRPr lang="en-US" dirty="0"/>
          </a:p>
        </p:txBody>
      </p:sp>
    </p:spTree>
    <p:extLst>
      <p:ext uri="{BB962C8B-B14F-4D97-AF65-F5344CB8AC3E}">
        <p14:creationId xmlns:p14="http://schemas.microsoft.com/office/powerpoint/2010/main" val="875252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F7C6137D-E21F-4654-AB15-F73B6FDFEE12}"/>
              </a:ext>
            </a:extLst>
          </p:cNvPr>
          <p:cNvSpPr txBox="1"/>
          <p:nvPr/>
        </p:nvSpPr>
        <p:spPr>
          <a:xfrm>
            <a:off x="168675" y="381741"/>
            <a:ext cx="11596825" cy="6186309"/>
          </a:xfrm>
          <a:prstGeom prst="rect">
            <a:avLst/>
          </a:prstGeom>
          <a:noFill/>
        </p:spPr>
        <p:txBody>
          <a:bodyPr wrap="square">
            <a:spAutoFit/>
          </a:bodyPr>
          <a:lstStyle/>
          <a:p>
            <a:r>
              <a:rPr lang="ru-RU" b="0" i="0" dirty="0">
                <a:solidFill>
                  <a:srgbClr val="333333"/>
                </a:solidFill>
                <a:effectLst/>
                <a:latin typeface="-apple-system"/>
              </a:rPr>
              <a:t>Стартовая (начальная) строка запроса для HTTP 1.1 составляется по следующей схеме:</a:t>
            </a:r>
            <a:br>
              <a:rPr lang="ru-RU" dirty="0"/>
            </a:br>
            <a:br>
              <a:rPr lang="ru-RU" dirty="0"/>
            </a:br>
            <a:r>
              <a:rPr lang="ru-RU" b="0" i="0" u="none" strike="noStrike" dirty="0">
                <a:solidFill>
                  <a:srgbClr val="548EAA"/>
                </a:solidFill>
                <a:effectLst/>
                <a:latin typeface="-apple-system"/>
                <a:hlinkClick r:id="rId2"/>
              </a:rPr>
              <a:t>Метод</a:t>
            </a:r>
            <a:r>
              <a:rPr lang="ru-RU" b="0" i="0" dirty="0">
                <a:solidFill>
                  <a:srgbClr val="333333"/>
                </a:solidFill>
                <a:effectLst/>
                <a:latin typeface="-apple-system"/>
              </a:rPr>
              <a:t> </a:t>
            </a:r>
            <a:r>
              <a:rPr lang="ru-RU" b="0" i="0" u="none" strike="noStrike" dirty="0">
                <a:solidFill>
                  <a:srgbClr val="548EAA"/>
                </a:solidFill>
                <a:effectLst/>
                <a:latin typeface="-apple-system"/>
                <a:hlinkClick r:id="rId3"/>
              </a:rPr>
              <a:t>URI</a:t>
            </a:r>
            <a:r>
              <a:rPr lang="ru-RU" b="0" i="0" dirty="0">
                <a:solidFill>
                  <a:srgbClr val="333333"/>
                </a:solidFill>
                <a:effectLst/>
                <a:latin typeface="-apple-system"/>
              </a:rPr>
              <a:t> HTTP/</a:t>
            </a:r>
            <a:r>
              <a:rPr lang="ru-RU" b="0" i="0" u="none" strike="noStrike" dirty="0">
                <a:solidFill>
                  <a:srgbClr val="548EAA"/>
                </a:solidFill>
                <a:effectLst/>
                <a:latin typeface="-apple-system"/>
                <a:hlinkClick r:id="rId4"/>
              </a:rPr>
              <a:t>Версия</a:t>
            </a:r>
            <a:br>
              <a:rPr lang="ru-RU" dirty="0"/>
            </a:br>
            <a:endParaRPr lang="en-US" dirty="0"/>
          </a:p>
          <a:p>
            <a:r>
              <a:rPr lang="ru-RU" b="0" i="0" dirty="0">
                <a:solidFill>
                  <a:srgbClr val="333333"/>
                </a:solidFill>
                <a:effectLst/>
                <a:latin typeface="-apple-system"/>
              </a:rPr>
              <a:t>Например (такая стартовая строка может указывать на то, что запрашивается главная страница сайта):</a:t>
            </a:r>
            <a:endParaRPr lang="en-US" b="0" i="0" dirty="0">
              <a:solidFill>
                <a:srgbClr val="333333"/>
              </a:solidFill>
              <a:effectLst/>
              <a:latin typeface="-apple-system"/>
            </a:endParaRPr>
          </a:p>
          <a:p>
            <a:r>
              <a:rPr lang="en-US" b="0" i="0" dirty="0">
                <a:solidFill>
                  <a:srgbClr val="333333"/>
                </a:solidFill>
                <a:effectLst/>
                <a:latin typeface="Menlo"/>
              </a:rPr>
              <a:t>GET / HTTP/1.1</a:t>
            </a:r>
            <a:endParaRPr lang="en-US" dirty="0">
              <a:solidFill>
                <a:srgbClr val="333333"/>
              </a:solidFill>
              <a:latin typeface="-apple-system"/>
            </a:endParaRPr>
          </a:p>
          <a:p>
            <a:r>
              <a:rPr lang="ru-RU" b="1" i="0" dirty="0">
                <a:solidFill>
                  <a:srgbClr val="333333"/>
                </a:solidFill>
                <a:effectLst/>
                <a:latin typeface="-apple-system"/>
              </a:rPr>
              <a:t>Метод</a:t>
            </a:r>
            <a:r>
              <a:rPr lang="ru-RU" b="0" i="0" dirty="0">
                <a:solidFill>
                  <a:srgbClr val="333333"/>
                </a:solidFill>
                <a:effectLst/>
                <a:latin typeface="-apple-system"/>
              </a:rPr>
              <a:t> (в англоязычной тематической литературе используется слово </a:t>
            </a:r>
            <a:r>
              <a:rPr lang="ru-RU" b="0" i="1" dirty="0" err="1">
                <a:solidFill>
                  <a:srgbClr val="333333"/>
                </a:solidFill>
                <a:effectLst/>
                <a:latin typeface="-apple-system"/>
              </a:rPr>
              <a:t>method</a:t>
            </a:r>
            <a:r>
              <a:rPr lang="ru-RU" b="0" i="0" dirty="0">
                <a:solidFill>
                  <a:srgbClr val="333333"/>
                </a:solidFill>
                <a:effectLst/>
                <a:latin typeface="-apple-system"/>
              </a:rPr>
              <a:t>, а также иногда слово </a:t>
            </a:r>
            <a:r>
              <a:rPr lang="ru-RU" b="0" i="1" dirty="0" err="1">
                <a:solidFill>
                  <a:srgbClr val="333333"/>
                </a:solidFill>
                <a:effectLst/>
                <a:latin typeface="-apple-system"/>
              </a:rPr>
              <a:t>verb</a:t>
            </a:r>
            <a:r>
              <a:rPr lang="ru-RU" b="0" i="0" dirty="0">
                <a:solidFill>
                  <a:srgbClr val="333333"/>
                </a:solidFill>
                <a:effectLst/>
                <a:latin typeface="-apple-system"/>
              </a:rPr>
              <a:t> — «глагол») представляет собой последовательность из любых символов, кроме управляющих и разделителей, и определяет операцию, которую нужно осуществить с указанным ресурсом. Спецификация HTTP 1.1 не ограничивает количество разных методов, которые могут быть использованы, однако в целях соответствия общим стандартам и сохранения совместимости с максимально широким спектром программного обеспечения как правило используются лишь некоторые, наиболее стандартные методы, смысл которых однозначно раскрыт в спецификации протокола.</a:t>
            </a:r>
            <a:br>
              <a:rPr lang="ru-RU" dirty="0"/>
            </a:br>
            <a:br>
              <a:rPr lang="ru-RU" dirty="0"/>
            </a:br>
            <a:r>
              <a:rPr lang="ru-RU" b="1" i="0" dirty="0">
                <a:solidFill>
                  <a:srgbClr val="333333"/>
                </a:solidFill>
                <a:effectLst/>
                <a:latin typeface="-apple-system"/>
              </a:rPr>
              <a:t>URI</a:t>
            </a:r>
            <a:r>
              <a:rPr lang="ru-RU" b="0" i="0" dirty="0">
                <a:solidFill>
                  <a:srgbClr val="333333"/>
                </a:solidFill>
                <a:effectLst/>
                <a:latin typeface="-apple-system"/>
              </a:rPr>
              <a:t> (</a:t>
            </a:r>
            <a:r>
              <a:rPr lang="ru-RU" b="0" i="1" dirty="0" err="1">
                <a:solidFill>
                  <a:srgbClr val="333333"/>
                </a:solidFill>
                <a:effectLst/>
                <a:latin typeface="-apple-system"/>
              </a:rPr>
              <a:t>Uniform</a:t>
            </a:r>
            <a:r>
              <a:rPr lang="ru-RU" b="0" i="1" dirty="0">
                <a:solidFill>
                  <a:srgbClr val="333333"/>
                </a:solidFill>
                <a:effectLst/>
                <a:latin typeface="-apple-system"/>
              </a:rPr>
              <a:t> </a:t>
            </a:r>
            <a:r>
              <a:rPr lang="ru-RU" b="0" i="1" dirty="0" err="1">
                <a:solidFill>
                  <a:srgbClr val="333333"/>
                </a:solidFill>
                <a:effectLst/>
                <a:latin typeface="-apple-system"/>
              </a:rPr>
              <a:t>Resource</a:t>
            </a:r>
            <a:r>
              <a:rPr lang="ru-RU" b="0" i="1" dirty="0">
                <a:solidFill>
                  <a:srgbClr val="333333"/>
                </a:solidFill>
                <a:effectLst/>
                <a:latin typeface="-apple-system"/>
              </a:rPr>
              <a:t> </a:t>
            </a:r>
            <a:r>
              <a:rPr lang="ru-RU" b="0" i="1" dirty="0" err="1">
                <a:solidFill>
                  <a:srgbClr val="333333"/>
                </a:solidFill>
                <a:effectLst/>
                <a:latin typeface="-apple-system"/>
              </a:rPr>
              <a:t>Identifier</a:t>
            </a:r>
            <a:r>
              <a:rPr lang="ru-RU" b="0" i="0" dirty="0">
                <a:solidFill>
                  <a:srgbClr val="333333"/>
                </a:solidFill>
                <a:effectLst/>
                <a:latin typeface="-apple-system"/>
              </a:rPr>
              <a:t>, унифицированный идентификатор ресурса) — путь до конкретного ресурса (например, документа), над которым необходимо осуществить операцию (например, в случае использования метода GET подразумевается получение ресурса). Некоторые запросы могут не относиться к какому-либо ресурсу, в этом случае вместо URI в стартовую строку может быть добавлена звёздочка (астериск, символ «*»). Например, это может быть запрос, который относится к самому веб-серверу, а не какому-либо конкретному ресурсу. В этом случае стартовая строка может выглядеть так:</a:t>
            </a:r>
            <a:endParaRPr lang="en-US" b="0" i="0" dirty="0">
              <a:solidFill>
                <a:srgbClr val="333333"/>
              </a:solidFill>
              <a:effectLst/>
              <a:latin typeface="-apple-system"/>
            </a:endParaRPr>
          </a:p>
          <a:p>
            <a:r>
              <a:rPr lang="en-US" b="0" i="0" dirty="0">
                <a:solidFill>
                  <a:srgbClr val="333333"/>
                </a:solidFill>
                <a:effectLst/>
                <a:latin typeface="Menlo"/>
              </a:rPr>
              <a:t>OPTIONS * HTTP/1.1</a:t>
            </a:r>
            <a:endParaRPr lang="en-US" b="0" i="0" dirty="0">
              <a:solidFill>
                <a:srgbClr val="333333"/>
              </a:solidFill>
              <a:effectLst/>
              <a:latin typeface="-apple-system"/>
            </a:endParaRPr>
          </a:p>
          <a:p>
            <a:endParaRPr lang="en-US" dirty="0"/>
          </a:p>
        </p:txBody>
      </p:sp>
    </p:spTree>
    <p:extLst>
      <p:ext uri="{BB962C8B-B14F-4D97-AF65-F5344CB8AC3E}">
        <p14:creationId xmlns:p14="http://schemas.microsoft.com/office/powerpoint/2010/main" val="1603422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467ADC54-74EF-4E57-A7D1-ECCA4950D6BC}"/>
              </a:ext>
            </a:extLst>
          </p:cNvPr>
          <p:cNvSpPr txBox="1"/>
          <p:nvPr/>
        </p:nvSpPr>
        <p:spPr>
          <a:xfrm>
            <a:off x="266700" y="292964"/>
            <a:ext cx="8875080" cy="5355312"/>
          </a:xfrm>
          <a:prstGeom prst="rect">
            <a:avLst/>
          </a:prstGeom>
          <a:noFill/>
        </p:spPr>
        <p:txBody>
          <a:bodyPr wrap="square">
            <a:spAutoFit/>
          </a:bodyPr>
          <a:lstStyle/>
          <a:p>
            <a:r>
              <a:rPr lang="ru-RU" b="1" i="0" dirty="0">
                <a:solidFill>
                  <a:srgbClr val="333333"/>
                </a:solidFill>
                <a:effectLst/>
                <a:latin typeface="-apple-system"/>
              </a:rPr>
              <a:t>Версия</a:t>
            </a:r>
            <a:r>
              <a:rPr lang="ru-RU" b="0" i="0" dirty="0">
                <a:solidFill>
                  <a:srgbClr val="333333"/>
                </a:solidFill>
                <a:effectLst/>
                <a:latin typeface="-apple-system"/>
              </a:rPr>
              <a:t> определяет, в соответствии с какой версией стандарта HTTP составлен запрос. Указывается как два числа, разделённых точкой (например </a:t>
            </a:r>
            <a:r>
              <a:rPr lang="ru-RU" b="1" i="0" dirty="0">
                <a:solidFill>
                  <a:srgbClr val="333333"/>
                </a:solidFill>
                <a:effectLst/>
                <a:latin typeface="-apple-system"/>
              </a:rPr>
              <a:t>1.1</a:t>
            </a:r>
            <a:r>
              <a:rPr lang="ru-RU" b="0" i="0" dirty="0">
                <a:solidFill>
                  <a:srgbClr val="333333"/>
                </a:solidFill>
                <a:effectLst/>
                <a:latin typeface="-apple-system"/>
              </a:rPr>
              <a:t>).</a:t>
            </a:r>
            <a:br>
              <a:rPr lang="ru-RU" dirty="0"/>
            </a:br>
            <a:br>
              <a:rPr lang="ru-RU" dirty="0"/>
            </a:br>
            <a:r>
              <a:rPr lang="ru-RU" b="0" i="0" dirty="0">
                <a:solidFill>
                  <a:srgbClr val="333333"/>
                </a:solidFill>
                <a:effectLst/>
                <a:latin typeface="-apple-system"/>
              </a:rPr>
              <a:t>Для того, чтобы обратиться к веб-странице по определённому адресу (в данном случае путь к ресурсу — это «/»), нам следует отправить следующий запрос:</a:t>
            </a:r>
            <a:endParaRPr lang="en-US" b="0" i="0" dirty="0">
              <a:solidFill>
                <a:srgbClr val="333333"/>
              </a:solidFill>
              <a:effectLst/>
              <a:latin typeface="-apple-system"/>
            </a:endParaRPr>
          </a:p>
          <a:p>
            <a:r>
              <a:rPr lang="en-US" b="0" i="0" dirty="0">
                <a:solidFill>
                  <a:srgbClr val="333333"/>
                </a:solidFill>
                <a:effectLst/>
                <a:latin typeface="Menlo"/>
              </a:rPr>
              <a:t>GET / HTTP/1.1</a:t>
            </a:r>
          </a:p>
          <a:p>
            <a:r>
              <a:rPr lang="en-US" dirty="0">
                <a:hlinkClick r:id="rId2"/>
              </a:rPr>
              <a:t>Host: http://evm.bsuir.by</a:t>
            </a:r>
            <a:endParaRPr lang="en-US" b="0" i="0" dirty="0">
              <a:solidFill>
                <a:srgbClr val="333333"/>
              </a:solidFill>
              <a:effectLst/>
              <a:latin typeface="Menlo"/>
            </a:endParaRPr>
          </a:p>
          <a:p>
            <a:br>
              <a:rPr lang="ru-RU" dirty="0"/>
            </a:br>
            <a:r>
              <a:rPr lang="ru-RU" b="0" i="0" dirty="0">
                <a:solidFill>
                  <a:srgbClr val="333333"/>
                </a:solidFill>
                <a:effectLst/>
                <a:latin typeface="-apple-system"/>
              </a:rPr>
              <a:t>При этом учитывайте, что для переноса строки следует использовать символ возврата каретки (</a:t>
            </a:r>
            <a:r>
              <a:rPr lang="ru-RU" b="0" i="0" dirty="0" err="1">
                <a:solidFill>
                  <a:srgbClr val="333333"/>
                </a:solidFill>
                <a:effectLst/>
                <a:latin typeface="-apple-system"/>
              </a:rPr>
              <a:t>Carriage</a:t>
            </a:r>
            <a:r>
              <a:rPr lang="ru-RU" b="0" i="0" dirty="0">
                <a:solidFill>
                  <a:srgbClr val="333333"/>
                </a:solidFill>
                <a:effectLst/>
                <a:latin typeface="-apple-system"/>
              </a:rPr>
              <a:t> </a:t>
            </a:r>
            <a:r>
              <a:rPr lang="ru-RU" b="0" i="0" dirty="0" err="1">
                <a:solidFill>
                  <a:srgbClr val="333333"/>
                </a:solidFill>
                <a:effectLst/>
                <a:latin typeface="-apple-system"/>
              </a:rPr>
              <a:t>Return</a:t>
            </a:r>
            <a:r>
              <a:rPr lang="ru-RU" b="0" i="0" dirty="0">
                <a:solidFill>
                  <a:srgbClr val="333333"/>
                </a:solidFill>
                <a:effectLst/>
                <a:latin typeface="-apple-system"/>
              </a:rPr>
              <a:t>), за которым следует символ перевода строки (</a:t>
            </a:r>
            <a:r>
              <a:rPr lang="ru-RU" b="0" i="0" dirty="0" err="1">
                <a:solidFill>
                  <a:srgbClr val="333333"/>
                </a:solidFill>
                <a:effectLst/>
                <a:latin typeface="-apple-system"/>
              </a:rPr>
              <a:t>Line</a:t>
            </a:r>
            <a:r>
              <a:rPr lang="ru-RU" b="0" i="0" dirty="0">
                <a:solidFill>
                  <a:srgbClr val="333333"/>
                </a:solidFill>
                <a:effectLst/>
                <a:latin typeface="-apple-system"/>
              </a:rPr>
              <a:t> </a:t>
            </a:r>
            <a:r>
              <a:rPr lang="ru-RU" b="0" i="0" dirty="0" err="1">
                <a:solidFill>
                  <a:srgbClr val="333333"/>
                </a:solidFill>
                <a:effectLst/>
                <a:latin typeface="-apple-system"/>
              </a:rPr>
              <a:t>Feed</a:t>
            </a:r>
            <a:r>
              <a:rPr lang="ru-RU" b="0" i="0" dirty="0">
                <a:solidFill>
                  <a:srgbClr val="333333"/>
                </a:solidFill>
                <a:effectLst/>
                <a:latin typeface="-apple-system"/>
              </a:rPr>
              <a:t>). После объявления последнего заголовка последовательность символов для переноса строки добавляется дважды.</a:t>
            </a:r>
            <a:br>
              <a:rPr lang="ru-RU" dirty="0"/>
            </a:br>
            <a:br>
              <a:rPr lang="ru-RU" dirty="0"/>
            </a:br>
            <a:r>
              <a:rPr lang="ru-RU" b="0" i="0" dirty="0">
                <a:solidFill>
                  <a:srgbClr val="333333"/>
                </a:solidFill>
                <a:effectLst/>
                <a:latin typeface="-apple-system"/>
              </a:rPr>
              <a:t>Впрочем, в спецификации HTTP рекомендуется программировать HTTP-сервер таким образом, чтобы при обработке запросов в качестве межстрочного разделителя воспринимался символ LF, а предшествующий символ CR, при наличии такового, игнорировался. Соответственно, на практике </a:t>
            </a:r>
            <a:r>
              <a:rPr lang="ru-RU" b="0" i="0" dirty="0" err="1">
                <a:solidFill>
                  <a:srgbClr val="333333"/>
                </a:solidFill>
                <a:effectLst/>
                <a:latin typeface="-apple-system"/>
              </a:rPr>
              <a:t>бо́льшая</a:t>
            </a:r>
            <a:r>
              <a:rPr lang="ru-RU" b="0" i="0" dirty="0">
                <a:solidFill>
                  <a:srgbClr val="333333"/>
                </a:solidFill>
                <a:effectLst/>
                <a:latin typeface="-apple-system"/>
              </a:rPr>
              <a:t> часть серверов корректно обработает и такой запрос, где заголовки отделены символом LF, и он же дважды добавлен после объявления последнего заголовка.</a:t>
            </a:r>
            <a:endParaRPr lang="en-US" dirty="0"/>
          </a:p>
        </p:txBody>
      </p:sp>
    </p:spTree>
    <p:extLst>
      <p:ext uri="{BB962C8B-B14F-4D97-AF65-F5344CB8AC3E}">
        <p14:creationId xmlns:p14="http://schemas.microsoft.com/office/powerpoint/2010/main" val="1654573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8C9D51A5-CD24-4819-BB7C-F881501AA1A8}"/>
              </a:ext>
            </a:extLst>
          </p:cNvPr>
          <p:cNvSpPr txBox="1"/>
          <p:nvPr/>
        </p:nvSpPr>
        <p:spPr>
          <a:xfrm>
            <a:off x="266700" y="612845"/>
            <a:ext cx="11158861" cy="6186309"/>
          </a:xfrm>
          <a:prstGeom prst="rect">
            <a:avLst/>
          </a:prstGeom>
          <a:noFill/>
        </p:spPr>
        <p:txBody>
          <a:bodyPr wrap="square">
            <a:spAutoFit/>
          </a:bodyPr>
          <a:lstStyle/>
          <a:p>
            <a:pPr algn="l"/>
            <a:r>
              <a:rPr lang="ru-RU" b="0" i="0" dirty="0">
                <a:solidFill>
                  <a:srgbClr val="333333"/>
                </a:solidFill>
                <a:effectLst/>
                <a:latin typeface="Fira Sans"/>
              </a:rPr>
              <a:t>Как прочитать ответ?</a:t>
            </a:r>
          </a:p>
          <a:p>
            <a:br>
              <a:rPr lang="ru-RU" dirty="0"/>
            </a:br>
            <a:r>
              <a:rPr lang="ru-RU" b="0" i="0" dirty="0">
                <a:solidFill>
                  <a:srgbClr val="333333"/>
                </a:solidFill>
                <a:effectLst/>
                <a:latin typeface="-apple-system"/>
              </a:rPr>
              <a:t>Стартовая строка ответа имеет следующую структуру:</a:t>
            </a:r>
            <a:br>
              <a:rPr lang="ru-RU" dirty="0"/>
            </a:br>
            <a:br>
              <a:rPr lang="ru-RU" dirty="0"/>
            </a:br>
            <a:r>
              <a:rPr lang="ru-RU" b="0" i="0" dirty="0">
                <a:solidFill>
                  <a:srgbClr val="333333"/>
                </a:solidFill>
                <a:effectLst/>
                <a:latin typeface="-apple-system"/>
              </a:rPr>
              <a:t>HTTP/</a:t>
            </a:r>
            <a:r>
              <a:rPr lang="ru-RU" b="0" i="0" u="none" strike="noStrike" dirty="0">
                <a:solidFill>
                  <a:srgbClr val="548EAA"/>
                </a:solidFill>
                <a:effectLst/>
                <a:latin typeface="-apple-system"/>
                <a:hlinkClick r:id="rId2"/>
              </a:rPr>
              <a:t>Версия</a:t>
            </a:r>
            <a:r>
              <a:rPr lang="ru-RU" b="0" i="0" dirty="0">
                <a:solidFill>
                  <a:srgbClr val="333333"/>
                </a:solidFill>
                <a:effectLst/>
                <a:latin typeface="-apple-system"/>
              </a:rPr>
              <a:t> </a:t>
            </a:r>
            <a:r>
              <a:rPr lang="ru-RU" b="0" i="0" u="none" strike="noStrike" dirty="0">
                <a:solidFill>
                  <a:srgbClr val="548EAA"/>
                </a:solidFill>
                <a:effectLst/>
                <a:latin typeface="-apple-system"/>
                <a:hlinkClick r:id="rId3"/>
              </a:rPr>
              <a:t>Код состояния</a:t>
            </a:r>
            <a:r>
              <a:rPr lang="ru-RU" b="0" i="0" dirty="0">
                <a:solidFill>
                  <a:srgbClr val="333333"/>
                </a:solidFill>
                <a:effectLst/>
                <a:latin typeface="-apple-system"/>
              </a:rPr>
              <a:t> </a:t>
            </a:r>
            <a:r>
              <a:rPr lang="ru-RU" b="0" i="0" u="none" strike="noStrike" dirty="0">
                <a:solidFill>
                  <a:srgbClr val="548EAA"/>
                </a:solidFill>
                <a:effectLst/>
                <a:latin typeface="-apple-system"/>
                <a:hlinkClick r:id="rId4"/>
              </a:rPr>
              <a:t>Пояснение</a:t>
            </a:r>
            <a:br>
              <a:rPr lang="ru-RU" dirty="0"/>
            </a:br>
            <a:br>
              <a:rPr lang="ru-RU" dirty="0"/>
            </a:br>
            <a:r>
              <a:rPr lang="ru-RU" b="1" i="0" dirty="0">
                <a:solidFill>
                  <a:srgbClr val="333333"/>
                </a:solidFill>
                <a:effectLst/>
                <a:latin typeface="-apple-system"/>
              </a:rPr>
              <a:t>Версия</a:t>
            </a:r>
            <a:r>
              <a:rPr lang="ru-RU" b="0" i="0" dirty="0">
                <a:solidFill>
                  <a:srgbClr val="333333"/>
                </a:solidFill>
                <a:effectLst/>
                <a:latin typeface="-apple-system"/>
              </a:rPr>
              <a:t> протокола здесь задаётся так же, как в запросе.</a:t>
            </a:r>
            <a:br>
              <a:rPr lang="ru-RU" dirty="0"/>
            </a:br>
            <a:br>
              <a:rPr lang="ru-RU" dirty="0"/>
            </a:br>
            <a:r>
              <a:rPr lang="ru-RU" b="1" i="0" dirty="0">
                <a:solidFill>
                  <a:srgbClr val="333333"/>
                </a:solidFill>
                <a:effectLst/>
                <a:latin typeface="-apple-system"/>
              </a:rPr>
              <a:t>Код состояния</a:t>
            </a:r>
            <a:r>
              <a:rPr lang="ru-RU" b="0" i="0" dirty="0">
                <a:solidFill>
                  <a:srgbClr val="333333"/>
                </a:solidFill>
                <a:effectLst/>
                <a:latin typeface="-apple-system"/>
              </a:rPr>
              <a:t> (</a:t>
            </a:r>
            <a:r>
              <a:rPr lang="ru-RU" b="0" i="1" dirty="0" err="1">
                <a:solidFill>
                  <a:srgbClr val="333333"/>
                </a:solidFill>
                <a:effectLst/>
                <a:latin typeface="-apple-system"/>
              </a:rPr>
              <a:t>Status</a:t>
            </a:r>
            <a:r>
              <a:rPr lang="ru-RU" b="0" i="1" dirty="0">
                <a:solidFill>
                  <a:srgbClr val="333333"/>
                </a:solidFill>
                <a:effectLst/>
                <a:latin typeface="-apple-system"/>
              </a:rPr>
              <a:t> </a:t>
            </a:r>
            <a:r>
              <a:rPr lang="ru-RU" b="0" i="1" dirty="0" err="1">
                <a:solidFill>
                  <a:srgbClr val="333333"/>
                </a:solidFill>
                <a:effectLst/>
                <a:latin typeface="-apple-system"/>
              </a:rPr>
              <a:t>Code</a:t>
            </a:r>
            <a:r>
              <a:rPr lang="ru-RU" b="0" i="0" dirty="0">
                <a:solidFill>
                  <a:srgbClr val="333333"/>
                </a:solidFill>
                <a:effectLst/>
                <a:latin typeface="-apple-system"/>
              </a:rPr>
              <a:t>) — три цифры (первая из которых указывает на класс состояния), которые определяют результат совершения запроса. Например, в случае, если был использован метод GET, и сервер предоставляет ресурс с указанным идентификатором, то такое состояние задаётся с помощью кода 200. Если сервер сообщает о том, что такого ресурса не существует — 404. Если сервер сообщает о том, что не может предоставить доступ к данному ресурсу по причине отсутствия необходимых привилегий у клиента, то используется код 403. Спецификация HTTP 1.1 определяет 40 различных кодов HTTP, а также допускается расширение протокола и использование дополнительных кодов состояний.</a:t>
            </a:r>
            <a:br>
              <a:rPr lang="ru-RU" dirty="0"/>
            </a:br>
            <a:br>
              <a:rPr lang="ru-RU" dirty="0"/>
            </a:br>
            <a:r>
              <a:rPr lang="ru-RU" b="1" i="0" dirty="0">
                <a:solidFill>
                  <a:srgbClr val="333333"/>
                </a:solidFill>
                <a:effectLst/>
                <a:latin typeface="-apple-system"/>
              </a:rPr>
              <a:t>Пояснение</a:t>
            </a:r>
            <a:r>
              <a:rPr lang="ru-RU" b="0" i="0" dirty="0">
                <a:solidFill>
                  <a:srgbClr val="333333"/>
                </a:solidFill>
                <a:effectLst/>
                <a:latin typeface="-apple-system"/>
              </a:rPr>
              <a:t> к коду состояния (</a:t>
            </a:r>
            <a:r>
              <a:rPr lang="ru-RU" b="0" i="1" dirty="0" err="1">
                <a:solidFill>
                  <a:srgbClr val="333333"/>
                </a:solidFill>
                <a:effectLst/>
                <a:latin typeface="-apple-system"/>
              </a:rPr>
              <a:t>Reason</a:t>
            </a:r>
            <a:r>
              <a:rPr lang="ru-RU" b="0" i="1" dirty="0">
                <a:solidFill>
                  <a:srgbClr val="333333"/>
                </a:solidFill>
                <a:effectLst/>
                <a:latin typeface="-apple-system"/>
              </a:rPr>
              <a:t> </a:t>
            </a:r>
            <a:r>
              <a:rPr lang="ru-RU" b="0" i="1" dirty="0" err="1">
                <a:solidFill>
                  <a:srgbClr val="333333"/>
                </a:solidFill>
                <a:effectLst/>
                <a:latin typeface="-apple-system"/>
              </a:rPr>
              <a:t>Phrase</a:t>
            </a:r>
            <a:r>
              <a:rPr lang="ru-RU" b="0" i="0" dirty="0">
                <a:solidFill>
                  <a:srgbClr val="333333"/>
                </a:solidFill>
                <a:effectLst/>
                <a:latin typeface="-apple-system"/>
              </a:rPr>
              <a:t>) — текстовое (но не включающее символы </a:t>
            </a:r>
            <a:r>
              <a:rPr lang="ru-RU" b="0" i="1" dirty="0">
                <a:solidFill>
                  <a:srgbClr val="333333"/>
                </a:solidFill>
                <a:effectLst/>
                <a:latin typeface="-apple-system"/>
              </a:rPr>
              <a:t>CR</a:t>
            </a:r>
            <a:r>
              <a:rPr lang="ru-RU" b="0" i="0" dirty="0">
                <a:solidFill>
                  <a:srgbClr val="333333"/>
                </a:solidFill>
                <a:effectLst/>
                <a:latin typeface="-apple-system"/>
              </a:rPr>
              <a:t> и </a:t>
            </a:r>
            <a:r>
              <a:rPr lang="ru-RU" b="0" i="1" dirty="0">
                <a:solidFill>
                  <a:srgbClr val="333333"/>
                </a:solidFill>
                <a:effectLst/>
                <a:latin typeface="-apple-system"/>
              </a:rPr>
              <a:t>LF</a:t>
            </a:r>
            <a:r>
              <a:rPr lang="ru-RU" b="0" i="0" dirty="0">
                <a:solidFill>
                  <a:srgbClr val="333333"/>
                </a:solidFill>
                <a:effectLst/>
                <a:latin typeface="-apple-system"/>
              </a:rPr>
              <a:t>) пояснение к коду ответа, предназначено для упрощения чтения ответа человеком. Пояснение может не учитываться клиентским программным обеспечением, а также может отличаться от стандартного в некоторых реализациях серверного ПО.</a:t>
            </a:r>
            <a:br>
              <a:rPr lang="ru-RU" dirty="0"/>
            </a:br>
            <a:br>
              <a:rPr lang="ru-RU" dirty="0"/>
            </a:br>
            <a:r>
              <a:rPr lang="ru-RU" b="0" i="0" dirty="0">
                <a:solidFill>
                  <a:srgbClr val="333333"/>
                </a:solidFill>
                <a:effectLst/>
                <a:latin typeface="-apple-system"/>
              </a:rPr>
              <a:t>После стартовой строки следуют заголовки, а также тело ответа. Например:</a:t>
            </a:r>
            <a:endParaRPr lang="en-US" dirty="0"/>
          </a:p>
        </p:txBody>
      </p:sp>
    </p:spTree>
    <p:extLst>
      <p:ext uri="{BB962C8B-B14F-4D97-AF65-F5344CB8AC3E}">
        <p14:creationId xmlns:p14="http://schemas.microsoft.com/office/powerpoint/2010/main" val="1696705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A4935EB5-5585-48FD-B2B9-89F9AFCAC913}"/>
              </a:ext>
            </a:extLst>
          </p:cNvPr>
          <p:cNvSpPr txBox="1"/>
          <p:nvPr/>
        </p:nvSpPr>
        <p:spPr>
          <a:xfrm>
            <a:off x="898863" y="531739"/>
            <a:ext cx="10269245" cy="4801314"/>
          </a:xfrm>
          <a:prstGeom prst="rect">
            <a:avLst/>
          </a:prstGeom>
          <a:noFill/>
        </p:spPr>
        <p:txBody>
          <a:bodyPr wrap="square">
            <a:spAutoFit/>
          </a:bodyPr>
          <a:lstStyle/>
          <a:p>
            <a:r>
              <a:rPr lang="en-US" b="0" i="0" dirty="0">
                <a:solidFill>
                  <a:srgbClr val="4D4D4C"/>
                </a:solidFill>
                <a:effectLst/>
                <a:latin typeface="Menlo"/>
              </a:rPr>
              <a:t>HTTP/1.1 200 OK </a:t>
            </a:r>
            <a:endParaRPr lang="ru-RU" b="0" i="0" dirty="0">
              <a:solidFill>
                <a:srgbClr val="4D4D4C"/>
              </a:solidFill>
              <a:effectLst/>
              <a:latin typeface="Menlo"/>
            </a:endParaRPr>
          </a:p>
          <a:p>
            <a:r>
              <a:rPr lang="en-US" b="0" i="0" dirty="0">
                <a:solidFill>
                  <a:srgbClr val="4D4D4C"/>
                </a:solidFill>
                <a:effectLst/>
                <a:latin typeface="Menlo"/>
              </a:rPr>
              <a:t>Server: </a:t>
            </a:r>
            <a:r>
              <a:rPr lang="en-US" b="0" i="0" dirty="0" err="1">
                <a:solidFill>
                  <a:srgbClr val="4D4D4C"/>
                </a:solidFill>
                <a:effectLst/>
                <a:latin typeface="Menlo"/>
              </a:rPr>
              <a:t>nginx</a:t>
            </a:r>
            <a:r>
              <a:rPr lang="en-US" b="0" i="0" dirty="0">
                <a:solidFill>
                  <a:srgbClr val="4D4D4C"/>
                </a:solidFill>
                <a:effectLst/>
                <a:latin typeface="Menlo"/>
              </a:rPr>
              <a:t>/1.2.1 </a:t>
            </a:r>
            <a:endParaRPr lang="ru-RU" b="0" i="0" dirty="0">
              <a:solidFill>
                <a:srgbClr val="4D4D4C"/>
              </a:solidFill>
              <a:effectLst/>
              <a:latin typeface="Menlo"/>
            </a:endParaRPr>
          </a:p>
          <a:p>
            <a:r>
              <a:rPr lang="en-US" b="0" i="0" dirty="0">
                <a:solidFill>
                  <a:srgbClr val="4D4D4C"/>
                </a:solidFill>
                <a:effectLst/>
                <a:latin typeface="Menlo"/>
              </a:rPr>
              <a:t>Date: Sat, 08 Mar 2014 22:53:46 GMT </a:t>
            </a:r>
            <a:endParaRPr lang="ru-RU" b="0" i="0" dirty="0">
              <a:solidFill>
                <a:srgbClr val="4D4D4C"/>
              </a:solidFill>
              <a:effectLst/>
              <a:latin typeface="Menlo"/>
            </a:endParaRPr>
          </a:p>
          <a:p>
            <a:r>
              <a:rPr lang="en-US" b="0" i="0" dirty="0">
                <a:solidFill>
                  <a:srgbClr val="4D4D4C"/>
                </a:solidFill>
                <a:effectLst/>
                <a:latin typeface="Menlo"/>
              </a:rPr>
              <a:t>Content-Type: application/octet-stream </a:t>
            </a:r>
            <a:endParaRPr lang="ru-RU" b="0" i="0" dirty="0">
              <a:solidFill>
                <a:srgbClr val="4D4D4C"/>
              </a:solidFill>
              <a:effectLst/>
              <a:latin typeface="Menlo"/>
            </a:endParaRPr>
          </a:p>
          <a:p>
            <a:r>
              <a:rPr lang="en-US" b="0" i="0" dirty="0">
                <a:solidFill>
                  <a:srgbClr val="4D4D4C"/>
                </a:solidFill>
                <a:effectLst/>
                <a:latin typeface="Menlo"/>
              </a:rPr>
              <a:t>Content-Length: 7 </a:t>
            </a:r>
            <a:endParaRPr lang="ru-RU" b="0" i="0" dirty="0">
              <a:solidFill>
                <a:srgbClr val="4D4D4C"/>
              </a:solidFill>
              <a:effectLst/>
              <a:latin typeface="Menlo"/>
            </a:endParaRPr>
          </a:p>
          <a:p>
            <a:r>
              <a:rPr lang="en-US" b="0" i="0" dirty="0">
                <a:solidFill>
                  <a:srgbClr val="4D4D4C"/>
                </a:solidFill>
                <a:effectLst/>
                <a:latin typeface="Menlo"/>
              </a:rPr>
              <a:t>Last-Modified: Sat, 08 Mar 2014 22:53:30 GMT </a:t>
            </a:r>
            <a:endParaRPr lang="ru-RU" b="0" i="0" dirty="0">
              <a:solidFill>
                <a:srgbClr val="4D4D4C"/>
              </a:solidFill>
              <a:effectLst/>
              <a:latin typeface="Menlo"/>
            </a:endParaRPr>
          </a:p>
          <a:p>
            <a:r>
              <a:rPr lang="en-US" b="0" i="0" dirty="0">
                <a:solidFill>
                  <a:srgbClr val="4D4D4C"/>
                </a:solidFill>
                <a:effectLst/>
                <a:latin typeface="Menlo"/>
              </a:rPr>
              <a:t>Connection: keep-alive </a:t>
            </a:r>
            <a:endParaRPr lang="ru-RU" b="0" i="0" dirty="0">
              <a:solidFill>
                <a:srgbClr val="4D4D4C"/>
              </a:solidFill>
              <a:effectLst/>
              <a:latin typeface="Menlo"/>
            </a:endParaRPr>
          </a:p>
          <a:p>
            <a:r>
              <a:rPr lang="en-US" b="0" i="0" dirty="0">
                <a:solidFill>
                  <a:srgbClr val="4D4D4C"/>
                </a:solidFill>
                <a:effectLst/>
                <a:latin typeface="Menlo"/>
              </a:rPr>
              <a:t>Accept-Ranges: bytes </a:t>
            </a:r>
            <a:endParaRPr lang="ru-RU" b="0" i="0" dirty="0">
              <a:solidFill>
                <a:srgbClr val="4D4D4C"/>
              </a:solidFill>
              <a:effectLst/>
              <a:latin typeface="Menlo"/>
            </a:endParaRPr>
          </a:p>
          <a:p>
            <a:r>
              <a:rPr lang="en-US" b="0" i="0" dirty="0">
                <a:solidFill>
                  <a:srgbClr val="4D4D4C"/>
                </a:solidFill>
                <a:effectLst/>
                <a:latin typeface="Menlo"/>
              </a:rPr>
              <a:t>Wisdom</a:t>
            </a:r>
            <a:endParaRPr lang="ru-RU" b="0" i="0" dirty="0">
              <a:solidFill>
                <a:srgbClr val="4D4D4C"/>
              </a:solidFill>
              <a:effectLst/>
              <a:latin typeface="Menlo"/>
            </a:endParaRPr>
          </a:p>
          <a:p>
            <a:endParaRPr lang="ru-RU" dirty="0">
              <a:solidFill>
                <a:srgbClr val="4D4D4C"/>
              </a:solidFill>
              <a:latin typeface="Menlo"/>
            </a:endParaRPr>
          </a:p>
          <a:p>
            <a:r>
              <a:rPr lang="ru-RU" b="0" i="0" dirty="0">
                <a:solidFill>
                  <a:srgbClr val="333333"/>
                </a:solidFill>
                <a:effectLst/>
                <a:latin typeface="-apple-system"/>
              </a:rPr>
              <a:t>Тело ответа следует через два переноса строки после последнего заголовка. Для определения окончания тела ответа используется значение заголовка </a:t>
            </a:r>
            <a:r>
              <a:rPr lang="ru-RU" b="1" i="0" dirty="0" err="1">
                <a:solidFill>
                  <a:srgbClr val="333333"/>
                </a:solidFill>
                <a:effectLst/>
                <a:latin typeface="-apple-system"/>
              </a:rPr>
              <a:t>Content-Length</a:t>
            </a:r>
            <a:r>
              <a:rPr lang="ru-RU" b="0" i="0" dirty="0">
                <a:solidFill>
                  <a:srgbClr val="333333"/>
                </a:solidFill>
                <a:effectLst/>
                <a:latin typeface="-apple-system"/>
              </a:rPr>
              <a:t> (в данном случае ответ содержит 7 восьмеричных байтов: слово «</a:t>
            </a:r>
            <a:r>
              <a:rPr lang="ru-RU" b="0" i="0" dirty="0" err="1">
                <a:solidFill>
                  <a:srgbClr val="333333"/>
                </a:solidFill>
                <a:effectLst/>
                <a:latin typeface="-apple-system"/>
              </a:rPr>
              <a:t>Wisdom</a:t>
            </a:r>
            <a:r>
              <a:rPr lang="ru-RU" b="0" i="0" dirty="0">
                <a:solidFill>
                  <a:srgbClr val="333333"/>
                </a:solidFill>
                <a:effectLst/>
                <a:latin typeface="-apple-system"/>
              </a:rPr>
              <a:t>» и символ переноса строки).</a:t>
            </a:r>
            <a:br>
              <a:rPr lang="ru-RU" dirty="0"/>
            </a:br>
            <a:br>
              <a:rPr lang="ru-RU" dirty="0"/>
            </a:br>
            <a:r>
              <a:rPr lang="ru-RU" b="0" i="0" dirty="0">
                <a:solidFill>
                  <a:srgbClr val="333333"/>
                </a:solidFill>
                <a:effectLst/>
                <a:latin typeface="-apple-system"/>
              </a:rPr>
              <a:t>Но вот по тому запросу, который мы составили ранее, веб-сервер вернёт ответ не с кодом 200, а с кодом 302. Таким образом он сообщает клиенту о том, что обращаться к данному ресурсу на данный момент нужно по другому адресу.</a:t>
            </a:r>
            <a:endParaRPr lang="en-US" dirty="0"/>
          </a:p>
        </p:txBody>
      </p:sp>
    </p:spTree>
    <p:extLst>
      <p:ext uri="{BB962C8B-B14F-4D97-AF65-F5344CB8AC3E}">
        <p14:creationId xmlns:p14="http://schemas.microsoft.com/office/powerpoint/2010/main" val="1401343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647CE51E-E9F5-4A8F-B7E2-B7381DB572CD}"/>
              </a:ext>
            </a:extLst>
          </p:cNvPr>
          <p:cNvSpPr txBox="1"/>
          <p:nvPr/>
        </p:nvSpPr>
        <p:spPr>
          <a:xfrm>
            <a:off x="417251" y="168676"/>
            <a:ext cx="10342486" cy="6463308"/>
          </a:xfrm>
          <a:prstGeom prst="rect">
            <a:avLst/>
          </a:prstGeom>
          <a:noFill/>
        </p:spPr>
        <p:txBody>
          <a:bodyPr wrap="square">
            <a:spAutoFit/>
          </a:bodyPr>
          <a:lstStyle/>
          <a:p>
            <a:r>
              <a:rPr lang="en-US" b="0" i="0" dirty="0">
                <a:solidFill>
                  <a:srgbClr val="4D4D4C"/>
                </a:solidFill>
                <a:effectLst/>
                <a:latin typeface="Menlo"/>
              </a:rPr>
              <a:t>HTTP/1.1 302 Moved Temporarily </a:t>
            </a:r>
            <a:endParaRPr lang="ru-RU" b="0" i="0" dirty="0">
              <a:solidFill>
                <a:srgbClr val="4D4D4C"/>
              </a:solidFill>
              <a:effectLst/>
              <a:latin typeface="Menlo"/>
            </a:endParaRPr>
          </a:p>
          <a:p>
            <a:r>
              <a:rPr lang="en-US" b="0" i="0" dirty="0">
                <a:solidFill>
                  <a:srgbClr val="4D4D4C"/>
                </a:solidFill>
                <a:effectLst/>
                <a:latin typeface="Menlo"/>
              </a:rPr>
              <a:t>Server: </a:t>
            </a:r>
            <a:r>
              <a:rPr lang="en-US" b="0" i="0" dirty="0" err="1">
                <a:solidFill>
                  <a:srgbClr val="4D4D4C"/>
                </a:solidFill>
                <a:effectLst/>
                <a:latin typeface="Menlo"/>
              </a:rPr>
              <a:t>nginx</a:t>
            </a:r>
            <a:r>
              <a:rPr lang="en-US" b="0" i="0" dirty="0">
                <a:solidFill>
                  <a:srgbClr val="4D4D4C"/>
                </a:solidFill>
                <a:effectLst/>
                <a:latin typeface="Menlo"/>
              </a:rPr>
              <a:t> </a:t>
            </a:r>
            <a:endParaRPr lang="ru-RU" b="0" i="0" dirty="0">
              <a:solidFill>
                <a:srgbClr val="4D4D4C"/>
              </a:solidFill>
              <a:effectLst/>
              <a:latin typeface="Menlo"/>
            </a:endParaRPr>
          </a:p>
          <a:p>
            <a:r>
              <a:rPr lang="en-US" b="0" i="0" dirty="0">
                <a:solidFill>
                  <a:srgbClr val="4D4D4C"/>
                </a:solidFill>
                <a:effectLst/>
                <a:latin typeface="Menlo"/>
              </a:rPr>
              <a:t>Date: Sat, 08 Mar 2014 22:29:53 GMT </a:t>
            </a:r>
            <a:endParaRPr lang="ru-RU" b="0" i="0" dirty="0">
              <a:solidFill>
                <a:srgbClr val="4D4D4C"/>
              </a:solidFill>
              <a:effectLst/>
              <a:latin typeface="Menlo"/>
            </a:endParaRPr>
          </a:p>
          <a:p>
            <a:r>
              <a:rPr lang="en-US" b="0" i="0" dirty="0">
                <a:solidFill>
                  <a:srgbClr val="4D4D4C"/>
                </a:solidFill>
                <a:effectLst/>
                <a:latin typeface="Menlo"/>
              </a:rPr>
              <a:t>Content-Type: text/html </a:t>
            </a:r>
            <a:endParaRPr lang="ru-RU" b="0" i="0" dirty="0">
              <a:solidFill>
                <a:srgbClr val="4D4D4C"/>
              </a:solidFill>
              <a:effectLst/>
              <a:latin typeface="Menlo"/>
            </a:endParaRPr>
          </a:p>
          <a:p>
            <a:r>
              <a:rPr lang="en-US" b="0" i="0" dirty="0">
                <a:solidFill>
                  <a:srgbClr val="4D4D4C"/>
                </a:solidFill>
                <a:effectLst/>
                <a:latin typeface="Menlo"/>
              </a:rPr>
              <a:t>Content-Length: 154 </a:t>
            </a:r>
            <a:endParaRPr lang="ru-RU" b="0" i="0" dirty="0">
              <a:solidFill>
                <a:srgbClr val="4D4D4C"/>
              </a:solidFill>
              <a:effectLst/>
              <a:latin typeface="Menlo"/>
            </a:endParaRPr>
          </a:p>
          <a:p>
            <a:r>
              <a:rPr lang="en-US" b="0" i="0" dirty="0">
                <a:solidFill>
                  <a:srgbClr val="4D4D4C"/>
                </a:solidFill>
                <a:effectLst/>
                <a:latin typeface="Menlo"/>
              </a:rPr>
              <a:t>Connection: keep-alive </a:t>
            </a:r>
            <a:r>
              <a:rPr lang="en-US" b="0" i="0" dirty="0" err="1">
                <a:solidFill>
                  <a:srgbClr val="4D4D4C"/>
                </a:solidFill>
                <a:effectLst/>
                <a:latin typeface="Menlo"/>
              </a:rPr>
              <a:t>Keep-Alive</a:t>
            </a:r>
            <a:r>
              <a:rPr lang="en-US" b="0" i="0" dirty="0">
                <a:solidFill>
                  <a:srgbClr val="4D4D4C"/>
                </a:solidFill>
                <a:effectLst/>
                <a:latin typeface="Menlo"/>
              </a:rPr>
              <a:t>: </a:t>
            </a:r>
            <a:endParaRPr lang="ru-RU" b="0" i="0" dirty="0">
              <a:solidFill>
                <a:srgbClr val="4D4D4C"/>
              </a:solidFill>
              <a:effectLst/>
              <a:latin typeface="Menlo"/>
            </a:endParaRPr>
          </a:p>
          <a:p>
            <a:r>
              <a:rPr lang="en-US" b="0" i="0" dirty="0">
                <a:solidFill>
                  <a:srgbClr val="4D4D4C"/>
                </a:solidFill>
                <a:effectLst/>
                <a:latin typeface="Menlo"/>
              </a:rPr>
              <a:t>timeout=25 </a:t>
            </a:r>
            <a:endParaRPr lang="ru-RU" b="0" i="0" dirty="0">
              <a:solidFill>
                <a:srgbClr val="4D4D4C"/>
              </a:solidFill>
              <a:effectLst/>
              <a:latin typeface="Menlo"/>
            </a:endParaRPr>
          </a:p>
          <a:p>
            <a:r>
              <a:rPr lang="en-US" b="0" i="0" dirty="0">
                <a:solidFill>
                  <a:srgbClr val="4D4D4C"/>
                </a:solidFill>
                <a:effectLst/>
                <a:latin typeface="Menlo"/>
              </a:rPr>
              <a:t>Location: http://</a:t>
            </a:r>
            <a:r>
              <a:rPr lang="en-US" dirty="0">
                <a:solidFill>
                  <a:srgbClr val="4D4D4C"/>
                </a:solidFill>
                <a:latin typeface="Menlo"/>
              </a:rPr>
              <a:t>Bsuir.by</a:t>
            </a:r>
            <a:r>
              <a:rPr lang="en-US" b="0" i="0" dirty="0">
                <a:solidFill>
                  <a:srgbClr val="4D4D4C"/>
                </a:solidFill>
                <a:effectLst/>
                <a:latin typeface="Menlo"/>
              </a:rPr>
              <a:t>/users/evm/ </a:t>
            </a:r>
          </a:p>
          <a:p>
            <a:r>
              <a:rPr lang="en-US" b="0" i="0" dirty="0">
                <a:solidFill>
                  <a:srgbClr val="C82829"/>
                </a:solidFill>
                <a:effectLst/>
                <a:latin typeface="Menlo"/>
              </a:rPr>
              <a:t>&lt;</a:t>
            </a:r>
            <a:r>
              <a:rPr lang="en-US" b="1" i="0" dirty="0">
                <a:solidFill>
                  <a:srgbClr val="C82829"/>
                </a:solidFill>
                <a:effectLst/>
                <a:latin typeface="Menlo"/>
              </a:rPr>
              <a:t>html</a:t>
            </a:r>
            <a:r>
              <a:rPr lang="en-US" b="0" i="0" dirty="0">
                <a:solidFill>
                  <a:srgbClr val="C82829"/>
                </a:solidFill>
                <a:effectLst/>
                <a:latin typeface="Menlo"/>
              </a:rPr>
              <a:t>&gt;</a:t>
            </a:r>
            <a:r>
              <a:rPr lang="en-US" b="0" i="0" dirty="0">
                <a:solidFill>
                  <a:srgbClr val="4D4D4C"/>
                </a:solidFill>
                <a:effectLst/>
                <a:latin typeface="Menlo"/>
              </a:rPr>
              <a:t> </a:t>
            </a:r>
          </a:p>
          <a:p>
            <a:r>
              <a:rPr lang="en-US" b="0" i="0" dirty="0">
                <a:solidFill>
                  <a:srgbClr val="C82829"/>
                </a:solidFill>
                <a:effectLst/>
                <a:latin typeface="Menlo"/>
              </a:rPr>
              <a:t>&lt;</a:t>
            </a:r>
            <a:r>
              <a:rPr lang="en-US" b="1" i="0" dirty="0">
                <a:solidFill>
                  <a:srgbClr val="C82829"/>
                </a:solidFill>
                <a:effectLst/>
                <a:latin typeface="Menlo"/>
              </a:rPr>
              <a:t>head</a:t>
            </a:r>
            <a:r>
              <a:rPr lang="en-US" b="0" i="0" dirty="0">
                <a:solidFill>
                  <a:srgbClr val="C82829"/>
                </a:solidFill>
                <a:effectLst/>
                <a:latin typeface="Menlo"/>
              </a:rPr>
              <a:t>&gt;&lt;</a:t>
            </a:r>
            <a:r>
              <a:rPr lang="en-US" b="1" i="0" dirty="0">
                <a:solidFill>
                  <a:srgbClr val="C82829"/>
                </a:solidFill>
                <a:effectLst/>
                <a:latin typeface="Menlo"/>
              </a:rPr>
              <a:t>title</a:t>
            </a:r>
            <a:r>
              <a:rPr lang="en-US" b="0" i="0" dirty="0">
                <a:solidFill>
                  <a:srgbClr val="C82829"/>
                </a:solidFill>
                <a:effectLst/>
                <a:latin typeface="Menlo"/>
              </a:rPr>
              <a:t>&gt;</a:t>
            </a:r>
            <a:r>
              <a:rPr lang="en-US" b="0" i="0" dirty="0">
                <a:solidFill>
                  <a:srgbClr val="4D4D4C"/>
                </a:solidFill>
                <a:effectLst/>
                <a:latin typeface="Menlo"/>
              </a:rPr>
              <a:t>302 Found</a:t>
            </a:r>
            <a:r>
              <a:rPr lang="en-US" b="0" i="0" dirty="0">
                <a:solidFill>
                  <a:srgbClr val="C82829"/>
                </a:solidFill>
                <a:effectLst/>
                <a:latin typeface="Menlo"/>
              </a:rPr>
              <a:t>&lt;/</a:t>
            </a:r>
            <a:r>
              <a:rPr lang="en-US" b="1" i="0" dirty="0">
                <a:solidFill>
                  <a:srgbClr val="C82829"/>
                </a:solidFill>
                <a:effectLst/>
                <a:latin typeface="Menlo"/>
              </a:rPr>
              <a:t>title</a:t>
            </a:r>
            <a:r>
              <a:rPr lang="en-US" b="0" i="0" dirty="0">
                <a:solidFill>
                  <a:srgbClr val="C82829"/>
                </a:solidFill>
                <a:effectLst/>
                <a:latin typeface="Menlo"/>
              </a:rPr>
              <a:t>&gt;&lt;/</a:t>
            </a:r>
            <a:r>
              <a:rPr lang="en-US" b="1" i="0" dirty="0">
                <a:solidFill>
                  <a:srgbClr val="C82829"/>
                </a:solidFill>
                <a:effectLst/>
                <a:latin typeface="Menlo"/>
              </a:rPr>
              <a:t>head</a:t>
            </a:r>
            <a:r>
              <a:rPr lang="en-US" b="0" i="0" dirty="0">
                <a:solidFill>
                  <a:srgbClr val="C82829"/>
                </a:solidFill>
                <a:effectLst/>
                <a:latin typeface="Menlo"/>
              </a:rPr>
              <a:t>&gt;</a:t>
            </a:r>
            <a:r>
              <a:rPr lang="en-US" b="0" i="0" dirty="0">
                <a:solidFill>
                  <a:srgbClr val="4D4D4C"/>
                </a:solidFill>
                <a:effectLst/>
                <a:latin typeface="Menlo"/>
              </a:rPr>
              <a:t> </a:t>
            </a:r>
            <a:r>
              <a:rPr lang="en-US" b="0" i="0" dirty="0">
                <a:solidFill>
                  <a:srgbClr val="C82829"/>
                </a:solidFill>
                <a:effectLst/>
                <a:latin typeface="Menlo"/>
              </a:rPr>
              <a:t>&lt;</a:t>
            </a:r>
          </a:p>
          <a:p>
            <a:r>
              <a:rPr lang="en-US" b="1" i="0" dirty="0">
                <a:solidFill>
                  <a:srgbClr val="C82829"/>
                </a:solidFill>
                <a:effectLst/>
                <a:latin typeface="Menlo"/>
              </a:rPr>
              <a:t>body</a:t>
            </a:r>
            <a:r>
              <a:rPr lang="en-US" b="0" i="0" dirty="0">
                <a:solidFill>
                  <a:srgbClr val="C82829"/>
                </a:solidFill>
                <a:effectLst/>
                <a:latin typeface="Menlo"/>
              </a:rPr>
              <a:t> </a:t>
            </a:r>
            <a:r>
              <a:rPr lang="en-US" b="0" i="0" dirty="0" err="1">
                <a:solidFill>
                  <a:srgbClr val="C82829"/>
                </a:solidFill>
                <a:effectLst/>
                <a:latin typeface="Menlo"/>
              </a:rPr>
              <a:t>bgcolor</a:t>
            </a:r>
            <a:r>
              <a:rPr lang="en-US" b="0" i="0" dirty="0">
                <a:solidFill>
                  <a:srgbClr val="C82829"/>
                </a:solidFill>
                <a:effectLst/>
                <a:latin typeface="Menlo"/>
              </a:rPr>
              <a:t>=</a:t>
            </a:r>
            <a:r>
              <a:rPr lang="en-US" b="0" i="0" dirty="0">
                <a:solidFill>
                  <a:srgbClr val="718C00"/>
                </a:solidFill>
                <a:effectLst/>
                <a:latin typeface="Menlo"/>
              </a:rPr>
              <a:t>"white"</a:t>
            </a:r>
            <a:r>
              <a:rPr lang="en-US" b="0" i="0" dirty="0">
                <a:solidFill>
                  <a:srgbClr val="C82829"/>
                </a:solidFill>
                <a:effectLst/>
                <a:latin typeface="Menlo"/>
              </a:rPr>
              <a:t>&gt;</a:t>
            </a:r>
            <a:r>
              <a:rPr lang="en-US" b="0" i="0" dirty="0">
                <a:solidFill>
                  <a:srgbClr val="4D4D4C"/>
                </a:solidFill>
                <a:effectLst/>
                <a:latin typeface="Menlo"/>
              </a:rPr>
              <a:t> </a:t>
            </a:r>
            <a:r>
              <a:rPr lang="en-US" b="0" i="0" dirty="0">
                <a:solidFill>
                  <a:srgbClr val="C82829"/>
                </a:solidFill>
                <a:effectLst/>
                <a:latin typeface="Menlo"/>
              </a:rPr>
              <a:t>&lt;</a:t>
            </a:r>
            <a:r>
              <a:rPr lang="en-US" b="1" i="0" dirty="0">
                <a:solidFill>
                  <a:srgbClr val="C82829"/>
                </a:solidFill>
                <a:effectLst/>
                <a:latin typeface="Menlo"/>
              </a:rPr>
              <a:t>center</a:t>
            </a:r>
            <a:r>
              <a:rPr lang="en-US" b="0" i="0" dirty="0">
                <a:solidFill>
                  <a:srgbClr val="C82829"/>
                </a:solidFill>
                <a:effectLst/>
                <a:latin typeface="Menlo"/>
              </a:rPr>
              <a:t>&gt;&lt;</a:t>
            </a:r>
            <a:r>
              <a:rPr lang="en-US" b="1" i="0" dirty="0">
                <a:solidFill>
                  <a:srgbClr val="C82829"/>
                </a:solidFill>
                <a:effectLst/>
                <a:latin typeface="Menlo"/>
              </a:rPr>
              <a:t>h1</a:t>
            </a:r>
            <a:r>
              <a:rPr lang="en-US" b="0" i="0" dirty="0">
                <a:solidFill>
                  <a:srgbClr val="C82829"/>
                </a:solidFill>
                <a:effectLst/>
                <a:latin typeface="Menlo"/>
              </a:rPr>
              <a:t>&gt;</a:t>
            </a:r>
            <a:r>
              <a:rPr lang="en-US" b="0" i="0" dirty="0">
                <a:solidFill>
                  <a:srgbClr val="4D4D4C"/>
                </a:solidFill>
                <a:effectLst/>
                <a:latin typeface="Menlo"/>
              </a:rPr>
              <a:t>302 Found</a:t>
            </a:r>
            <a:r>
              <a:rPr lang="en-US" b="0" i="0" dirty="0">
                <a:solidFill>
                  <a:srgbClr val="C82829"/>
                </a:solidFill>
                <a:effectLst/>
                <a:latin typeface="Menlo"/>
              </a:rPr>
              <a:t>&lt;/</a:t>
            </a:r>
            <a:r>
              <a:rPr lang="en-US" b="1" i="0" dirty="0">
                <a:solidFill>
                  <a:srgbClr val="C82829"/>
                </a:solidFill>
                <a:effectLst/>
                <a:latin typeface="Menlo"/>
              </a:rPr>
              <a:t>h1</a:t>
            </a:r>
            <a:r>
              <a:rPr lang="en-US" b="0" i="0" dirty="0">
                <a:solidFill>
                  <a:srgbClr val="C82829"/>
                </a:solidFill>
                <a:effectLst/>
                <a:latin typeface="Menlo"/>
              </a:rPr>
              <a:t>&gt;&lt;/</a:t>
            </a:r>
            <a:r>
              <a:rPr lang="en-US" b="1" i="0" dirty="0">
                <a:solidFill>
                  <a:srgbClr val="C82829"/>
                </a:solidFill>
                <a:effectLst/>
                <a:latin typeface="Menlo"/>
              </a:rPr>
              <a:t>center</a:t>
            </a:r>
            <a:r>
              <a:rPr lang="en-US" b="0" i="0" dirty="0">
                <a:solidFill>
                  <a:srgbClr val="C82829"/>
                </a:solidFill>
                <a:effectLst/>
                <a:latin typeface="Menlo"/>
              </a:rPr>
              <a:t>&gt;</a:t>
            </a:r>
            <a:r>
              <a:rPr lang="en-US" b="0" i="0" dirty="0">
                <a:solidFill>
                  <a:srgbClr val="4D4D4C"/>
                </a:solidFill>
                <a:effectLst/>
                <a:latin typeface="Menlo"/>
              </a:rPr>
              <a:t> </a:t>
            </a:r>
          </a:p>
          <a:p>
            <a:r>
              <a:rPr lang="en-US" b="0" i="0" dirty="0">
                <a:solidFill>
                  <a:srgbClr val="C82829"/>
                </a:solidFill>
                <a:effectLst/>
                <a:latin typeface="Menlo"/>
              </a:rPr>
              <a:t>&lt;</a:t>
            </a:r>
            <a:r>
              <a:rPr lang="en-US" b="1" i="0" dirty="0" err="1">
                <a:solidFill>
                  <a:srgbClr val="C82829"/>
                </a:solidFill>
                <a:effectLst/>
                <a:latin typeface="Menlo"/>
              </a:rPr>
              <a:t>hr</a:t>
            </a:r>
            <a:r>
              <a:rPr lang="en-US" b="0" i="0" dirty="0">
                <a:solidFill>
                  <a:srgbClr val="C82829"/>
                </a:solidFill>
                <a:effectLst/>
                <a:latin typeface="Menlo"/>
              </a:rPr>
              <a:t>&gt;&lt;</a:t>
            </a:r>
            <a:r>
              <a:rPr lang="en-US" b="1" i="0" dirty="0">
                <a:solidFill>
                  <a:srgbClr val="C82829"/>
                </a:solidFill>
                <a:effectLst/>
                <a:latin typeface="Menlo"/>
              </a:rPr>
              <a:t>center</a:t>
            </a:r>
            <a:r>
              <a:rPr lang="en-US" b="0" i="0" dirty="0">
                <a:solidFill>
                  <a:srgbClr val="C82829"/>
                </a:solidFill>
                <a:effectLst/>
                <a:latin typeface="Menlo"/>
              </a:rPr>
              <a:t>&gt;</a:t>
            </a:r>
            <a:r>
              <a:rPr lang="en-US" b="0" i="0" dirty="0" err="1">
                <a:solidFill>
                  <a:srgbClr val="4D4D4C"/>
                </a:solidFill>
                <a:effectLst/>
                <a:latin typeface="Menlo"/>
              </a:rPr>
              <a:t>nginx</a:t>
            </a:r>
            <a:r>
              <a:rPr lang="en-US" b="0" i="0" dirty="0">
                <a:solidFill>
                  <a:srgbClr val="C82829"/>
                </a:solidFill>
                <a:effectLst/>
                <a:latin typeface="Menlo"/>
              </a:rPr>
              <a:t>&lt;/</a:t>
            </a:r>
            <a:r>
              <a:rPr lang="en-US" b="1" i="0" dirty="0">
                <a:solidFill>
                  <a:srgbClr val="C82829"/>
                </a:solidFill>
                <a:effectLst/>
                <a:latin typeface="Menlo"/>
              </a:rPr>
              <a:t>center</a:t>
            </a:r>
            <a:r>
              <a:rPr lang="en-US" b="0" i="0" dirty="0">
                <a:solidFill>
                  <a:srgbClr val="C82829"/>
                </a:solidFill>
                <a:effectLst/>
                <a:latin typeface="Menlo"/>
              </a:rPr>
              <a:t>&gt;</a:t>
            </a:r>
            <a:r>
              <a:rPr lang="en-US" b="0" i="0" dirty="0">
                <a:solidFill>
                  <a:srgbClr val="4D4D4C"/>
                </a:solidFill>
                <a:effectLst/>
                <a:latin typeface="Menlo"/>
              </a:rPr>
              <a:t> </a:t>
            </a:r>
          </a:p>
          <a:p>
            <a:r>
              <a:rPr lang="en-US" b="0" i="0" dirty="0">
                <a:solidFill>
                  <a:srgbClr val="C82829"/>
                </a:solidFill>
                <a:effectLst/>
                <a:latin typeface="Menlo"/>
              </a:rPr>
              <a:t>&lt;/</a:t>
            </a:r>
            <a:r>
              <a:rPr lang="en-US" b="1" i="0" dirty="0">
                <a:solidFill>
                  <a:srgbClr val="C82829"/>
                </a:solidFill>
                <a:effectLst/>
                <a:latin typeface="Menlo"/>
              </a:rPr>
              <a:t>body</a:t>
            </a:r>
            <a:r>
              <a:rPr lang="en-US" b="0" i="0" dirty="0">
                <a:solidFill>
                  <a:srgbClr val="C82829"/>
                </a:solidFill>
                <a:effectLst/>
                <a:latin typeface="Menlo"/>
              </a:rPr>
              <a:t>&gt;</a:t>
            </a:r>
            <a:r>
              <a:rPr lang="en-US" b="0" i="0" dirty="0">
                <a:solidFill>
                  <a:srgbClr val="4D4D4C"/>
                </a:solidFill>
                <a:effectLst/>
                <a:latin typeface="Menlo"/>
              </a:rPr>
              <a:t> </a:t>
            </a:r>
          </a:p>
          <a:p>
            <a:r>
              <a:rPr lang="en-US" b="0" i="0" dirty="0">
                <a:solidFill>
                  <a:srgbClr val="C82829"/>
                </a:solidFill>
                <a:effectLst/>
                <a:latin typeface="Menlo"/>
              </a:rPr>
              <a:t>&lt;/</a:t>
            </a:r>
            <a:r>
              <a:rPr lang="en-US" b="1" i="0" dirty="0">
                <a:solidFill>
                  <a:srgbClr val="C82829"/>
                </a:solidFill>
                <a:effectLst/>
                <a:latin typeface="Menlo"/>
              </a:rPr>
              <a:t>html</a:t>
            </a:r>
            <a:r>
              <a:rPr lang="en-US" b="0" i="0" dirty="0">
                <a:solidFill>
                  <a:srgbClr val="C82829"/>
                </a:solidFill>
                <a:effectLst/>
                <a:latin typeface="Menlo"/>
              </a:rPr>
              <a:t>&gt;</a:t>
            </a:r>
            <a:endParaRPr lang="ru-RU" b="0" i="0" dirty="0">
              <a:solidFill>
                <a:srgbClr val="C82829"/>
              </a:solidFill>
              <a:effectLst/>
              <a:latin typeface="Menlo"/>
            </a:endParaRPr>
          </a:p>
          <a:p>
            <a:r>
              <a:rPr lang="ru-RU" b="0" i="0" dirty="0">
                <a:solidFill>
                  <a:srgbClr val="333333"/>
                </a:solidFill>
                <a:effectLst/>
                <a:latin typeface="-apple-system"/>
              </a:rPr>
              <a:t>В заголовке </a:t>
            </a:r>
            <a:r>
              <a:rPr lang="ru-RU" b="0" i="0" dirty="0" err="1">
                <a:solidFill>
                  <a:srgbClr val="333333"/>
                </a:solidFill>
                <a:effectLst/>
                <a:latin typeface="-apple-system"/>
              </a:rPr>
              <a:t>Location</a:t>
            </a:r>
            <a:r>
              <a:rPr lang="ru-RU" b="0" i="0" dirty="0">
                <a:solidFill>
                  <a:srgbClr val="333333"/>
                </a:solidFill>
                <a:effectLst/>
                <a:latin typeface="-apple-system"/>
              </a:rPr>
              <a:t> передан новый адрес. Теперь URI (идентификатор ресурса) изменился на /</a:t>
            </a:r>
            <a:r>
              <a:rPr lang="ru-RU" b="0" i="0" dirty="0" err="1">
                <a:solidFill>
                  <a:srgbClr val="333333"/>
                </a:solidFill>
                <a:effectLst/>
                <a:latin typeface="-apple-system"/>
              </a:rPr>
              <a:t>users</a:t>
            </a:r>
            <a:r>
              <a:rPr lang="ru-RU" b="0" i="0" dirty="0">
                <a:solidFill>
                  <a:srgbClr val="333333"/>
                </a:solidFill>
                <a:effectLst/>
                <a:latin typeface="-apple-system"/>
              </a:rPr>
              <a:t>/</a:t>
            </a:r>
            <a:r>
              <a:rPr lang="en-US" b="0" i="0" dirty="0" err="1">
                <a:solidFill>
                  <a:srgbClr val="333333"/>
                </a:solidFill>
                <a:effectLst/>
                <a:latin typeface="-apple-system"/>
              </a:rPr>
              <a:t>evm</a:t>
            </a:r>
            <a:r>
              <a:rPr lang="ru-RU" b="0" i="0" dirty="0">
                <a:solidFill>
                  <a:srgbClr val="333333"/>
                </a:solidFill>
                <a:effectLst/>
                <a:latin typeface="-apple-system"/>
              </a:rPr>
              <a:t>/, а обращаться нужно на этот раз к серверу по адресу </a:t>
            </a:r>
            <a:r>
              <a:rPr lang="en-US" b="0" i="0" dirty="0">
                <a:solidFill>
                  <a:srgbClr val="333333"/>
                </a:solidFill>
                <a:effectLst/>
                <a:latin typeface="-apple-system"/>
              </a:rPr>
              <a:t>bsuir.by</a:t>
            </a:r>
            <a:r>
              <a:rPr lang="ru-RU" b="0" i="0" dirty="0">
                <a:solidFill>
                  <a:srgbClr val="333333"/>
                </a:solidFill>
                <a:effectLst/>
                <a:latin typeface="-apple-system"/>
              </a:rPr>
              <a:t> (впрочем, в данном случае это тот же самый сервер), и его же указывать в заголовке </a:t>
            </a:r>
            <a:r>
              <a:rPr lang="ru-RU" b="0" i="0" dirty="0" err="1">
                <a:solidFill>
                  <a:srgbClr val="333333"/>
                </a:solidFill>
                <a:effectLst/>
                <a:latin typeface="-apple-system"/>
              </a:rPr>
              <a:t>Host</a:t>
            </a:r>
            <a:r>
              <a:rPr lang="ru-RU" b="0" i="0" dirty="0">
                <a:solidFill>
                  <a:srgbClr val="333333"/>
                </a:solidFill>
                <a:effectLst/>
                <a:latin typeface="-apple-system"/>
              </a:rPr>
              <a:t>.</a:t>
            </a:r>
            <a:endParaRPr lang="en-US" b="0" i="0" dirty="0">
              <a:solidFill>
                <a:srgbClr val="333333"/>
              </a:solidFill>
              <a:effectLst/>
              <a:latin typeface="-apple-system"/>
            </a:endParaRPr>
          </a:p>
          <a:p>
            <a:r>
              <a:rPr lang="ru-RU" b="0" i="0" dirty="0">
                <a:solidFill>
                  <a:srgbClr val="333333"/>
                </a:solidFill>
                <a:effectLst/>
                <a:latin typeface="-apple-system"/>
              </a:rPr>
              <a:t>То есть:</a:t>
            </a:r>
            <a:endParaRPr lang="en-US" dirty="0">
              <a:solidFill>
                <a:srgbClr val="333333"/>
              </a:solidFill>
              <a:latin typeface="-apple-system"/>
            </a:endParaRPr>
          </a:p>
          <a:p>
            <a:r>
              <a:rPr lang="en-US" b="0" i="0" dirty="0">
                <a:solidFill>
                  <a:srgbClr val="333333"/>
                </a:solidFill>
                <a:effectLst/>
                <a:latin typeface="Menlo"/>
              </a:rPr>
              <a:t>GET /users/</a:t>
            </a:r>
            <a:r>
              <a:rPr lang="en-US" b="0" i="0" dirty="0" err="1">
                <a:solidFill>
                  <a:srgbClr val="333333"/>
                </a:solidFill>
                <a:effectLst/>
                <a:latin typeface="Menlo"/>
              </a:rPr>
              <a:t>evm</a:t>
            </a:r>
            <a:r>
              <a:rPr lang="en-US" b="0" i="0" dirty="0">
                <a:solidFill>
                  <a:srgbClr val="333333"/>
                </a:solidFill>
                <a:effectLst/>
                <a:latin typeface="Menlo"/>
              </a:rPr>
              <a:t>/ HTTP/1.1</a:t>
            </a:r>
          </a:p>
          <a:p>
            <a:r>
              <a:rPr lang="en-US" b="0" i="0" dirty="0">
                <a:solidFill>
                  <a:srgbClr val="333333"/>
                </a:solidFill>
                <a:effectLst/>
                <a:latin typeface="Menlo"/>
              </a:rPr>
              <a:t>Host: bsuir.by</a:t>
            </a:r>
          </a:p>
          <a:p>
            <a:r>
              <a:rPr lang="ru-RU" b="0" i="0" dirty="0">
                <a:solidFill>
                  <a:srgbClr val="333333"/>
                </a:solidFill>
                <a:effectLst/>
                <a:latin typeface="-apple-system"/>
              </a:rPr>
              <a:t>В ответ на этот запрос веб-сервер </a:t>
            </a:r>
            <a:r>
              <a:rPr lang="en-US" b="0" i="0" dirty="0" err="1">
                <a:solidFill>
                  <a:srgbClr val="333333"/>
                </a:solidFill>
                <a:effectLst/>
                <a:latin typeface="-apple-system"/>
              </a:rPr>
              <a:t>bsuir</a:t>
            </a:r>
            <a:r>
              <a:rPr lang="ru-RU" b="0" i="0" dirty="0">
                <a:solidFill>
                  <a:srgbClr val="333333"/>
                </a:solidFill>
                <a:effectLst/>
                <a:latin typeface="-apple-system"/>
              </a:rPr>
              <a:t> уже выдаст ответ с кодом 200 и достаточно большой документ в формате HTML.</a:t>
            </a:r>
            <a:br>
              <a:rPr lang="ru-RU" dirty="0"/>
            </a:br>
            <a:endParaRPr lang="en-US" dirty="0"/>
          </a:p>
        </p:txBody>
      </p:sp>
    </p:spTree>
    <p:extLst>
      <p:ext uri="{BB962C8B-B14F-4D97-AF65-F5344CB8AC3E}">
        <p14:creationId xmlns:p14="http://schemas.microsoft.com/office/powerpoint/2010/main" val="3659880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88A8A7CC-CCFC-461D-889D-35E281D36F44}"/>
              </a:ext>
            </a:extLst>
          </p:cNvPr>
          <p:cNvSpPr txBox="1"/>
          <p:nvPr/>
        </p:nvSpPr>
        <p:spPr>
          <a:xfrm>
            <a:off x="328474" y="338065"/>
            <a:ext cx="11596826" cy="4247317"/>
          </a:xfrm>
          <a:prstGeom prst="rect">
            <a:avLst/>
          </a:prstGeom>
          <a:noFill/>
        </p:spPr>
        <p:txBody>
          <a:bodyPr wrap="square">
            <a:spAutoFit/>
          </a:bodyPr>
          <a:lstStyle/>
          <a:p>
            <a:pPr algn="l"/>
            <a:r>
              <a:rPr lang="ru-RU" b="0" i="0" dirty="0">
                <a:solidFill>
                  <a:srgbClr val="333333"/>
                </a:solidFill>
                <a:effectLst/>
                <a:latin typeface="Fira Sans"/>
              </a:rPr>
              <a:t>А что с безопасностью?</a:t>
            </a:r>
          </a:p>
          <a:p>
            <a:br>
              <a:rPr lang="ru-RU" dirty="0"/>
            </a:br>
            <a:r>
              <a:rPr lang="ru-RU" b="0" i="0" dirty="0">
                <a:solidFill>
                  <a:srgbClr val="333333"/>
                </a:solidFill>
                <a:effectLst/>
                <a:latin typeface="-apple-system"/>
              </a:rPr>
              <a:t>Сам по себе протокол HTTP не предполагает использование шифрования для передачи информации. Тем не менее, для HTTP есть распространённое расширение, которое реализует упаковку передаваемых данных в криптографический протокол </a:t>
            </a:r>
            <a:r>
              <a:rPr lang="ru-RU" b="1" i="0" dirty="0">
                <a:solidFill>
                  <a:srgbClr val="333333"/>
                </a:solidFill>
                <a:effectLst/>
                <a:latin typeface="-apple-system"/>
              </a:rPr>
              <a:t>SSL</a:t>
            </a:r>
            <a:r>
              <a:rPr lang="ru-RU" b="0" i="0" dirty="0">
                <a:solidFill>
                  <a:srgbClr val="333333"/>
                </a:solidFill>
                <a:effectLst/>
                <a:latin typeface="-apple-system"/>
              </a:rPr>
              <a:t> или </a:t>
            </a:r>
            <a:r>
              <a:rPr lang="ru-RU" b="1" i="0" dirty="0">
                <a:solidFill>
                  <a:srgbClr val="333333"/>
                </a:solidFill>
                <a:effectLst/>
                <a:latin typeface="-apple-system"/>
              </a:rPr>
              <a:t>TLS</a:t>
            </a:r>
            <a:r>
              <a:rPr lang="ru-RU" b="0" i="0" dirty="0">
                <a:solidFill>
                  <a:srgbClr val="333333"/>
                </a:solidFill>
                <a:effectLst/>
                <a:latin typeface="-apple-system"/>
              </a:rPr>
              <a:t>.</a:t>
            </a:r>
            <a:br>
              <a:rPr lang="ru-RU" dirty="0"/>
            </a:br>
            <a:br>
              <a:rPr lang="ru-RU" dirty="0"/>
            </a:br>
            <a:r>
              <a:rPr lang="ru-RU" b="0" i="0" dirty="0">
                <a:solidFill>
                  <a:srgbClr val="333333"/>
                </a:solidFill>
                <a:effectLst/>
                <a:latin typeface="-apple-system"/>
              </a:rPr>
              <a:t>Название этого расширения — </a:t>
            </a:r>
            <a:r>
              <a:rPr lang="ru-RU" b="1" i="0" dirty="0">
                <a:solidFill>
                  <a:srgbClr val="333333"/>
                </a:solidFill>
                <a:effectLst/>
                <a:latin typeface="-apple-system"/>
              </a:rPr>
              <a:t>HTTPS</a:t>
            </a:r>
            <a:r>
              <a:rPr lang="ru-RU" b="0" i="0" dirty="0">
                <a:solidFill>
                  <a:srgbClr val="333333"/>
                </a:solidFill>
                <a:effectLst/>
                <a:latin typeface="-apple-system"/>
              </a:rPr>
              <a:t> (</a:t>
            </a:r>
            <a:r>
              <a:rPr lang="ru-RU" b="0" i="1" dirty="0" err="1">
                <a:solidFill>
                  <a:srgbClr val="333333"/>
                </a:solidFill>
                <a:effectLst/>
                <a:latin typeface="-apple-system"/>
              </a:rPr>
              <a:t>HyperText</a:t>
            </a:r>
            <a:r>
              <a:rPr lang="ru-RU" b="0" i="1" dirty="0">
                <a:solidFill>
                  <a:srgbClr val="333333"/>
                </a:solidFill>
                <a:effectLst/>
                <a:latin typeface="-apple-system"/>
              </a:rPr>
              <a:t> </a:t>
            </a:r>
            <a:r>
              <a:rPr lang="ru-RU" b="0" i="1" dirty="0" err="1">
                <a:solidFill>
                  <a:srgbClr val="333333"/>
                </a:solidFill>
                <a:effectLst/>
                <a:latin typeface="-apple-system"/>
              </a:rPr>
              <a:t>Transfer</a:t>
            </a:r>
            <a:r>
              <a:rPr lang="ru-RU" b="0" i="1" dirty="0">
                <a:solidFill>
                  <a:srgbClr val="333333"/>
                </a:solidFill>
                <a:effectLst/>
                <a:latin typeface="-apple-system"/>
              </a:rPr>
              <a:t> </a:t>
            </a:r>
            <a:r>
              <a:rPr lang="ru-RU" b="0" i="1" dirty="0" err="1">
                <a:solidFill>
                  <a:srgbClr val="333333"/>
                </a:solidFill>
                <a:effectLst/>
                <a:latin typeface="-apple-system"/>
              </a:rPr>
              <a:t>Protocol</a:t>
            </a:r>
            <a:r>
              <a:rPr lang="ru-RU" b="0" i="1" dirty="0">
                <a:solidFill>
                  <a:srgbClr val="333333"/>
                </a:solidFill>
                <a:effectLst/>
                <a:latin typeface="-apple-system"/>
              </a:rPr>
              <a:t> </a:t>
            </a:r>
            <a:r>
              <a:rPr lang="ru-RU" b="0" i="1" dirty="0" err="1">
                <a:solidFill>
                  <a:srgbClr val="333333"/>
                </a:solidFill>
                <a:effectLst/>
                <a:latin typeface="-apple-system"/>
              </a:rPr>
              <a:t>Secure</a:t>
            </a:r>
            <a:r>
              <a:rPr lang="ru-RU" b="0" i="0" dirty="0">
                <a:solidFill>
                  <a:srgbClr val="333333"/>
                </a:solidFill>
                <a:effectLst/>
                <a:latin typeface="-apple-system"/>
              </a:rPr>
              <a:t>). Для HTTPS-соединений обычно используется TCP-порт 443. HTTPS широко используется для защиты информации от перехвата, а также, как правило, обеспечивает защиту от атак вида </a:t>
            </a:r>
            <a:r>
              <a:rPr lang="ru-RU" b="1" i="0" dirty="0" err="1">
                <a:solidFill>
                  <a:srgbClr val="333333"/>
                </a:solidFill>
                <a:effectLst/>
                <a:latin typeface="-apple-system"/>
              </a:rPr>
              <a:t>man-in-the-middle</a:t>
            </a:r>
            <a:r>
              <a:rPr lang="ru-RU" b="0" i="0" dirty="0">
                <a:solidFill>
                  <a:srgbClr val="333333"/>
                </a:solidFill>
                <a:effectLst/>
                <a:latin typeface="-apple-system"/>
              </a:rPr>
              <a:t> — в том случае, если сертификат проверяется на клиенте, и при этом приватный ключ сертификата не был скомпрометирован, пользователь не подтверждал использование неподписанного сертификата, и на компьютере пользователя не были внедрены сертификаты центра сертификации злоумышленника.</a:t>
            </a:r>
            <a:br>
              <a:rPr lang="ru-RU" dirty="0"/>
            </a:br>
            <a:br>
              <a:rPr lang="ru-RU" dirty="0"/>
            </a:br>
            <a:r>
              <a:rPr lang="ru-RU" b="0" i="0" dirty="0">
                <a:solidFill>
                  <a:srgbClr val="333333"/>
                </a:solidFill>
                <a:effectLst/>
                <a:latin typeface="-apple-system"/>
              </a:rPr>
              <a:t>На данный момент HTTPS поддерживается всеми популярными веб-браузерами.</a:t>
            </a:r>
            <a:endParaRPr lang="en-US" b="0" i="0" dirty="0">
              <a:solidFill>
                <a:srgbClr val="333333"/>
              </a:solidFill>
              <a:effectLst/>
              <a:latin typeface="-apple-system"/>
            </a:endParaRPr>
          </a:p>
          <a:p>
            <a:endParaRPr lang="en-US" dirty="0"/>
          </a:p>
        </p:txBody>
      </p:sp>
    </p:spTree>
    <p:extLst>
      <p:ext uri="{BB962C8B-B14F-4D97-AF65-F5344CB8AC3E}">
        <p14:creationId xmlns:p14="http://schemas.microsoft.com/office/powerpoint/2010/main" val="466104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88A8A7CC-CCFC-461D-889D-35E281D36F44}"/>
              </a:ext>
            </a:extLst>
          </p:cNvPr>
          <p:cNvSpPr txBox="1"/>
          <p:nvPr/>
        </p:nvSpPr>
        <p:spPr>
          <a:xfrm>
            <a:off x="328474" y="338065"/>
            <a:ext cx="11596826" cy="4247317"/>
          </a:xfrm>
          <a:prstGeom prst="rect">
            <a:avLst/>
          </a:prstGeom>
          <a:noFill/>
        </p:spPr>
        <p:txBody>
          <a:bodyPr wrap="square">
            <a:spAutoFit/>
          </a:bodyPr>
          <a:lstStyle/>
          <a:p>
            <a:pPr algn="l"/>
            <a:r>
              <a:rPr lang="ru-RU" b="0" i="0" dirty="0">
                <a:solidFill>
                  <a:srgbClr val="333333"/>
                </a:solidFill>
                <a:effectLst/>
                <a:latin typeface="Fira Sans"/>
              </a:rPr>
              <a:t>А есть дополнительные возможности?</a:t>
            </a:r>
          </a:p>
          <a:p>
            <a:br>
              <a:rPr lang="ru-RU" dirty="0"/>
            </a:br>
            <a:r>
              <a:rPr lang="ru-RU" b="0" i="0" dirty="0">
                <a:solidFill>
                  <a:srgbClr val="333333"/>
                </a:solidFill>
                <a:effectLst/>
                <a:latin typeface="-apple-system"/>
              </a:rPr>
              <a:t>Протокол HTTP предполагает достаточно большое количество возможностей для расширения. В частности, спецификация HTTP 1.1 предполагает возможность использования заголовка </a:t>
            </a:r>
            <a:r>
              <a:rPr lang="ru-RU" b="0" i="0" dirty="0" err="1">
                <a:solidFill>
                  <a:srgbClr val="333333"/>
                </a:solidFill>
                <a:effectLst/>
                <a:latin typeface="-apple-system"/>
              </a:rPr>
              <a:t>Upgrade</a:t>
            </a:r>
            <a:r>
              <a:rPr lang="ru-RU" b="0" i="0" dirty="0">
                <a:solidFill>
                  <a:srgbClr val="333333"/>
                </a:solidFill>
                <a:effectLst/>
                <a:latin typeface="-apple-system"/>
              </a:rPr>
              <a:t> для переключения на обмен данными по другому протоколу. Запрос с таким заголовком отправляется клиентом. Если серверу требуется произвести переход на обмен данными по другому протоколу, то он может вернуть клиенту ответ со статусом «426 </a:t>
            </a:r>
            <a:r>
              <a:rPr lang="ru-RU" b="0" i="0" dirty="0" err="1">
                <a:solidFill>
                  <a:srgbClr val="333333"/>
                </a:solidFill>
                <a:effectLst/>
                <a:latin typeface="-apple-system"/>
              </a:rPr>
              <a:t>Upgrade</a:t>
            </a:r>
            <a:r>
              <a:rPr lang="ru-RU" b="0" i="0" dirty="0">
                <a:solidFill>
                  <a:srgbClr val="333333"/>
                </a:solidFill>
                <a:effectLst/>
                <a:latin typeface="-apple-system"/>
              </a:rPr>
              <a:t> </a:t>
            </a:r>
            <a:r>
              <a:rPr lang="ru-RU" b="0" i="0" dirty="0" err="1">
                <a:solidFill>
                  <a:srgbClr val="333333"/>
                </a:solidFill>
                <a:effectLst/>
                <a:latin typeface="-apple-system"/>
              </a:rPr>
              <a:t>Required</a:t>
            </a:r>
            <a:r>
              <a:rPr lang="ru-RU" b="0" i="0" dirty="0">
                <a:solidFill>
                  <a:srgbClr val="333333"/>
                </a:solidFill>
                <a:effectLst/>
                <a:latin typeface="-apple-system"/>
              </a:rPr>
              <a:t>», и в этом случае клиент может отправить новый запрос, уже с заголовком </a:t>
            </a:r>
            <a:r>
              <a:rPr lang="ru-RU" b="0" i="0" dirty="0" err="1">
                <a:solidFill>
                  <a:srgbClr val="333333"/>
                </a:solidFill>
                <a:effectLst/>
                <a:latin typeface="-apple-system"/>
              </a:rPr>
              <a:t>Upgrade</a:t>
            </a:r>
            <a:r>
              <a:rPr lang="ru-RU" b="0" i="0" dirty="0">
                <a:solidFill>
                  <a:srgbClr val="333333"/>
                </a:solidFill>
                <a:effectLst/>
                <a:latin typeface="-apple-system"/>
              </a:rPr>
              <a:t>.</a:t>
            </a:r>
            <a:br>
              <a:rPr lang="ru-RU" dirty="0"/>
            </a:br>
            <a:br>
              <a:rPr lang="ru-RU" dirty="0"/>
            </a:br>
            <a:r>
              <a:rPr lang="ru-RU" b="0" i="0" dirty="0">
                <a:solidFill>
                  <a:srgbClr val="333333"/>
                </a:solidFill>
                <a:effectLst/>
                <a:latin typeface="-apple-system"/>
              </a:rPr>
              <a:t>Такая возможность используется, в частности, для организации обмена данными по протоколу </a:t>
            </a:r>
            <a:r>
              <a:rPr lang="ru-RU" b="0" i="0" dirty="0" err="1">
                <a:solidFill>
                  <a:srgbClr val="333333"/>
                </a:solidFill>
                <a:effectLst/>
                <a:latin typeface="-apple-system"/>
              </a:rPr>
              <a:t>WebSocket</a:t>
            </a:r>
            <a:r>
              <a:rPr lang="ru-RU" b="0" i="0" dirty="0">
                <a:solidFill>
                  <a:srgbClr val="333333"/>
                </a:solidFill>
                <a:effectLst/>
                <a:latin typeface="-apple-system"/>
              </a:rPr>
              <a:t> (протокол, описанный в спецификации </a:t>
            </a:r>
            <a:r>
              <a:rPr lang="ru-RU" b="0" i="0" u="none" strike="noStrike" dirty="0">
                <a:solidFill>
                  <a:srgbClr val="548EAA"/>
                </a:solidFill>
                <a:effectLst/>
                <a:latin typeface="-apple-system"/>
                <a:hlinkClick r:id="rId2"/>
              </a:rPr>
              <a:t>RFC 6455</a:t>
            </a:r>
            <a:r>
              <a:rPr lang="ru-RU" b="0" i="0" dirty="0">
                <a:solidFill>
                  <a:srgbClr val="333333"/>
                </a:solidFill>
                <a:effectLst/>
                <a:latin typeface="-apple-system"/>
              </a:rPr>
              <a:t>, позволяющий обеим сторонам передавать данные в нужный момент, без отправки дополнительных HTTP-запросов): стандартное «рукопожатие» (</a:t>
            </a:r>
            <a:r>
              <a:rPr lang="ru-RU" b="0" i="0" dirty="0" err="1">
                <a:solidFill>
                  <a:srgbClr val="333333"/>
                </a:solidFill>
                <a:effectLst/>
                <a:latin typeface="-apple-system"/>
              </a:rPr>
              <a:t>handshake</a:t>
            </a:r>
            <a:r>
              <a:rPr lang="ru-RU" b="0" i="0" dirty="0">
                <a:solidFill>
                  <a:srgbClr val="333333"/>
                </a:solidFill>
                <a:effectLst/>
                <a:latin typeface="-apple-system"/>
              </a:rPr>
              <a:t>) сводится к отправке HTTP-запроса с заголовком </a:t>
            </a:r>
            <a:r>
              <a:rPr lang="ru-RU" b="0" i="0" dirty="0" err="1">
                <a:solidFill>
                  <a:srgbClr val="333333"/>
                </a:solidFill>
                <a:effectLst/>
                <a:latin typeface="-apple-system"/>
              </a:rPr>
              <a:t>Upgrade</a:t>
            </a:r>
            <a:r>
              <a:rPr lang="ru-RU" b="0" i="0" dirty="0">
                <a:solidFill>
                  <a:srgbClr val="333333"/>
                </a:solidFill>
                <a:effectLst/>
                <a:latin typeface="-apple-system"/>
              </a:rPr>
              <a:t>, имеющим значение «</a:t>
            </a:r>
            <a:r>
              <a:rPr lang="ru-RU" b="0" i="0" dirty="0" err="1">
                <a:solidFill>
                  <a:srgbClr val="333333"/>
                </a:solidFill>
                <a:effectLst/>
                <a:latin typeface="-apple-system"/>
              </a:rPr>
              <a:t>websocket</a:t>
            </a:r>
            <a:r>
              <a:rPr lang="ru-RU" b="0" i="0" dirty="0">
                <a:solidFill>
                  <a:srgbClr val="333333"/>
                </a:solidFill>
                <a:effectLst/>
                <a:latin typeface="-apple-system"/>
              </a:rPr>
              <a:t>», на который сервер возвращает ответ с состоянием «101 </a:t>
            </a:r>
            <a:r>
              <a:rPr lang="ru-RU" b="0" i="0" dirty="0" err="1">
                <a:solidFill>
                  <a:srgbClr val="333333"/>
                </a:solidFill>
                <a:effectLst/>
                <a:latin typeface="-apple-system"/>
              </a:rPr>
              <a:t>Switching</a:t>
            </a:r>
            <a:r>
              <a:rPr lang="ru-RU" b="0" i="0" dirty="0">
                <a:solidFill>
                  <a:srgbClr val="333333"/>
                </a:solidFill>
                <a:effectLst/>
                <a:latin typeface="-apple-system"/>
              </a:rPr>
              <a:t> </a:t>
            </a:r>
            <a:r>
              <a:rPr lang="ru-RU" b="0" i="0" dirty="0" err="1">
                <a:solidFill>
                  <a:srgbClr val="333333"/>
                </a:solidFill>
                <a:effectLst/>
                <a:latin typeface="-apple-system"/>
              </a:rPr>
              <a:t>Protocols</a:t>
            </a:r>
            <a:r>
              <a:rPr lang="ru-RU" b="0" i="0" dirty="0">
                <a:solidFill>
                  <a:srgbClr val="333333"/>
                </a:solidFill>
                <a:effectLst/>
                <a:latin typeface="-apple-system"/>
              </a:rPr>
              <a:t>», и далее любая сторона может начать передавать данные уже по протоколу </a:t>
            </a:r>
            <a:r>
              <a:rPr lang="ru-RU" b="0" i="0" dirty="0" err="1">
                <a:solidFill>
                  <a:srgbClr val="333333"/>
                </a:solidFill>
                <a:effectLst/>
                <a:latin typeface="-apple-system"/>
              </a:rPr>
              <a:t>WebSocket</a:t>
            </a:r>
            <a:r>
              <a:rPr lang="ru-RU" b="0" i="0" dirty="0">
                <a:solidFill>
                  <a:srgbClr val="333333"/>
                </a:solidFill>
                <a:effectLst/>
                <a:latin typeface="-apple-system"/>
              </a:rPr>
              <a:t>.</a:t>
            </a:r>
            <a:endParaRPr lang="en-US" b="0" i="0" dirty="0">
              <a:solidFill>
                <a:srgbClr val="333333"/>
              </a:solidFill>
              <a:effectLst/>
              <a:latin typeface="-apple-system"/>
            </a:endParaRPr>
          </a:p>
          <a:p>
            <a:endParaRPr lang="en-US" dirty="0"/>
          </a:p>
        </p:txBody>
      </p:sp>
    </p:spTree>
    <p:extLst>
      <p:ext uri="{BB962C8B-B14F-4D97-AF65-F5344CB8AC3E}">
        <p14:creationId xmlns:p14="http://schemas.microsoft.com/office/powerpoint/2010/main" val="2391841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5" name="TextBox 4">
            <a:extLst>
              <a:ext uri="{FF2B5EF4-FFF2-40B4-BE49-F238E27FC236}">
                <a16:creationId xmlns:a16="http://schemas.microsoft.com/office/drawing/2014/main" id="{AAB9D4E6-2514-4142-B9BB-E4C2B699042D}"/>
              </a:ext>
            </a:extLst>
          </p:cNvPr>
          <p:cNvSpPr txBox="1"/>
          <p:nvPr/>
        </p:nvSpPr>
        <p:spPr>
          <a:xfrm>
            <a:off x="603682" y="292964"/>
            <a:ext cx="11321618" cy="2031325"/>
          </a:xfrm>
          <a:prstGeom prst="rect">
            <a:avLst/>
          </a:prstGeom>
          <a:noFill/>
        </p:spPr>
        <p:txBody>
          <a:bodyPr wrap="square">
            <a:spAutoFit/>
          </a:bodyPr>
          <a:lstStyle/>
          <a:p>
            <a:r>
              <a:rPr lang="ru-RU" b="1" dirty="0">
                <a:effectLst/>
              </a:rPr>
              <a:t>HTTP</a:t>
            </a:r>
          </a:p>
          <a:p>
            <a:pPr algn="l"/>
            <a:r>
              <a:rPr lang="ru-RU" b="1" i="0" dirty="0">
                <a:solidFill>
                  <a:srgbClr val="1B1B1B"/>
                </a:solidFill>
                <a:effectLst/>
                <a:latin typeface="Inter"/>
              </a:rPr>
              <a:t>HTTP</a:t>
            </a:r>
            <a:r>
              <a:rPr lang="ru-RU" b="0" i="0" dirty="0">
                <a:solidFill>
                  <a:srgbClr val="1B1B1B"/>
                </a:solidFill>
                <a:effectLst/>
                <a:latin typeface="Inter"/>
              </a:rPr>
              <a:t> — это </a:t>
            </a:r>
            <a:r>
              <a:rPr lang="ru-RU" b="0" i="0" u="sng" dirty="0">
                <a:solidFill>
                  <a:srgbClr val="1B1B1B"/>
                </a:solidFill>
                <a:effectLst/>
                <a:latin typeface="Inter"/>
                <a:hlinkClick r:id="rId2"/>
              </a:rPr>
              <a:t>протокол</a:t>
            </a:r>
            <a:r>
              <a:rPr lang="ru-RU" b="0" i="0" dirty="0">
                <a:solidFill>
                  <a:srgbClr val="1B1B1B"/>
                </a:solidFill>
                <a:effectLst/>
                <a:latin typeface="Inter"/>
              </a:rPr>
              <a:t>, позволяющий получать различные ресурсы, например HTML-документы. Протокол HTTP лежит в основе обмена данными в Интернете. HTTP является протоколом клиент-серверного взаимодействия, что означает инициирование запросов к серверу самим получателем, обычно веб-браузером (</a:t>
            </a:r>
            <a:r>
              <a:rPr lang="ru-RU" b="0" i="0" dirty="0" err="1">
                <a:solidFill>
                  <a:srgbClr val="1B1B1B"/>
                </a:solidFill>
                <a:effectLst/>
                <a:latin typeface="Inter"/>
              </a:rPr>
              <a:t>web-browser</a:t>
            </a:r>
            <a:r>
              <a:rPr lang="ru-RU" b="0" i="0" dirty="0">
                <a:solidFill>
                  <a:srgbClr val="1B1B1B"/>
                </a:solidFill>
                <a:effectLst/>
                <a:latin typeface="Inter"/>
              </a:rPr>
              <a:t>). Полученный итоговый документ будет (может) состоять из различных </a:t>
            </a:r>
            <a:r>
              <a:rPr lang="ru-RU" b="0" i="0" dirty="0" err="1">
                <a:solidFill>
                  <a:srgbClr val="1B1B1B"/>
                </a:solidFill>
                <a:effectLst/>
                <a:latin typeface="Inter"/>
              </a:rPr>
              <a:t>поддокументов</a:t>
            </a:r>
            <a:r>
              <a:rPr lang="ru-RU" b="0" i="0" dirty="0">
                <a:solidFill>
                  <a:srgbClr val="1B1B1B"/>
                </a:solidFill>
                <a:effectLst/>
                <a:latin typeface="Inter"/>
              </a:rPr>
              <a:t>, являющихся частью итогового документа: например, из отдельно полученного текста, описания структуры документа, изображений, видео-файлов, скриптов и многого другого.</a:t>
            </a:r>
          </a:p>
        </p:txBody>
      </p:sp>
      <p:pic>
        <p:nvPicPr>
          <p:cNvPr id="4098" name="Picture 2" descr="A Web document is the composition of different resources">
            <a:extLst>
              <a:ext uri="{FF2B5EF4-FFF2-40B4-BE49-F238E27FC236}">
                <a16:creationId xmlns:a16="http://schemas.microsoft.com/office/drawing/2014/main" id="{3E3D366D-012C-4C71-946E-683F288138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6301" y="2197730"/>
            <a:ext cx="7461172" cy="438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7481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97E628EB-5B0D-4F81-A6E6-98178AFB3688}"/>
              </a:ext>
            </a:extLst>
          </p:cNvPr>
          <p:cNvSpPr txBox="1"/>
          <p:nvPr/>
        </p:nvSpPr>
        <p:spPr>
          <a:xfrm>
            <a:off x="1345913" y="341704"/>
            <a:ext cx="9768810" cy="923330"/>
          </a:xfrm>
          <a:prstGeom prst="rect">
            <a:avLst/>
          </a:prstGeom>
          <a:noFill/>
        </p:spPr>
        <p:txBody>
          <a:bodyPr wrap="square">
            <a:spAutoFit/>
          </a:bodyPr>
          <a:lstStyle/>
          <a:p>
            <a:r>
              <a:rPr lang="ru-RU" dirty="0">
                <a:solidFill>
                  <a:srgbClr val="1B1B1B"/>
                </a:solidFill>
                <a:latin typeface="Inter"/>
              </a:rPr>
              <a:t>К</a:t>
            </a:r>
            <a:r>
              <a:rPr lang="ru-RU" b="0" i="0" dirty="0">
                <a:solidFill>
                  <a:srgbClr val="1B1B1B"/>
                </a:solidFill>
                <a:effectLst/>
                <a:latin typeface="Inter"/>
              </a:rPr>
              <a:t>лиенты и серверы взаимодействуют, обмениваясь одиночными сообщениями (а не потоком данных). Сообщения, отправленные клиентом, обычно веб-браузером, называются </a:t>
            </a:r>
            <a:r>
              <a:rPr lang="ru-RU" b="0" i="1" dirty="0">
                <a:solidFill>
                  <a:srgbClr val="1B1B1B"/>
                </a:solidFill>
                <a:effectLst/>
                <a:latin typeface="Inter"/>
              </a:rPr>
              <a:t>запросами</a:t>
            </a:r>
            <a:r>
              <a:rPr lang="ru-RU" b="0" i="0" dirty="0">
                <a:solidFill>
                  <a:srgbClr val="1B1B1B"/>
                </a:solidFill>
                <a:effectLst/>
                <a:latin typeface="Inter"/>
              </a:rPr>
              <a:t>, а сообщения, отправленные сервером, называются </a:t>
            </a:r>
            <a:r>
              <a:rPr lang="ru-RU" b="0" i="1" dirty="0">
                <a:solidFill>
                  <a:srgbClr val="1B1B1B"/>
                </a:solidFill>
                <a:effectLst/>
                <a:latin typeface="Inter"/>
              </a:rPr>
              <a:t>ответами</a:t>
            </a:r>
            <a:r>
              <a:rPr lang="ru-RU" b="0" i="0" dirty="0">
                <a:solidFill>
                  <a:srgbClr val="1B1B1B"/>
                </a:solidFill>
                <a:effectLst/>
                <a:latin typeface="Inter"/>
              </a:rPr>
              <a:t>.</a:t>
            </a:r>
            <a:endParaRPr lang="en-US" dirty="0"/>
          </a:p>
        </p:txBody>
      </p:sp>
      <p:pic>
        <p:nvPicPr>
          <p:cNvPr id="5122" name="Picture 2">
            <a:extLst>
              <a:ext uri="{FF2B5EF4-FFF2-40B4-BE49-F238E27FC236}">
                <a16:creationId xmlns:a16="http://schemas.microsoft.com/office/drawing/2014/main" id="{A71C813E-6642-4486-9022-23F9948F2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6150" y="1331650"/>
            <a:ext cx="8762261" cy="5035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7338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AC6A8C22-DEFB-4CFD-9F88-4B5D73A24392}"/>
              </a:ext>
            </a:extLst>
          </p:cNvPr>
          <p:cNvSpPr txBox="1"/>
          <p:nvPr/>
        </p:nvSpPr>
        <p:spPr>
          <a:xfrm>
            <a:off x="328474" y="292964"/>
            <a:ext cx="11596826" cy="2308324"/>
          </a:xfrm>
          <a:prstGeom prst="rect">
            <a:avLst/>
          </a:prstGeom>
          <a:noFill/>
        </p:spPr>
        <p:txBody>
          <a:bodyPr wrap="square">
            <a:spAutoFit/>
          </a:bodyPr>
          <a:lstStyle/>
          <a:p>
            <a:r>
              <a:rPr lang="ru-RU" b="0" i="0" dirty="0">
                <a:solidFill>
                  <a:srgbClr val="1B1B1B"/>
                </a:solidFill>
                <a:effectLst/>
                <a:latin typeface="Inter"/>
              </a:rPr>
              <a:t>Хотя HTTP был разработан ещё в начале 1990-х годов, за счёт своей расширяемости в дальнейшем он все время совершенствовался. HTTP является протоколом прикладного уровня, который чаще всего использует возможности другого протокола - </a:t>
            </a:r>
            <a:r>
              <a:rPr lang="ru-RU" b="0" i="0" u="sng" dirty="0">
                <a:effectLst/>
                <a:latin typeface="Inter"/>
                <a:hlinkClick r:id="rId2"/>
              </a:rPr>
              <a:t>TCP</a:t>
            </a:r>
            <a:r>
              <a:rPr lang="ru-RU" b="0" i="0" dirty="0">
                <a:solidFill>
                  <a:srgbClr val="1B1B1B"/>
                </a:solidFill>
                <a:effectLst/>
                <a:latin typeface="Inter"/>
              </a:rPr>
              <a:t> (или </a:t>
            </a:r>
            <a:r>
              <a:rPr lang="ru-RU" b="0" i="0" u="sng" dirty="0">
                <a:effectLst/>
                <a:latin typeface="Inter"/>
                <a:hlinkClick r:id="rId3"/>
              </a:rPr>
              <a:t>TLS</a:t>
            </a:r>
            <a:r>
              <a:rPr lang="ru-RU" b="0" i="0" dirty="0">
                <a:solidFill>
                  <a:srgbClr val="1B1B1B"/>
                </a:solidFill>
                <a:effectLst/>
                <a:latin typeface="Inter"/>
              </a:rPr>
              <a:t> - защищённый TCP) - для пересылки своих сообщений, однако любой другой надёжный транспортный протокол теоретически может быть использован для доставки таких сообщений. Благодаря своей расширяемости, он используется не только для получения клиентом гипертекстовых документов, изображений и видео, но и для передачи содержимого серверам, например, с помощью HTML-форм. HTTP также может быть использован для получения только частей документа с целью обновления веб-страницы по запросу (например, посредством AJAX запроса).</a:t>
            </a:r>
            <a:endParaRPr lang="en-US" dirty="0"/>
          </a:p>
        </p:txBody>
      </p:sp>
      <p:sp>
        <p:nvSpPr>
          <p:cNvPr id="6" name="TextBox 5">
            <a:extLst>
              <a:ext uri="{FF2B5EF4-FFF2-40B4-BE49-F238E27FC236}">
                <a16:creationId xmlns:a16="http://schemas.microsoft.com/office/drawing/2014/main" id="{9589B202-6B04-47B9-8578-085ABCEF0034}"/>
              </a:ext>
            </a:extLst>
          </p:cNvPr>
          <p:cNvSpPr txBox="1"/>
          <p:nvPr/>
        </p:nvSpPr>
        <p:spPr>
          <a:xfrm>
            <a:off x="497150" y="2601288"/>
            <a:ext cx="11428150" cy="2308324"/>
          </a:xfrm>
          <a:prstGeom prst="rect">
            <a:avLst/>
          </a:prstGeom>
          <a:noFill/>
        </p:spPr>
        <p:txBody>
          <a:bodyPr wrap="square">
            <a:spAutoFit/>
          </a:bodyPr>
          <a:lstStyle/>
          <a:p>
            <a:pPr algn="l"/>
            <a:r>
              <a:rPr lang="ru-RU" b="1" i="0" u="none" strike="noStrike" dirty="0">
                <a:solidFill>
                  <a:srgbClr val="1B1B1B"/>
                </a:solidFill>
                <a:effectLst/>
                <a:latin typeface="Inter"/>
                <a:hlinkClick r:id="rId4"/>
              </a:rPr>
              <a:t>Составляющие систем, основанных на HTTP</a:t>
            </a:r>
            <a:endParaRPr lang="ru-RU" b="1" i="0" dirty="0">
              <a:solidFill>
                <a:srgbClr val="1B1B1B"/>
              </a:solidFill>
              <a:effectLst/>
              <a:latin typeface="Inter"/>
            </a:endParaRPr>
          </a:p>
          <a:p>
            <a:pPr algn="l"/>
            <a:r>
              <a:rPr lang="ru-RU" b="0" i="0" dirty="0">
                <a:solidFill>
                  <a:srgbClr val="1B1B1B"/>
                </a:solidFill>
                <a:effectLst/>
                <a:latin typeface="Inter"/>
              </a:rPr>
              <a:t>HTTP — это клиент-серверный протокол, то есть запросы отправляются какой-то одной стороной — участником обмена (</a:t>
            </a:r>
            <a:r>
              <a:rPr lang="ru-RU" b="0" i="0" dirty="0" err="1">
                <a:solidFill>
                  <a:srgbClr val="1B1B1B"/>
                </a:solidFill>
                <a:effectLst/>
                <a:latin typeface="Inter"/>
              </a:rPr>
              <a:t>user-agent</a:t>
            </a:r>
            <a:r>
              <a:rPr lang="ru-RU" b="0" i="0" dirty="0">
                <a:solidFill>
                  <a:srgbClr val="1B1B1B"/>
                </a:solidFill>
                <a:effectLst/>
                <a:latin typeface="Inter"/>
              </a:rPr>
              <a:t>) (либо прокси вместо него). Чаще всего в качестве участника выступает веб-браузер, но им может быть кто угодно, например, робот, путешествующий по Сети для пополнения и обновления данных индексации веб-страниц для поисковых систем.</a:t>
            </a:r>
          </a:p>
          <a:p>
            <a:pPr algn="l"/>
            <a:r>
              <a:rPr lang="ru-RU" b="0" i="0" dirty="0">
                <a:solidFill>
                  <a:srgbClr val="1B1B1B"/>
                </a:solidFill>
                <a:effectLst/>
                <a:latin typeface="Inter"/>
              </a:rPr>
              <a:t>Каждый запрос (англ. </a:t>
            </a:r>
            <a:r>
              <a:rPr lang="ru-RU" b="0" i="1" dirty="0" err="1">
                <a:solidFill>
                  <a:srgbClr val="1B1B1B"/>
                </a:solidFill>
                <a:effectLst/>
                <a:latin typeface="Inter"/>
              </a:rPr>
              <a:t>request</a:t>
            </a:r>
            <a:r>
              <a:rPr lang="ru-RU" b="0" i="0" dirty="0">
                <a:solidFill>
                  <a:srgbClr val="1B1B1B"/>
                </a:solidFill>
                <a:effectLst/>
                <a:latin typeface="Inter"/>
              </a:rPr>
              <a:t>) отправляется серверу, который обрабатывает его и возвращает ответ (англ. </a:t>
            </a:r>
            <a:r>
              <a:rPr lang="ru-RU" b="0" i="1" dirty="0" err="1">
                <a:solidFill>
                  <a:srgbClr val="1B1B1B"/>
                </a:solidFill>
                <a:effectLst/>
                <a:latin typeface="Inter"/>
              </a:rPr>
              <a:t>response</a:t>
            </a:r>
            <a:r>
              <a:rPr lang="ru-RU" b="0" i="0" dirty="0">
                <a:solidFill>
                  <a:srgbClr val="1B1B1B"/>
                </a:solidFill>
                <a:effectLst/>
                <a:latin typeface="Inter"/>
              </a:rPr>
              <a:t>). Между этими запросами и ответами как правило существуют многочисленные посредники, называемые </a:t>
            </a:r>
            <a:r>
              <a:rPr lang="ru-RU" b="0" i="0" u="sng" dirty="0">
                <a:solidFill>
                  <a:srgbClr val="1B1B1B"/>
                </a:solidFill>
                <a:effectLst/>
                <a:latin typeface="Inter"/>
                <a:hlinkClick r:id="rId5"/>
              </a:rPr>
              <a:t>прокси</a:t>
            </a:r>
            <a:r>
              <a:rPr lang="ru-RU" b="0" i="0" dirty="0">
                <a:solidFill>
                  <a:srgbClr val="1B1B1B"/>
                </a:solidFill>
                <a:effectLst/>
                <a:latin typeface="Inter"/>
              </a:rPr>
              <a:t>, которые выполняют различные операции и работают как шлюзы или </a:t>
            </a:r>
            <a:r>
              <a:rPr lang="ru-RU" b="0" i="0" u="sng" dirty="0">
                <a:solidFill>
                  <a:srgbClr val="1B1B1B"/>
                </a:solidFill>
                <a:effectLst/>
                <a:latin typeface="Inter"/>
                <a:hlinkClick r:id="rId6"/>
              </a:rPr>
              <a:t>кэш</a:t>
            </a:r>
            <a:r>
              <a:rPr lang="ru-RU" b="0" i="0" dirty="0">
                <a:solidFill>
                  <a:srgbClr val="1B1B1B"/>
                </a:solidFill>
                <a:effectLst/>
                <a:latin typeface="Inter"/>
              </a:rPr>
              <a:t>, например.</a:t>
            </a:r>
          </a:p>
        </p:txBody>
      </p:sp>
      <p:pic>
        <p:nvPicPr>
          <p:cNvPr id="6146" name="Picture 2" descr="Client server chain">
            <a:extLst>
              <a:ext uri="{FF2B5EF4-FFF2-40B4-BE49-F238E27FC236}">
                <a16:creationId xmlns:a16="http://schemas.microsoft.com/office/drawing/2014/main" id="{1A0EC356-9B1F-4A12-A7E9-8BFC7E8D1C0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7141" y="5160933"/>
            <a:ext cx="7800975" cy="1152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596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F2939DCD-6557-40A5-A8EF-829DBEF51D60}"/>
              </a:ext>
            </a:extLst>
          </p:cNvPr>
          <p:cNvSpPr txBox="1"/>
          <p:nvPr/>
        </p:nvSpPr>
        <p:spPr>
          <a:xfrm>
            <a:off x="328473" y="195310"/>
            <a:ext cx="11535053" cy="2031325"/>
          </a:xfrm>
          <a:prstGeom prst="rect">
            <a:avLst/>
          </a:prstGeom>
          <a:noFill/>
        </p:spPr>
        <p:txBody>
          <a:bodyPr wrap="square">
            <a:spAutoFit/>
          </a:bodyPr>
          <a:lstStyle/>
          <a:p>
            <a:r>
              <a:rPr lang="ru-RU" b="0" i="0" dirty="0">
                <a:solidFill>
                  <a:srgbClr val="1B1B1B"/>
                </a:solidFill>
                <a:effectLst/>
                <a:latin typeface="Inter"/>
              </a:rPr>
              <a:t>Обычно между браузером и сервером гораздо больше различных устройств-посредников, которые играют какую-либо роль в обработке запроса: маршрутизаторы, модемы и так далее. Благодаря тому, что Сеть построена на основе системы уровней (слоёв) взаимодействия, эти посредники "спрятаны" на сетевом и транспортном уровнях. В этой системе уровней HTTP занимает самый верхний уровень, который называется "прикладным" (или "уровнем приложений"). Знания об уровнях сети, таких как представительский, сеансовый, транспортный, сетевой, канальный и физический, имеют важное значение для понимания работы сети и диагностики возможных проблем, но не требуются для описания и понимания HTTP.</a:t>
            </a:r>
            <a:endParaRPr lang="en-US" dirty="0"/>
          </a:p>
        </p:txBody>
      </p:sp>
    </p:spTree>
    <p:extLst>
      <p:ext uri="{BB962C8B-B14F-4D97-AF65-F5344CB8AC3E}">
        <p14:creationId xmlns:p14="http://schemas.microsoft.com/office/powerpoint/2010/main" val="3553111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3" name="TextBox 2">
            <a:extLst>
              <a:ext uri="{FF2B5EF4-FFF2-40B4-BE49-F238E27FC236}">
                <a16:creationId xmlns:a16="http://schemas.microsoft.com/office/drawing/2014/main" id="{8170EA80-D800-4F1D-9BC7-8E7CD4D8CDEF}"/>
              </a:ext>
            </a:extLst>
          </p:cNvPr>
          <p:cNvSpPr txBox="1"/>
          <p:nvPr/>
        </p:nvSpPr>
        <p:spPr>
          <a:xfrm>
            <a:off x="266700" y="397834"/>
            <a:ext cx="11931588" cy="5355312"/>
          </a:xfrm>
          <a:prstGeom prst="rect">
            <a:avLst/>
          </a:prstGeom>
          <a:noFill/>
        </p:spPr>
        <p:txBody>
          <a:bodyPr wrap="square">
            <a:spAutoFit/>
          </a:bodyPr>
          <a:lstStyle/>
          <a:p>
            <a:pPr algn="l"/>
            <a:r>
              <a:rPr lang="ru-RU" b="1" i="0" u="none" strike="noStrike" dirty="0">
                <a:solidFill>
                  <a:srgbClr val="1B1B1B"/>
                </a:solidFill>
                <a:effectLst/>
                <a:latin typeface="Inter"/>
                <a:hlinkClick r:id="rId2"/>
              </a:rPr>
              <a:t>Клиент: участник обмена</a:t>
            </a:r>
            <a:endParaRPr lang="ru-RU" b="1" i="0" dirty="0">
              <a:solidFill>
                <a:srgbClr val="1B1B1B"/>
              </a:solidFill>
              <a:effectLst/>
              <a:latin typeface="Inter"/>
            </a:endParaRPr>
          </a:p>
          <a:p>
            <a:pPr algn="l"/>
            <a:r>
              <a:rPr lang="ru-RU" b="0" i="0" dirty="0">
                <a:solidFill>
                  <a:srgbClr val="1B1B1B"/>
                </a:solidFill>
                <a:effectLst/>
                <a:latin typeface="Inter"/>
              </a:rPr>
              <a:t>Участник обмена (</a:t>
            </a:r>
            <a:r>
              <a:rPr lang="ru-RU" b="0" i="0" dirty="0" err="1">
                <a:solidFill>
                  <a:srgbClr val="1B1B1B"/>
                </a:solidFill>
                <a:effectLst/>
                <a:latin typeface="Inter"/>
              </a:rPr>
              <a:t>user</a:t>
            </a:r>
            <a:r>
              <a:rPr lang="ru-RU" b="0" i="0" dirty="0">
                <a:solidFill>
                  <a:srgbClr val="1B1B1B"/>
                </a:solidFill>
                <a:effectLst/>
                <a:latin typeface="Inter"/>
              </a:rPr>
              <a:t> </a:t>
            </a:r>
            <a:r>
              <a:rPr lang="ru-RU" b="0" i="0" dirty="0" err="1">
                <a:solidFill>
                  <a:srgbClr val="1B1B1B"/>
                </a:solidFill>
                <a:effectLst/>
                <a:latin typeface="Inter"/>
              </a:rPr>
              <a:t>agent</a:t>
            </a:r>
            <a:r>
              <a:rPr lang="ru-RU" b="0" i="0" dirty="0">
                <a:solidFill>
                  <a:srgbClr val="1B1B1B"/>
                </a:solidFill>
                <a:effectLst/>
                <a:latin typeface="Inter"/>
              </a:rPr>
              <a:t>) — это любой инструмент или устройство, действующие от лица пользователя. Эту задачу преимущественно выполняет веб-браузер; в некоторых случаях участниками выступают программы, которые используются инженерами и веб-разработчиками для отладки своих приложений.</a:t>
            </a:r>
          </a:p>
          <a:p>
            <a:pPr algn="l"/>
            <a:r>
              <a:rPr lang="ru-RU" b="0" i="0" dirty="0">
                <a:solidFill>
                  <a:srgbClr val="1B1B1B"/>
                </a:solidFill>
                <a:effectLst/>
                <a:latin typeface="Inter"/>
              </a:rPr>
              <a:t>Браузер </a:t>
            </a:r>
            <a:r>
              <a:rPr lang="ru-RU" b="1" i="0" dirty="0">
                <a:solidFill>
                  <a:srgbClr val="1B1B1B"/>
                </a:solidFill>
                <a:effectLst/>
                <a:latin typeface="Inter"/>
              </a:rPr>
              <a:t>всегда</a:t>
            </a:r>
            <a:r>
              <a:rPr lang="ru-RU" b="0" i="0" dirty="0">
                <a:solidFill>
                  <a:srgbClr val="1B1B1B"/>
                </a:solidFill>
                <a:effectLst/>
                <a:latin typeface="Inter"/>
              </a:rPr>
              <a:t> является той сущностью, которая создаёт запрос. Сервер обычно этого не делает, хотя за многие годы существования сети были придуманы способы, которые могут позволить выполнить запросы со стороны сервера.</a:t>
            </a:r>
          </a:p>
          <a:p>
            <a:pPr algn="l"/>
            <a:r>
              <a:rPr lang="ru-RU" b="0" i="0" dirty="0">
                <a:solidFill>
                  <a:srgbClr val="1B1B1B"/>
                </a:solidFill>
                <a:effectLst/>
                <a:latin typeface="Inter"/>
              </a:rPr>
              <a:t>Чтобы отобразить веб страницу, браузер отправляет начальный запрос для получения HTML-документа этой страницы. После этого браузер изучает этот документ и запрашивает дополнительные файлы, необходимые для отображения содержания веб-страницы (исполняемые скрипты, информацию о макете страницы - CSS таблицы стилей, дополнительные ресурсы в виде изображений и видео-файлов), которые непосредственно являются частью исходного документа, но расположены в других местах сети. Далее браузер соединяет все эти ресурсы для отображения их пользователю в виде единого документа — веб-страницы. Скрипты, выполняемые самим браузером, могут получать по сети дополнительные ресурсы на последующих этапах обработки веб-страницы, и браузер соответствующим образом обновляет отображение этой страницы для пользователя.</a:t>
            </a:r>
          </a:p>
          <a:p>
            <a:pPr algn="l"/>
            <a:r>
              <a:rPr lang="ru-RU" b="0" i="0" dirty="0">
                <a:solidFill>
                  <a:srgbClr val="1B1B1B"/>
                </a:solidFill>
                <a:effectLst/>
                <a:latin typeface="Inter"/>
              </a:rPr>
              <a:t>Веб-страница является гипертекстовым документом. Это означает, что некоторые части отображаемого текста являются ссылками, которые могут быть активированы (обычно нажатием кнопки мыши) с целью получения и соответственно отображения новой веб-страницы (переход по ссылке). Это позволяет пользователю "перемещаться" по страницам сети (</a:t>
            </a:r>
            <a:r>
              <a:rPr lang="ru-RU" b="0" i="0" dirty="0" err="1">
                <a:solidFill>
                  <a:srgbClr val="1B1B1B"/>
                </a:solidFill>
                <a:effectLst/>
                <a:latin typeface="Inter"/>
              </a:rPr>
              <a:t>Internet</a:t>
            </a:r>
            <a:r>
              <a:rPr lang="ru-RU" b="0" i="0" dirty="0">
                <a:solidFill>
                  <a:srgbClr val="1B1B1B"/>
                </a:solidFill>
                <a:effectLst/>
                <a:latin typeface="Inter"/>
              </a:rPr>
              <a:t>). Браузер преобразует эти гиперссылки в HTTP-запросы и в дальнейшем полученные HTTP-ответы отображает в понятном для пользователя виде.</a:t>
            </a:r>
          </a:p>
        </p:txBody>
      </p:sp>
    </p:spTree>
    <p:extLst>
      <p:ext uri="{BB962C8B-B14F-4D97-AF65-F5344CB8AC3E}">
        <p14:creationId xmlns:p14="http://schemas.microsoft.com/office/powerpoint/2010/main" val="3007196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5" name="TextBox 4">
            <a:extLst>
              <a:ext uri="{FF2B5EF4-FFF2-40B4-BE49-F238E27FC236}">
                <a16:creationId xmlns:a16="http://schemas.microsoft.com/office/drawing/2014/main" id="{9E1CDB0A-4D68-4E08-816E-2E3D7B04D7D2}"/>
              </a:ext>
            </a:extLst>
          </p:cNvPr>
          <p:cNvSpPr txBox="1"/>
          <p:nvPr/>
        </p:nvSpPr>
        <p:spPr>
          <a:xfrm>
            <a:off x="426128" y="382492"/>
            <a:ext cx="11239130" cy="3416320"/>
          </a:xfrm>
          <a:prstGeom prst="rect">
            <a:avLst/>
          </a:prstGeom>
          <a:noFill/>
        </p:spPr>
        <p:txBody>
          <a:bodyPr wrap="square">
            <a:spAutoFit/>
          </a:bodyPr>
          <a:lstStyle/>
          <a:p>
            <a:pPr algn="l"/>
            <a:r>
              <a:rPr lang="ru-RU" b="1" i="0" u="sng" dirty="0">
                <a:solidFill>
                  <a:srgbClr val="1B1B1B"/>
                </a:solidFill>
                <a:effectLst/>
                <a:latin typeface="Inter"/>
                <a:hlinkClick r:id="rId2"/>
              </a:rPr>
              <a:t>Веб-сервер</a:t>
            </a:r>
            <a:endParaRPr lang="ru-RU" b="1" i="0" dirty="0">
              <a:solidFill>
                <a:srgbClr val="1B1B1B"/>
              </a:solidFill>
              <a:effectLst/>
              <a:latin typeface="Inter"/>
            </a:endParaRPr>
          </a:p>
          <a:p>
            <a:pPr algn="l"/>
            <a:r>
              <a:rPr lang="ru-RU" b="0" i="0" dirty="0">
                <a:solidFill>
                  <a:srgbClr val="1B1B1B"/>
                </a:solidFill>
                <a:effectLst/>
                <a:latin typeface="Inter"/>
              </a:rPr>
              <a:t>На другой стороне коммуникационного канала расположен сервер, который обслуживает (англ. </a:t>
            </a:r>
            <a:r>
              <a:rPr lang="ru-RU" b="0" i="1" dirty="0" err="1">
                <a:solidFill>
                  <a:srgbClr val="1B1B1B"/>
                </a:solidFill>
                <a:effectLst/>
                <a:latin typeface="Inter"/>
              </a:rPr>
              <a:t>serve</a:t>
            </a:r>
            <a:r>
              <a:rPr lang="ru-RU" b="0" i="0" dirty="0">
                <a:solidFill>
                  <a:srgbClr val="1B1B1B"/>
                </a:solidFill>
                <a:effectLst/>
                <a:latin typeface="Inter"/>
              </a:rPr>
              <a:t>) пользователя, предоставляя ему документы по запросу. С точки зрения конечного пользователя, сервер всегда является некой одной виртуальной машиной, полностью или частично генерирующей документ, хотя фактически он может быть группой серверов, между которыми балансируется нагрузка, то есть перераспределяются запросы различных пользователей, либо сложным программным обеспечением, опрашивающим другие компьютеры (такие как кеширующие серверы, серверы баз данных, серверы приложений электронной коммерции и другие).</a:t>
            </a:r>
          </a:p>
          <a:p>
            <a:pPr algn="l"/>
            <a:r>
              <a:rPr lang="ru-RU" b="0" i="0" dirty="0">
                <a:solidFill>
                  <a:srgbClr val="1B1B1B"/>
                </a:solidFill>
                <a:effectLst/>
                <a:latin typeface="Inter"/>
              </a:rPr>
              <a:t>Сервер не обязательно расположен на одной машине, и наоборот - несколько серверов могут быть расположены (</a:t>
            </a:r>
            <a:r>
              <a:rPr lang="ru-RU" b="0" i="0" dirty="0" err="1">
                <a:solidFill>
                  <a:srgbClr val="1B1B1B"/>
                </a:solidFill>
                <a:effectLst/>
                <a:latin typeface="Inter"/>
              </a:rPr>
              <a:t>хоститься</a:t>
            </a:r>
            <a:r>
              <a:rPr lang="ru-RU" b="0" i="0" dirty="0">
                <a:solidFill>
                  <a:srgbClr val="1B1B1B"/>
                </a:solidFill>
                <a:effectLst/>
                <a:latin typeface="Inter"/>
              </a:rPr>
              <a:t>) на одной и той же машине. В соответствии с версией HTTP/1.1 и имея </a:t>
            </a:r>
            <a:r>
              <a:rPr lang="en-US" dirty="0">
                <a:solidFill>
                  <a:srgbClr val="1B1B1B"/>
                </a:solidFill>
                <a:latin typeface="Inter"/>
              </a:rPr>
              <a:t>host </a:t>
            </a:r>
            <a:r>
              <a:rPr lang="ru-RU" b="0" i="0" dirty="0">
                <a:solidFill>
                  <a:srgbClr val="1B1B1B"/>
                </a:solidFill>
                <a:effectLst/>
                <a:latin typeface="Inter"/>
              </a:rPr>
              <a:t>заголовок, они даже могут делить тот же самый IP-адрес</a:t>
            </a:r>
            <a:endParaRPr lang="en-US" dirty="0">
              <a:solidFill>
                <a:srgbClr val="1B1B1B"/>
              </a:solidFill>
              <a:latin typeface="Inter"/>
            </a:endParaRPr>
          </a:p>
          <a:p>
            <a:pPr algn="l"/>
            <a:endParaRPr lang="ru-RU" b="0" i="0" dirty="0">
              <a:solidFill>
                <a:srgbClr val="1B1B1B"/>
              </a:solidFill>
              <a:effectLst/>
              <a:latin typeface="Inter"/>
            </a:endParaRPr>
          </a:p>
        </p:txBody>
      </p:sp>
    </p:spTree>
    <p:extLst>
      <p:ext uri="{BB962C8B-B14F-4D97-AF65-F5344CB8AC3E}">
        <p14:creationId xmlns:p14="http://schemas.microsoft.com/office/powerpoint/2010/main" val="2470162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CEBAD9F6-119F-43EC-9F9C-CCA44D93F508}"/>
              </a:ext>
            </a:extLst>
          </p:cNvPr>
          <p:cNvSpPr txBox="1"/>
          <p:nvPr/>
        </p:nvSpPr>
        <p:spPr>
          <a:xfrm>
            <a:off x="568171" y="615064"/>
            <a:ext cx="10804124" cy="3139321"/>
          </a:xfrm>
          <a:prstGeom prst="rect">
            <a:avLst/>
          </a:prstGeom>
          <a:noFill/>
        </p:spPr>
        <p:txBody>
          <a:bodyPr wrap="square">
            <a:spAutoFit/>
          </a:bodyPr>
          <a:lstStyle/>
          <a:p>
            <a:pPr algn="l"/>
            <a:r>
              <a:rPr lang="ru-RU" b="1" i="0" u="sng" dirty="0">
                <a:solidFill>
                  <a:srgbClr val="1B1B1B"/>
                </a:solidFill>
                <a:effectLst/>
                <a:latin typeface="Inter"/>
                <a:hlinkClick r:id="rId2"/>
              </a:rPr>
              <a:t>Прокси</a:t>
            </a:r>
            <a:endParaRPr lang="ru-RU" b="1" i="0" dirty="0">
              <a:solidFill>
                <a:srgbClr val="1B1B1B"/>
              </a:solidFill>
              <a:effectLst/>
              <a:latin typeface="Inter"/>
            </a:endParaRPr>
          </a:p>
          <a:p>
            <a:pPr algn="l"/>
            <a:r>
              <a:rPr lang="ru-RU" b="0" i="0" dirty="0">
                <a:solidFill>
                  <a:srgbClr val="1B1B1B"/>
                </a:solidFill>
                <a:effectLst/>
                <a:latin typeface="Inter"/>
              </a:rPr>
              <a:t>Между веб-браузером и сервером находятся большое количество сетевых узлов, передающих HTTP сообщения. Из-за слоистой структуры большинство из них оперируют также на транспортном сетевом или физическом уровнях, становясь прозрачным на HTTP слое и потенциально снижая производительность. Эти операции на уровне приложений называются </a:t>
            </a:r>
            <a:r>
              <a:rPr lang="ru-RU" b="1" i="0" dirty="0">
                <a:solidFill>
                  <a:srgbClr val="1B1B1B"/>
                </a:solidFill>
                <a:effectLst/>
                <a:latin typeface="Inter"/>
              </a:rPr>
              <a:t>прокси</a:t>
            </a:r>
            <a:r>
              <a:rPr lang="ru-RU" b="0" i="0" dirty="0">
                <a:solidFill>
                  <a:srgbClr val="1B1B1B"/>
                </a:solidFill>
                <a:effectLst/>
                <a:latin typeface="Inter"/>
              </a:rPr>
              <a:t>. Они могут быть прозрачными или нет, (изменяющие запросы не пройдут через них), и способны исполнять множество функций:</a:t>
            </a:r>
          </a:p>
          <a:p>
            <a:pPr algn="l">
              <a:buFont typeface="Arial" panose="020B0604020202020204" pitchFamily="34" charset="0"/>
              <a:buChar char="•"/>
            </a:pPr>
            <a:r>
              <a:rPr lang="ru-RU" b="0" i="0" dirty="0" err="1">
                <a:solidFill>
                  <a:srgbClr val="1B1B1B"/>
                </a:solidFill>
                <a:effectLst/>
                <a:latin typeface="Inter"/>
              </a:rPr>
              <a:t>caching</a:t>
            </a:r>
            <a:r>
              <a:rPr lang="ru-RU" b="0" i="0" dirty="0">
                <a:solidFill>
                  <a:srgbClr val="1B1B1B"/>
                </a:solidFill>
                <a:effectLst/>
                <a:latin typeface="Inter"/>
              </a:rPr>
              <a:t> (</a:t>
            </a:r>
            <a:r>
              <a:rPr lang="ru-RU" b="0" i="0" dirty="0" err="1">
                <a:solidFill>
                  <a:srgbClr val="1B1B1B"/>
                </a:solidFill>
                <a:effectLst/>
                <a:latin typeface="Inter"/>
              </a:rPr>
              <a:t>кеш</a:t>
            </a:r>
            <a:r>
              <a:rPr lang="ru-RU" b="0" i="0" dirty="0">
                <a:solidFill>
                  <a:srgbClr val="1B1B1B"/>
                </a:solidFill>
                <a:effectLst/>
                <a:latin typeface="Inter"/>
              </a:rPr>
              <a:t> может быть публичным или приватными, как </a:t>
            </a:r>
            <a:r>
              <a:rPr lang="ru-RU" b="0" i="0" dirty="0" err="1">
                <a:solidFill>
                  <a:srgbClr val="1B1B1B"/>
                </a:solidFill>
                <a:effectLst/>
                <a:latin typeface="Inter"/>
              </a:rPr>
              <a:t>кеш</a:t>
            </a:r>
            <a:r>
              <a:rPr lang="ru-RU" b="0" i="0" dirty="0">
                <a:solidFill>
                  <a:srgbClr val="1B1B1B"/>
                </a:solidFill>
                <a:effectLst/>
                <a:latin typeface="Inter"/>
              </a:rPr>
              <a:t> браузера)</a:t>
            </a:r>
          </a:p>
          <a:p>
            <a:pPr algn="l">
              <a:buFont typeface="Arial" panose="020B0604020202020204" pitchFamily="34" charset="0"/>
              <a:buChar char="•"/>
            </a:pPr>
            <a:r>
              <a:rPr lang="ru-RU" b="0" i="0" dirty="0">
                <a:solidFill>
                  <a:srgbClr val="1B1B1B"/>
                </a:solidFill>
                <a:effectLst/>
                <a:latin typeface="Inter"/>
              </a:rPr>
              <a:t>фильтрация (как сканирование антивируса, родительский контроль, …)</a:t>
            </a:r>
          </a:p>
          <a:p>
            <a:pPr algn="l">
              <a:buFont typeface="Arial" panose="020B0604020202020204" pitchFamily="34" charset="0"/>
              <a:buChar char="•"/>
            </a:pPr>
            <a:r>
              <a:rPr lang="ru-RU" b="0" i="0" dirty="0">
                <a:solidFill>
                  <a:srgbClr val="1B1B1B"/>
                </a:solidFill>
                <a:effectLst/>
                <a:latin typeface="Inter"/>
              </a:rPr>
              <a:t>выравнивание нагрузки (позволить нескольким серверам обслуживать разные запросы)</a:t>
            </a:r>
          </a:p>
          <a:p>
            <a:pPr algn="l">
              <a:buFont typeface="Arial" panose="020B0604020202020204" pitchFamily="34" charset="0"/>
              <a:buChar char="•"/>
            </a:pPr>
            <a:r>
              <a:rPr lang="ru-RU" b="0" i="0" dirty="0">
                <a:solidFill>
                  <a:srgbClr val="1B1B1B"/>
                </a:solidFill>
                <a:effectLst/>
                <a:latin typeface="Inter"/>
              </a:rPr>
              <a:t>аутентификация (контролировать доступом к разным ресурсам)</a:t>
            </a:r>
          </a:p>
          <a:p>
            <a:pPr algn="l">
              <a:buFont typeface="Arial" panose="020B0604020202020204" pitchFamily="34" charset="0"/>
              <a:buChar char="•"/>
            </a:pPr>
            <a:r>
              <a:rPr lang="ru-RU" b="0" i="0" dirty="0">
                <a:solidFill>
                  <a:srgbClr val="1B1B1B"/>
                </a:solidFill>
                <a:effectLst/>
                <a:latin typeface="Inter"/>
              </a:rPr>
              <a:t>протоколирование (разрешение на хранение истории операций)</a:t>
            </a:r>
          </a:p>
        </p:txBody>
      </p:sp>
    </p:spTree>
    <p:extLst>
      <p:ext uri="{BB962C8B-B14F-4D97-AF65-F5344CB8AC3E}">
        <p14:creationId xmlns:p14="http://schemas.microsoft.com/office/powerpoint/2010/main" val="1552595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B4915D0E-C79F-4638-9E16-4668EC1591FA}"/>
              </a:ext>
            </a:extLst>
          </p:cNvPr>
          <p:cNvSpPr txBox="1"/>
          <p:nvPr/>
        </p:nvSpPr>
        <p:spPr>
          <a:xfrm>
            <a:off x="747944" y="393198"/>
            <a:ext cx="10810782" cy="5355312"/>
          </a:xfrm>
          <a:prstGeom prst="rect">
            <a:avLst/>
          </a:prstGeom>
          <a:noFill/>
        </p:spPr>
        <p:txBody>
          <a:bodyPr wrap="square">
            <a:spAutoFit/>
          </a:bodyPr>
          <a:lstStyle/>
          <a:p>
            <a:r>
              <a:rPr lang="ru-RU" b="1" u="none" strike="noStrike" dirty="0">
                <a:effectLst/>
                <a:hlinkClick r:id="rId2"/>
              </a:rPr>
              <a:t>Основные аспекты HTTP</a:t>
            </a:r>
            <a:endParaRPr lang="ru-RU" b="1" dirty="0">
              <a:effectLst/>
            </a:endParaRPr>
          </a:p>
          <a:p>
            <a:r>
              <a:rPr lang="ru-RU" b="1" u="none" strike="noStrike" dirty="0">
                <a:effectLst/>
                <a:hlinkClick r:id="rId3"/>
              </a:rPr>
              <a:t>HTTP - прост</a:t>
            </a:r>
            <a:endParaRPr lang="ru-RU" b="1" dirty="0">
              <a:effectLst/>
            </a:endParaRPr>
          </a:p>
          <a:p>
            <a:r>
              <a:rPr lang="ru-RU" dirty="0">
                <a:solidFill>
                  <a:srgbClr val="FF0000"/>
                </a:solidFill>
                <a:effectLst/>
              </a:rPr>
              <a:t>Даже с большей сложностью, введённой в HTTP/2 путём инкапсуляции HTTP-сообщений в фреймы, HTTP, как правило, прост и удобен для восприятия человеком. HTTP-сообщения могут читаться и пониматься людьми, обеспечивая более лёгкое тестирование разработчиков и уменьшенную сложность для новых пользователей.</a:t>
            </a:r>
          </a:p>
          <a:p>
            <a:r>
              <a:rPr lang="ru-RU" b="1" u="none" strike="noStrike" dirty="0">
                <a:effectLst/>
                <a:hlinkClick r:id="rId4"/>
              </a:rPr>
              <a:t>HTTP - расширяемый</a:t>
            </a:r>
            <a:endParaRPr lang="ru-RU" b="1" dirty="0">
              <a:effectLst/>
            </a:endParaRPr>
          </a:p>
          <a:p>
            <a:r>
              <a:rPr lang="ru-RU" dirty="0">
                <a:effectLst/>
              </a:rPr>
              <a:t>Введённые в HTTP/1.0</a:t>
            </a:r>
            <a:r>
              <a:rPr lang="en-US" dirty="0">
                <a:effectLst/>
              </a:rPr>
              <a:t> Http </a:t>
            </a:r>
            <a:r>
              <a:rPr lang="ru-RU" dirty="0">
                <a:effectLst/>
              </a:rPr>
              <a:t>заголовки сделали этот протокол лёгким для расширения и экспериментирования. Новая функциональность может быть даже введена простым соглашением между клиентом и сервером о семантике нового заголовка.</a:t>
            </a:r>
          </a:p>
          <a:p>
            <a:r>
              <a:rPr lang="ru-RU" b="1" u="none" strike="noStrike" dirty="0">
                <a:effectLst/>
                <a:hlinkClick r:id="rId5"/>
              </a:rPr>
              <a:t>HTTP не имеет состояния, но имеет сессию</a:t>
            </a:r>
            <a:endParaRPr lang="ru-RU" b="1" dirty="0">
              <a:effectLst/>
            </a:endParaRPr>
          </a:p>
          <a:p>
            <a:r>
              <a:rPr lang="ru-RU" dirty="0">
                <a:effectLst/>
              </a:rPr>
              <a:t>HTTP не имеет состояния: не существует связи между двумя запросами, которые последовательно выполняются по одному соединению. Из этого немедленно следует возможность проблем для пользователя, пытающегося взаимодействовать с определённой страницей последовательно, например, при использовании корзины в электронном магазине. Но хотя ядро HTTP не имеет состояния, </a:t>
            </a:r>
            <a:r>
              <a:rPr lang="ru-RU" dirty="0" err="1">
                <a:effectLst/>
              </a:rPr>
              <a:t>куки</a:t>
            </a:r>
            <a:r>
              <a:rPr lang="ru-RU" dirty="0">
                <a:effectLst/>
              </a:rPr>
              <a:t> позволяют использовать сессии с сохранением состояния. Используя расширяемость заголовков, </a:t>
            </a:r>
            <a:r>
              <a:rPr lang="ru-RU" dirty="0" err="1">
                <a:effectLst/>
              </a:rPr>
              <a:t>куки</a:t>
            </a:r>
            <a:r>
              <a:rPr lang="ru-RU" dirty="0">
                <a:effectLst/>
              </a:rPr>
              <a:t> добавляются к рабочему потоку, позволяя сессии на каждом HTTP-запросе делиться некоторым контекстом или состоянием.</a:t>
            </a:r>
          </a:p>
          <a:p>
            <a:endParaRPr lang="ru-RU" dirty="0">
              <a:effectLst/>
            </a:endParaRPr>
          </a:p>
        </p:txBody>
      </p:sp>
    </p:spTree>
    <p:extLst>
      <p:ext uri="{BB962C8B-B14F-4D97-AF65-F5344CB8AC3E}">
        <p14:creationId xmlns:p14="http://schemas.microsoft.com/office/powerpoint/2010/main" val="1219797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17F0B076-5BC2-441B-8CD4-C8F6AEBA71F3}"/>
              </a:ext>
            </a:extLst>
          </p:cNvPr>
          <p:cNvSpPr txBox="1"/>
          <p:nvPr/>
        </p:nvSpPr>
        <p:spPr>
          <a:xfrm>
            <a:off x="328473" y="199565"/>
            <a:ext cx="11700769" cy="5632311"/>
          </a:xfrm>
          <a:prstGeom prst="rect">
            <a:avLst/>
          </a:prstGeom>
          <a:noFill/>
        </p:spPr>
        <p:txBody>
          <a:bodyPr wrap="square">
            <a:spAutoFit/>
          </a:bodyPr>
          <a:lstStyle/>
          <a:p>
            <a:pPr algn="l"/>
            <a:r>
              <a:rPr lang="ru-RU" b="1" i="0" u="none" strike="noStrike" dirty="0">
                <a:solidFill>
                  <a:srgbClr val="1B1B1B"/>
                </a:solidFill>
                <a:effectLst/>
                <a:latin typeface="Inter"/>
                <a:hlinkClick r:id="rId2"/>
              </a:rPr>
              <a:t>HTTP и соединения</a:t>
            </a:r>
            <a:endParaRPr lang="ru-RU" b="1" i="0" dirty="0">
              <a:solidFill>
                <a:srgbClr val="1B1B1B"/>
              </a:solidFill>
              <a:effectLst/>
              <a:latin typeface="Inter"/>
            </a:endParaRPr>
          </a:p>
          <a:p>
            <a:pPr algn="l"/>
            <a:r>
              <a:rPr lang="ru-RU" b="0" i="0" dirty="0">
                <a:solidFill>
                  <a:srgbClr val="1B1B1B"/>
                </a:solidFill>
                <a:effectLst/>
                <a:latin typeface="Inter"/>
              </a:rPr>
              <a:t>Соединение управляется на транспортном уровне, и потому принципиально выходит за границы HTTP. Хотя HTTP не требует, чтобы базовый транспортный протокол был основан на соединениях, требуя только </a:t>
            </a:r>
            <a:r>
              <a:rPr lang="ru-RU" b="0" i="1" dirty="0">
                <a:solidFill>
                  <a:srgbClr val="1B1B1B"/>
                </a:solidFill>
                <a:effectLst/>
                <a:latin typeface="Inter"/>
              </a:rPr>
              <a:t>надёжность</a:t>
            </a:r>
            <a:r>
              <a:rPr lang="ru-RU" b="0" i="0" dirty="0">
                <a:solidFill>
                  <a:srgbClr val="1B1B1B"/>
                </a:solidFill>
                <a:effectLst/>
                <a:latin typeface="Inter"/>
              </a:rPr>
              <a:t>, или отсутствие потерянных сообщений (т.е. как минимум представление ошибки). </a:t>
            </a:r>
          </a:p>
          <a:p>
            <a:pPr algn="l"/>
            <a:r>
              <a:rPr lang="ru-RU" b="0" i="0" dirty="0">
                <a:solidFill>
                  <a:srgbClr val="1B1B1B"/>
                </a:solidFill>
                <a:effectLst/>
                <a:latin typeface="Inter"/>
              </a:rPr>
              <a:t>Среди двух наиболее распространённых транспортных протоколов Интернета, TCP надёжен, а UDP — нет. </a:t>
            </a:r>
          </a:p>
          <a:p>
            <a:pPr algn="l"/>
            <a:r>
              <a:rPr lang="ru-RU" b="0" i="0" dirty="0">
                <a:solidFill>
                  <a:srgbClr val="1B1B1B"/>
                </a:solidFill>
                <a:effectLst/>
                <a:latin typeface="Inter"/>
              </a:rPr>
              <a:t>HTTP впоследствии полагается на стандарт TCP, являющийся основанным на соединениях, несмотря на то, что соединение не всегда требуется.</a:t>
            </a:r>
          </a:p>
          <a:p>
            <a:pPr algn="l"/>
            <a:r>
              <a:rPr lang="ru-RU" b="0" i="0" dirty="0">
                <a:solidFill>
                  <a:srgbClr val="1B1B1B"/>
                </a:solidFill>
                <a:effectLst/>
                <a:latin typeface="Inter"/>
              </a:rPr>
              <a:t>HTTP/1.0 открывал TCP-соединение для каждого обмена запросом/ответом, </a:t>
            </a:r>
          </a:p>
          <a:p>
            <a:pPr algn="l"/>
            <a:r>
              <a:rPr lang="ru-RU" b="0" i="0" dirty="0">
                <a:solidFill>
                  <a:srgbClr val="1B1B1B"/>
                </a:solidFill>
                <a:effectLst/>
                <a:latin typeface="Inter"/>
              </a:rPr>
              <a:t>имея два важных недостатка: открытие соединения требует нескольких обменов сообщениями, и потому медленно, хотя становится более эффективным при отправке нескольких сообщений, или при регулярной отправке сообщений: </a:t>
            </a:r>
            <a:r>
              <a:rPr lang="ru-RU" b="0" i="1" dirty="0">
                <a:solidFill>
                  <a:srgbClr val="1B1B1B"/>
                </a:solidFill>
                <a:effectLst/>
                <a:latin typeface="Inter"/>
              </a:rPr>
              <a:t>тёплые</a:t>
            </a:r>
            <a:r>
              <a:rPr lang="ru-RU" b="0" i="0" dirty="0">
                <a:solidFill>
                  <a:srgbClr val="1B1B1B"/>
                </a:solidFill>
                <a:effectLst/>
                <a:latin typeface="Inter"/>
              </a:rPr>
              <a:t> соединения более эффективны, чем </a:t>
            </a:r>
            <a:r>
              <a:rPr lang="ru-RU" b="0" i="1" dirty="0">
                <a:solidFill>
                  <a:srgbClr val="1B1B1B"/>
                </a:solidFill>
                <a:effectLst/>
                <a:latin typeface="Inter"/>
              </a:rPr>
              <a:t>холодные</a:t>
            </a:r>
            <a:r>
              <a:rPr lang="ru-RU" b="0" i="0" dirty="0">
                <a:solidFill>
                  <a:srgbClr val="1B1B1B"/>
                </a:solidFill>
                <a:effectLst/>
                <a:latin typeface="Inter"/>
              </a:rPr>
              <a:t>.</a:t>
            </a:r>
          </a:p>
          <a:p>
            <a:pPr algn="l"/>
            <a:endParaRPr lang="ru-RU" b="0" i="0" dirty="0">
              <a:solidFill>
                <a:srgbClr val="1B1B1B"/>
              </a:solidFill>
              <a:effectLst/>
              <a:latin typeface="Inter"/>
            </a:endParaRPr>
          </a:p>
          <a:p>
            <a:pPr algn="l"/>
            <a:r>
              <a:rPr lang="ru-RU" b="0" i="0" dirty="0">
                <a:solidFill>
                  <a:srgbClr val="1B1B1B"/>
                </a:solidFill>
                <a:effectLst/>
                <a:latin typeface="Inter"/>
              </a:rPr>
              <a:t>Для смягчения этих недостатков, HTTP/1.1 предоставил конвейерную обработку (которую оказалось трудно реализовать) и устойчивые соединения: лежащее в основе TCP соединение можно частично контролировать через заголовок </a:t>
            </a:r>
            <a:r>
              <a:rPr lang="en-US" b="0" i="0" dirty="0">
                <a:solidFill>
                  <a:srgbClr val="1B1B1B"/>
                </a:solidFill>
                <a:effectLst/>
                <a:latin typeface="Inter"/>
              </a:rPr>
              <a:t>Connections </a:t>
            </a:r>
            <a:r>
              <a:rPr lang="ru-RU" b="0" i="0" dirty="0">
                <a:solidFill>
                  <a:srgbClr val="1B1B1B"/>
                </a:solidFill>
                <a:effectLst/>
                <a:latin typeface="Inter"/>
              </a:rPr>
              <a:t>HTTP/2 сделал следующий шаг, добавив мультиплексирование сообщений через простое соединение, помогающее держать соединение тёплым и более эффективным.</a:t>
            </a:r>
          </a:p>
          <a:p>
            <a:pPr algn="l"/>
            <a:r>
              <a:rPr lang="ru-RU" b="0" i="0" dirty="0">
                <a:solidFill>
                  <a:srgbClr val="1B1B1B"/>
                </a:solidFill>
                <a:effectLst/>
                <a:latin typeface="Inter"/>
              </a:rPr>
              <a:t>Проводятся эксперименты по разработке лучшего транспортного протокола, более подходящего для HTTP. Например, </a:t>
            </a:r>
            <a:r>
              <a:rPr lang="ru-RU" b="0" i="0" dirty="0" err="1">
                <a:solidFill>
                  <a:srgbClr val="1B1B1B"/>
                </a:solidFill>
                <a:effectLst/>
                <a:latin typeface="Inter"/>
              </a:rPr>
              <a:t>Google</a:t>
            </a:r>
            <a:r>
              <a:rPr lang="ru-RU" b="0" i="0" dirty="0">
                <a:solidFill>
                  <a:srgbClr val="1B1B1B"/>
                </a:solidFill>
                <a:effectLst/>
                <a:latin typeface="Inter"/>
              </a:rPr>
              <a:t> экспериментирует с</a:t>
            </a:r>
            <a:r>
              <a:rPr lang="en-US" b="0" i="0" dirty="0">
                <a:solidFill>
                  <a:srgbClr val="1B1B1B"/>
                </a:solidFill>
                <a:effectLst/>
                <a:latin typeface="Inter"/>
              </a:rPr>
              <a:t> QUIC </a:t>
            </a:r>
            <a:r>
              <a:rPr lang="ru-RU" b="0" i="0" dirty="0">
                <a:solidFill>
                  <a:srgbClr val="1B1B1B"/>
                </a:solidFill>
                <a:effectLst/>
                <a:latin typeface="Inter"/>
              </a:rPr>
              <a:t>(которая основана на UDP) для предоставления более надёжного и эффективного транспортного протокола.</a:t>
            </a:r>
          </a:p>
          <a:p>
            <a:pPr algn="l"/>
            <a:endParaRPr lang="ru-RU" b="0" i="0" dirty="0">
              <a:solidFill>
                <a:srgbClr val="1B1B1B"/>
              </a:solidFill>
              <a:effectLst/>
              <a:latin typeface="Inter"/>
            </a:endParaRPr>
          </a:p>
        </p:txBody>
      </p:sp>
    </p:spTree>
    <p:extLst>
      <p:ext uri="{BB962C8B-B14F-4D97-AF65-F5344CB8AC3E}">
        <p14:creationId xmlns:p14="http://schemas.microsoft.com/office/powerpoint/2010/main" val="4086425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D67768DC-02DF-49B8-A1C4-308469D79ADD}"/>
              </a:ext>
            </a:extLst>
          </p:cNvPr>
          <p:cNvSpPr txBox="1"/>
          <p:nvPr/>
        </p:nvSpPr>
        <p:spPr>
          <a:xfrm>
            <a:off x="328474" y="292965"/>
            <a:ext cx="11596826" cy="6740307"/>
          </a:xfrm>
          <a:prstGeom prst="rect">
            <a:avLst/>
          </a:prstGeom>
          <a:noFill/>
        </p:spPr>
        <p:txBody>
          <a:bodyPr wrap="square">
            <a:spAutoFit/>
          </a:bodyPr>
          <a:lstStyle/>
          <a:p>
            <a:pPr algn="l"/>
            <a:r>
              <a:rPr lang="ru-RU" b="1" i="0" u="none" strike="noStrike" dirty="0">
                <a:solidFill>
                  <a:srgbClr val="1B1B1B"/>
                </a:solidFill>
                <a:effectLst/>
                <a:latin typeface="Inter"/>
                <a:hlinkClick r:id="rId2"/>
              </a:rPr>
              <a:t>Чем можно управлять через HTTP</a:t>
            </a:r>
            <a:endParaRPr lang="ru-RU" b="1" i="0" dirty="0">
              <a:solidFill>
                <a:srgbClr val="1B1B1B"/>
              </a:solidFill>
              <a:effectLst/>
              <a:latin typeface="Inter"/>
            </a:endParaRPr>
          </a:p>
          <a:p>
            <a:pPr algn="l"/>
            <a:r>
              <a:rPr lang="ru-RU" b="0" i="0" dirty="0">
                <a:solidFill>
                  <a:srgbClr val="1B1B1B"/>
                </a:solidFill>
                <a:effectLst/>
                <a:latin typeface="Inter"/>
              </a:rPr>
              <a:t>Естественная расширяемость HTTP со временем позволила большее управление и функциональность Сети. Кеш и методы аутентификации были ранними функциями в истории HTTP. Способность ослабить первоначальные ограничения, напротив, была добавлена в 2010-е.</a:t>
            </a:r>
          </a:p>
          <a:p>
            <a:pPr algn="l"/>
            <a:r>
              <a:rPr lang="ru-RU" b="0" i="0" dirty="0">
                <a:solidFill>
                  <a:srgbClr val="1B1B1B"/>
                </a:solidFill>
                <a:effectLst/>
                <a:latin typeface="Inter"/>
              </a:rPr>
              <a:t>Ниже перечислены общие функции, управляемые с HTTP.</a:t>
            </a:r>
            <a:endParaRPr lang="en-US" b="0" i="0" dirty="0">
              <a:solidFill>
                <a:srgbClr val="1B1B1B"/>
              </a:solidFill>
              <a:effectLst/>
              <a:latin typeface="Inter"/>
            </a:endParaRPr>
          </a:p>
          <a:p>
            <a:pPr algn="l">
              <a:buFont typeface="Arial" panose="020B0604020202020204" pitchFamily="34" charset="0"/>
              <a:buChar char="•"/>
            </a:pPr>
            <a:r>
              <a:rPr lang="ru-RU" b="1" i="0" dirty="0">
                <a:solidFill>
                  <a:srgbClr val="1B1B1B"/>
                </a:solidFill>
                <a:effectLst/>
                <a:latin typeface="Inter"/>
              </a:rPr>
              <a:t>Кэш Сервер </a:t>
            </a:r>
            <a:r>
              <a:rPr lang="ru-RU" b="0" i="0" dirty="0">
                <a:solidFill>
                  <a:srgbClr val="1B1B1B"/>
                </a:solidFill>
                <a:effectLst/>
                <a:latin typeface="Inter"/>
              </a:rPr>
              <a:t>может инструктировать прокси и клиенты, указывая что и как долго кешировать. Клиент может инструктировать прокси промежуточных </a:t>
            </a:r>
            <a:r>
              <a:rPr lang="ru-RU" b="0" i="0" dirty="0" err="1">
                <a:solidFill>
                  <a:srgbClr val="1B1B1B"/>
                </a:solidFill>
                <a:effectLst/>
                <a:latin typeface="Inter"/>
              </a:rPr>
              <a:t>кешей</a:t>
            </a:r>
            <a:r>
              <a:rPr lang="ru-RU" b="0" i="0" dirty="0">
                <a:solidFill>
                  <a:srgbClr val="1B1B1B"/>
                </a:solidFill>
                <a:effectLst/>
                <a:latin typeface="Inter"/>
              </a:rPr>
              <a:t> игнорировать хранимые документы.</a:t>
            </a:r>
          </a:p>
          <a:p>
            <a:pPr algn="l">
              <a:buFont typeface="Arial" panose="020B0604020202020204" pitchFamily="34" charset="0"/>
              <a:buChar char="•"/>
            </a:pPr>
            <a:r>
              <a:rPr lang="ru-RU" b="1" i="1" dirty="0">
                <a:solidFill>
                  <a:srgbClr val="1B1B1B"/>
                </a:solidFill>
                <a:effectLst/>
                <a:latin typeface="Inter"/>
              </a:rPr>
              <a:t>Ослабление ограничений источника</a:t>
            </a:r>
            <a:r>
              <a:rPr lang="ru-RU" b="1" i="0" dirty="0">
                <a:solidFill>
                  <a:srgbClr val="1B1B1B"/>
                </a:solidFill>
                <a:effectLst/>
                <a:latin typeface="Inter"/>
              </a:rPr>
              <a:t> </a:t>
            </a:r>
            <a:r>
              <a:rPr lang="ru-RU" b="0" i="0" dirty="0">
                <a:solidFill>
                  <a:srgbClr val="1B1B1B"/>
                </a:solidFill>
                <a:effectLst/>
                <a:latin typeface="Inter"/>
              </a:rPr>
              <a:t>Для предотвращения шпионских и других нарушающих приватность вторжений, веб-браузер обеспечивает строгое разделение между веб-сайтами. Только страницы из </a:t>
            </a:r>
            <a:r>
              <a:rPr lang="ru-RU" b="1" i="0" dirty="0">
                <a:solidFill>
                  <a:srgbClr val="1B1B1B"/>
                </a:solidFill>
                <a:effectLst/>
                <a:latin typeface="Inter"/>
              </a:rPr>
              <a:t>того же источника</a:t>
            </a:r>
            <a:r>
              <a:rPr lang="ru-RU" b="0" i="0" dirty="0">
                <a:solidFill>
                  <a:srgbClr val="1B1B1B"/>
                </a:solidFill>
                <a:effectLst/>
                <a:latin typeface="Inter"/>
              </a:rPr>
              <a:t> могут получить доступ к информации на веб-странице. Хотя такие ограничение нагружают сервер, заголовки HTTP могут ослабить строгое разделение на стороне сервера, позволяя документу стать частью информации с различных доменов (по причинам безопасности).</a:t>
            </a:r>
          </a:p>
          <a:p>
            <a:pPr algn="l">
              <a:buFont typeface="Arial" panose="020B0604020202020204" pitchFamily="34" charset="0"/>
              <a:buChar char="•"/>
            </a:pPr>
            <a:r>
              <a:rPr lang="ru-RU" b="1" i="1" dirty="0">
                <a:solidFill>
                  <a:srgbClr val="1B1B1B"/>
                </a:solidFill>
                <a:effectLst/>
                <a:latin typeface="Inter"/>
              </a:rPr>
              <a:t>Аутентификаци</a:t>
            </a:r>
            <a:r>
              <a:rPr lang="ru-RU" b="0" i="1" dirty="0">
                <a:solidFill>
                  <a:srgbClr val="1B1B1B"/>
                </a:solidFill>
                <a:effectLst/>
                <a:latin typeface="Inter"/>
              </a:rPr>
              <a:t>я</a:t>
            </a:r>
            <a:r>
              <a:rPr lang="ru-RU" b="0" i="0" dirty="0">
                <a:solidFill>
                  <a:srgbClr val="1B1B1B"/>
                </a:solidFill>
                <a:effectLst/>
                <a:latin typeface="Inter"/>
              </a:rPr>
              <a:t> Некоторые страницы доступны только специальным пользователям. Базовая аутентификация может предоставляться через HTTP, либо через использование заголовка </a:t>
            </a:r>
            <a:r>
              <a:rPr lang="en-US" b="0" i="0" dirty="0">
                <a:solidFill>
                  <a:srgbClr val="1B1B1B"/>
                </a:solidFill>
                <a:effectLst/>
                <a:latin typeface="Inter"/>
              </a:rPr>
              <a:t>WWW-Authenticate (</a:t>
            </a:r>
            <a:r>
              <a:rPr lang="en-US" b="0" i="0" dirty="0" err="1">
                <a:solidFill>
                  <a:srgbClr val="1B1B1B"/>
                </a:solidFill>
                <a:effectLst/>
                <a:latin typeface="Inter"/>
              </a:rPr>
              <a:t>en</a:t>
            </a:r>
            <a:r>
              <a:rPr lang="en-US" b="0" i="0" dirty="0">
                <a:solidFill>
                  <a:srgbClr val="1B1B1B"/>
                </a:solidFill>
                <a:effectLst/>
                <a:latin typeface="Inter"/>
              </a:rPr>
              <a:t>-US)</a:t>
            </a:r>
            <a:r>
              <a:rPr lang="ru-RU" b="0" i="0" dirty="0">
                <a:solidFill>
                  <a:srgbClr val="1B1B1B"/>
                </a:solidFill>
                <a:effectLst/>
                <a:latin typeface="Inter"/>
              </a:rPr>
              <a:t> и подобных ему, либо с помощью настройки </a:t>
            </a:r>
            <a:r>
              <a:rPr lang="ru-RU" b="0" i="0" dirty="0" err="1">
                <a:solidFill>
                  <a:srgbClr val="1B1B1B"/>
                </a:solidFill>
                <a:effectLst/>
                <a:latin typeface="Inter"/>
              </a:rPr>
              <a:t>спецсессии</a:t>
            </a:r>
            <a:r>
              <a:rPr lang="ru-RU" b="0" i="0" dirty="0">
                <a:solidFill>
                  <a:srgbClr val="1B1B1B"/>
                </a:solidFill>
                <a:effectLst/>
                <a:latin typeface="Inter"/>
              </a:rPr>
              <a:t>, используя </a:t>
            </a:r>
            <a:r>
              <a:rPr lang="ru-RU" b="0" i="0" dirty="0" err="1">
                <a:solidFill>
                  <a:srgbClr val="1B1B1B"/>
                </a:solidFill>
                <a:effectLst/>
                <a:latin typeface="Inter"/>
              </a:rPr>
              <a:t>куки</a:t>
            </a:r>
            <a:r>
              <a:rPr lang="ru-RU" b="0" i="0" dirty="0">
                <a:solidFill>
                  <a:srgbClr val="1B1B1B"/>
                </a:solidFill>
                <a:effectLst/>
                <a:latin typeface="Inter"/>
              </a:rPr>
              <a:t>.</a:t>
            </a:r>
          </a:p>
          <a:p>
            <a:pPr algn="l">
              <a:buFont typeface="Arial" panose="020B0604020202020204" pitchFamily="34" charset="0"/>
              <a:buChar char="•"/>
            </a:pPr>
            <a:r>
              <a:rPr lang="ru-RU" b="1" dirty="0">
                <a:solidFill>
                  <a:srgbClr val="1B1B1B"/>
                </a:solidFill>
                <a:latin typeface="Inter"/>
              </a:rPr>
              <a:t>Прокси- туннелирование </a:t>
            </a:r>
            <a:r>
              <a:rPr lang="ru-RU" b="0" i="0" dirty="0">
                <a:solidFill>
                  <a:srgbClr val="1B1B1B"/>
                </a:solidFill>
                <a:effectLst/>
                <a:latin typeface="Inter"/>
              </a:rPr>
              <a:t>Серверы и/или клиенты часто располагаются в интернете и скрывают свои истинные IP-адреса от других. HTTP запросы идут через прокси для пересечения этого сетевого барьера. Не все прокси — HTTP прокси. SOCKS-протокол, например, оперирует на более низком уровне. Другие, как, например, </a:t>
            </a:r>
            <a:r>
              <a:rPr lang="ru-RU" b="0" i="0" dirty="0" err="1">
                <a:solidFill>
                  <a:srgbClr val="1B1B1B"/>
                </a:solidFill>
                <a:effectLst/>
                <a:latin typeface="Inter"/>
              </a:rPr>
              <a:t>ftp</a:t>
            </a:r>
            <a:r>
              <a:rPr lang="ru-RU" b="0" i="0" dirty="0">
                <a:solidFill>
                  <a:srgbClr val="1B1B1B"/>
                </a:solidFill>
                <a:effectLst/>
                <a:latin typeface="Inter"/>
              </a:rPr>
              <a:t>, могут быть обработаны этими прокси.</a:t>
            </a:r>
          </a:p>
          <a:p>
            <a:pPr algn="l">
              <a:buFont typeface="Arial" panose="020B0604020202020204" pitchFamily="34" charset="0"/>
              <a:buChar char="•"/>
            </a:pPr>
            <a:r>
              <a:rPr lang="ru-RU" b="1" i="1" dirty="0">
                <a:solidFill>
                  <a:srgbClr val="1B1B1B"/>
                </a:solidFill>
                <a:effectLst/>
                <a:latin typeface="Inter"/>
              </a:rPr>
              <a:t>Сессии</a:t>
            </a:r>
            <a:r>
              <a:rPr lang="ru-RU" b="1" i="0" dirty="0">
                <a:solidFill>
                  <a:srgbClr val="1B1B1B"/>
                </a:solidFill>
                <a:effectLst/>
                <a:latin typeface="Inter"/>
              </a:rPr>
              <a:t> Использование </a:t>
            </a:r>
            <a:r>
              <a:rPr lang="ru-RU" b="0" i="0" dirty="0">
                <a:solidFill>
                  <a:srgbClr val="1B1B1B"/>
                </a:solidFill>
                <a:effectLst/>
                <a:latin typeface="Inter"/>
              </a:rPr>
              <a:t>HTTP </a:t>
            </a:r>
            <a:r>
              <a:rPr lang="ru-RU" b="0" i="0" dirty="0" err="1">
                <a:solidFill>
                  <a:srgbClr val="1B1B1B"/>
                </a:solidFill>
                <a:effectLst/>
                <a:latin typeface="Inter"/>
              </a:rPr>
              <a:t>куки</a:t>
            </a:r>
            <a:r>
              <a:rPr lang="ru-RU" b="0" i="0" dirty="0">
                <a:solidFill>
                  <a:srgbClr val="1B1B1B"/>
                </a:solidFill>
                <a:effectLst/>
                <a:latin typeface="Inter"/>
              </a:rPr>
              <a:t> позволяет связать запрос с состоянием на сервере. Это создаёт сессию, хотя ядро HTTP — протокол без состояния. Это полезно не только для корзин в интернет-магазинах, но также для любых сайтов, позволяющих пользователю настроить выход.</a:t>
            </a:r>
          </a:p>
          <a:p>
            <a:pPr algn="l">
              <a:buFont typeface="Arial" panose="020B0604020202020204" pitchFamily="34" charset="0"/>
              <a:buChar char="•"/>
            </a:pPr>
            <a:endParaRPr lang="ru-RU" b="0" i="0" dirty="0">
              <a:solidFill>
                <a:srgbClr val="1B1B1B"/>
              </a:solidFill>
              <a:effectLst/>
              <a:latin typeface="Inter"/>
            </a:endParaRPr>
          </a:p>
          <a:p>
            <a:pPr algn="l"/>
            <a:endParaRPr lang="ru-RU" b="0" i="0" dirty="0">
              <a:solidFill>
                <a:srgbClr val="1B1B1B"/>
              </a:solidFill>
              <a:effectLst/>
              <a:latin typeface="Inter"/>
            </a:endParaRPr>
          </a:p>
        </p:txBody>
      </p:sp>
    </p:spTree>
    <p:extLst>
      <p:ext uri="{BB962C8B-B14F-4D97-AF65-F5344CB8AC3E}">
        <p14:creationId xmlns:p14="http://schemas.microsoft.com/office/powerpoint/2010/main" val="12520848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9E0B86F7-45FB-4039-B54C-D9BA0339A8D4}"/>
              </a:ext>
            </a:extLst>
          </p:cNvPr>
          <p:cNvSpPr txBox="1"/>
          <p:nvPr/>
        </p:nvSpPr>
        <p:spPr>
          <a:xfrm>
            <a:off x="497150" y="372862"/>
            <a:ext cx="11079332" cy="2585323"/>
          </a:xfrm>
          <a:prstGeom prst="rect">
            <a:avLst/>
          </a:prstGeom>
          <a:noFill/>
        </p:spPr>
        <p:txBody>
          <a:bodyPr wrap="square">
            <a:spAutoFit/>
          </a:bodyPr>
          <a:lstStyle/>
          <a:p>
            <a:pPr algn="l"/>
            <a:r>
              <a:rPr lang="ru-RU" b="1" i="0" u="none" strike="noStrike" dirty="0">
                <a:solidFill>
                  <a:srgbClr val="1B1B1B"/>
                </a:solidFill>
                <a:effectLst/>
                <a:latin typeface="Inter"/>
                <a:hlinkClick r:id="rId2"/>
              </a:rPr>
              <a:t>HTTP поток</a:t>
            </a:r>
            <a:endParaRPr lang="ru-RU" b="1" i="0" dirty="0">
              <a:solidFill>
                <a:srgbClr val="1B1B1B"/>
              </a:solidFill>
              <a:effectLst/>
              <a:latin typeface="Inter"/>
            </a:endParaRPr>
          </a:p>
          <a:p>
            <a:pPr algn="l"/>
            <a:r>
              <a:rPr lang="ru-RU" b="0" i="0" dirty="0">
                <a:solidFill>
                  <a:srgbClr val="1B1B1B"/>
                </a:solidFill>
                <a:effectLst/>
                <a:latin typeface="Inter"/>
              </a:rPr>
              <a:t>Когда клиент хочет взаимодействовать с сервером, являющимся конечным сервером или промежуточным прокси, он выполняет следующие шаги:</a:t>
            </a:r>
          </a:p>
          <a:p>
            <a:pPr algn="l">
              <a:buFont typeface="+mj-lt"/>
              <a:buAutoNum type="arabicPeriod"/>
            </a:pPr>
            <a:r>
              <a:rPr lang="ru-RU" b="0" i="0" dirty="0">
                <a:solidFill>
                  <a:srgbClr val="1B1B1B"/>
                </a:solidFill>
                <a:effectLst/>
                <a:latin typeface="Inter"/>
              </a:rPr>
              <a:t>Открытие TCP соединения: TCP-соединение будет использоваться для отправки запроса (или запросов) и получения ответа. Клиент может открыть новое соединение, </a:t>
            </a:r>
            <a:r>
              <a:rPr lang="ru-RU" b="0" i="0" dirty="0" err="1">
                <a:solidFill>
                  <a:srgbClr val="1B1B1B"/>
                </a:solidFill>
                <a:effectLst/>
                <a:latin typeface="Inter"/>
              </a:rPr>
              <a:t>переиспользовать</a:t>
            </a:r>
            <a:r>
              <a:rPr lang="ru-RU" b="0" i="0" dirty="0">
                <a:solidFill>
                  <a:srgbClr val="1B1B1B"/>
                </a:solidFill>
                <a:effectLst/>
                <a:latin typeface="Inter"/>
              </a:rPr>
              <a:t> существующее или открыть несколько TCP-соединений к серверу.</a:t>
            </a:r>
          </a:p>
          <a:p>
            <a:pPr algn="l">
              <a:buFont typeface="+mj-lt"/>
              <a:buAutoNum type="arabicPeriod"/>
            </a:pPr>
            <a:r>
              <a:rPr lang="ru-RU" b="0" i="0" dirty="0">
                <a:solidFill>
                  <a:srgbClr val="1B1B1B"/>
                </a:solidFill>
                <a:effectLst/>
                <a:latin typeface="Inter"/>
              </a:rPr>
              <a:t>Отправка HTTP-сообщения: HTTP-сообщения (до HTTP/2) являются </a:t>
            </a:r>
            <a:r>
              <a:rPr lang="ru-RU" b="0" i="0" dirty="0" err="1">
                <a:solidFill>
                  <a:srgbClr val="1B1B1B"/>
                </a:solidFill>
                <a:effectLst/>
                <a:latin typeface="Inter"/>
              </a:rPr>
              <a:t>человекочитаемыми</a:t>
            </a:r>
            <a:r>
              <a:rPr lang="ru-RU" b="0" i="0" dirty="0">
                <a:solidFill>
                  <a:srgbClr val="1B1B1B"/>
                </a:solidFill>
                <a:effectLst/>
                <a:latin typeface="Inter"/>
              </a:rPr>
              <a:t>. Начиная с HTTP/2, простые сообщения инкапсулируются во фреймы, делая невозможным их чтение напрямую, но принципиально остаются такими же.</a:t>
            </a:r>
          </a:p>
        </p:txBody>
      </p:sp>
      <p:pic>
        <p:nvPicPr>
          <p:cNvPr id="8" name="Рисунок 7">
            <a:extLst>
              <a:ext uri="{FF2B5EF4-FFF2-40B4-BE49-F238E27FC236}">
                <a16:creationId xmlns:a16="http://schemas.microsoft.com/office/drawing/2014/main" id="{8BDBCCF1-4912-4321-ABFA-9D6E4262E7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5837" y="2958185"/>
            <a:ext cx="6270036" cy="3898961"/>
          </a:xfrm>
          <a:prstGeom prst="rect">
            <a:avLst/>
          </a:prstGeom>
        </p:spPr>
      </p:pic>
    </p:spTree>
    <p:extLst>
      <p:ext uri="{BB962C8B-B14F-4D97-AF65-F5344CB8AC3E}">
        <p14:creationId xmlns:p14="http://schemas.microsoft.com/office/powerpoint/2010/main" val="20872986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22D418BB-E4F2-4E57-B16F-EF675ED2D81C}"/>
              </a:ext>
            </a:extLst>
          </p:cNvPr>
          <p:cNvSpPr txBox="1"/>
          <p:nvPr/>
        </p:nvSpPr>
        <p:spPr>
          <a:xfrm>
            <a:off x="266700" y="292964"/>
            <a:ext cx="11398558" cy="1477328"/>
          </a:xfrm>
          <a:prstGeom prst="rect">
            <a:avLst/>
          </a:prstGeom>
          <a:noFill/>
        </p:spPr>
        <p:txBody>
          <a:bodyPr wrap="square">
            <a:spAutoFit/>
          </a:bodyPr>
          <a:lstStyle/>
          <a:p>
            <a:pPr algn="l"/>
            <a:r>
              <a:rPr lang="en-US" b="0" i="0" dirty="0">
                <a:solidFill>
                  <a:srgbClr val="1B1B1B"/>
                </a:solidFill>
                <a:effectLst/>
                <a:latin typeface="Inter"/>
              </a:rPr>
              <a:t>4. </a:t>
            </a:r>
            <a:r>
              <a:rPr lang="ru-RU" b="0" i="0" dirty="0">
                <a:solidFill>
                  <a:srgbClr val="1B1B1B"/>
                </a:solidFill>
                <a:effectLst/>
                <a:latin typeface="Inter"/>
              </a:rPr>
              <a:t>Закрывает или </a:t>
            </a:r>
            <a:r>
              <a:rPr lang="ru-RU" b="0" i="0" dirty="0" err="1">
                <a:solidFill>
                  <a:srgbClr val="1B1B1B"/>
                </a:solidFill>
                <a:effectLst/>
                <a:latin typeface="Inter"/>
              </a:rPr>
              <a:t>переиспользует</a:t>
            </a:r>
            <a:r>
              <a:rPr lang="ru-RU" b="0" i="0" dirty="0">
                <a:solidFill>
                  <a:srgbClr val="1B1B1B"/>
                </a:solidFill>
                <a:effectLst/>
                <a:latin typeface="Inter"/>
              </a:rPr>
              <a:t> соединение для дальнейших запросов.</a:t>
            </a:r>
          </a:p>
          <a:p>
            <a:pPr algn="l"/>
            <a:r>
              <a:rPr lang="ru-RU" b="0" i="0" dirty="0">
                <a:solidFill>
                  <a:srgbClr val="1B1B1B"/>
                </a:solidFill>
                <a:effectLst/>
                <a:latin typeface="Inter"/>
              </a:rPr>
              <a:t>Если активирован HTTP-конвейер, несколько запросов могут быть отправлены без ожидания получения первого ответа целиком. HTTP-конвейер тяжело внедряется в существующие сети, где старые куски ПО сосуществуют с современными версиями. HTTP-конвейер был заменён в HTTP/2 на более надёжные мультиплексные запросы во фрейме.</a:t>
            </a:r>
          </a:p>
        </p:txBody>
      </p:sp>
      <p:sp>
        <p:nvSpPr>
          <p:cNvPr id="5" name="TextBox 4">
            <a:extLst>
              <a:ext uri="{FF2B5EF4-FFF2-40B4-BE49-F238E27FC236}">
                <a16:creationId xmlns:a16="http://schemas.microsoft.com/office/drawing/2014/main" id="{21CDA55C-3A47-4A74-AA96-F560977138FD}"/>
              </a:ext>
            </a:extLst>
          </p:cNvPr>
          <p:cNvSpPr txBox="1"/>
          <p:nvPr/>
        </p:nvSpPr>
        <p:spPr>
          <a:xfrm>
            <a:off x="632533" y="1961966"/>
            <a:ext cx="6094520" cy="369332"/>
          </a:xfrm>
          <a:prstGeom prst="rect">
            <a:avLst/>
          </a:prstGeom>
          <a:noFill/>
        </p:spPr>
        <p:txBody>
          <a:bodyPr wrap="square">
            <a:spAutoFit/>
          </a:bodyPr>
          <a:lstStyle/>
          <a:p>
            <a:pPr algn="l"/>
            <a:r>
              <a:rPr lang="en-US" b="1" i="0" u="sng" dirty="0">
                <a:solidFill>
                  <a:srgbClr val="1B1B1B"/>
                </a:solidFill>
                <a:effectLst/>
                <a:latin typeface="Inter"/>
                <a:hlinkClick r:id="rId2"/>
              </a:rPr>
              <a:t>HTTP </a:t>
            </a:r>
            <a:r>
              <a:rPr lang="ru-RU" b="1" i="0" u="sng" dirty="0">
                <a:solidFill>
                  <a:srgbClr val="1B1B1B"/>
                </a:solidFill>
                <a:effectLst/>
                <a:latin typeface="Inter"/>
                <a:hlinkClick r:id="rId2"/>
              </a:rPr>
              <a:t>сообщения</a:t>
            </a:r>
            <a:endParaRPr lang="ru-RU" b="1" i="0" dirty="0">
              <a:solidFill>
                <a:srgbClr val="1B1B1B"/>
              </a:solidFill>
              <a:effectLst/>
              <a:latin typeface="Inter"/>
            </a:endParaRPr>
          </a:p>
        </p:txBody>
      </p:sp>
      <p:sp>
        <p:nvSpPr>
          <p:cNvPr id="6" name="TextBox 5">
            <a:extLst>
              <a:ext uri="{FF2B5EF4-FFF2-40B4-BE49-F238E27FC236}">
                <a16:creationId xmlns:a16="http://schemas.microsoft.com/office/drawing/2014/main" id="{E019DF42-5090-43E3-85CE-5E37950D1BF6}"/>
              </a:ext>
            </a:extLst>
          </p:cNvPr>
          <p:cNvSpPr txBox="1"/>
          <p:nvPr/>
        </p:nvSpPr>
        <p:spPr>
          <a:xfrm>
            <a:off x="328474" y="2910875"/>
            <a:ext cx="10972800" cy="2308324"/>
          </a:xfrm>
          <a:prstGeom prst="rect">
            <a:avLst/>
          </a:prstGeom>
          <a:noFill/>
        </p:spPr>
        <p:txBody>
          <a:bodyPr wrap="square">
            <a:spAutoFit/>
          </a:bodyPr>
          <a:lstStyle/>
          <a:p>
            <a:r>
              <a:rPr lang="ru-RU" dirty="0">
                <a:effectLst/>
              </a:rPr>
              <a:t>HTTP/1.1 и более ранние HTTP сообщения </a:t>
            </a:r>
            <a:r>
              <a:rPr lang="ru-RU" dirty="0" err="1">
                <a:effectLst/>
              </a:rPr>
              <a:t>человекочитаемые</a:t>
            </a:r>
            <a:r>
              <a:rPr lang="ru-RU" dirty="0">
                <a:effectLst/>
              </a:rPr>
              <a:t>. В версии HTTP/2 эти сообщения встроены в новую бинарную структуру, фрейм, позволяющий оптимизации, такие как компрессия заголовков и мультиплексирование. Даже если часть оригинального HTTP сообщения отправлена в этой версии HTTP, семантика каждого сообщения не изменяется и клиент воссоздаёт (виртуально) оригинальный HTTP-запрос. Это также полезно для понимания HTTP/2 сообщений в формате HTTP/1.1.</a:t>
            </a:r>
          </a:p>
          <a:p>
            <a:r>
              <a:rPr lang="ru-RU" dirty="0">
                <a:effectLst/>
              </a:rPr>
              <a:t>Существует два типа HTTP сообщений, запросы и ответы, каждый в своём формате.</a:t>
            </a:r>
          </a:p>
          <a:p>
            <a:r>
              <a:rPr lang="ru-RU" b="1" u="none" strike="noStrike" dirty="0">
                <a:effectLst/>
                <a:hlinkClick r:id="rId3"/>
              </a:rPr>
              <a:t>Запросы</a:t>
            </a:r>
            <a:endParaRPr lang="ru-RU" b="1" dirty="0">
              <a:effectLst/>
            </a:endParaRPr>
          </a:p>
          <a:p>
            <a:r>
              <a:rPr lang="ru-RU" dirty="0">
                <a:effectLst/>
              </a:rPr>
              <a:t>Примеры HTTP запросов:</a:t>
            </a:r>
          </a:p>
        </p:txBody>
      </p:sp>
    </p:spTree>
    <p:extLst>
      <p:ext uri="{BB962C8B-B14F-4D97-AF65-F5344CB8AC3E}">
        <p14:creationId xmlns:p14="http://schemas.microsoft.com/office/powerpoint/2010/main" val="1242256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99495" y="988095"/>
            <a:ext cx="11596826" cy="3338004"/>
          </a:xfrm>
        </p:spPr>
        <p:txBody>
          <a:bodyPr>
            <a:normAutofit/>
          </a:bodyPr>
          <a:lstStyle/>
          <a:p>
            <a:pPr algn="l"/>
            <a:br>
              <a:rPr lang="ru-RU" b="1" i="0" dirty="0">
                <a:solidFill>
                  <a:srgbClr val="0E0E0F"/>
                </a:solidFill>
                <a:effectLst/>
                <a:latin typeface="Inter"/>
              </a:rPr>
            </a:br>
            <a:endParaRPr lang="en-US" dirty="0"/>
          </a:p>
        </p:txBody>
      </p:sp>
      <p:pic>
        <p:nvPicPr>
          <p:cNvPr id="9218" name="Picture 2">
            <a:extLst>
              <a:ext uri="{FF2B5EF4-FFF2-40B4-BE49-F238E27FC236}">
                <a16:creationId xmlns:a16="http://schemas.microsoft.com/office/drawing/2014/main" id="{6BC69ED7-B938-4FED-99E6-E1E0A8C02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513" y="167441"/>
            <a:ext cx="7564653" cy="366771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605861B-FD72-4D42-91EF-231BBC51F376}"/>
              </a:ext>
            </a:extLst>
          </p:cNvPr>
          <p:cNvSpPr txBox="1"/>
          <p:nvPr/>
        </p:nvSpPr>
        <p:spPr>
          <a:xfrm>
            <a:off x="195679" y="3059668"/>
            <a:ext cx="6094520" cy="369332"/>
          </a:xfrm>
          <a:prstGeom prst="rect">
            <a:avLst/>
          </a:prstGeom>
          <a:noFill/>
        </p:spPr>
        <p:txBody>
          <a:bodyPr wrap="square">
            <a:spAutoFit/>
          </a:bodyPr>
          <a:lstStyle/>
          <a:p>
            <a:r>
              <a:rPr lang="ru-RU" b="0" i="0" dirty="0">
                <a:solidFill>
                  <a:srgbClr val="1B1B1B"/>
                </a:solidFill>
                <a:effectLst/>
                <a:latin typeface="Inter"/>
              </a:rPr>
              <a:t>Запросы содержат следующие элементы:</a:t>
            </a:r>
            <a:endParaRPr lang="en-US" dirty="0"/>
          </a:p>
        </p:txBody>
      </p:sp>
      <p:pic>
        <p:nvPicPr>
          <p:cNvPr id="10" name="Рисунок 9">
            <a:extLst>
              <a:ext uri="{FF2B5EF4-FFF2-40B4-BE49-F238E27FC236}">
                <a16:creationId xmlns:a16="http://schemas.microsoft.com/office/drawing/2014/main" id="{797DD3CF-BB8A-45DA-AB83-8858F04235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9962" y="3429000"/>
            <a:ext cx="7975297" cy="2968672"/>
          </a:xfrm>
          <a:prstGeom prst="rect">
            <a:avLst/>
          </a:prstGeom>
        </p:spPr>
      </p:pic>
    </p:spTree>
    <p:extLst>
      <p:ext uri="{BB962C8B-B14F-4D97-AF65-F5344CB8AC3E}">
        <p14:creationId xmlns:p14="http://schemas.microsoft.com/office/powerpoint/2010/main" val="12879113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745724" y="15593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D7A5A64E-9588-4C93-B08D-733FCEDABE03}"/>
              </a:ext>
            </a:extLst>
          </p:cNvPr>
          <p:cNvSpPr txBox="1"/>
          <p:nvPr/>
        </p:nvSpPr>
        <p:spPr>
          <a:xfrm>
            <a:off x="561512" y="292964"/>
            <a:ext cx="6094520" cy="646331"/>
          </a:xfrm>
          <a:prstGeom prst="rect">
            <a:avLst/>
          </a:prstGeom>
          <a:noFill/>
        </p:spPr>
        <p:txBody>
          <a:bodyPr wrap="square">
            <a:spAutoFit/>
          </a:bodyPr>
          <a:lstStyle/>
          <a:p>
            <a:pPr algn="l"/>
            <a:r>
              <a:rPr lang="ru-RU" b="1" i="0" u="sng" dirty="0">
                <a:solidFill>
                  <a:srgbClr val="1B1B1B"/>
                </a:solidFill>
                <a:effectLst/>
                <a:latin typeface="Inter"/>
                <a:hlinkClick r:id="rId2"/>
              </a:rPr>
              <a:t>Ответы</a:t>
            </a:r>
            <a:endParaRPr lang="ru-RU" b="1" i="0" dirty="0">
              <a:solidFill>
                <a:srgbClr val="1B1B1B"/>
              </a:solidFill>
              <a:effectLst/>
              <a:latin typeface="Inter"/>
            </a:endParaRPr>
          </a:p>
          <a:p>
            <a:pPr algn="l"/>
            <a:r>
              <a:rPr lang="ru-RU" b="0" i="0" dirty="0">
                <a:solidFill>
                  <a:srgbClr val="1B1B1B"/>
                </a:solidFill>
                <a:effectLst/>
                <a:latin typeface="Inter"/>
              </a:rPr>
              <a:t>Примеры ответов:</a:t>
            </a:r>
          </a:p>
        </p:txBody>
      </p:sp>
      <p:pic>
        <p:nvPicPr>
          <p:cNvPr id="10242" name="Picture 2">
            <a:extLst>
              <a:ext uri="{FF2B5EF4-FFF2-40B4-BE49-F238E27FC236}">
                <a16:creationId xmlns:a16="http://schemas.microsoft.com/office/drawing/2014/main" id="{3AC3DA18-F070-4AC5-ADF7-4B297179B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35935" y="292964"/>
            <a:ext cx="7219950" cy="470535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646C2517-25FC-47A4-AE66-81C266E582F1}"/>
              </a:ext>
            </a:extLst>
          </p:cNvPr>
          <p:cNvSpPr txBox="1"/>
          <p:nvPr/>
        </p:nvSpPr>
        <p:spPr>
          <a:xfrm>
            <a:off x="1052421" y="4741545"/>
            <a:ext cx="9603464" cy="2308324"/>
          </a:xfrm>
          <a:prstGeom prst="rect">
            <a:avLst/>
          </a:prstGeom>
          <a:noFill/>
        </p:spPr>
        <p:txBody>
          <a:bodyPr wrap="square">
            <a:spAutoFit/>
          </a:bodyPr>
          <a:lstStyle/>
          <a:p>
            <a:pPr algn="l"/>
            <a:r>
              <a:rPr lang="ru-RU" b="0" i="0" dirty="0">
                <a:solidFill>
                  <a:srgbClr val="1B1B1B"/>
                </a:solidFill>
                <a:effectLst/>
                <a:latin typeface="Inter"/>
              </a:rPr>
              <a:t>Ответы содержат следующие элементы:</a:t>
            </a:r>
          </a:p>
          <a:p>
            <a:pPr algn="l">
              <a:buFont typeface="Arial" panose="020B0604020202020204" pitchFamily="34" charset="0"/>
              <a:buChar char="•"/>
            </a:pPr>
            <a:r>
              <a:rPr lang="ru-RU" b="0" i="0" dirty="0">
                <a:solidFill>
                  <a:srgbClr val="1B1B1B"/>
                </a:solidFill>
                <a:effectLst/>
                <a:latin typeface="Inter"/>
              </a:rPr>
              <a:t>Версию HTTP-протокола.</a:t>
            </a:r>
            <a:endParaRPr lang="en-US" b="0" i="0" dirty="0">
              <a:solidFill>
                <a:srgbClr val="1B1B1B"/>
              </a:solidFill>
              <a:effectLst/>
              <a:latin typeface="Inter"/>
            </a:endParaRPr>
          </a:p>
          <a:p>
            <a:pPr algn="l">
              <a:buFont typeface="Arial" panose="020B0604020202020204" pitchFamily="34" charset="0"/>
              <a:buChar char="•"/>
            </a:pPr>
            <a:r>
              <a:rPr lang="en-US" b="0" i="0" dirty="0">
                <a:solidFill>
                  <a:srgbClr val="1B1B1B"/>
                </a:solidFill>
                <a:effectLst/>
                <a:latin typeface="Inter"/>
              </a:rPr>
              <a:t>Http </a:t>
            </a:r>
            <a:r>
              <a:rPr lang="ru-RU" b="0" i="0" dirty="0">
                <a:solidFill>
                  <a:srgbClr val="1B1B1B"/>
                </a:solidFill>
                <a:effectLst/>
                <a:latin typeface="Inter"/>
              </a:rPr>
              <a:t>код состояния сообщающий об успешности запроса или причине неудачи.</a:t>
            </a:r>
          </a:p>
          <a:p>
            <a:pPr algn="l">
              <a:buFont typeface="Arial" panose="020B0604020202020204" pitchFamily="34" charset="0"/>
              <a:buChar char="•"/>
            </a:pPr>
            <a:r>
              <a:rPr lang="ru-RU" b="0" i="0" dirty="0">
                <a:solidFill>
                  <a:srgbClr val="1B1B1B"/>
                </a:solidFill>
                <a:effectLst/>
                <a:latin typeface="Inter"/>
              </a:rPr>
              <a:t>Сообщение состояния — краткое описание кода состояния.</a:t>
            </a:r>
          </a:p>
          <a:p>
            <a:pPr algn="l">
              <a:buFont typeface="Arial" panose="020B0604020202020204" pitchFamily="34" charset="0"/>
              <a:buChar char="•"/>
            </a:pPr>
            <a:r>
              <a:rPr lang="ru-RU" b="0" i="0" dirty="0">
                <a:solidFill>
                  <a:srgbClr val="1B1B1B"/>
                </a:solidFill>
                <a:effectLst/>
                <a:latin typeface="Inter"/>
              </a:rPr>
              <a:t>HTTP заголовки подобно заголовкам в запросах.</a:t>
            </a:r>
          </a:p>
          <a:p>
            <a:pPr algn="l">
              <a:buFont typeface="Arial" panose="020B0604020202020204" pitchFamily="34" charset="0"/>
              <a:buChar char="•"/>
            </a:pPr>
            <a:r>
              <a:rPr lang="ru-RU" b="0" i="0" dirty="0">
                <a:solidFill>
                  <a:srgbClr val="1B1B1B"/>
                </a:solidFill>
                <a:effectLst/>
                <a:latin typeface="Inter"/>
              </a:rPr>
              <a:t>Опционально: тело, содержащее пересылаемый ресурс.</a:t>
            </a:r>
          </a:p>
          <a:p>
            <a:pPr algn="l">
              <a:buFont typeface="Arial" panose="020B0604020202020204" pitchFamily="34" charset="0"/>
              <a:buChar char="•"/>
            </a:pPr>
            <a:endParaRPr lang="ru-RU" b="0" i="0" dirty="0">
              <a:solidFill>
                <a:srgbClr val="1B1B1B"/>
              </a:solidFill>
              <a:effectLst/>
              <a:latin typeface="Inter"/>
            </a:endParaRPr>
          </a:p>
          <a:p>
            <a:pPr algn="l">
              <a:buFont typeface="Arial" panose="020B0604020202020204" pitchFamily="34" charset="0"/>
              <a:buChar char="•"/>
            </a:pPr>
            <a:endParaRPr lang="ru-RU" b="0" i="0" dirty="0">
              <a:solidFill>
                <a:srgbClr val="1B1B1B"/>
              </a:solidFill>
              <a:effectLst/>
              <a:latin typeface="Inter"/>
            </a:endParaRPr>
          </a:p>
        </p:txBody>
      </p:sp>
    </p:spTree>
    <p:extLst>
      <p:ext uri="{BB962C8B-B14F-4D97-AF65-F5344CB8AC3E}">
        <p14:creationId xmlns:p14="http://schemas.microsoft.com/office/powerpoint/2010/main" val="40274766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A108D8B-AC24-4CC3-A9F3-29922198839B}"/>
              </a:ext>
            </a:extLst>
          </p:cNvPr>
          <p:cNvSpPr>
            <a:spLocks noGrp="1"/>
          </p:cNvSpPr>
          <p:nvPr>
            <p:ph type="ctrTitle"/>
          </p:nvPr>
        </p:nvSpPr>
        <p:spPr>
          <a:xfrm>
            <a:off x="328474" y="292964"/>
            <a:ext cx="11596826" cy="3338004"/>
          </a:xfrm>
        </p:spPr>
        <p:txBody>
          <a:bodyPr>
            <a:normAutofit/>
          </a:bodyPr>
          <a:lstStyle/>
          <a:p>
            <a:pPr algn="l"/>
            <a:br>
              <a:rPr lang="ru-RU" b="1" i="0" dirty="0">
                <a:solidFill>
                  <a:srgbClr val="0E0E0F"/>
                </a:solidFill>
                <a:effectLst/>
                <a:latin typeface="Inter"/>
              </a:rPr>
            </a:br>
            <a:endParaRPr lang="en-US" dirty="0"/>
          </a:p>
        </p:txBody>
      </p:sp>
      <p:sp>
        <p:nvSpPr>
          <p:cNvPr id="4" name="TextBox 3">
            <a:extLst>
              <a:ext uri="{FF2B5EF4-FFF2-40B4-BE49-F238E27FC236}">
                <a16:creationId xmlns:a16="http://schemas.microsoft.com/office/drawing/2014/main" id="{428A7FA0-720D-4CD4-A9B9-016A328C1D46}"/>
              </a:ext>
            </a:extLst>
          </p:cNvPr>
          <p:cNvSpPr txBox="1"/>
          <p:nvPr/>
        </p:nvSpPr>
        <p:spPr>
          <a:xfrm>
            <a:off x="523783" y="408372"/>
            <a:ext cx="10768613" cy="2031325"/>
          </a:xfrm>
          <a:prstGeom prst="rect">
            <a:avLst/>
          </a:prstGeom>
          <a:noFill/>
        </p:spPr>
        <p:txBody>
          <a:bodyPr wrap="square">
            <a:spAutoFit/>
          </a:bodyPr>
          <a:lstStyle/>
          <a:p>
            <a:pPr algn="l"/>
            <a:r>
              <a:rPr lang="ru-RU" b="1" i="0" u="sng" dirty="0">
                <a:solidFill>
                  <a:srgbClr val="1B1B1B"/>
                </a:solidFill>
                <a:effectLst/>
                <a:latin typeface="Inter"/>
                <a:hlinkClick r:id="rId2"/>
              </a:rPr>
              <a:t>Вывод</a:t>
            </a:r>
            <a:endParaRPr lang="ru-RU" b="1" i="0" dirty="0">
              <a:solidFill>
                <a:srgbClr val="1B1B1B"/>
              </a:solidFill>
              <a:effectLst/>
              <a:latin typeface="Inter"/>
            </a:endParaRPr>
          </a:p>
          <a:p>
            <a:pPr algn="l"/>
            <a:r>
              <a:rPr lang="ru-RU" b="0" i="0" dirty="0">
                <a:solidFill>
                  <a:srgbClr val="1B1B1B"/>
                </a:solidFill>
                <a:effectLst/>
                <a:latin typeface="Inter"/>
              </a:rPr>
              <a:t>HTTP — лёгкий в использовании расширяемый протокол. Структура клиент-сервера, вместе со способностью к простому добавлению заголовков, позволяет HTTP продвигаться вместе с расширяющимися возможностями Сети.</a:t>
            </a:r>
          </a:p>
          <a:p>
            <a:pPr algn="l"/>
            <a:r>
              <a:rPr lang="ru-RU" b="0" i="0" dirty="0">
                <a:solidFill>
                  <a:srgbClr val="1B1B1B"/>
                </a:solidFill>
                <a:effectLst/>
                <a:latin typeface="Inter"/>
              </a:rPr>
              <a:t>Хотя HTTP/2 добавляет некоторую сложность, встраивая HTTP сообщения во фреймы для улучшения производительности, базовая структура сообщений осталась с HTTP/1.0. Сессионный поток остаётся простым, позволяя исследовать и отлаживать с простым</a:t>
            </a:r>
          </a:p>
        </p:txBody>
      </p:sp>
    </p:spTree>
    <p:extLst>
      <p:ext uri="{BB962C8B-B14F-4D97-AF65-F5344CB8AC3E}">
        <p14:creationId xmlns:p14="http://schemas.microsoft.com/office/powerpoint/2010/main" val="19452998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AF4489C-F9CB-4104-A9CD-07A0F5F1C77C}"/>
              </a:ext>
            </a:extLst>
          </p:cNvPr>
          <p:cNvSpPr txBox="1"/>
          <p:nvPr/>
        </p:nvSpPr>
        <p:spPr>
          <a:xfrm>
            <a:off x="630315" y="417250"/>
            <a:ext cx="11336784" cy="2862322"/>
          </a:xfrm>
          <a:prstGeom prst="rect">
            <a:avLst/>
          </a:prstGeom>
          <a:noFill/>
        </p:spPr>
        <p:txBody>
          <a:bodyPr wrap="square">
            <a:spAutoFit/>
          </a:bodyPr>
          <a:lstStyle/>
          <a:p>
            <a:pPr algn="l" fontAlgn="base"/>
            <a:r>
              <a:rPr lang="ru-RU" b="1" i="0" dirty="0">
                <a:solidFill>
                  <a:srgbClr val="092433"/>
                </a:solidFill>
                <a:effectLst/>
                <a:latin typeface="Manrope"/>
              </a:rPr>
              <a:t>SMTP (</a:t>
            </a:r>
            <a:r>
              <a:rPr lang="ru-RU" b="1" i="0" dirty="0" err="1">
                <a:solidFill>
                  <a:srgbClr val="092433"/>
                </a:solidFill>
                <a:effectLst/>
                <a:latin typeface="Manrope"/>
              </a:rPr>
              <a:t>Simple</a:t>
            </a:r>
            <a:r>
              <a:rPr lang="ru-RU" b="1" i="0" dirty="0">
                <a:solidFill>
                  <a:srgbClr val="092433"/>
                </a:solidFill>
                <a:effectLst/>
                <a:latin typeface="Manrope"/>
              </a:rPr>
              <a:t> </a:t>
            </a:r>
            <a:r>
              <a:rPr lang="ru-RU" b="1" i="0" dirty="0" err="1">
                <a:solidFill>
                  <a:srgbClr val="092433"/>
                </a:solidFill>
                <a:effectLst/>
                <a:latin typeface="Manrope"/>
              </a:rPr>
              <a:t>Mail</a:t>
            </a:r>
            <a:r>
              <a:rPr lang="ru-RU" b="1" i="0" dirty="0">
                <a:solidFill>
                  <a:srgbClr val="092433"/>
                </a:solidFill>
                <a:effectLst/>
                <a:latin typeface="Manrope"/>
              </a:rPr>
              <a:t> </a:t>
            </a:r>
            <a:r>
              <a:rPr lang="ru-RU" b="1" i="0" dirty="0" err="1">
                <a:solidFill>
                  <a:srgbClr val="092433"/>
                </a:solidFill>
                <a:effectLst/>
                <a:latin typeface="Manrope"/>
              </a:rPr>
              <a:t>Transfer</a:t>
            </a:r>
            <a:r>
              <a:rPr lang="ru-RU" b="1" i="0" dirty="0">
                <a:solidFill>
                  <a:srgbClr val="092433"/>
                </a:solidFill>
                <a:effectLst/>
                <a:latin typeface="Manrope"/>
              </a:rPr>
              <a:t> </a:t>
            </a:r>
            <a:r>
              <a:rPr lang="ru-RU" b="1" i="0" dirty="0" err="1">
                <a:solidFill>
                  <a:srgbClr val="092433"/>
                </a:solidFill>
                <a:effectLst/>
                <a:latin typeface="Manrope"/>
              </a:rPr>
              <a:t>Protocol</a:t>
            </a:r>
            <a:r>
              <a:rPr lang="ru-RU" b="1" i="0" dirty="0">
                <a:solidFill>
                  <a:srgbClr val="092433"/>
                </a:solidFill>
                <a:effectLst/>
                <a:latin typeface="Manrope"/>
              </a:rPr>
              <a:t>) </a:t>
            </a:r>
            <a:r>
              <a:rPr lang="ru-RU" b="0" i="0" dirty="0">
                <a:solidFill>
                  <a:srgbClr val="092433"/>
                </a:solidFill>
                <a:effectLst/>
                <a:latin typeface="Manrope"/>
              </a:rPr>
              <a:t>— протокол передачи почты. Он был представлен еще в 1982 году, но не теряет актуальности до сих пор. В статье разбираемся, какие задачи решает протокол и как он работает.</a:t>
            </a:r>
          </a:p>
          <a:p>
            <a:pPr algn="l" fontAlgn="base"/>
            <a:r>
              <a:rPr lang="ru-RU" b="0" i="0" dirty="0">
                <a:solidFill>
                  <a:srgbClr val="092433"/>
                </a:solidFill>
                <a:effectLst/>
                <a:latin typeface="CoilTrail"/>
              </a:rPr>
              <a:t>Для чего используется SMTP</a:t>
            </a:r>
          </a:p>
          <a:p>
            <a:pPr algn="l" fontAlgn="base"/>
            <a:endParaRPr lang="ru-RU" b="0" i="0" dirty="0">
              <a:solidFill>
                <a:srgbClr val="092433"/>
              </a:solidFill>
              <a:effectLst/>
              <a:latin typeface="CoilTrail"/>
            </a:endParaRPr>
          </a:p>
          <a:p>
            <a:pPr algn="l" fontAlgn="base"/>
            <a:r>
              <a:rPr lang="ru-RU" b="0" i="0" dirty="0">
                <a:solidFill>
                  <a:srgbClr val="092433"/>
                </a:solidFill>
                <a:effectLst/>
                <a:latin typeface="Manrope"/>
              </a:rPr>
              <a:t>У протокола две главные задачи:</a:t>
            </a:r>
          </a:p>
          <a:p>
            <a:pPr algn="l" fontAlgn="base"/>
            <a:endParaRPr lang="ru-RU" b="0" i="0" dirty="0">
              <a:solidFill>
                <a:srgbClr val="092433"/>
              </a:solidFill>
              <a:effectLst/>
              <a:latin typeface="Manrope"/>
            </a:endParaRPr>
          </a:p>
          <a:p>
            <a:pPr algn="l" fontAlgn="base">
              <a:buFont typeface="Arial" panose="020B0604020202020204" pitchFamily="34" charset="0"/>
              <a:buChar char="•"/>
            </a:pPr>
            <a:r>
              <a:rPr lang="ru-RU" b="0" i="0" dirty="0">
                <a:solidFill>
                  <a:srgbClr val="092433"/>
                </a:solidFill>
                <a:effectLst/>
                <a:latin typeface="Manrope"/>
              </a:rPr>
              <a:t>Проверка корректности настроек системы и предоставление «разрешения» на отправку </a:t>
            </a:r>
            <a:r>
              <a:rPr lang="ru-RU" b="0" i="0" dirty="0" err="1">
                <a:solidFill>
                  <a:srgbClr val="092433"/>
                </a:solidFill>
                <a:effectLst/>
                <a:latin typeface="Manrope"/>
              </a:rPr>
              <a:t>email</a:t>
            </a:r>
            <a:r>
              <a:rPr lang="ru-RU" b="0" i="0" dirty="0">
                <a:solidFill>
                  <a:srgbClr val="092433"/>
                </a:solidFill>
                <a:effectLst/>
                <a:latin typeface="Manrope"/>
              </a:rPr>
              <a:t>-сообщения для определенного устройства.</a:t>
            </a:r>
          </a:p>
          <a:p>
            <a:pPr algn="l" fontAlgn="base">
              <a:buFont typeface="Arial" panose="020B0604020202020204" pitchFamily="34" charset="0"/>
              <a:buChar char="•"/>
            </a:pPr>
            <a:r>
              <a:rPr lang="ru-RU" b="0" i="0" dirty="0">
                <a:solidFill>
                  <a:srgbClr val="092433"/>
                </a:solidFill>
                <a:effectLst/>
                <a:latin typeface="Manrope"/>
              </a:rPr>
              <a:t>Отправка исходящего сообщения на заданный адрес электронной почты и подтверждение успешной доставки. Если сообщение доставить не удается, отправитель получает соответствующее извещение.</a:t>
            </a:r>
          </a:p>
        </p:txBody>
      </p:sp>
    </p:spTree>
    <p:extLst>
      <p:ext uri="{BB962C8B-B14F-4D97-AF65-F5344CB8AC3E}">
        <p14:creationId xmlns:p14="http://schemas.microsoft.com/office/powerpoint/2010/main" val="38493984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5FC8F4-CBE0-41AA-A21A-BD9AD339C70F}"/>
              </a:ext>
            </a:extLst>
          </p:cNvPr>
          <p:cNvSpPr txBox="1"/>
          <p:nvPr/>
        </p:nvSpPr>
        <p:spPr>
          <a:xfrm>
            <a:off x="630315" y="523782"/>
            <a:ext cx="11478827" cy="4324261"/>
          </a:xfrm>
          <a:prstGeom prst="rect">
            <a:avLst/>
          </a:prstGeom>
          <a:noFill/>
        </p:spPr>
        <p:txBody>
          <a:bodyPr wrap="square">
            <a:spAutoFit/>
          </a:bodyPr>
          <a:lstStyle/>
          <a:p>
            <a:pPr algn="l" fontAlgn="base"/>
            <a:r>
              <a:rPr lang="ru-RU" sz="2300" b="1" i="0" dirty="0">
                <a:solidFill>
                  <a:srgbClr val="FF0000"/>
                </a:solidFill>
                <a:effectLst/>
                <a:latin typeface="CoilTrail"/>
              </a:rPr>
              <a:t>SMTP и его место в стеке TCP/IP</a:t>
            </a:r>
          </a:p>
          <a:p>
            <a:pPr algn="l" fontAlgn="base"/>
            <a:endParaRPr lang="ru-RU" b="0" i="0" dirty="0">
              <a:solidFill>
                <a:srgbClr val="092433"/>
              </a:solidFill>
              <a:effectLst/>
              <a:latin typeface="CoilTrail"/>
            </a:endParaRPr>
          </a:p>
          <a:p>
            <a:pPr algn="l" fontAlgn="base"/>
            <a:r>
              <a:rPr lang="ru-RU" b="0" i="0" dirty="0">
                <a:solidFill>
                  <a:srgbClr val="092433"/>
                </a:solidFill>
                <a:effectLst/>
                <a:latin typeface="Manrope"/>
              </a:rPr>
              <a:t>Теоретически SMTP умеет работать с практически любыми протоколами так называемого транспортного уровня, включая TCP, UDP и другие. Еще на заре развития протокола за ним закрепили два номера порта:</a:t>
            </a:r>
          </a:p>
          <a:p>
            <a:pPr algn="l" fontAlgn="base"/>
            <a:endParaRPr lang="ru-RU" b="0" i="0" dirty="0">
              <a:solidFill>
                <a:srgbClr val="092433"/>
              </a:solidFill>
              <a:effectLst/>
              <a:latin typeface="Manrope"/>
            </a:endParaRPr>
          </a:p>
          <a:p>
            <a:pPr algn="l" fontAlgn="base">
              <a:buFont typeface="Arial" panose="020B0604020202020204" pitchFamily="34" charset="0"/>
              <a:buChar char="•"/>
            </a:pPr>
            <a:r>
              <a:rPr lang="ru-RU" b="0" i="0" dirty="0">
                <a:solidFill>
                  <a:srgbClr val="092433"/>
                </a:solidFill>
                <a:effectLst/>
                <a:latin typeface="Manrope"/>
              </a:rPr>
              <a:t>Первый — это порт 25, посредством которого почта передается между почтовыми серверами.</a:t>
            </a:r>
          </a:p>
          <a:p>
            <a:pPr algn="l" fontAlgn="base">
              <a:buFont typeface="Arial" panose="020B0604020202020204" pitchFamily="34" charset="0"/>
              <a:buChar char="•"/>
            </a:pPr>
            <a:r>
              <a:rPr lang="ru-RU" b="0" i="0" dirty="0">
                <a:solidFill>
                  <a:srgbClr val="092433"/>
                </a:solidFill>
                <a:effectLst/>
                <a:latin typeface="Manrope"/>
              </a:rPr>
              <a:t>Второй — порт 587, благодаря которому почта передается от почтового клиента на сервер.</a:t>
            </a:r>
          </a:p>
          <a:p>
            <a:pPr algn="l" fontAlgn="base"/>
            <a:endParaRPr lang="ru-RU" b="0" i="0" dirty="0">
              <a:solidFill>
                <a:srgbClr val="092433"/>
              </a:solidFill>
              <a:effectLst/>
              <a:latin typeface="Manrope"/>
            </a:endParaRPr>
          </a:p>
          <a:p>
            <a:pPr algn="l" fontAlgn="base"/>
            <a:r>
              <a:rPr lang="ru-RU" b="0" i="0" dirty="0">
                <a:solidFill>
                  <a:srgbClr val="092433"/>
                </a:solidFill>
                <a:effectLst/>
                <a:latin typeface="Manrope"/>
              </a:rPr>
              <a:t>В большинстве случаев протокол SMTP используется для передачи исходящей почты с использованием порта TCP 25. То есть можно сказать, что SMTP-порт — это как раз TCP 25, хоть и не всегда. Иногда задействуется еще порт 465. Так происходит, когда порт требует защищенного SSL-соединения.</a:t>
            </a:r>
          </a:p>
          <a:p>
            <a:pPr algn="l" fontAlgn="base"/>
            <a:endParaRPr lang="ru-RU" b="0" i="0" dirty="0">
              <a:solidFill>
                <a:srgbClr val="092433"/>
              </a:solidFill>
              <a:effectLst/>
              <a:latin typeface="Manrope"/>
            </a:endParaRPr>
          </a:p>
          <a:p>
            <a:pPr algn="l" fontAlgn="base"/>
            <a:r>
              <a:rPr lang="ru-RU" b="0" i="0" dirty="0">
                <a:solidFill>
                  <a:srgbClr val="092433"/>
                </a:solidFill>
                <a:effectLst/>
                <a:latin typeface="Manrope"/>
              </a:rPr>
              <a:t>Но в большинстве случаев используется лишь один транспортный протокол TCP с портом 25 (это SMTP-порт по умолчанию). Другие варианты применяются крайне редко, например, когда провайдеры по какой-то причине закрывают доступ к 25 порту. Они могут делать это, например, для блокировки спам-рассылок.</a:t>
            </a:r>
          </a:p>
        </p:txBody>
      </p:sp>
    </p:spTree>
    <p:extLst>
      <p:ext uri="{BB962C8B-B14F-4D97-AF65-F5344CB8AC3E}">
        <p14:creationId xmlns:p14="http://schemas.microsoft.com/office/powerpoint/2010/main" val="3675599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64688A-490F-4569-9F0B-426B1DECE6E9}"/>
              </a:ext>
            </a:extLst>
          </p:cNvPr>
          <p:cNvSpPr txBox="1"/>
          <p:nvPr/>
        </p:nvSpPr>
        <p:spPr>
          <a:xfrm>
            <a:off x="204186" y="257452"/>
            <a:ext cx="11523216" cy="2585323"/>
          </a:xfrm>
          <a:prstGeom prst="rect">
            <a:avLst/>
          </a:prstGeom>
          <a:noFill/>
        </p:spPr>
        <p:txBody>
          <a:bodyPr wrap="square">
            <a:spAutoFit/>
          </a:bodyPr>
          <a:lstStyle/>
          <a:p>
            <a:pPr algn="l" fontAlgn="base"/>
            <a:r>
              <a:rPr lang="ru-RU" b="1" i="0" dirty="0">
                <a:solidFill>
                  <a:srgbClr val="092433"/>
                </a:solidFill>
                <a:effectLst/>
                <a:latin typeface="CoilTrail"/>
              </a:rPr>
              <a:t>Электронное письмо и его формат</a:t>
            </a:r>
          </a:p>
          <a:p>
            <a:pPr algn="l" fontAlgn="base"/>
            <a:r>
              <a:rPr lang="ru-RU" b="0" i="0" dirty="0">
                <a:solidFill>
                  <a:srgbClr val="092433"/>
                </a:solidFill>
                <a:effectLst/>
                <a:latin typeface="Manrope"/>
              </a:rPr>
              <a:t>Сообщение электронной почты всегда состоит из трех элементов:</a:t>
            </a:r>
          </a:p>
          <a:p>
            <a:pPr algn="l" fontAlgn="base">
              <a:buFont typeface="Arial" panose="020B0604020202020204" pitchFamily="34" charset="0"/>
              <a:buChar char="•"/>
            </a:pPr>
            <a:r>
              <a:rPr lang="ru-RU" b="0" i="0" dirty="0">
                <a:solidFill>
                  <a:srgbClr val="092433"/>
                </a:solidFill>
                <a:effectLst/>
                <a:latin typeface="Manrope"/>
              </a:rPr>
              <a:t>Так называемый конверт.</a:t>
            </a:r>
          </a:p>
          <a:p>
            <a:pPr algn="l" fontAlgn="base">
              <a:buFont typeface="Arial" panose="020B0604020202020204" pitchFamily="34" charset="0"/>
              <a:buChar char="•"/>
            </a:pPr>
            <a:r>
              <a:rPr lang="ru-RU" b="0" i="0" dirty="0">
                <a:solidFill>
                  <a:srgbClr val="092433"/>
                </a:solidFill>
                <a:effectLst/>
                <a:latin typeface="Manrope"/>
              </a:rPr>
              <a:t>Заголовок.</a:t>
            </a:r>
          </a:p>
          <a:p>
            <a:pPr algn="l" fontAlgn="base">
              <a:buFont typeface="Arial" panose="020B0604020202020204" pitchFamily="34" charset="0"/>
              <a:buChar char="•"/>
            </a:pPr>
            <a:r>
              <a:rPr lang="ru-RU" b="0" i="0" dirty="0">
                <a:solidFill>
                  <a:srgbClr val="092433"/>
                </a:solidFill>
                <a:effectLst/>
                <a:latin typeface="Manrope"/>
              </a:rPr>
              <a:t>Тело письма.</a:t>
            </a:r>
          </a:p>
          <a:p>
            <a:pPr algn="l" fontAlgn="base"/>
            <a:r>
              <a:rPr lang="ru-RU" b="0" i="0" dirty="0">
                <a:solidFill>
                  <a:srgbClr val="092433"/>
                </a:solidFill>
                <a:effectLst/>
                <a:latin typeface="Manrope"/>
              </a:rPr>
              <a:t>Конверт применяется для передачи сообщений электронной почты от клиенту к серверу и обратно. При этом как клиент, так и сервер взаимодействуют друг с другом в обычном формате «запрос-ответ». В ходе взаимодействия между ними передаются текстовые строки.</a:t>
            </a:r>
          </a:p>
          <a:p>
            <a:pPr algn="l" fontAlgn="base"/>
            <a:r>
              <a:rPr lang="ru-RU" b="0" i="0" dirty="0">
                <a:solidFill>
                  <a:srgbClr val="092433"/>
                </a:solidFill>
                <a:effectLst/>
                <a:latin typeface="Manrope"/>
              </a:rPr>
              <a:t>Что касается заголовка и тела письма, то их параметры прописаны в отдельном документе — RFC2822.</a:t>
            </a:r>
          </a:p>
        </p:txBody>
      </p:sp>
      <p:pic>
        <p:nvPicPr>
          <p:cNvPr id="1026" name="Picture 2">
            <a:extLst>
              <a:ext uri="{FF2B5EF4-FFF2-40B4-BE49-F238E27FC236}">
                <a16:creationId xmlns:a16="http://schemas.microsoft.com/office/drawing/2014/main" id="{B8E1318B-8F84-433E-A964-80B5C84633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863" y="2842775"/>
            <a:ext cx="2171700" cy="32194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973F589-60D1-4D31-A33A-8A15E1A5C887}"/>
              </a:ext>
            </a:extLst>
          </p:cNvPr>
          <p:cNvSpPr txBox="1"/>
          <p:nvPr/>
        </p:nvSpPr>
        <p:spPr>
          <a:xfrm>
            <a:off x="2485563" y="2861064"/>
            <a:ext cx="6094520" cy="2308324"/>
          </a:xfrm>
          <a:prstGeom prst="rect">
            <a:avLst/>
          </a:prstGeom>
          <a:noFill/>
        </p:spPr>
        <p:txBody>
          <a:bodyPr wrap="square">
            <a:spAutoFit/>
          </a:bodyPr>
          <a:lstStyle/>
          <a:p>
            <a:pPr algn="l" fontAlgn="base"/>
            <a:r>
              <a:rPr lang="en-US" b="0" i="0" dirty="0" err="1">
                <a:solidFill>
                  <a:srgbClr val="092433"/>
                </a:solidFill>
                <a:effectLst/>
                <a:latin typeface="Manrope"/>
              </a:rPr>
              <a:t>Формат</a:t>
            </a:r>
            <a:r>
              <a:rPr lang="en-US" b="0" i="0" dirty="0">
                <a:solidFill>
                  <a:srgbClr val="092433"/>
                </a:solidFill>
                <a:effectLst/>
                <a:latin typeface="Manrope"/>
              </a:rPr>
              <a:t> </a:t>
            </a:r>
            <a:r>
              <a:rPr lang="en-US" b="0" i="0" dirty="0" err="1">
                <a:solidFill>
                  <a:srgbClr val="092433"/>
                </a:solidFill>
                <a:effectLst/>
                <a:latin typeface="Manrope"/>
              </a:rPr>
              <a:t>поля</a:t>
            </a:r>
            <a:r>
              <a:rPr lang="en-US" b="0" i="0" dirty="0">
                <a:solidFill>
                  <a:srgbClr val="092433"/>
                </a:solidFill>
                <a:effectLst/>
                <a:latin typeface="Manrope"/>
              </a:rPr>
              <a:t> </a:t>
            </a:r>
            <a:r>
              <a:rPr lang="en-US" b="0" i="0" dirty="0" err="1">
                <a:solidFill>
                  <a:srgbClr val="092433"/>
                </a:solidFill>
                <a:effectLst/>
                <a:latin typeface="Manrope"/>
              </a:rPr>
              <a:t>заголовка</a:t>
            </a:r>
            <a:r>
              <a:rPr lang="en-US" b="0" i="0" dirty="0">
                <a:solidFill>
                  <a:srgbClr val="092433"/>
                </a:solidFill>
                <a:effectLst/>
                <a:latin typeface="Manrope"/>
              </a:rPr>
              <a:t> Received:</a:t>
            </a:r>
          </a:p>
          <a:p>
            <a:pPr algn="l" fontAlgn="base"/>
            <a:r>
              <a:rPr lang="en-US" b="0" i="0" dirty="0">
                <a:solidFill>
                  <a:srgbClr val="092433"/>
                </a:solidFill>
                <a:effectLst/>
                <a:latin typeface="Manrope"/>
              </a:rPr>
              <a:t>Received:</a:t>
            </a:r>
            <a:br>
              <a:rPr lang="en-US" b="0" i="0" dirty="0">
                <a:solidFill>
                  <a:srgbClr val="092433"/>
                </a:solidFill>
                <a:effectLst/>
                <a:latin typeface="Manrope"/>
              </a:rPr>
            </a:br>
            <a:r>
              <a:rPr lang="en-US" b="0" i="0" dirty="0">
                <a:solidFill>
                  <a:srgbClr val="092433"/>
                </a:solidFill>
                <a:effectLst/>
                <a:latin typeface="Manrope"/>
              </a:rPr>
              <a:t>From host</a:t>
            </a:r>
            <a:br>
              <a:rPr lang="en-US" b="0" i="0" dirty="0">
                <a:solidFill>
                  <a:srgbClr val="092433"/>
                </a:solidFill>
                <a:effectLst/>
                <a:latin typeface="Manrope"/>
              </a:rPr>
            </a:br>
            <a:r>
              <a:rPr lang="en-US" b="0" i="0" dirty="0">
                <a:solidFill>
                  <a:srgbClr val="092433"/>
                </a:solidFill>
                <a:effectLst/>
                <a:latin typeface="Manrope"/>
              </a:rPr>
              <a:t>by host</a:t>
            </a:r>
            <a:br>
              <a:rPr lang="en-US" b="0" i="0" dirty="0">
                <a:solidFill>
                  <a:srgbClr val="092433"/>
                </a:solidFill>
                <a:effectLst/>
                <a:latin typeface="Manrope"/>
              </a:rPr>
            </a:br>
            <a:r>
              <a:rPr lang="en-US" b="0" i="0" dirty="0">
                <a:solidFill>
                  <a:srgbClr val="092433"/>
                </a:solidFill>
                <a:effectLst/>
                <a:latin typeface="Manrope"/>
              </a:rPr>
              <a:t>via physical-path</a:t>
            </a:r>
            <a:br>
              <a:rPr lang="en-US" b="0" i="0" dirty="0">
                <a:solidFill>
                  <a:srgbClr val="092433"/>
                </a:solidFill>
                <a:effectLst/>
                <a:latin typeface="Manrope"/>
              </a:rPr>
            </a:br>
            <a:r>
              <a:rPr lang="en-US" b="0" i="0" dirty="0">
                <a:solidFill>
                  <a:srgbClr val="092433"/>
                </a:solidFill>
                <a:effectLst/>
                <a:latin typeface="Manrope"/>
              </a:rPr>
              <a:t>with protocol</a:t>
            </a:r>
            <a:br>
              <a:rPr lang="en-US" b="0" i="0" dirty="0">
                <a:solidFill>
                  <a:srgbClr val="092433"/>
                </a:solidFill>
                <a:effectLst/>
                <a:latin typeface="Manrope"/>
              </a:rPr>
            </a:br>
            <a:r>
              <a:rPr lang="en-US" b="0" i="0" dirty="0">
                <a:solidFill>
                  <a:srgbClr val="092433"/>
                </a:solidFill>
                <a:effectLst/>
                <a:latin typeface="Manrope"/>
              </a:rPr>
              <a:t>id message-id</a:t>
            </a:r>
            <a:br>
              <a:rPr lang="en-US" b="0" i="0" dirty="0">
                <a:solidFill>
                  <a:srgbClr val="092433"/>
                </a:solidFill>
                <a:effectLst/>
                <a:latin typeface="Manrope"/>
              </a:rPr>
            </a:br>
            <a:r>
              <a:rPr lang="en-US" b="0" i="0" dirty="0">
                <a:solidFill>
                  <a:srgbClr val="092433"/>
                </a:solidFill>
                <a:effectLst/>
                <a:latin typeface="Manrope"/>
              </a:rPr>
              <a:t>for final e-mail destination</a:t>
            </a:r>
          </a:p>
        </p:txBody>
      </p:sp>
      <p:sp>
        <p:nvSpPr>
          <p:cNvPr id="8" name="TextBox 7">
            <a:extLst>
              <a:ext uri="{FF2B5EF4-FFF2-40B4-BE49-F238E27FC236}">
                <a16:creationId xmlns:a16="http://schemas.microsoft.com/office/drawing/2014/main" id="{4D1EAC5C-E5F2-45D6-B1D4-4C83B66AC1B2}"/>
              </a:ext>
            </a:extLst>
          </p:cNvPr>
          <p:cNvSpPr txBox="1"/>
          <p:nvPr/>
        </p:nvSpPr>
        <p:spPr>
          <a:xfrm>
            <a:off x="5783617" y="3339173"/>
            <a:ext cx="6094520" cy="3139321"/>
          </a:xfrm>
          <a:prstGeom prst="rect">
            <a:avLst/>
          </a:prstGeom>
          <a:noFill/>
        </p:spPr>
        <p:txBody>
          <a:bodyPr wrap="square">
            <a:spAutoFit/>
          </a:bodyPr>
          <a:lstStyle/>
          <a:p>
            <a:pPr algn="l" fontAlgn="base"/>
            <a:r>
              <a:rPr lang="ru-RU" b="0" i="0" dirty="0">
                <a:solidFill>
                  <a:srgbClr val="092433"/>
                </a:solidFill>
                <a:effectLst/>
                <a:latin typeface="Manrope"/>
              </a:rPr>
              <a:t>Это поле используется для идентификации тех SMTP-серверов, которые были задействованы в процессе доставки сообщения от отправителя к получателю. Любой сервер из цепочки добавляет к сообщению собственное поле </a:t>
            </a:r>
            <a:r>
              <a:rPr lang="ru-RU" b="0" i="0" dirty="0" err="1">
                <a:solidFill>
                  <a:srgbClr val="092433"/>
                </a:solidFill>
                <a:effectLst/>
                <a:latin typeface="Manrope"/>
              </a:rPr>
              <a:t>Received</a:t>
            </a:r>
            <a:r>
              <a:rPr lang="ru-RU" b="0" i="0" dirty="0">
                <a:solidFill>
                  <a:srgbClr val="092433"/>
                </a:solidFill>
                <a:effectLst/>
                <a:latin typeface="Manrope"/>
              </a:rPr>
              <a:t>, где можно видеть техническую информацию об этом сервере.</a:t>
            </a:r>
          </a:p>
          <a:p>
            <a:pPr algn="l" fontAlgn="base"/>
            <a:r>
              <a:rPr lang="ru-RU" b="0" i="0" dirty="0" err="1">
                <a:solidFill>
                  <a:srgbClr val="092433"/>
                </a:solidFill>
                <a:effectLst/>
                <a:latin typeface="Manrope"/>
              </a:rPr>
              <a:t>Return-Path</a:t>
            </a:r>
            <a:r>
              <a:rPr lang="ru-RU" b="0" i="0" dirty="0">
                <a:solidFill>
                  <a:srgbClr val="092433"/>
                </a:solidFill>
                <a:effectLst/>
                <a:latin typeface="Manrope"/>
              </a:rPr>
              <a:t> — поле возврата, которое используется для определения маршрута, по которому прошло сообщение. Если оно было отправлено прямо на сервер получателя, то в поле отображается один адрес. Если же серверов несколько, они будут отображаться списком.</a:t>
            </a:r>
          </a:p>
        </p:txBody>
      </p:sp>
    </p:spTree>
    <p:extLst>
      <p:ext uri="{BB962C8B-B14F-4D97-AF65-F5344CB8AC3E}">
        <p14:creationId xmlns:p14="http://schemas.microsoft.com/office/powerpoint/2010/main" val="31219782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A5CE42-5990-454E-91C6-F1CDEABBC811}"/>
              </a:ext>
            </a:extLst>
          </p:cNvPr>
          <p:cNvSpPr txBox="1"/>
          <p:nvPr/>
        </p:nvSpPr>
        <p:spPr>
          <a:xfrm>
            <a:off x="683581" y="199565"/>
            <a:ext cx="10440139" cy="5170646"/>
          </a:xfrm>
          <a:prstGeom prst="rect">
            <a:avLst/>
          </a:prstGeom>
          <a:noFill/>
        </p:spPr>
        <p:txBody>
          <a:bodyPr wrap="square">
            <a:spAutoFit/>
          </a:bodyPr>
          <a:lstStyle/>
          <a:p>
            <a:pPr algn="l" fontAlgn="base"/>
            <a:r>
              <a:rPr lang="ru-RU" sz="2400" b="1" i="0" dirty="0">
                <a:solidFill>
                  <a:srgbClr val="092433"/>
                </a:solidFill>
                <a:effectLst/>
                <a:latin typeface="CoilTrail"/>
              </a:rPr>
              <a:t>Команды и ответы SMTP</a:t>
            </a:r>
          </a:p>
          <a:p>
            <a:pPr algn="l" fontAlgn="base"/>
            <a:endParaRPr lang="ru-RU" sz="2400" b="1" i="0" dirty="0">
              <a:solidFill>
                <a:srgbClr val="092433"/>
              </a:solidFill>
              <a:effectLst/>
              <a:latin typeface="CoilTrail"/>
            </a:endParaRPr>
          </a:p>
          <a:p>
            <a:pPr algn="l" fontAlgn="base"/>
            <a:r>
              <a:rPr lang="ru-RU" sz="2400" b="1" i="0" dirty="0">
                <a:solidFill>
                  <a:srgbClr val="092433"/>
                </a:solidFill>
                <a:effectLst/>
                <a:latin typeface="Manrope"/>
              </a:rPr>
              <a:t>Команды</a:t>
            </a:r>
          </a:p>
          <a:p>
            <a:pPr algn="l" fontAlgn="base"/>
            <a:endParaRPr lang="ru-RU" sz="2400" b="1" i="0" dirty="0">
              <a:solidFill>
                <a:srgbClr val="092433"/>
              </a:solidFill>
              <a:effectLst/>
              <a:latin typeface="Manrope"/>
            </a:endParaRPr>
          </a:p>
          <a:p>
            <a:pPr algn="l" fontAlgn="base"/>
            <a:r>
              <a:rPr lang="ru-RU" b="0" i="0" dirty="0">
                <a:solidFill>
                  <a:srgbClr val="092433"/>
                </a:solidFill>
                <a:effectLst/>
                <a:latin typeface="Manrope"/>
              </a:rPr>
              <a:t>Все они состоят из четырех символов. Сакрального замысла здесь нет, просто в самом начале разработчики договорились, что длина будет именно такой. Ниже — основные команды SMPT. Есть и другие, но они используются реже.</a:t>
            </a:r>
          </a:p>
          <a:p>
            <a:pPr algn="l" fontAlgn="base">
              <a:buFont typeface="Arial" panose="020B0604020202020204" pitchFamily="34" charset="0"/>
              <a:buChar char="•"/>
            </a:pPr>
            <a:r>
              <a:rPr lang="ru-RU" b="0" i="0" dirty="0">
                <a:solidFill>
                  <a:srgbClr val="092433"/>
                </a:solidFill>
                <a:effectLst/>
                <a:latin typeface="Manrope"/>
              </a:rPr>
              <a:t>Команда </a:t>
            </a:r>
            <a:r>
              <a:rPr lang="ru-RU" b="1" i="0" dirty="0" err="1">
                <a:solidFill>
                  <a:srgbClr val="092433"/>
                </a:solidFill>
                <a:effectLst/>
                <a:latin typeface="Manrope"/>
              </a:rPr>
              <a:t>Helo</a:t>
            </a:r>
            <a:r>
              <a:rPr lang="ru-RU" b="0" i="0" dirty="0">
                <a:solidFill>
                  <a:srgbClr val="092433"/>
                </a:solidFill>
                <a:effectLst/>
                <a:latin typeface="Manrope"/>
              </a:rPr>
              <a:t> применяется для установки соединения. Эта операция будет выполнена только в том случае, если клиент указал свой домен и собственный почтовый адрес.</a:t>
            </a:r>
          </a:p>
          <a:p>
            <a:pPr algn="l" fontAlgn="base">
              <a:buFont typeface="Arial" panose="020B0604020202020204" pitchFamily="34" charset="0"/>
              <a:buChar char="•"/>
            </a:pPr>
            <a:r>
              <a:rPr lang="ru-RU" b="0" i="0" dirty="0">
                <a:solidFill>
                  <a:srgbClr val="092433"/>
                </a:solidFill>
                <a:effectLst/>
                <a:latin typeface="Manrope"/>
              </a:rPr>
              <a:t>Команда </a:t>
            </a:r>
            <a:r>
              <a:rPr lang="ru-RU" b="1" i="0" dirty="0" err="1">
                <a:solidFill>
                  <a:srgbClr val="092433"/>
                </a:solidFill>
                <a:effectLst/>
                <a:latin typeface="Manrope"/>
              </a:rPr>
              <a:t>Mail</a:t>
            </a:r>
            <a:r>
              <a:rPr lang="ru-RU" b="1" i="0" dirty="0">
                <a:solidFill>
                  <a:srgbClr val="092433"/>
                </a:solidFill>
                <a:effectLst/>
                <a:latin typeface="Manrope"/>
              </a:rPr>
              <a:t> </a:t>
            </a:r>
            <a:r>
              <a:rPr lang="ru-RU" b="0" i="0" dirty="0">
                <a:solidFill>
                  <a:srgbClr val="092433"/>
                </a:solidFill>
                <a:effectLst/>
                <a:latin typeface="Manrope"/>
              </a:rPr>
              <a:t>применяется для задания адреса отправителя.</a:t>
            </a:r>
          </a:p>
          <a:p>
            <a:pPr algn="l" fontAlgn="base">
              <a:buFont typeface="Arial" panose="020B0604020202020204" pitchFamily="34" charset="0"/>
              <a:buChar char="•"/>
            </a:pPr>
            <a:r>
              <a:rPr lang="ru-RU" b="0" i="0" dirty="0">
                <a:solidFill>
                  <a:srgbClr val="092433"/>
                </a:solidFill>
                <a:effectLst/>
                <a:latin typeface="Manrope"/>
              </a:rPr>
              <a:t>Команда </a:t>
            </a:r>
            <a:r>
              <a:rPr lang="ru-RU" b="1" i="0" dirty="0">
                <a:solidFill>
                  <a:srgbClr val="092433"/>
                </a:solidFill>
                <a:effectLst/>
                <a:latin typeface="Manrope"/>
              </a:rPr>
              <a:t>RCPT </a:t>
            </a:r>
            <a:r>
              <a:rPr lang="ru-RU" b="0" i="0" dirty="0">
                <a:solidFill>
                  <a:srgbClr val="092433"/>
                </a:solidFill>
                <a:effectLst/>
                <a:latin typeface="Manrope"/>
              </a:rPr>
              <a:t>используется исключительно для того, чтобы прописать адрес получателя. Электронное сообщение можно передать сразу нескольким получателям, для чего требуется использовать команду RCPT несколько раз подряд.</a:t>
            </a:r>
          </a:p>
          <a:p>
            <a:pPr algn="l" fontAlgn="base">
              <a:buFont typeface="Arial" panose="020B0604020202020204" pitchFamily="34" charset="0"/>
              <a:buChar char="•"/>
            </a:pPr>
            <a:r>
              <a:rPr lang="ru-RU" b="0" i="0" dirty="0">
                <a:solidFill>
                  <a:srgbClr val="092433"/>
                </a:solidFill>
                <a:effectLst/>
                <a:latin typeface="Manrope"/>
              </a:rPr>
              <a:t>Команда </a:t>
            </a:r>
            <a:r>
              <a:rPr lang="ru-RU" b="1" i="0" dirty="0">
                <a:solidFill>
                  <a:srgbClr val="092433"/>
                </a:solidFill>
                <a:effectLst/>
                <a:latin typeface="Manrope"/>
              </a:rPr>
              <a:t>DATA </a:t>
            </a:r>
            <a:r>
              <a:rPr lang="ru-RU" b="0" i="0" dirty="0">
                <a:solidFill>
                  <a:srgbClr val="092433"/>
                </a:solidFill>
                <a:effectLst/>
                <a:latin typeface="Manrope"/>
              </a:rPr>
              <a:t>нужна для уведомления принимающего сервера о завершении конверта, после чего идет само письмо.</a:t>
            </a:r>
          </a:p>
          <a:p>
            <a:pPr algn="l" fontAlgn="base">
              <a:buFont typeface="Arial" panose="020B0604020202020204" pitchFamily="34" charset="0"/>
              <a:buChar char="•"/>
            </a:pPr>
            <a:r>
              <a:rPr lang="ru-RU" b="0" i="0" dirty="0">
                <a:solidFill>
                  <a:srgbClr val="092433"/>
                </a:solidFill>
                <a:effectLst/>
                <a:latin typeface="Manrope"/>
              </a:rPr>
              <a:t>Команда </a:t>
            </a:r>
            <a:r>
              <a:rPr lang="ru-RU" b="1" i="0" dirty="0">
                <a:solidFill>
                  <a:srgbClr val="092433"/>
                </a:solidFill>
                <a:effectLst/>
                <a:latin typeface="Manrope"/>
              </a:rPr>
              <a:t>QUIT</a:t>
            </a:r>
            <a:r>
              <a:rPr lang="ru-RU" b="0" i="0" dirty="0">
                <a:solidFill>
                  <a:srgbClr val="092433"/>
                </a:solidFill>
                <a:effectLst/>
                <a:latin typeface="Manrope"/>
              </a:rPr>
              <a:t> применяется для разрыва соединения с сервером сразу после завершения приема сообщения.</a:t>
            </a:r>
          </a:p>
        </p:txBody>
      </p:sp>
    </p:spTree>
    <p:extLst>
      <p:ext uri="{BB962C8B-B14F-4D97-AF65-F5344CB8AC3E}">
        <p14:creationId xmlns:p14="http://schemas.microsoft.com/office/powerpoint/2010/main" val="42798713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8A5611-9DBF-4F97-8701-04AFB25EF536}"/>
              </a:ext>
            </a:extLst>
          </p:cNvPr>
          <p:cNvSpPr txBox="1"/>
          <p:nvPr/>
        </p:nvSpPr>
        <p:spPr>
          <a:xfrm>
            <a:off x="204186" y="291924"/>
            <a:ext cx="8902083" cy="4601260"/>
          </a:xfrm>
          <a:prstGeom prst="rect">
            <a:avLst/>
          </a:prstGeom>
          <a:noFill/>
        </p:spPr>
        <p:txBody>
          <a:bodyPr wrap="square">
            <a:spAutoFit/>
          </a:bodyPr>
          <a:lstStyle/>
          <a:p>
            <a:pPr algn="l" fontAlgn="base"/>
            <a:r>
              <a:rPr lang="ru-RU" sz="2300" b="1" i="0" dirty="0">
                <a:solidFill>
                  <a:srgbClr val="092433"/>
                </a:solidFill>
                <a:effectLst/>
                <a:latin typeface="Manrope"/>
              </a:rPr>
              <a:t>Ответы SMTP</a:t>
            </a:r>
          </a:p>
          <a:p>
            <a:pPr algn="l" fontAlgn="base"/>
            <a:r>
              <a:rPr lang="ru-RU" b="0" i="0" dirty="0">
                <a:solidFill>
                  <a:srgbClr val="092433"/>
                </a:solidFill>
                <a:effectLst/>
                <a:latin typeface="Manrope"/>
              </a:rPr>
              <a:t>Здесь все одновременно и проще, и сложнее. Ответы в случае SMTP состоят из двух частей:</a:t>
            </a:r>
          </a:p>
          <a:p>
            <a:pPr algn="l" fontAlgn="base">
              <a:buFont typeface="Arial" panose="020B0604020202020204" pitchFamily="34" charset="0"/>
              <a:buChar char="•"/>
            </a:pPr>
            <a:r>
              <a:rPr lang="ru-RU" b="0" i="0" dirty="0">
                <a:solidFill>
                  <a:srgbClr val="092433"/>
                </a:solidFill>
                <a:effectLst/>
                <a:latin typeface="Manrope"/>
              </a:rPr>
              <a:t>Код сообщения. Дает возможность изучить корректность и правильность отправки.</a:t>
            </a:r>
          </a:p>
          <a:p>
            <a:pPr algn="l" fontAlgn="base">
              <a:buFont typeface="Arial" panose="020B0604020202020204" pitchFamily="34" charset="0"/>
              <a:buChar char="•"/>
            </a:pPr>
            <a:r>
              <a:rPr lang="ru-RU" b="0" i="0" dirty="0">
                <a:solidFill>
                  <a:srgbClr val="092433"/>
                </a:solidFill>
                <a:effectLst/>
                <a:latin typeface="Manrope"/>
              </a:rPr>
              <a:t>Текстовое сообщение. Объясняет, что произошло в ходе отправки или получения. </a:t>
            </a:r>
          </a:p>
          <a:p>
            <a:pPr algn="l" fontAlgn="base">
              <a:buFont typeface="Arial" panose="020B0604020202020204" pitchFamily="34" charset="0"/>
              <a:buChar char="•"/>
            </a:pPr>
            <a:endParaRPr lang="ru-RU" dirty="0">
              <a:solidFill>
                <a:srgbClr val="092433"/>
              </a:solidFill>
              <a:latin typeface="Manrope"/>
            </a:endParaRPr>
          </a:p>
          <a:p>
            <a:pPr algn="l" fontAlgn="base"/>
            <a:r>
              <a:rPr lang="ru-RU" b="0" i="0" dirty="0">
                <a:solidFill>
                  <a:srgbClr val="092433"/>
                </a:solidFill>
                <a:effectLst/>
                <a:latin typeface="Manrope"/>
              </a:rPr>
              <a:t>Как правило, сообщение формируется для того, что произошло. В подавляющем большинстве случаев такое сообщение предназначено для людей, а не компьютеров.</a:t>
            </a:r>
          </a:p>
          <a:p>
            <a:pPr algn="l" fontAlgn="base"/>
            <a:r>
              <a:rPr lang="ru-RU" b="0" i="0" dirty="0">
                <a:solidFill>
                  <a:srgbClr val="092433"/>
                </a:solidFill>
                <a:effectLst/>
                <a:latin typeface="Manrope"/>
              </a:rPr>
              <a:t>Коды сообщений начинаются на 2, 3, 5. </a:t>
            </a:r>
          </a:p>
          <a:p>
            <a:pPr algn="l" fontAlgn="base"/>
            <a:r>
              <a:rPr lang="ru-RU" b="0" i="0" dirty="0">
                <a:solidFill>
                  <a:srgbClr val="092433"/>
                </a:solidFill>
                <a:effectLst/>
                <a:latin typeface="Manrope"/>
              </a:rPr>
              <a:t>Если сообщение начинается на 2, это значит, что предыдущая команда успешно завершена. </a:t>
            </a:r>
          </a:p>
          <a:p>
            <a:pPr algn="l" fontAlgn="base"/>
            <a:r>
              <a:rPr lang="ru-RU" b="0" i="0" dirty="0">
                <a:solidFill>
                  <a:srgbClr val="092433"/>
                </a:solidFill>
                <a:effectLst/>
                <a:latin typeface="Manrope"/>
              </a:rPr>
              <a:t>«Тройка» в коде означает успешную отправку с необходимостью предоставить дополнительные данные.</a:t>
            </a:r>
          </a:p>
          <a:p>
            <a:pPr algn="l" fontAlgn="base"/>
            <a:r>
              <a:rPr lang="ru-RU" b="0" i="0" dirty="0">
                <a:solidFill>
                  <a:srgbClr val="092433"/>
                </a:solidFill>
                <a:effectLst/>
                <a:latin typeface="Manrope"/>
              </a:rPr>
              <a:t>Если сообщение начинается на 5, это означает технический сбой. </a:t>
            </a:r>
          </a:p>
          <a:p>
            <a:pPr algn="l" fontAlgn="base"/>
            <a:r>
              <a:rPr lang="ru-RU" b="0" i="0" dirty="0">
                <a:solidFill>
                  <a:srgbClr val="092433"/>
                </a:solidFill>
                <a:effectLst/>
                <a:latin typeface="Manrope"/>
              </a:rPr>
              <a:t>Так, ошибка 502 — индикатор нереализованной команды, </a:t>
            </a:r>
          </a:p>
          <a:p>
            <a:pPr algn="l" fontAlgn="base"/>
            <a:r>
              <a:rPr lang="ru-RU" b="0" i="0" dirty="0">
                <a:solidFill>
                  <a:srgbClr val="092433"/>
                </a:solidFill>
                <a:effectLst/>
                <a:latin typeface="Manrope"/>
              </a:rPr>
              <a:t>а 503 сообщает о неправильной последовательности команд.</a:t>
            </a:r>
          </a:p>
        </p:txBody>
      </p:sp>
    </p:spTree>
    <p:extLst>
      <p:ext uri="{BB962C8B-B14F-4D97-AF65-F5344CB8AC3E}">
        <p14:creationId xmlns:p14="http://schemas.microsoft.com/office/powerpoint/2010/main" val="3041765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96BDBD-95B8-4658-88C6-CF4AA6CC1DDE}"/>
              </a:ext>
            </a:extLst>
          </p:cNvPr>
          <p:cNvSpPr txBox="1"/>
          <p:nvPr/>
        </p:nvSpPr>
        <p:spPr>
          <a:xfrm>
            <a:off x="328473" y="275208"/>
            <a:ext cx="10679837" cy="3785652"/>
          </a:xfrm>
          <a:prstGeom prst="rect">
            <a:avLst/>
          </a:prstGeom>
          <a:noFill/>
        </p:spPr>
        <p:txBody>
          <a:bodyPr wrap="square">
            <a:spAutoFit/>
          </a:bodyPr>
          <a:lstStyle/>
          <a:p>
            <a:pPr algn="l" fontAlgn="base"/>
            <a:r>
              <a:rPr lang="ru-RU" sz="2400" b="1" i="0" dirty="0">
                <a:solidFill>
                  <a:srgbClr val="092433"/>
                </a:solidFill>
                <a:effectLst/>
                <a:latin typeface="CoilTrail"/>
              </a:rPr>
              <a:t>Как работает SMTP — простыми словами</a:t>
            </a:r>
          </a:p>
          <a:p>
            <a:pPr algn="l" fontAlgn="base"/>
            <a:r>
              <a:rPr lang="ru-RU" b="0" i="0" dirty="0">
                <a:solidFill>
                  <a:srgbClr val="092433"/>
                </a:solidFill>
                <a:effectLst/>
                <a:latin typeface="Manrope"/>
              </a:rPr>
              <a:t>Давайте представим, что вы установили и настроили собственный SMTP-сервер. Далее вы планируете отправить письмо. Работает отправка по определенному алгоритму:</a:t>
            </a:r>
          </a:p>
          <a:p>
            <a:pPr algn="l" fontAlgn="base">
              <a:buFont typeface="Arial" panose="020B0604020202020204" pitchFamily="34" charset="0"/>
              <a:buChar char="•"/>
            </a:pPr>
            <a:r>
              <a:rPr lang="ru-RU" b="0" i="0" dirty="0">
                <a:solidFill>
                  <a:srgbClr val="092433"/>
                </a:solidFill>
                <a:effectLst/>
                <a:latin typeface="Manrope"/>
              </a:rPr>
              <a:t>Указывается адрес отправителя, после чего система пользователя соединяется, к примеру, с SMTP почтового клиента </a:t>
            </a:r>
            <a:r>
              <a:rPr lang="ru-RU" b="0" i="0" dirty="0" err="1">
                <a:solidFill>
                  <a:srgbClr val="092433"/>
                </a:solidFill>
                <a:effectLst/>
                <a:latin typeface="Manrope"/>
              </a:rPr>
              <a:t>Gmail</a:t>
            </a:r>
            <a:r>
              <a:rPr lang="ru-RU" b="0" i="0" dirty="0">
                <a:solidFill>
                  <a:srgbClr val="092433"/>
                </a:solidFill>
                <a:effectLst/>
                <a:latin typeface="Manrope"/>
              </a:rPr>
              <a:t>.</a:t>
            </a:r>
          </a:p>
          <a:p>
            <a:pPr algn="l" fontAlgn="base">
              <a:buFont typeface="Arial" panose="020B0604020202020204" pitchFamily="34" charset="0"/>
              <a:buChar char="•"/>
            </a:pPr>
            <a:r>
              <a:rPr lang="ru-RU" b="0" i="0" dirty="0">
                <a:solidFill>
                  <a:srgbClr val="092433"/>
                </a:solidFill>
                <a:effectLst/>
                <a:latin typeface="Manrope"/>
              </a:rPr>
              <a:t>Система передает серверу данные, включая </a:t>
            </a:r>
            <a:r>
              <a:rPr lang="ru-RU" b="0" i="0" dirty="0" err="1">
                <a:solidFill>
                  <a:srgbClr val="092433"/>
                </a:solidFill>
                <a:effectLst/>
                <a:latin typeface="Manrope"/>
              </a:rPr>
              <a:t>email</a:t>
            </a:r>
            <a:r>
              <a:rPr lang="ru-RU" b="0" i="0" dirty="0">
                <a:solidFill>
                  <a:srgbClr val="092433"/>
                </a:solidFill>
                <a:effectLst/>
                <a:latin typeface="Manrope"/>
              </a:rPr>
              <a:t> отправителя и получателя, тему письма, его содержимое.</a:t>
            </a:r>
          </a:p>
          <a:p>
            <a:pPr algn="l" fontAlgn="base">
              <a:buFont typeface="Arial" panose="020B0604020202020204" pitchFamily="34" charset="0"/>
              <a:buChar char="•"/>
            </a:pPr>
            <a:r>
              <a:rPr lang="ru-RU" b="0" i="0" dirty="0">
                <a:solidFill>
                  <a:srgbClr val="092433"/>
                </a:solidFill>
                <a:effectLst/>
                <a:latin typeface="Manrope"/>
              </a:rPr>
              <a:t>Сразу после этого система начинает поиск SMTP-сервера получателя электронного сообщения.</a:t>
            </a:r>
          </a:p>
          <a:p>
            <a:pPr algn="l" fontAlgn="base">
              <a:buFont typeface="Arial" panose="020B0604020202020204" pitchFamily="34" charset="0"/>
              <a:buChar char="•"/>
            </a:pPr>
            <a:r>
              <a:rPr lang="ru-RU" b="0" i="0" dirty="0">
                <a:solidFill>
                  <a:srgbClr val="092433"/>
                </a:solidFill>
                <a:effectLst/>
                <a:latin typeface="Manrope"/>
              </a:rPr>
              <a:t>Если этот сервер не найден или он не отвечает, SMTP-сервер пытается предпринять еще несколько попыток связи. Если ничего не получается, то система выдает ошибку отправки. При этом протокол сообщит, почему письмо не будет доставлено. Так, проблема может быть в несуществующем адресе или в блокировке сообщений.</a:t>
            </a:r>
          </a:p>
          <a:p>
            <a:pPr algn="l" fontAlgn="base"/>
            <a:r>
              <a:rPr lang="ru-RU" b="0" i="0" dirty="0">
                <a:solidFill>
                  <a:srgbClr val="092433"/>
                </a:solidFill>
                <a:effectLst/>
                <a:latin typeface="Manrope"/>
              </a:rPr>
              <a:t>Если все хорошо, то далее в работу вступают уже другие протоколы — POP и IMAP</a:t>
            </a:r>
          </a:p>
        </p:txBody>
      </p:sp>
    </p:spTree>
    <p:extLst>
      <p:ext uri="{BB962C8B-B14F-4D97-AF65-F5344CB8AC3E}">
        <p14:creationId xmlns:p14="http://schemas.microsoft.com/office/powerpoint/2010/main" val="35562752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5BB039-ECD7-4241-8F47-212A573A3B5D}"/>
              </a:ext>
            </a:extLst>
          </p:cNvPr>
          <p:cNvSpPr txBox="1"/>
          <p:nvPr/>
        </p:nvSpPr>
        <p:spPr>
          <a:xfrm>
            <a:off x="162016" y="251194"/>
            <a:ext cx="11618651" cy="1015663"/>
          </a:xfrm>
          <a:prstGeom prst="rect">
            <a:avLst/>
          </a:prstGeom>
          <a:noFill/>
        </p:spPr>
        <p:txBody>
          <a:bodyPr wrap="square">
            <a:spAutoFit/>
          </a:bodyPr>
          <a:lstStyle/>
          <a:p>
            <a:pPr algn="l" fontAlgn="base"/>
            <a:r>
              <a:rPr lang="ru-RU" sz="2400" b="1" i="0" dirty="0">
                <a:solidFill>
                  <a:srgbClr val="092433"/>
                </a:solidFill>
                <a:effectLst/>
                <a:latin typeface="CoilTrail"/>
              </a:rPr>
              <a:t>Пример работы SMTP</a:t>
            </a:r>
          </a:p>
          <a:p>
            <a:pPr algn="l" fontAlgn="base"/>
            <a:r>
              <a:rPr lang="ru-RU" b="0" i="0" dirty="0">
                <a:solidFill>
                  <a:srgbClr val="092433"/>
                </a:solidFill>
                <a:effectLst/>
                <a:latin typeface="Manrope"/>
              </a:rPr>
              <a:t>В качестве примера давайте рассмотрим пример сеанса SMTP, который инициализируется при необходимости отправить электронное письмо. На картинке ниже — данные сеанса, с которыми мы будем работать дальше.</a:t>
            </a:r>
          </a:p>
        </p:txBody>
      </p:sp>
      <p:pic>
        <p:nvPicPr>
          <p:cNvPr id="2050" name="Picture 2">
            <a:extLst>
              <a:ext uri="{FF2B5EF4-FFF2-40B4-BE49-F238E27FC236}">
                <a16:creationId xmlns:a16="http://schemas.microsoft.com/office/drawing/2014/main" id="{B8B261DE-BAEE-4B32-96DF-DAB22CC3E9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903" y="1465833"/>
            <a:ext cx="4619625" cy="26479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90DADC4-308E-4876-8210-F79B9F411F41}"/>
              </a:ext>
            </a:extLst>
          </p:cNvPr>
          <p:cNvSpPr txBox="1"/>
          <p:nvPr/>
        </p:nvSpPr>
        <p:spPr>
          <a:xfrm>
            <a:off x="499367" y="4272677"/>
            <a:ext cx="11467731" cy="1477328"/>
          </a:xfrm>
          <a:prstGeom prst="rect">
            <a:avLst/>
          </a:prstGeom>
          <a:noFill/>
        </p:spPr>
        <p:txBody>
          <a:bodyPr wrap="square">
            <a:spAutoFit/>
          </a:bodyPr>
          <a:lstStyle/>
          <a:p>
            <a:pPr algn="l" fontAlgn="base"/>
            <a:r>
              <a:rPr lang="ru-RU" b="0" i="0" dirty="0">
                <a:solidFill>
                  <a:srgbClr val="092433"/>
                </a:solidFill>
                <a:effectLst/>
                <a:latin typeface="Manrope"/>
              </a:rPr>
              <a:t>Здесь мы видим подключение к почтовому серверу по 25 порту. Говоря техническим языком, подключение выполнено по адресу 220 smtp.example.ru ESMTP </a:t>
            </a:r>
            <a:r>
              <a:rPr lang="ru-RU" b="0" i="0" dirty="0" err="1">
                <a:solidFill>
                  <a:srgbClr val="092433"/>
                </a:solidFill>
                <a:effectLst/>
                <a:latin typeface="Manrope"/>
              </a:rPr>
              <a:t>Postfix</a:t>
            </a:r>
            <a:r>
              <a:rPr lang="ru-RU" b="0" i="0" dirty="0">
                <a:solidFill>
                  <a:srgbClr val="092433"/>
                </a:solidFill>
                <a:effectLst/>
                <a:latin typeface="Manrope"/>
              </a:rPr>
              <a:t> на 25 порт. Начало подключения — использование команды HELO, которая нужна для указания собственного домена. После этого вступает в работу сервер, который возвращает статус 250. Что это такое? Все просто: соединение установилось без проблем. После этого сервер еще раз пишет доменное имя в текстовом сообщении.</a:t>
            </a:r>
          </a:p>
        </p:txBody>
      </p:sp>
    </p:spTree>
    <p:extLst>
      <p:ext uri="{BB962C8B-B14F-4D97-AF65-F5344CB8AC3E}">
        <p14:creationId xmlns:p14="http://schemas.microsoft.com/office/powerpoint/2010/main" val="18338393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ACBAEF-4B3E-44C6-AE1D-BC249C0B816A}"/>
              </a:ext>
            </a:extLst>
          </p:cNvPr>
          <p:cNvSpPr txBox="1"/>
          <p:nvPr/>
        </p:nvSpPr>
        <p:spPr>
          <a:xfrm>
            <a:off x="150920" y="165651"/>
            <a:ext cx="11807301" cy="5632311"/>
          </a:xfrm>
          <a:prstGeom prst="rect">
            <a:avLst/>
          </a:prstGeom>
          <a:noFill/>
        </p:spPr>
        <p:txBody>
          <a:bodyPr wrap="square">
            <a:spAutoFit/>
          </a:bodyPr>
          <a:lstStyle/>
          <a:p>
            <a:pPr algn="l" fontAlgn="base"/>
            <a:r>
              <a:rPr lang="ru-RU" b="0" i="0" dirty="0">
                <a:solidFill>
                  <a:srgbClr val="092433"/>
                </a:solidFill>
                <a:effectLst/>
                <a:latin typeface="Manrope"/>
              </a:rPr>
              <a:t>Теперь наступает очередь использования команды </a:t>
            </a:r>
            <a:r>
              <a:rPr lang="ru-RU" b="0" i="0" dirty="0" err="1">
                <a:solidFill>
                  <a:srgbClr val="092433"/>
                </a:solidFill>
                <a:effectLst/>
                <a:latin typeface="Manrope"/>
              </a:rPr>
              <a:t>Mail</a:t>
            </a:r>
            <a:r>
              <a:rPr lang="ru-RU" b="0" i="0" dirty="0">
                <a:solidFill>
                  <a:srgbClr val="092433"/>
                </a:solidFill>
                <a:effectLst/>
                <a:latin typeface="Manrope"/>
              </a:rPr>
              <a:t> FROM, которая нужна для отображения адреса отправителя сообщения. Если все хорошо, то сервер снова отвечает сообщением со статусом 250. Мы видим, что с текстовой частью все хорошо, команда выполнена, проблем не возникло.</a:t>
            </a:r>
          </a:p>
          <a:p>
            <a:pPr algn="l" fontAlgn="base"/>
            <a:r>
              <a:rPr lang="ru-RU" b="0" i="0" dirty="0">
                <a:solidFill>
                  <a:srgbClr val="092433"/>
                </a:solidFill>
                <a:effectLst/>
                <a:latin typeface="Manrope"/>
              </a:rPr>
              <a:t>Наступает следующий этап — использование команды RCPT TO для того, чтобы указать адрес получателя. Если сервер возвращает статус 250, то мы уже знаем, что это означает. Все удалось, теперь нужно выполнить команду DATA для ввода самого письма. В этом случае сервер отвечает уже не статусом 250, а другим — 354. После этого можно начинать вводить текст письма. Важный нюанс: заканчиваться все это должно отдельной строкой, которая содержит всего одну точку.</a:t>
            </a:r>
          </a:p>
          <a:p>
            <a:pPr algn="l" fontAlgn="base"/>
            <a:r>
              <a:rPr lang="ru-RU" b="0" i="0" dirty="0">
                <a:solidFill>
                  <a:srgbClr val="092433"/>
                </a:solidFill>
                <a:effectLst/>
                <a:latin typeface="Manrope"/>
              </a:rPr>
              <a:t>Сообщение всегда состоит из двух частей. Первая — заголовок, вторая — тело сообщения. Последнее необходимо отделять от заголовка пустой строкой. В этом случае требуется использовать заголовок FROM, это адрес пользователя, отправившего сообщение. Указывать нужно не только сам адрес, но и имя. А еще требуется заголовок, который дает получателю понять, в чем заключается основной посыл сообщения. Что касается пустой строки, то она отделяет заголовки от тела письма.</a:t>
            </a:r>
          </a:p>
          <a:p>
            <a:pPr algn="l" fontAlgn="base"/>
            <a:r>
              <a:rPr lang="ru-RU" b="0" i="0" dirty="0">
                <a:solidFill>
                  <a:srgbClr val="092433"/>
                </a:solidFill>
                <a:effectLst/>
                <a:latin typeface="Manrope"/>
              </a:rPr>
              <a:t>Возьмем самое простое сообщение, которое состоит из двух строчек текста: это «</a:t>
            </a:r>
            <a:r>
              <a:rPr lang="ru-RU" b="0" i="0" dirty="0" err="1">
                <a:solidFill>
                  <a:srgbClr val="092433"/>
                </a:solidFill>
                <a:effectLst/>
                <a:latin typeface="Manrope"/>
              </a:rPr>
              <a:t>Hello</a:t>
            </a:r>
            <a:r>
              <a:rPr lang="ru-RU" b="0" i="0" dirty="0">
                <a:solidFill>
                  <a:srgbClr val="092433"/>
                </a:solidFill>
                <a:effectLst/>
                <a:latin typeface="Manrope"/>
              </a:rPr>
              <a:t>, </a:t>
            </a:r>
            <a:r>
              <a:rPr lang="ru-RU" b="0" i="0" dirty="0" err="1">
                <a:solidFill>
                  <a:srgbClr val="092433"/>
                </a:solidFill>
                <a:effectLst/>
                <a:latin typeface="Manrope"/>
              </a:rPr>
              <a:t>email</a:t>
            </a:r>
            <a:r>
              <a:rPr lang="ru-RU" b="0" i="0" dirty="0">
                <a:solidFill>
                  <a:srgbClr val="092433"/>
                </a:solidFill>
                <a:effectLst/>
                <a:latin typeface="Manrope"/>
              </a:rPr>
              <a:t> </a:t>
            </a:r>
            <a:r>
              <a:rPr lang="ru-RU" b="0" i="0" dirty="0" err="1">
                <a:solidFill>
                  <a:srgbClr val="092433"/>
                </a:solidFill>
                <a:effectLst/>
                <a:latin typeface="Manrope"/>
              </a:rPr>
              <a:t>world</a:t>
            </a:r>
            <a:r>
              <a:rPr lang="ru-RU" b="0" i="0" dirty="0">
                <a:solidFill>
                  <a:srgbClr val="092433"/>
                </a:solidFill>
                <a:effectLst/>
                <a:latin typeface="Manrope"/>
              </a:rPr>
              <a:t>!» и «</a:t>
            </a:r>
            <a:r>
              <a:rPr lang="ru-RU" b="0" i="0" dirty="0" err="1">
                <a:solidFill>
                  <a:srgbClr val="092433"/>
                </a:solidFill>
                <a:effectLst/>
                <a:latin typeface="Manrope"/>
              </a:rPr>
              <a:t>Hello</a:t>
            </a:r>
            <a:r>
              <a:rPr lang="ru-RU" b="0" i="0" dirty="0">
                <a:solidFill>
                  <a:srgbClr val="092433"/>
                </a:solidFill>
                <a:effectLst/>
                <a:latin typeface="Manrope"/>
              </a:rPr>
              <a:t>, SMTP!». Заканчивается письмо строкой, которая содержит всего одну точку. Но эта строчка не будет видна получателю, она чисто техническая и будет обязательно убрана в ходе передачи. Если же точка нужна, то нужно указать сразу две точки, из которых одна будет удалена.</a:t>
            </a:r>
          </a:p>
          <a:p>
            <a:pPr algn="l" fontAlgn="base"/>
            <a:r>
              <a:rPr lang="ru-RU" b="0" i="0" dirty="0">
                <a:solidFill>
                  <a:srgbClr val="092433"/>
                </a:solidFill>
                <a:effectLst/>
                <a:latin typeface="Manrope"/>
              </a:rPr>
              <a:t>Наконец, если есть точка, то сервер видит, что письмо полностью завершено, выдавая статус сообщения 250 2.0.0 </a:t>
            </a:r>
            <a:r>
              <a:rPr lang="ru-RU" b="0" i="0" dirty="0" err="1">
                <a:solidFill>
                  <a:srgbClr val="092433"/>
                </a:solidFill>
                <a:effectLst/>
                <a:latin typeface="Manrope"/>
              </a:rPr>
              <a:t>Ok</a:t>
            </a:r>
            <a:r>
              <a:rPr lang="ru-RU" b="0" i="0" dirty="0">
                <a:solidFill>
                  <a:srgbClr val="092433"/>
                </a:solidFill>
                <a:effectLst/>
                <a:latin typeface="Manrope"/>
              </a:rPr>
              <a:t>: </a:t>
            </a:r>
            <a:r>
              <a:rPr lang="ru-RU" b="0" i="0" dirty="0" err="1">
                <a:solidFill>
                  <a:srgbClr val="092433"/>
                </a:solidFill>
                <a:effectLst/>
                <a:latin typeface="Manrope"/>
              </a:rPr>
              <a:t>queued</a:t>
            </a:r>
            <a:r>
              <a:rPr lang="ru-RU" b="0" i="0" dirty="0">
                <a:solidFill>
                  <a:srgbClr val="092433"/>
                </a:solidFill>
                <a:effectLst/>
                <a:latin typeface="Manrope"/>
              </a:rPr>
              <a:t> </a:t>
            </a:r>
            <a:r>
              <a:rPr lang="ru-RU" b="0" i="0" dirty="0" err="1">
                <a:solidFill>
                  <a:srgbClr val="092433"/>
                </a:solidFill>
                <a:effectLst/>
                <a:latin typeface="Manrope"/>
              </a:rPr>
              <a:t>as</a:t>
            </a:r>
            <a:r>
              <a:rPr lang="ru-RU" b="0" i="0" dirty="0">
                <a:solidFill>
                  <a:srgbClr val="092433"/>
                </a:solidFill>
                <a:effectLst/>
                <a:latin typeface="Manrope"/>
              </a:rPr>
              <a:t> 7FD9DC2E0060. Все это означает, что письмо уже находится в очереди ожидания. Для завершения сеанса нужно ввести всего одну команду — QUIT. Сервер ответит сообщением со статусом 221, что означает «пока».</a:t>
            </a:r>
          </a:p>
        </p:txBody>
      </p:sp>
    </p:spTree>
    <p:extLst>
      <p:ext uri="{BB962C8B-B14F-4D97-AF65-F5344CB8AC3E}">
        <p14:creationId xmlns:p14="http://schemas.microsoft.com/office/powerpoint/2010/main" val="33965119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916BAFE-66D1-43EF-A594-9E4B4B57FF9B}"/>
              </a:ext>
            </a:extLst>
          </p:cNvPr>
          <p:cNvSpPr txBox="1"/>
          <p:nvPr/>
        </p:nvSpPr>
        <p:spPr>
          <a:xfrm>
            <a:off x="506027" y="230819"/>
            <a:ext cx="11452194" cy="2677656"/>
          </a:xfrm>
          <a:prstGeom prst="rect">
            <a:avLst/>
          </a:prstGeom>
          <a:noFill/>
        </p:spPr>
        <p:txBody>
          <a:bodyPr wrap="square">
            <a:spAutoFit/>
          </a:bodyPr>
          <a:lstStyle/>
          <a:p>
            <a:pPr algn="l" fontAlgn="base"/>
            <a:r>
              <a:rPr lang="ru-RU" sz="2400" b="1" i="0" dirty="0">
                <a:solidFill>
                  <a:srgbClr val="092433"/>
                </a:solidFill>
                <a:effectLst/>
                <a:latin typeface="CoilTrail"/>
              </a:rPr>
              <a:t>Нужен ли собственный сервер SMTP?</a:t>
            </a:r>
          </a:p>
          <a:p>
            <a:pPr algn="l" fontAlgn="base"/>
            <a:r>
              <a:rPr lang="ru-RU" b="0" i="0" dirty="0">
                <a:solidFill>
                  <a:srgbClr val="092433"/>
                </a:solidFill>
                <a:effectLst/>
                <a:latin typeface="Manrope"/>
              </a:rPr>
              <a:t>Здесь все зависит от задач, которые будет решать пользователь. SMTP подходит для реализации масштабного спектра задач — от отправки сообщения до доставки его получателю. Чаще всего SMTP используют для транзакционных писем, массовых рассылок или личной переписки.</a:t>
            </a:r>
          </a:p>
          <a:p>
            <a:pPr algn="l" fontAlgn="base"/>
            <a:r>
              <a:rPr lang="ru-RU" b="0" i="0" dirty="0">
                <a:solidFill>
                  <a:srgbClr val="092433"/>
                </a:solidFill>
                <a:effectLst/>
                <a:latin typeface="Manrope"/>
              </a:rPr>
              <a:t>Собственный SMTP дает немного больше преимуществ перед корпоративными (или, например, </a:t>
            </a:r>
            <a:r>
              <a:rPr lang="ru-RU" b="0" i="0" dirty="0" err="1">
                <a:solidFill>
                  <a:srgbClr val="092433"/>
                </a:solidFill>
                <a:effectLst/>
                <a:latin typeface="Manrope"/>
              </a:rPr>
              <a:t>Google</a:t>
            </a:r>
            <a:r>
              <a:rPr lang="ru-RU" b="0" i="0" dirty="0">
                <a:solidFill>
                  <a:srgbClr val="092433"/>
                </a:solidFill>
                <a:effectLst/>
                <a:latin typeface="Manrope"/>
              </a:rPr>
              <a:t>). Это, как правило, невысокая цена, внимательное отношение со стороны разработчиков и хорошая </a:t>
            </a:r>
            <a:r>
              <a:rPr lang="ru-RU" b="0" i="0" dirty="0" err="1">
                <a:solidFill>
                  <a:srgbClr val="092433"/>
                </a:solidFill>
                <a:effectLst/>
                <a:latin typeface="Manrope"/>
              </a:rPr>
              <a:t>доставляемость</a:t>
            </a:r>
            <a:r>
              <a:rPr lang="ru-RU" b="0" i="0" dirty="0">
                <a:solidFill>
                  <a:srgbClr val="092433"/>
                </a:solidFill>
                <a:effectLst/>
                <a:latin typeface="Manrope"/>
              </a:rPr>
              <a:t> массовых рассылок.</a:t>
            </a:r>
          </a:p>
          <a:p>
            <a:pPr algn="l" fontAlgn="base"/>
            <a:r>
              <a:rPr lang="ru-RU" b="0" i="0" dirty="0">
                <a:solidFill>
                  <a:srgbClr val="092433"/>
                </a:solidFill>
                <a:effectLst/>
                <a:latin typeface="Manrope"/>
              </a:rPr>
              <a:t>Достоинство SMTP в том, что его достаточно просто внедрить, для этого протокола есть обширная документация и развитое комьюнити.</a:t>
            </a:r>
          </a:p>
        </p:txBody>
      </p:sp>
    </p:spTree>
    <p:extLst>
      <p:ext uri="{BB962C8B-B14F-4D97-AF65-F5344CB8AC3E}">
        <p14:creationId xmlns:p14="http://schemas.microsoft.com/office/powerpoint/2010/main" val="22602828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3FA8AB-456F-43C0-BCE9-888A380BC61B}"/>
              </a:ext>
            </a:extLst>
          </p:cNvPr>
          <p:cNvSpPr txBox="1"/>
          <p:nvPr/>
        </p:nvSpPr>
        <p:spPr>
          <a:xfrm>
            <a:off x="476435" y="277556"/>
            <a:ext cx="11239130" cy="5447645"/>
          </a:xfrm>
          <a:prstGeom prst="rect">
            <a:avLst/>
          </a:prstGeom>
          <a:noFill/>
        </p:spPr>
        <p:txBody>
          <a:bodyPr wrap="square">
            <a:spAutoFit/>
          </a:bodyPr>
          <a:lstStyle/>
          <a:p>
            <a:pPr algn="l" fontAlgn="base"/>
            <a:r>
              <a:rPr lang="ru-RU" sz="2400" b="1" i="0" dirty="0">
                <a:solidFill>
                  <a:srgbClr val="092433"/>
                </a:solidFill>
                <a:effectLst/>
                <a:latin typeface="CoilTrail"/>
              </a:rPr>
              <a:t>Немного о безопасности и спаме</a:t>
            </a:r>
          </a:p>
          <a:p>
            <a:pPr algn="l" fontAlgn="base"/>
            <a:r>
              <a:rPr lang="ru-RU" b="0" i="0" dirty="0">
                <a:solidFill>
                  <a:srgbClr val="092433"/>
                </a:solidFill>
                <a:effectLst/>
                <a:latin typeface="Manrope"/>
              </a:rPr>
              <a:t>Протокол SMTP очень простой, у него нет никаких инструментов для защиты пользовательских данных от злоумышленников. Так, адреса, указанные в соответствующем поле, не проверяются.</a:t>
            </a:r>
          </a:p>
          <a:p>
            <a:pPr algn="l" fontAlgn="base"/>
            <a:r>
              <a:rPr lang="ru-RU" b="0" i="0" dirty="0">
                <a:solidFill>
                  <a:srgbClr val="092433"/>
                </a:solidFill>
                <a:effectLst/>
                <a:latin typeface="Manrope"/>
              </a:rPr>
              <a:t>Кроме того, у SMTP по дефолту не используется шифрование, так что любые письма, передаваемые разными компаниями, могут быть прочитаны — было бы желание и соответствующие инструменты. Но это относится к SMTP первой версии. В улучшенном варианте разработчики добавили шифрование. Для того, чтобы его задействовать, нужно использовать специальную команду STARTTLS.</a:t>
            </a:r>
          </a:p>
          <a:p>
            <a:pPr algn="l" fontAlgn="base"/>
            <a:r>
              <a:rPr lang="ru-RU" b="0" i="0" dirty="0">
                <a:solidFill>
                  <a:srgbClr val="092433"/>
                </a:solidFill>
                <a:effectLst/>
                <a:latin typeface="Manrope"/>
              </a:rPr>
              <a:t>Еще одна проблема SMTP — обилие нежелательных рекламных сообщений. К сожалению, протокол не содержит никаких защитных инструментов для ликвидации спама. Правда, многие современные почтовые серверы стараются использовать и внешние механизмы.</a:t>
            </a:r>
          </a:p>
          <a:p>
            <a:pPr algn="l" fontAlgn="base"/>
            <a:r>
              <a:rPr lang="ru-RU" b="0" i="0" dirty="0">
                <a:solidFill>
                  <a:srgbClr val="092433"/>
                </a:solidFill>
                <a:effectLst/>
                <a:latin typeface="Manrope"/>
              </a:rPr>
              <a:t>Большинство почтовых серверов для безопасности настраиваются на работу лишь с локальными юзерами. То есть это те пользователи, у которых есть ящики с адресом из пула домена, который они и обслуживают. Здесь встречаются и новые термины. Так, серверы, которые работают в ином режиме, позволяя передавать почту абсолютно на все адреса, называются «открытые </a:t>
            </a:r>
            <a:r>
              <a:rPr lang="ru-RU" b="0" i="0" dirty="0" err="1">
                <a:solidFill>
                  <a:srgbClr val="092433"/>
                </a:solidFill>
                <a:effectLst/>
                <a:latin typeface="Manrope"/>
              </a:rPr>
              <a:t>релеи</a:t>
            </a:r>
            <a:r>
              <a:rPr lang="ru-RU" b="0" i="0" dirty="0">
                <a:solidFill>
                  <a:srgbClr val="092433"/>
                </a:solidFill>
                <a:effectLst/>
                <a:latin typeface="Manrope"/>
              </a:rPr>
              <a:t>». Они нужны обычным пользователям, но активнее всего их используют злоумышленники. </a:t>
            </a:r>
          </a:p>
          <a:p>
            <a:pPr algn="l" fontAlgn="base"/>
            <a:r>
              <a:rPr lang="ru-RU" b="0" i="0" dirty="0">
                <a:solidFill>
                  <a:srgbClr val="092433"/>
                </a:solidFill>
                <a:effectLst/>
                <a:latin typeface="Manrope"/>
              </a:rPr>
              <a:t>А еще можно проверить адрес отправителя посредством цифровой подписи, о чем мы уже упоминали выше.</a:t>
            </a:r>
          </a:p>
          <a:p>
            <a:pPr algn="l" fontAlgn="base"/>
            <a:r>
              <a:rPr lang="ru-RU" b="0" i="0" dirty="0">
                <a:solidFill>
                  <a:srgbClr val="092433"/>
                </a:solidFill>
                <a:effectLst/>
                <a:latin typeface="Manrope"/>
              </a:rPr>
              <a:t>Например, есть возможность проверки </a:t>
            </a:r>
            <a:r>
              <a:rPr lang="ru-RU" b="0" i="0" dirty="0" err="1">
                <a:solidFill>
                  <a:srgbClr val="092433"/>
                </a:solidFill>
                <a:effectLst/>
                <a:latin typeface="Manrope"/>
              </a:rPr>
              <a:t>email</a:t>
            </a:r>
            <a:r>
              <a:rPr lang="ru-RU" b="0" i="0" dirty="0">
                <a:solidFill>
                  <a:srgbClr val="092433"/>
                </a:solidFill>
                <a:effectLst/>
                <a:latin typeface="Manrope"/>
              </a:rPr>
              <a:t> отправителя, воспользовавшись цифровой подписью. С этой целью используется, например, взаимодействие с системой DNS. В ней хранится открытый ключ электронной подписи для конкретного домена. И этот ключ как раз можно использовать для проверки.</a:t>
            </a:r>
          </a:p>
        </p:txBody>
      </p:sp>
    </p:spTree>
    <p:extLst>
      <p:ext uri="{BB962C8B-B14F-4D97-AF65-F5344CB8AC3E}">
        <p14:creationId xmlns:p14="http://schemas.microsoft.com/office/powerpoint/2010/main" val="1551482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2781AE-567E-4A2D-B304-A2AE78DA3ACB}"/>
              </a:ext>
            </a:extLst>
          </p:cNvPr>
          <p:cNvSpPr txBox="1"/>
          <p:nvPr/>
        </p:nvSpPr>
        <p:spPr>
          <a:xfrm>
            <a:off x="594804" y="606147"/>
            <a:ext cx="10528916" cy="3970318"/>
          </a:xfrm>
          <a:prstGeom prst="rect">
            <a:avLst/>
          </a:prstGeom>
          <a:noFill/>
        </p:spPr>
        <p:txBody>
          <a:bodyPr wrap="square">
            <a:spAutoFit/>
          </a:bodyPr>
          <a:lstStyle/>
          <a:p>
            <a:pPr algn="l" fontAlgn="base"/>
            <a:r>
              <a:rPr lang="ru-RU" b="0" i="0" dirty="0">
                <a:solidFill>
                  <a:srgbClr val="092433"/>
                </a:solidFill>
                <a:effectLst/>
                <a:latin typeface="Manrope"/>
              </a:rPr>
              <a:t>SMTP — проверенный временем протокол передачи электронной почты, который просто работает. Да, у него есть свои недостатки, но они нивелируются простотой и надежностью протокола. К слову, он может использоваться как для отправления сообщений на почтовый сервер, так и на целую группу серверов.</a:t>
            </a:r>
          </a:p>
          <a:p>
            <a:pPr algn="l" fontAlgn="base"/>
            <a:r>
              <a:rPr lang="ru-RU" b="0" i="0" dirty="0">
                <a:solidFill>
                  <a:srgbClr val="092433"/>
                </a:solidFill>
                <a:effectLst/>
                <a:latin typeface="Manrope"/>
              </a:rPr>
              <a:t>Кстати, можно сделать собственный сервер SMTP для того, чтобы отправлять массовые рассылки. Но в этом случае придется выполнить множество разных </a:t>
            </a:r>
            <a:r>
              <a:rPr lang="ru-RU" b="0" i="0" dirty="0" err="1">
                <a:solidFill>
                  <a:srgbClr val="092433"/>
                </a:solidFill>
                <a:effectLst/>
                <a:latin typeface="Manrope"/>
              </a:rPr>
              <a:t>тасков</a:t>
            </a:r>
            <a:r>
              <a:rPr lang="ru-RU" b="0" i="0" dirty="0">
                <a:solidFill>
                  <a:srgbClr val="092433"/>
                </a:solidFill>
                <a:effectLst/>
                <a:latin typeface="Manrope"/>
              </a:rPr>
              <a:t>, включая добавление обработки статуса доставки письма, обход разного рода «черных» и «серых» списков. Требуется еще и удобная статистика отправлений, и возможность отписки от рассылки.</a:t>
            </a:r>
          </a:p>
          <a:p>
            <a:pPr algn="l" fontAlgn="base"/>
            <a:r>
              <a:rPr lang="ru-RU" b="0" i="0" dirty="0">
                <a:solidFill>
                  <a:srgbClr val="092433"/>
                </a:solidFill>
                <a:effectLst/>
                <a:latin typeface="Manrope"/>
              </a:rPr>
              <a:t>Для того чтобы все реализовать, лучше использовать специализированный сервис, владельцы которого развернули необходимые услуги. В этом случае разработчики требуются лишь для того, чтобы добавить сервис к CRM-системе.</a:t>
            </a:r>
          </a:p>
          <a:p>
            <a:pPr algn="l" fontAlgn="base"/>
            <a:r>
              <a:rPr lang="ru-RU" b="0" i="0" dirty="0">
                <a:solidFill>
                  <a:srgbClr val="092433"/>
                </a:solidFill>
                <a:effectLst/>
                <a:latin typeface="Manrope"/>
              </a:rPr>
              <a:t>Можно пойти еще дальше и организовать сервисы разных рассылок. Их достоинство состоит в том, что все возможности встроены в пользовательский интерфейс. А возможности не только базовые, ведь в таких сервисах есть функции сбора писем и форм подписки, работы с контактами, настройка цепочек в автоматическом режиме и проведение сплит-тестов.</a:t>
            </a:r>
          </a:p>
        </p:txBody>
      </p:sp>
    </p:spTree>
    <p:extLst>
      <p:ext uri="{BB962C8B-B14F-4D97-AF65-F5344CB8AC3E}">
        <p14:creationId xmlns:p14="http://schemas.microsoft.com/office/powerpoint/2010/main" val="42334194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D6780D-B7E6-4250-AEF9-47FC24DB429B}"/>
              </a:ext>
            </a:extLst>
          </p:cNvPr>
          <p:cNvSpPr txBox="1"/>
          <p:nvPr/>
        </p:nvSpPr>
        <p:spPr>
          <a:xfrm>
            <a:off x="224901" y="158642"/>
            <a:ext cx="11967099" cy="5355312"/>
          </a:xfrm>
          <a:prstGeom prst="rect">
            <a:avLst/>
          </a:prstGeom>
          <a:noFill/>
        </p:spPr>
        <p:txBody>
          <a:bodyPr wrap="square">
            <a:spAutoFit/>
          </a:bodyPr>
          <a:lstStyle/>
          <a:p>
            <a:pPr algn="l" fontAlgn="base"/>
            <a:r>
              <a:rPr lang="ru-RU" b="0" i="0" dirty="0">
                <a:solidFill>
                  <a:srgbClr val="FF0000"/>
                </a:solidFill>
                <a:effectLst/>
                <a:latin typeface="CoilTrail"/>
              </a:rPr>
              <a:t>Передача файлов FTP-протоколом между клиентом и сервером</a:t>
            </a:r>
          </a:p>
          <a:p>
            <a:pPr algn="l" fontAlgn="base"/>
            <a:r>
              <a:rPr lang="ru-RU" b="0" i="0" dirty="0">
                <a:solidFill>
                  <a:srgbClr val="092433"/>
                </a:solidFill>
                <a:effectLst/>
                <a:latin typeface="Manrope"/>
              </a:rPr>
              <a:t>FTP-соединение создается между клиентом и сервером, после чего они общаются друг с другом при помощи сети. Для этого пользователь может получить разрешение, предоставив учетные данные </a:t>
            </a:r>
            <a:r>
              <a:rPr lang="ru-RU" b="0" i="0" u="none" strike="noStrike" dirty="0">
                <a:solidFill>
                  <a:srgbClr val="2F97FF"/>
                </a:solidFill>
                <a:effectLst/>
                <a:latin typeface="Manrope"/>
                <a:hlinkClick r:id="rId2"/>
              </a:rPr>
              <a:t>FTP-серверу</a:t>
            </a:r>
            <a:r>
              <a:rPr lang="ru-RU" b="0" i="0" dirty="0">
                <a:solidFill>
                  <a:srgbClr val="092433"/>
                </a:solidFill>
                <a:effectLst/>
                <a:latin typeface="Manrope"/>
              </a:rPr>
              <a:t>, или использовать анонимный FTP.</a:t>
            </a:r>
          </a:p>
          <a:p>
            <a:pPr algn="l" fontAlgn="base"/>
            <a:r>
              <a:rPr lang="ru-RU" b="0" i="0" dirty="0">
                <a:solidFill>
                  <a:srgbClr val="092433"/>
                </a:solidFill>
                <a:effectLst/>
                <a:latin typeface="Manrope"/>
              </a:rPr>
              <a:t>При установлении FTP-соединения создаются два типа каналов связи, которые называются </a:t>
            </a:r>
            <a:r>
              <a:rPr lang="ru-RU" b="1" i="0" dirty="0">
                <a:solidFill>
                  <a:srgbClr val="092433"/>
                </a:solidFill>
                <a:effectLst/>
                <a:latin typeface="Manrope"/>
              </a:rPr>
              <a:t>канал команд</a:t>
            </a:r>
            <a:r>
              <a:rPr lang="ru-RU" b="0" i="0" dirty="0">
                <a:solidFill>
                  <a:srgbClr val="092433"/>
                </a:solidFill>
                <a:effectLst/>
                <a:latin typeface="Manrope"/>
              </a:rPr>
              <a:t> и </a:t>
            </a:r>
            <a:r>
              <a:rPr lang="ru-RU" b="1" i="0" dirty="0">
                <a:solidFill>
                  <a:srgbClr val="092433"/>
                </a:solidFill>
                <a:effectLst/>
                <a:latin typeface="Manrope"/>
              </a:rPr>
              <a:t>канал данных</a:t>
            </a:r>
            <a:r>
              <a:rPr lang="ru-RU" b="0" i="0" dirty="0">
                <a:solidFill>
                  <a:srgbClr val="092433"/>
                </a:solidFill>
                <a:effectLst/>
                <a:latin typeface="Manrope"/>
              </a:rPr>
              <a:t>.</a:t>
            </a:r>
          </a:p>
          <a:p>
            <a:pPr algn="l" fontAlgn="base"/>
            <a:r>
              <a:rPr lang="ru-RU" b="1" i="0" dirty="0">
                <a:solidFill>
                  <a:srgbClr val="092433"/>
                </a:solidFill>
                <a:effectLst/>
                <a:latin typeface="Manrope"/>
              </a:rPr>
              <a:t>Командный канал</a:t>
            </a:r>
            <a:r>
              <a:rPr lang="ru-RU" b="0" i="0" dirty="0">
                <a:solidFill>
                  <a:srgbClr val="092433"/>
                </a:solidFill>
                <a:effectLst/>
                <a:latin typeface="Manrope"/>
              </a:rPr>
              <a:t> требуется для:</a:t>
            </a:r>
          </a:p>
          <a:p>
            <a:pPr algn="l" fontAlgn="base">
              <a:buFont typeface="Arial" panose="020B0604020202020204" pitchFamily="34" charset="0"/>
              <a:buChar char="•"/>
            </a:pPr>
            <a:r>
              <a:rPr lang="ru-RU" b="0" i="0" dirty="0">
                <a:solidFill>
                  <a:srgbClr val="092433"/>
                </a:solidFill>
                <a:effectLst/>
                <a:latin typeface="Manrope"/>
              </a:rPr>
              <a:t>передачи сообщений о тех или иных действиях</a:t>
            </a:r>
          </a:p>
          <a:p>
            <a:pPr algn="l" fontAlgn="base">
              <a:buFont typeface="Arial" panose="020B0604020202020204" pitchFamily="34" charset="0"/>
              <a:buChar char="•"/>
            </a:pPr>
            <a:r>
              <a:rPr lang="ru-RU" b="0" i="0" dirty="0">
                <a:solidFill>
                  <a:srgbClr val="092433"/>
                </a:solidFill>
                <a:effectLst/>
                <a:latin typeface="Manrope"/>
              </a:rPr>
              <a:t>ответов между клиентом и сервером (и наоборот).</a:t>
            </a:r>
          </a:p>
          <a:p>
            <a:pPr algn="l" fontAlgn="base"/>
            <a:r>
              <a:rPr lang="ru-RU" b="0" i="0" dirty="0">
                <a:solidFill>
                  <a:srgbClr val="092433"/>
                </a:solidFill>
                <a:effectLst/>
                <a:latin typeface="Manrope"/>
              </a:rPr>
              <a:t>Протокол FTP применяет тот же подход, что TELNET и SMTP, для связи посредством управляющего соединения. Для этого используется набор символов NVT ASCII. Общение осуществляется через порт 21.</a:t>
            </a:r>
          </a:p>
          <a:p>
            <a:pPr algn="l" fontAlgn="base"/>
            <a:r>
              <a:rPr lang="ru-RU" b="1" i="0" dirty="0">
                <a:solidFill>
                  <a:srgbClr val="092433"/>
                </a:solidFill>
                <a:effectLst/>
                <a:latin typeface="Manrope"/>
              </a:rPr>
              <a:t>Канал данных</a:t>
            </a:r>
            <a:r>
              <a:rPr lang="ru-RU" b="0" i="0" dirty="0">
                <a:solidFill>
                  <a:srgbClr val="092433"/>
                </a:solidFill>
                <a:effectLst/>
                <a:latin typeface="Manrope"/>
              </a:rPr>
              <a:t> используется непосредственно для передачи информации и работает через порт 20.</a:t>
            </a:r>
          </a:p>
          <a:p>
            <a:pPr algn="l" fontAlgn="base"/>
            <a:r>
              <a:rPr lang="ru-RU" b="0" i="0" dirty="0">
                <a:solidFill>
                  <a:srgbClr val="092433"/>
                </a:solidFill>
                <a:effectLst/>
                <a:latin typeface="Manrope"/>
              </a:rPr>
              <a:t>FTP-клиент, применяя URL в качестве адреса (как и протоколы передачи гипертекста HTTP/S), посылает команду FTP и адрес клиента. После установки соединения пользователь выполняет авторизацию, вводя логин и пароль.</a:t>
            </a:r>
          </a:p>
          <a:p>
            <a:pPr algn="l" fontAlgn="base"/>
            <a:r>
              <a:rPr lang="ru-RU" b="0" i="0" dirty="0">
                <a:solidFill>
                  <a:srgbClr val="092433"/>
                </a:solidFill>
                <a:effectLst/>
                <a:latin typeface="Manrope"/>
              </a:rPr>
              <a:t>В зависимости от настроек сервера пользователь может получить к нему доступ без логина и пароля. Данная форма авторизации называется «Анонимный FTP». В таком случае на сервере заранее создана специальная учетная запись, которая разрешает авторизацию при любых данных, внесенных в поле пароля. После этого со стороны сервера выполняется проверка введенных данных и выдается разрешение/запрет на действия с данными. Клиент/Сервер обмениваются нужными файлами, после чего происходит выход из соединения.</a:t>
            </a:r>
          </a:p>
        </p:txBody>
      </p:sp>
    </p:spTree>
    <p:extLst>
      <p:ext uri="{BB962C8B-B14F-4D97-AF65-F5344CB8AC3E}">
        <p14:creationId xmlns:p14="http://schemas.microsoft.com/office/powerpoint/2010/main" val="14446828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40EBF50-4B38-4270-A63D-150DBD82E328}"/>
              </a:ext>
            </a:extLst>
          </p:cNvPr>
          <p:cNvSpPr txBox="1"/>
          <p:nvPr/>
        </p:nvSpPr>
        <p:spPr>
          <a:xfrm>
            <a:off x="636493" y="843711"/>
            <a:ext cx="11170025" cy="4801314"/>
          </a:xfrm>
          <a:prstGeom prst="rect">
            <a:avLst/>
          </a:prstGeom>
          <a:noFill/>
        </p:spPr>
        <p:txBody>
          <a:bodyPr wrap="square">
            <a:spAutoFit/>
          </a:bodyPr>
          <a:lstStyle/>
          <a:p>
            <a:pPr rtl="0"/>
            <a:r>
              <a:rPr lang="ru-RU" b="1" dirty="0">
                <a:effectLst/>
              </a:rPr>
              <a:t>Протокол FTP: назначение, команды и порты</a:t>
            </a:r>
            <a:endParaRPr lang="en-US" b="1" dirty="0">
              <a:effectLst/>
            </a:endParaRPr>
          </a:p>
          <a:p>
            <a:pPr rtl="0"/>
            <a:endParaRPr lang="ru-RU" b="1" dirty="0">
              <a:effectLst/>
            </a:endParaRPr>
          </a:p>
          <a:p>
            <a:pPr rtl="0"/>
            <a:r>
              <a:rPr lang="ru-RU" dirty="0"/>
              <a:t>FTP (</a:t>
            </a:r>
            <a:r>
              <a:rPr lang="ru-RU" dirty="0" err="1"/>
              <a:t>File</a:t>
            </a:r>
            <a:r>
              <a:rPr lang="ru-RU" dirty="0"/>
              <a:t> </a:t>
            </a:r>
            <a:r>
              <a:rPr lang="ru-RU" dirty="0" err="1"/>
              <a:t>Transfer</a:t>
            </a:r>
            <a:r>
              <a:rPr lang="ru-RU" dirty="0"/>
              <a:t> </a:t>
            </a:r>
            <a:r>
              <a:rPr lang="ru-RU" dirty="0" err="1"/>
              <a:t>Protocol</a:t>
            </a:r>
            <a:r>
              <a:rPr lang="ru-RU" dirty="0"/>
              <a:t>) — один из старейших протоколов прикладного уровня, предназначенный для передачи файлов между клиентом и сервером в сети TCP/IP. Он был разработан ещё в 1971 году и стандартизирован в RFC 959 (1985 г.). Несмотря на возраст, FTP до сих пор широко применяется благодаря своей простоте и универсальности, хотя в современных условиях его часто заменяют более безопасными вариантами (SFTP, FTPS).</a:t>
            </a:r>
          </a:p>
          <a:p>
            <a:pPr rtl="0"/>
            <a:r>
              <a:rPr lang="ru-RU" dirty="0"/>
              <a:t>1. Применение FTP</a:t>
            </a:r>
          </a:p>
          <a:p>
            <a:pPr rtl="0"/>
            <a:r>
              <a:rPr lang="ru-RU" dirty="0"/>
              <a:t>Основная цель FTP — обеспечить надёжную передачу файлов и управление файловой структурой на удалённом сервере. Типичные сценарии использования:</a:t>
            </a:r>
          </a:p>
          <a:p>
            <a:pPr rtl="0"/>
            <a:r>
              <a:rPr lang="ru-RU" dirty="0"/>
              <a:t>· Веб-разработка и хостинг — загрузка/скачивание файлов сайта на сервер.</a:t>
            </a:r>
            <a:br>
              <a:rPr lang="ru-RU" dirty="0"/>
            </a:br>
            <a:r>
              <a:rPr lang="ru-RU" dirty="0"/>
              <a:t>· Администрирование серверов — обновление программного обеспечения, резервное копирование, обмен конфигурациями.</a:t>
            </a:r>
            <a:br>
              <a:rPr lang="ru-RU" dirty="0"/>
            </a:br>
            <a:r>
              <a:rPr lang="ru-RU" dirty="0"/>
              <a:t>· Обмен большими файлами — внутри организаций или между партнёрами, когда не требуется шифрование.</a:t>
            </a:r>
            <a:br>
              <a:rPr lang="ru-RU" dirty="0"/>
            </a:br>
            <a:r>
              <a:rPr lang="ru-RU" dirty="0"/>
              <a:t>· Автоматизация процессов — с помощью скриптов, использующих FTP-команды.</a:t>
            </a:r>
            <a:br>
              <a:rPr lang="ru-RU" dirty="0"/>
            </a:br>
            <a:r>
              <a:rPr lang="ru-RU" dirty="0"/>
              <a:t>· Поддержка устаревших систем — многие встраиваемые устройства и промышленные системы до сих пор используют FTP.</a:t>
            </a:r>
          </a:p>
        </p:txBody>
      </p:sp>
    </p:spTree>
    <p:extLst>
      <p:ext uri="{BB962C8B-B14F-4D97-AF65-F5344CB8AC3E}">
        <p14:creationId xmlns:p14="http://schemas.microsoft.com/office/powerpoint/2010/main" val="26676246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7AF1F2-3272-44BB-BEA5-ABFB641B4D9B}"/>
              </a:ext>
            </a:extLst>
          </p:cNvPr>
          <p:cNvSpPr txBox="1"/>
          <p:nvPr/>
        </p:nvSpPr>
        <p:spPr>
          <a:xfrm>
            <a:off x="188258" y="87555"/>
            <a:ext cx="12416118" cy="6463308"/>
          </a:xfrm>
          <a:prstGeom prst="rect">
            <a:avLst/>
          </a:prstGeom>
          <a:noFill/>
        </p:spPr>
        <p:txBody>
          <a:bodyPr wrap="square">
            <a:spAutoFit/>
          </a:bodyPr>
          <a:lstStyle/>
          <a:p>
            <a:pPr rtl="0"/>
            <a:r>
              <a:rPr lang="ru-RU" dirty="0"/>
              <a:t>2. Команды FTP</a:t>
            </a:r>
          </a:p>
          <a:p>
            <a:pPr rtl="0"/>
            <a:r>
              <a:rPr lang="ru-RU" dirty="0"/>
              <a:t>FTP — протокол с текстовыми командами, аналогично SMTP. Клиент отправляет команды, сервер отвечает трёхзначными кодами (например, 220 — готов, 230 — пользователь вошёл, 550 — ошибка). Команды </a:t>
            </a:r>
            <a:r>
              <a:rPr lang="ru-RU" dirty="0" err="1"/>
              <a:t>регистронезависимы</a:t>
            </a:r>
            <a:r>
              <a:rPr lang="ru-RU" dirty="0"/>
              <a:t>, но традиционно записываются заглавными.</a:t>
            </a:r>
          </a:p>
          <a:p>
            <a:pPr rtl="0"/>
            <a:r>
              <a:rPr lang="ru-RU" dirty="0"/>
              <a:t>Основные команды управления соединением и аутентификацией</a:t>
            </a:r>
          </a:p>
          <a:p>
            <a:pPr rtl="0"/>
            <a:r>
              <a:rPr lang="ru-RU" dirty="0"/>
              <a:t>Команда Описание</a:t>
            </a:r>
            <a:br>
              <a:rPr lang="ru-RU" dirty="0"/>
            </a:br>
            <a:r>
              <a:rPr lang="ru-RU" dirty="0"/>
              <a:t>USER Имя пользователя для входа.</a:t>
            </a:r>
            <a:br>
              <a:rPr lang="ru-RU" dirty="0"/>
            </a:br>
            <a:r>
              <a:rPr lang="ru-RU" dirty="0"/>
              <a:t>PASS Пароль пользователя.</a:t>
            </a:r>
            <a:br>
              <a:rPr lang="ru-RU" dirty="0"/>
            </a:br>
            <a:r>
              <a:rPr lang="ru-RU" dirty="0"/>
              <a:t>QUIT Завершение сеанса.</a:t>
            </a:r>
            <a:br>
              <a:rPr lang="ru-RU" dirty="0"/>
            </a:br>
            <a:r>
              <a:rPr lang="ru-RU" dirty="0"/>
              <a:t>REIN </a:t>
            </a:r>
            <a:r>
              <a:rPr lang="ru-RU" dirty="0" err="1"/>
              <a:t>Переинициализация</a:t>
            </a:r>
            <a:r>
              <a:rPr lang="ru-RU" dirty="0"/>
              <a:t> соединения (сброс к состоянию входа).</a:t>
            </a:r>
          </a:p>
          <a:p>
            <a:pPr rtl="0"/>
            <a:r>
              <a:rPr lang="ru-RU" dirty="0"/>
              <a:t>Команды управления файлами и директориями</a:t>
            </a:r>
          </a:p>
          <a:p>
            <a:pPr rtl="0"/>
            <a:r>
              <a:rPr lang="ru-RU" dirty="0"/>
              <a:t>Команда Описание</a:t>
            </a:r>
            <a:br>
              <a:rPr lang="ru-RU" dirty="0"/>
            </a:br>
            <a:r>
              <a:rPr lang="ru-RU" dirty="0"/>
              <a:t>LIST Вывод списка файлов в текущей директории.</a:t>
            </a:r>
            <a:br>
              <a:rPr lang="ru-RU" dirty="0"/>
            </a:br>
            <a:r>
              <a:rPr lang="ru-RU" dirty="0"/>
              <a:t>NLST Вывод имён файлов (без деталей).</a:t>
            </a:r>
            <a:br>
              <a:rPr lang="ru-RU" dirty="0"/>
            </a:br>
            <a:r>
              <a:rPr lang="ru-RU" dirty="0"/>
              <a:t>CWD Смена текущей директории (</a:t>
            </a:r>
            <a:r>
              <a:rPr lang="ru-RU" dirty="0" err="1"/>
              <a:t>cd</a:t>
            </a:r>
            <a:r>
              <a:rPr lang="ru-RU" dirty="0"/>
              <a:t>).</a:t>
            </a:r>
            <a:br>
              <a:rPr lang="ru-RU" dirty="0"/>
            </a:br>
            <a:r>
              <a:rPr lang="ru-RU" dirty="0"/>
              <a:t>PWD Вывод текущей директории.</a:t>
            </a:r>
            <a:br>
              <a:rPr lang="ru-RU" dirty="0"/>
            </a:br>
            <a:r>
              <a:rPr lang="ru-RU" dirty="0"/>
              <a:t>MKD Создание новой директории (</a:t>
            </a:r>
            <a:r>
              <a:rPr lang="ru-RU" dirty="0" err="1"/>
              <a:t>mkdir</a:t>
            </a:r>
            <a:r>
              <a:rPr lang="ru-RU" dirty="0"/>
              <a:t>).</a:t>
            </a:r>
            <a:br>
              <a:rPr lang="ru-RU" dirty="0"/>
            </a:br>
            <a:r>
              <a:rPr lang="ru-RU" dirty="0"/>
              <a:t>RMD Удаление директории (</a:t>
            </a:r>
            <a:r>
              <a:rPr lang="ru-RU" dirty="0" err="1"/>
              <a:t>rmdir</a:t>
            </a:r>
            <a:r>
              <a:rPr lang="ru-RU" dirty="0"/>
              <a:t>).</a:t>
            </a:r>
            <a:br>
              <a:rPr lang="ru-RU" dirty="0"/>
            </a:br>
            <a:r>
              <a:rPr lang="ru-RU" dirty="0"/>
              <a:t>DELE Удаление файла.</a:t>
            </a:r>
            <a:br>
              <a:rPr lang="ru-RU" dirty="0"/>
            </a:br>
            <a:r>
              <a:rPr lang="ru-RU" dirty="0"/>
              <a:t>RNFR Указать файл для переименования (</a:t>
            </a:r>
            <a:r>
              <a:rPr lang="ru-RU" dirty="0" err="1"/>
              <a:t>rename</a:t>
            </a:r>
            <a:r>
              <a:rPr lang="ru-RU" dirty="0"/>
              <a:t> </a:t>
            </a:r>
            <a:r>
              <a:rPr lang="ru-RU" dirty="0" err="1"/>
              <a:t>from</a:t>
            </a:r>
            <a:r>
              <a:rPr lang="ru-RU" dirty="0"/>
              <a:t>).</a:t>
            </a:r>
            <a:br>
              <a:rPr lang="ru-RU" dirty="0"/>
            </a:br>
            <a:r>
              <a:rPr lang="ru-RU" dirty="0"/>
              <a:t>RNTO Новое имя файла (</a:t>
            </a:r>
            <a:r>
              <a:rPr lang="ru-RU" dirty="0" err="1"/>
              <a:t>rename</a:t>
            </a:r>
            <a:r>
              <a:rPr lang="ru-RU" dirty="0"/>
              <a:t> </a:t>
            </a:r>
            <a:r>
              <a:rPr lang="ru-RU" dirty="0" err="1"/>
              <a:t>to</a:t>
            </a:r>
            <a:r>
              <a:rPr lang="ru-RU" dirty="0"/>
              <a:t>).</a:t>
            </a:r>
            <a:br>
              <a:rPr lang="ru-RU" dirty="0"/>
            </a:br>
            <a:r>
              <a:rPr lang="ru-RU" dirty="0"/>
              <a:t>SIZE Получить размер файла.</a:t>
            </a:r>
            <a:br>
              <a:rPr lang="ru-RU" dirty="0"/>
            </a:br>
            <a:r>
              <a:rPr lang="ru-RU" dirty="0"/>
              <a:t>MDTM Получить дату/время модификации файла.</a:t>
            </a:r>
          </a:p>
        </p:txBody>
      </p:sp>
    </p:spTree>
    <p:extLst>
      <p:ext uri="{BB962C8B-B14F-4D97-AF65-F5344CB8AC3E}">
        <p14:creationId xmlns:p14="http://schemas.microsoft.com/office/powerpoint/2010/main" val="17148369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BE48BF-9175-4F27-85A0-243F7DD82B7E}"/>
              </a:ext>
            </a:extLst>
          </p:cNvPr>
          <p:cNvSpPr txBox="1"/>
          <p:nvPr/>
        </p:nvSpPr>
        <p:spPr>
          <a:xfrm>
            <a:off x="259976" y="158767"/>
            <a:ext cx="11071412" cy="4524315"/>
          </a:xfrm>
          <a:prstGeom prst="rect">
            <a:avLst/>
          </a:prstGeom>
          <a:noFill/>
        </p:spPr>
        <p:txBody>
          <a:bodyPr wrap="square">
            <a:spAutoFit/>
          </a:bodyPr>
          <a:lstStyle/>
          <a:p>
            <a:pPr rtl="0"/>
            <a:r>
              <a:rPr lang="ru-RU" dirty="0"/>
              <a:t>Команды передачи файлов</a:t>
            </a:r>
          </a:p>
          <a:p>
            <a:pPr rtl="0"/>
            <a:r>
              <a:rPr lang="ru-RU" dirty="0"/>
              <a:t>Команда Описание</a:t>
            </a:r>
            <a:br>
              <a:rPr lang="ru-RU" dirty="0"/>
            </a:br>
            <a:r>
              <a:rPr lang="ru-RU" dirty="0"/>
              <a:t>RETR Скачать файл с сервера (</a:t>
            </a:r>
            <a:r>
              <a:rPr lang="ru-RU" dirty="0" err="1"/>
              <a:t>retrieve</a:t>
            </a:r>
            <a:r>
              <a:rPr lang="ru-RU" dirty="0"/>
              <a:t>).</a:t>
            </a:r>
            <a:br>
              <a:rPr lang="ru-RU" dirty="0"/>
            </a:br>
            <a:r>
              <a:rPr lang="ru-RU" dirty="0"/>
              <a:t>STOR Загрузить файл на сервер (</a:t>
            </a:r>
            <a:r>
              <a:rPr lang="ru-RU" dirty="0" err="1"/>
              <a:t>store</a:t>
            </a:r>
            <a:r>
              <a:rPr lang="ru-RU" dirty="0"/>
              <a:t>).</a:t>
            </a:r>
            <a:br>
              <a:rPr lang="ru-RU" dirty="0"/>
            </a:br>
            <a:r>
              <a:rPr lang="ru-RU" dirty="0"/>
              <a:t>APPE </a:t>
            </a:r>
            <a:r>
              <a:rPr lang="ru-RU" dirty="0" err="1"/>
              <a:t>Дозапись</a:t>
            </a:r>
            <a:r>
              <a:rPr lang="ru-RU" dirty="0"/>
              <a:t> в конец файла (</a:t>
            </a:r>
            <a:r>
              <a:rPr lang="ru-RU" dirty="0" err="1"/>
              <a:t>append</a:t>
            </a:r>
            <a:r>
              <a:rPr lang="ru-RU" dirty="0"/>
              <a:t>).</a:t>
            </a:r>
            <a:br>
              <a:rPr lang="ru-RU" dirty="0"/>
            </a:br>
            <a:r>
              <a:rPr lang="ru-RU" dirty="0"/>
              <a:t>REST Возобновить передачу с определённой позиции.</a:t>
            </a:r>
            <a:br>
              <a:rPr lang="ru-RU" dirty="0"/>
            </a:br>
            <a:r>
              <a:rPr lang="ru-RU" dirty="0"/>
              <a:t>ABOR Прервать предыдущую команду/передачу.</a:t>
            </a:r>
          </a:p>
          <a:p>
            <a:pPr rtl="0"/>
            <a:endParaRPr lang="ru-RU" dirty="0"/>
          </a:p>
          <a:p>
            <a:pPr rtl="0"/>
            <a:endParaRPr lang="ru-RU" dirty="0"/>
          </a:p>
          <a:p>
            <a:pPr rtl="0"/>
            <a:r>
              <a:rPr lang="ru-RU" dirty="0"/>
              <a:t>Команды настройки параметров передачи</a:t>
            </a:r>
          </a:p>
          <a:p>
            <a:pPr rtl="0"/>
            <a:r>
              <a:rPr lang="ru-RU" dirty="0"/>
              <a:t>Команда Описание</a:t>
            </a:r>
            <a:br>
              <a:rPr lang="ru-RU" dirty="0"/>
            </a:br>
            <a:r>
              <a:rPr lang="ru-RU" dirty="0"/>
              <a:t>TYPE Установка типа передачи (A — ASCII, I — бинарный).</a:t>
            </a:r>
            <a:br>
              <a:rPr lang="ru-RU" dirty="0"/>
            </a:br>
            <a:r>
              <a:rPr lang="ru-RU" dirty="0"/>
              <a:t>MODE Режим передачи (S — </a:t>
            </a:r>
            <a:r>
              <a:rPr lang="ru-RU" dirty="0" err="1"/>
              <a:t>stream</a:t>
            </a:r>
            <a:r>
              <a:rPr lang="ru-RU" dirty="0"/>
              <a:t>, B — </a:t>
            </a:r>
            <a:r>
              <a:rPr lang="ru-RU" dirty="0" err="1"/>
              <a:t>block</a:t>
            </a:r>
            <a:r>
              <a:rPr lang="ru-RU" dirty="0"/>
              <a:t>, C — </a:t>
            </a:r>
            <a:r>
              <a:rPr lang="ru-RU" dirty="0" err="1"/>
              <a:t>compressed</a:t>
            </a:r>
            <a:r>
              <a:rPr lang="ru-RU" dirty="0"/>
              <a:t>).</a:t>
            </a:r>
            <a:br>
              <a:rPr lang="ru-RU" dirty="0"/>
            </a:br>
            <a:r>
              <a:rPr lang="ru-RU" dirty="0"/>
              <a:t>STRU Структура данных (F — </a:t>
            </a:r>
            <a:r>
              <a:rPr lang="ru-RU" dirty="0" err="1"/>
              <a:t>file</a:t>
            </a:r>
            <a:r>
              <a:rPr lang="ru-RU" dirty="0"/>
              <a:t>, R — </a:t>
            </a:r>
            <a:r>
              <a:rPr lang="ru-RU" dirty="0" err="1"/>
              <a:t>record</a:t>
            </a:r>
            <a:r>
              <a:rPr lang="ru-RU" dirty="0"/>
              <a:t>, P — </a:t>
            </a:r>
            <a:r>
              <a:rPr lang="ru-RU" dirty="0" err="1"/>
              <a:t>page</a:t>
            </a:r>
            <a:r>
              <a:rPr lang="ru-RU" dirty="0"/>
              <a:t>).</a:t>
            </a:r>
            <a:br>
              <a:rPr lang="ru-RU" dirty="0"/>
            </a:br>
            <a:r>
              <a:rPr lang="ru-RU" dirty="0"/>
              <a:t>PORT Активный режим: указать IP и порт клиента для соединения данных.</a:t>
            </a:r>
            <a:br>
              <a:rPr lang="ru-RU" dirty="0"/>
            </a:br>
            <a:r>
              <a:rPr lang="ru-RU" dirty="0"/>
              <a:t>PASV Пассивный режим: запросить у сервера адрес и порт для соединения данных.</a:t>
            </a:r>
          </a:p>
        </p:txBody>
      </p:sp>
      <p:sp>
        <p:nvSpPr>
          <p:cNvPr id="5" name="TextBox 4">
            <a:extLst>
              <a:ext uri="{FF2B5EF4-FFF2-40B4-BE49-F238E27FC236}">
                <a16:creationId xmlns:a16="http://schemas.microsoft.com/office/drawing/2014/main" id="{3844D1DB-75F1-4A52-9028-A8FB6024ECE5}"/>
              </a:ext>
            </a:extLst>
          </p:cNvPr>
          <p:cNvSpPr txBox="1"/>
          <p:nvPr/>
        </p:nvSpPr>
        <p:spPr>
          <a:xfrm>
            <a:off x="259976" y="4816785"/>
            <a:ext cx="10058400" cy="1754326"/>
          </a:xfrm>
          <a:prstGeom prst="rect">
            <a:avLst/>
          </a:prstGeom>
          <a:noFill/>
        </p:spPr>
        <p:txBody>
          <a:bodyPr wrap="square">
            <a:spAutoFit/>
          </a:bodyPr>
          <a:lstStyle/>
          <a:p>
            <a:pPr rtl="0"/>
            <a:r>
              <a:rPr lang="ru-RU" dirty="0"/>
              <a:t>3. Порты и режимы работы FTP</a:t>
            </a:r>
          </a:p>
          <a:p>
            <a:pPr rtl="0"/>
            <a:r>
              <a:rPr lang="ru-RU" dirty="0"/>
              <a:t>FTP использует два отдельных канала:</a:t>
            </a:r>
          </a:p>
          <a:p>
            <a:pPr rtl="0"/>
            <a:r>
              <a:rPr lang="ru-RU" dirty="0"/>
              <a:t>· Командный канал (</a:t>
            </a:r>
            <a:r>
              <a:rPr lang="ru-RU" dirty="0" err="1"/>
              <a:t>Control</a:t>
            </a:r>
            <a:r>
              <a:rPr lang="ru-RU" dirty="0"/>
              <a:t> </a:t>
            </a:r>
            <a:r>
              <a:rPr lang="ru-RU" dirty="0" err="1"/>
              <a:t>connection</a:t>
            </a:r>
            <a:r>
              <a:rPr lang="ru-RU" dirty="0"/>
              <a:t>) — порт 21 (сервер слушает). Через него передаются команды и ответы. Соединение инициируется клиентом и остаётся открытым всю сессию.</a:t>
            </a:r>
            <a:br>
              <a:rPr lang="ru-RU" dirty="0"/>
            </a:br>
            <a:r>
              <a:rPr lang="ru-RU" dirty="0"/>
              <a:t>· Канал данных (</a:t>
            </a:r>
            <a:r>
              <a:rPr lang="ru-RU" dirty="0" err="1"/>
              <a:t>Data</a:t>
            </a:r>
            <a:r>
              <a:rPr lang="ru-RU" dirty="0"/>
              <a:t> </a:t>
            </a:r>
            <a:r>
              <a:rPr lang="ru-RU" dirty="0" err="1"/>
              <a:t>connection</a:t>
            </a:r>
            <a:r>
              <a:rPr lang="ru-RU" dirty="0"/>
              <a:t>) — для передачи собственно файлов и списков директорий. Он открывается отдельно для каждой операции передачи.</a:t>
            </a:r>
          </a:p>
        </p:txBody>
      </p:sp>
    </p:spTree>
    <p:extLst>
      <p:ext uri="{BB962C8B-B14F-4D97-AF65-F5344CB8AC3E}">
        <p14:creationId xmlns:p14="http://schemas.microsoft.com/office/powerpoint/2010/main" val="11574236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1B048D-3716-4DD3-B308-08886A1987EB}"/>
              </a:ext>
            </a:extLst>
          </p:cNvPr>
          <p:cNvSpPr txBox="1"/>
          <p:nvPr/>
        </p:nvSpPr>
        <p:spPr>
          <a:xfrm>
            <a:off x="242047" y="206817"/>
            <a:ext cx="11672047" cy="6186309"/>
          </a:xfrm>
          <a:prstGeom prst="rect">
            <a:avLst/>
          </a:prstGeom>
          <a:noFill/>
        </p:spPr>
        <p:txBody>
          <a:bodyPr wrap="square">
            <a:spAutoFit/>
          </a:bodyPr>
          <a:lstStyle/>
          <a:p>
            <a:pPr rtl="0"/>
            <a:r>
              <a:rPr lang="ru-RU" dirty="0"/>
              <a:t>Особенность FTP — два режима установки канала данных:</a:t>
            </a:r>
          </a:p>
          <a:p>
            <a:pPr rtl="0"/>
            <a:endParaRPr lang="ru-RU" dirty="0"/>
          </a:p>
          <a:p>
            <a:pPr rtl="0"/>
            <a:r>
              <a:rPr lang="ru-RU" dirty="0"/>
              <a:t>3.1. Активный режим (</a:t>
            </a:r>
            <a:r>
              <a:rPr lang="ru-RU" dirty="0" err="1"/>
              <a:t>Active</a:t>
            </a:r>
            <a:r>
              <a:rPr lang="ru-RU" dirty="0"/>
              <a:t> </a:t>
            </a:r>
            <a:r>
              <a:rPr lang="ru-RU" dirty="0" err="1"/>
              <a:t>mode</a:t>
            </a:r>
            <a:r>
              <a:rPr lang="ru-RU" dirty="0"/>
              <a:t>)</a:t>
            </a:r>
          </a:p>
          <a:p>
            <a:pPr rtl="0"/>
            <a:r>
              <a:rPr lang="ru-RU" dirty="0"/>
              <a:t>· Клиент инициирует командное соединение на порт 21 сервера.</a:t>
            </a:r>
            <a:br>
              <a:rPr lang="ru-RU" dirty="0"/>
            </a:br>
            <a:r>
              <a:rPr lang="ru-RU" dirty="0"/>
              <a:t>· Когда нужно передать данные, клиент отправляет команду PORT, указывая свой IP-адрес и порт (обычно динамический), на котором он будет ждать входящее соединение от сервера.</a:t>
            </a:r>
            <a:br>
              <a:rPr lang="ru-RU" dirty="0"/>
            </a:br>
            <a:r>
              <a:rPr lang="ru-RU" dirty="0"/>
              <a:t>· Сервер со своего порта 20 (порт данных) подключается к указанному клиентом порту.</a:t>
            </a:r>
            <a:br>
              <a:rPr lang="ru-RU" dirty="0"/>
            </a:br>
            <a:r>
              <a:rPr lang="ru-RU" dirty="0"/>
              <a:t>· Проблема: при наличии </a:t>
            </a:r>
            <a:r>
              <a:rPr lang="ru-RU" dirty="0" err="1"/>
              <a:t>firewall</a:t>
            </a:r>
            <a:r>
              <a:rPr lang="ru-RU" dirty="0"/>
              <a:t> или NAT на стороне клиента входящее соединение от сервера может быть заблокировано.</a:t>
            </a:r>
          </a:p>
          <a:p>
            <a:pPr rtl="0"/>
            <a:endParaRPr lang="ru-RU" dirty="0"/>
          </a:p>
          <a:p>
            <a:pPr rtl="0"/>
            <a:r>
              <a:rPr lang="ru-RU" dirty="0"/>
              <a:t>3.2. Пассивный режим (</a:t>
            </a:r>
            <a:r>
              <a:rPr lang="ru-RU" dirty="0" err="1"/>
              <a:t>Passive</a:t>
            </a:r>
            <a:r>
              <a:rPr lang="ru-RU" dirty="0"/>
              <a:t> </a:t>
            </a:r>
            <a:r>
              <a:rPr lang="ru-RU" dirty="0" err="1"/>
              <a:t>mode</a:t>
            </a:r>
            <a:r>
              <a:rPr lang="ru-RU" dirty="0"/>
              <a:t>)</a:t>
            </a:r>
          </a:p>
          <a:p>
            <a:pPr rtl="0"/>
            <a:r>
              <a:rPr lang="ru-RU" dirty="0"/>
              <a:t>· Клиент также инициирует командное соединение.</a:t>
            </a:r>
            <a:br>
              <a:rPr lang="ru-RU" dirty="0"/>
            </a:br>
            <a:r>
              <a:rPr lang="ru-RU" dirty="0"/>
              <a:t>· Перед передачей данных клиент отправляет команду PASV.</a:t>
            </a:r>
            <a:br>
              <a:rPr lang="ru-RU" dirty="0"/>
            </a:br>
            <a:r>
              <a:rPr lang="ru-RU" dirty="0"/>
              <a:t>· Сервер открывает случайный порт (&gt;1023) и сообщает его клиенту в ответе (например, 227 </a:t>
            </a:r>
            <a:r>
              <a:rPr lang="ru-RU" dirty="0" err="1"/>
              <a:t>Entering</a:t>
            </a:r>
            <a:r>
              <a:rPr lang="ru-RU" dirty="0"/>
              <a:t> </a:t>
            </a:r>
            <a:r>
              <a:rPr lang="ru-RU" dirty="0" err="1"/>
              <a:t>Passive</a:t>
            </a:r>
            <a:r>
              <a:rPr lang="ru-RU" dirty="0"/>
              <a:t> </a:t>
            </a:r>
            <a:r>
              <a:rPr lang="ru-RU" dirty="0" err="1"/>
              <a:t>Mode</a:t>
            </a:r>
            <a:r>
              <a:rPr lang="ru-RU" dirty="0"/>
              <a:t> (192,168,1,1,4,12) — последние два числа порт = 4*256+12 = 1036).</a:t>
            </a:r>
            <a:br>
              <a:rPr lang="ru-RU" dirty="0"/>
            </a:br>
            <a:r>
              <a:rPr lang="ru-RU" dirty="0"/>
              <a:t>· Клиент инициирует соединение данных на этот порт сервера.</a:t>
            </a:r>
            <a:br>
              <a:rPr lang="ru-RU" dirty="0"/>
            </a:br>
            <a:r>
              <a:rPr lang="ru-RU" dirty="0"/>
              <a:t>· Пассивный режим удобен для клиентов за NAT/</a:t>
            </a:r>
            <a:r>
              <a:rPr lang="ru-RU" dirty="0" err="1"/>
              <a:t>firewall</a:t>
            </a:r>
            <a:r>
              <a:rPr lang="ru-RU" dirty="0"/>
              <a:t>, так как все соединения инициирует клиент. Большинство современных FTP-клиентов используют именно пассивный режим по умолчанию.</a:t>
            </a:r>
          </a:p>
          <a:p>
            <a:pPr rtl="0"/>
            <a:r>
              <a:rPr lang="ru-RU" dirty="0"/>
              <a:t>Таким образом, порты:</a:t>
            </a:r>
          </a:p>
          <a:p>
            <a:pPr rtl="0"/>
            <a:r>
              <a:rPr lang="ru-RU" dirty="0"/>
              <a:t>· 21 — командное соединение (всегда используется сервером).</a:t>
            </a:r>
            <a:br>
              <a:rPr lang="ru-RU" dirty="0"/>
            </a:br>
            <a:r>
              <a:rPr lang="ru-RU" dirty="0"/>
              <a:t>· 20 — порт данных в активном режиме (сервер инициирует соединение с клиента).</a:t>
            </a:r>
            <a:br>
              <a:rPr lang="ru-RU" dirty="0"/>
            </a:br>
            <a:r>
              <a:rPr lang="ru-RU" dirty="0"/>
              <a:t>· В пассивном режиме сервер использует динамические порты (обычно диапазон настраивается администратором).</a:t>
            </a:r>
          </a:p>
        </p:txBody>
      </p:sp>
    </p:spTree>
    <p:extLst>
      <p:ext uri="{BB962C8B-B14F-4D97-AF65-F5344CB8AC3E}">
        <p14:creationId xmlns:p14="http://schemas.microsoft.com/office/powerpoint/2010/main" val="34783705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0DA400-DD85-4369-BD41-B22649D6678F}"/>
              </a:ext>
            </a:extLst>
          </p:cNvPr>
          <p:cNvSpPr txBox="1"/>
          <p:nvPr/>
        </p:nvSpPr>
        <p:spPr>
          <a:xfrm>
            <a:off x="161365" y="710655"/>
            <a:ext cx="11573436" cy="3693319"/>
          </a:xfrm>
          <a:prstGeom prst="rect">
            <a:avLst/>
          </a:prstGeom>
          <a:noFill/>
        </p:spPr>
        <p:txBody>
          <a:bodyPr wrap="square">
            <a:spAutoFit/>
          </a:bodyPr>
          <a:lstStyle/>
          <a:p>
            <a:pPr rtl="0"/>
            <a:r>
              <a:rPr lang="ru-RU" dirty="0"/>
              <a:t>4. Безопасность и современные альтернативы</a:t>
            </a:r>
          </a:p>
          <a:p>
            <a:pPr rtl="0"/>
            <a:r>
              <a:rPr lang="ru-RU" dirty="0"/>
              <a:t>Обычный FTP передаёт данные и учётные данные (логин/пароль) в открытом виде, что делает его уязвимым для перехвата. Поэтому разработаны защищённые расширения и альтернативы:</a:t>
            </a:r>
          </a:p>
          <a:p>
            <a:pPr rtl="0"/>
            <a:endParaRPr lang="ru-RU" dirty="0"/>
          </a:p>
          <a:p>
            <a:pPr rtl="0"/>
            <a:r>
              <a:rPr lang="ru-RU" dirty="0"/>
              <a:t>· FTPS (FTP </a:t>
            </a:r>
            <a:r>
              <a:rPr lang="ru-RU" dirty="0" err="1"/>
              <a:t>over</a:t>
            </a:r>
            <a:r>
              <a:rPr lang="ru-RU" dirty="0"/>
              <a:t> SSL/TLS) — стандартный FTP, но с шифрованием каналов. Использует команду AUTH TLS для переключения на защищённое соединение. Может работать как на тех же портах (21, 20), так и на выделенных.</a:t>
            </a:r>
          </a:p>
          <a:p>
            <a:pPr rtl="0"/>
            <a:br>
              <a:rPr lang="ru-RU" dirty="0"/>
            </a:br>
            <a:r>
              <a:rPr lang="ru-RU" dirty="0"/>
              <a:t>· SFTP (SSH </a:t>
            </a:r>
            <a:r>
              <a:rPr lang="ru-RU" dirty="0" err="1"/>
              <a:t>File</a:t>
            </a:r>
            <a:r>
              <a:rPr lang="ru-RU" dirty="0"/>
              <a:t> </a:t>
            </a:r>
            <a:r>
              <a:rPr lang="ru-RU" dirty="0" err="1"/>
              <a:t>Transfer</a:t>
            </a:r>
            <a:r>
              <a:rPr lang="ru-RU" dirty="0"/>
              <a:t> </a:t>
            </a:r>
            <a:r>
              <a:rPr lang="ru-RU" dirty="0" err="1"/>
              <a:t>Protocol</a:t>
            </a:r>
            <a:r>
              <a:rPr lang="ru-RU" dirty="0"/>
              <a:t>) — протокол, работающий поверх SSH (порт 22), не имеет ничего общего с FTP, кроме названия. Обеспечивает шифрование, аутентификацию и широкий набор команд управления файлами.</a:t>
            </a:r>
          </a:p>
          <a:p>
            <a:pPr rtl="0"/>
            <a:br>
              <a:rPr lang="ru-RU" dirty="0"/>
            </a:br>
            <a:r>
              <a:rPr lang="ru-RU" dirty="0"/>
              <a:t>· SCP (</a:t>
            </a:r>
            <a:r>
              <a:rPr lang="ru-RU" dirty="0" err="1"/>
              <a:t>Secure</a:t>
            </a:r>
            <a:r>
              <a:rPr lang="ru-RU" dirty="0"/>
              <a:t> </a:t>
            </a:r>
            <a:r>
              <a:rPr lang="ru-RU" dirty="0" err="1"/>
              <a:t>Copy</a:t>
            </a:r>
            <a:r>
              <a:rPr lang="ru-RU" dirty="0"/>
              <a:t>) — также поверх SSH, предназначен только для копирования файлов.</a:t>
            </a:r>
          </a:p>
          <a:p>
            <a:pPr rtl="0"/>
            <a:r>
              <a:rPr lang="ru-RU" dirty="0"/>
              <a:t>В настоящее время для безопасной передачи рекомендуется использовать SFTP или FTPS. Однако классический FTP всё ещё встречается во внутренних сетях и на устаревших устройствах.</a:t>
            </a:r>
          </a:p>
        </p:txBody>
      </p:sp>
    </p:spTree>
    <p:extLst>
      <p:ext uri="{BB962C8B-B14F-4D97-AF65-F5344CB8AC3E}">
        <p14:creationId xmlns:p14="http://schemas.microsoft.com/office/powerpoint/2010/main" val="240614351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BDC747-0F19-45B6-BBD7-A91C383E97FB}"/>
              </a:ext>
            </a:extLst>
          </p:cNvPr>
          <p:cNvSpPr txBox="1"/>
          <p:nvPr/>
        </p:nvSpPr>
        <p:spPr>
          <a:xfrm>
            <a:off x="717175" y="751344"/>
            <a:ext cx="10676965" cy="5355312"/>
          </a:xfrm>
          <a:prstGeom prst="rect">
            <a:avLst/>
          </a:prstGeom>
          <a:noFill/>
        </p:spPr>
        <p:txBody>
          <a:bodyPr wrap="square">
            <a:spAutoFit/>
          </a:bodyPr>
          <a:lstStyle/>
          <a:p>
            <a:pPr rtl="0"/>
            <a:r>
              <a:rPr lang="ru-RU" dirty="0"/>
              <a:t>5. Пример простой FTP-сессии (активный режим)</a:t>
            </a:r>
          </a:p>
          <a:p>
            <a:pPr rtl="0"/>
            <a:endParaRPr lang="ru-RU" dirty="0"/>
          </a:p>
          <a:p>
            <a:pPr rtl="0"/>
            <a:r>
              <a:rPr lang="ru-RU" dirty="0"/>
              <a:t>Клиент: подключается к серверу:21</a:t>
            </a:r>
            <a:br>
              <a:rPr lang="ru-RU" dirty="0"/>
            </a:br>
            <a:r>
              <a:rPr lang="ru-RU" dirty="0"/>
              <a:t>Сервер: 220 FTP </a:t>
            </a:r>
            <a:r>
              <a:rPr lang="ru-RU" dirty="0" err="1"/>
              <a:t>server</a:t>
            </a:r>
            <a:r>
              <a:rPr lang="ru-RU" dirty="0"/>
              <a:t> </a:t>
            </a:r>
            <a:r>
              <a:rPr lang="ru-RU" dirty="0" err="1"/>
              <a:t>ready</a:t>
            </a:r>
            <a:br>
              <a:rPr lang="ru-RU" dirty="0"/>
            </a:br>
            <a:r>
              <a:rPr lang="ru-RU" dirty="0"/>
              <a:t>Клиент: USER </a:t>
            </a:r>
            <a:r>
              <a:rPr lang="ru-RU" dirty="0" err="1"/>
              <a:t>anonymous</a:t>
            </a:r>
            <a:br>
              <a:rPr lang="ru-RU" dirty="0"/>
            </a:br>
            <a:r>
              <a:rPr lang="ru-RU" dirty="0"/>
              <a:t>Сервер: 331 </a:t>
            </a:r>
            <a:r>
              <a:rPr lang="ru-RU" dirty="0" err="1"/>
              <a:t>Please</a:t>
            </a:r>
            <a:r>
              <a:rPr lang="ru-RU" dirty="0"/>
              <a:t> </a:t>
            </a:r>
            <a:r>
              <a:rPr lang="ru-RU" dirty="0" err="1"/>
              <a:t>specify</a:t>
            </a:r>
            <a:r>
              <a:rPr lang="ru-RU" dirty="0"/>
              <a:t> </a:t>
            </a:r>
            <a:r>
              <a:rPr lang="ru-RU" dirty="0" err="1"/>
              <a:t>the</a:t>
            </a:r>
            <a:r>
              <a:rPr lang="ru-RU" dirty="0"/>
              <a:t> </a:t>
            </a:r>
            <a:r>
              <a:rPr lang="ru-RU" dirty="0" err="1"/>
              <a:t>password</a:t>
            </a:r>
            <a:br>
              <a:rPr lang="ru-RU" dirty="0"/>
            </a:br>
            <a:r>
              <a:rPr lang="ru-RU" dirty="0"/>
              <a:t>Клиент: PASS </a:t>
            </a:r>
            <a:r>
              <a:rPr lang="ru-RU" dirty="0" err="1"/>
              <a:t>guest</a:t>
            </a:r>
            <a:r>
              <a:rPr lang="ru-RU" dirty="0"/>
              <a:t>@</a:t>
            </a:r>
            <a:br>
              <a:rPr lang="ru-RU" dirty="0"/>
            </a:br>
            <a:r>
              <a:rPr lang="ru-RU" dirty="0"/>
              <a:t>Сервер: 230 </a:t>
            </a:r>
            <a:r>
              <a:rPr lang="ru-RU" dirty="0" err="1"/>
              <a:t>Login</a:t>
            </a:r>
            <a:r>
              <a:rPr lang="ru-RU" dirty="0"/>
              <a:t> </a:t>
            </a:r>
            <a:r>
              <a:rPr lang="ru-RU" dirty="0" err="1"/>
              <a:t>successful</a:t>
            </a:r>
            <a:br>
              <a:rPr lang="ru-RU" dirty="0"/>
            </a:br>
            <a:r>
              <a:rPr lang="ru-RU" dirty="0"/>
              <a:t>Клиент: TYPE I</a:t>
            </a:r>
            <a:br>
              <a:rPr lang="ru-RU" dirty="0"/>
            </a:br>
            <a:r>
              <a:rPr lang="ru-RU" dirty="0"/>
              <a:t>Сервер: 200 </a:t>
            </a:r>
            <a:r>
              <a:rPr lang="ru-RU" dirty="0" err="1"/>
              <a:t>Switching</a:t>
            </a:r>
            <a:r>
              <a:rPr lang="ru-RU" dirty="0"/>
              <a:t> </a:t>
            </a:r>
            <a:r>
              <a:rPr lang="ru-RU" dirty="0" err="1"/>
              <a:t>to</a:t>
            </a:r>
            <a:r>
              <a:rPr lang="ru-RU" dirty="0"/>
              <a:t> </a:t>
            </a:r>
            <a:r>
              <a:rPr lang="ru-RU" dirty="0" err="1"/>
              <a:t>Binary</a:t>
            </a:r>
            <a:r>
              <a:rPr lang="ru-RU" dirty="0"/>
              <a:t> </a:t>
            </a:r>
            <a:r>
              <a:rPr lang="ru-RU" dirty="0" err="1"/>
              <a:t>mode</a:t>
            </a:r>
            <a:br>
              <a:rPr lang="ru-RU" dirty="0"/>
            </a:br>
            <a:r>
              <a:rPr lang="ru-RU" dirty="0"/>
              <a:t>Клиент: PASV</a:t>
            </a:r>
            <a:br>
              <a:rPr lang="ru-RU" dirty="0"/>
            </a:br>
            <a:r>
              <a:rPr lang="ru-RU" dirty="0"/>
              <a:t>Сервер: 227 </a:t>
            </a:r>
            <a:r>
              <a:rPr lang="ru-RU" dirty="0" err="1"/>
              <a:t>Entering</a:t>
            </a:r>
            <a:r>
              <a:rPr lang="ru-RU" dirty="0"/>
              <a:t> </a:t>
            </a:r>
            <a:r>
              <a:rPr lang="ru-RU" dirty="0" err="1"/>
              <a:t>Passive</a:t>
            </a:r>
            <a:r>
              <a:rPr lang="ru-RU" dirty="0"/>
              <a:t> </a:t>
            </a:r>
            <a:r>
              <a:rPr lang="ru-RU" dirty="0" err="1"/>
              <a:t>Mode</a:t>
            </a:r>
            <a:r>
              <a:rPr lang="ru-RU" dirty="0"/>
              <a:t> (192,168,1,1,4,12)</a:t>
            </a:r>
            <a:br>
              <a:rPr lang="ru-RU" dirty="0"/>
            </a:br>
            <a:r>
              <a:rPr lang="ru-RU" dirty="0"/>
              <a:t>Клиент: устанавливает соединение данных на порт 1036</a:t>
            </a:r>
            <a:br>
              <a:rPr lang="ru-RU" dirty="0"/>
            </a:br>
            <a:r>
              <a:rPr lang="ru-RU" dirty="0"/>
              <a:t>Клиент: RETR file.zip</a:t>
            </a:r>
            <a:br>
              <a:rPr lang="ru-RU" dirty="0"/>
            </a:br>
            <a:r>
              <a:rPr lang="ru-RU" dirty="0"/>
              <a:t>Сервер: 150 </a:t>
            </a:r>
            <a:r>
              <a:rPr lang="ru-RU" dirty="0" err="1"/>
              <a:t>Opening</a:t>
            </a:r>
            <a:r>
              <a:rPr lang="ru-RU" dirty="0"/>
              <a:t> BINARY </a:t>
            </a:r>
            <a:r>
              <a:rPr lang="ru-RU" dirty="0" err="1"/>
              <a:t>mode</a:t>
            </a:r>
            <a:r>
              <a:rPr lang="ru-RU" dirty="0"/>
              <a:t> </a:t>
            </a:r>
            <a:r>
              <a:rPr lang="ru-RU" dirty="0" err="1"/>
              <a:t>data</a:t>
            </a:r>
            <a:r>
              <a:rPr lang="ru-RU" dirty="0"/>
              <a:t> </a:t>
            </a:r>
            <a:r>
              <a:rPr lang="ru-RU" dirty="0" err="1"/>
              <a:t>connection</a:t>
            </a:r>
            <a:r>
              <a:rPr lang="ru-RU" dirty="0"/>
              <a:t> </a:t>
            </a:r>
            <a:r>
              <a:rPr lang="ru-RU" dirty="0" err="1"/>
              <a:t>for</a:t>
            </a:r>
            <a:r>
              <a:rPr lang="ru-RU" dirty="0"/>
              <a:t> file.zip</a:t>
            </a:r>
            <a:br>
              <a:rPr lang="ru-RU" dirty="0"/>
            </a:br>
            <a:r>
              <a:rPr lang="ru-RU" dirty="0"/>
              <a:t>... (передача данных по каналу данных) ...</a:t>
            </a:r>
            <a:br>
              <a:rPr lang="ru-RU" dirty="0"/>
            </a:br>
            <a:r>
              <a:rPr lang="ru-RU" dirty="0"/>
              <a:t>Сервер: 226 </a:t>
            </a:r>
            <a:r>
              <a:rPr lang="ru-RU" dirty="0" err="1"/>
              <a:t>Transfer</a:t>
            </a:r>
            <a:r>
              <a:rPr lang="ru-RU" dirty="0"/>
              <a:t> </a:t>
            </a:r>
            <a:r>
              <a:rPr lang="ru-RU" dirty="0" err="1"/>
              <a:t>complete</a:t>
            </a:r>
            <a:br>
              <a:rPr lang="ru-RU" dirty="0"/>
            </a:br>
            <a:r>
              <a:rPr lang="ru-RU" dirty="0"/>
              <a:t>Клиент: QUIT</a:t>
            </a:r>
            <a:br>
              <a:rPr lang="ru-RU" dirty="0"/>
            </a:br>
            <a:r>
              <a:rPr lang="ru-RU" dirty="0"/>
              <a:t>Сервер: 221 </a:t>
            </a:r>
            <a:r>
              <a:rPr lang="ru-RU" dirty="0" err="1"/>
              <a:t>Goodbye</a:t>
            </a:r>
            <a:endParaRPr lang="ru-RU" dirty="0"/>
          </a:p>
        </p:txBody>
      </p:sp>
    </p:spTree>
    <p:extLst>
      <p:ext uri="{BB962C8B-B14F-4D97-AF65-F5344CB8AC3E}">
        <p14:creationId xmlns:p14="http://schemas.microsoft.com/office/powerpoint/2010/main" val="22261030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719C7A-6468-4D85-8DFE-A86C68D91221}"/>
              </a:ext>
            </a:extLst>
          </p:cNvPr>
          <p:cNvSpPr txBox="1"/>
          <p:nvPr/>
        </p:nvSpPr>
        <p:spPr>
          <a:xfrm>
            <a:off x="519952" y="292731"/>
            <a:ext cx="11492753" cy="923330"/>
          </a:xfrm>
          <a:prstGeom prst="rect">
            <a:avLst/>
          </a:prstGeom>
          <a:noFill/>
        </p:spPr>
        <p:txBody>
          <a:bodyPr wrap="square">
            <a:spAutoFit/>
          </a:bodyPr>
          <a:lstStyle/>
          <a:p>
            <a:r>
              <a:rPr lang="ru-RU" dirty="0"/>
              <a:t>Протоколы SFTP и FTPS используются для безопасной передачи файлов, но работают они по-разному. SFTP часто используется для администрирования серверов, а FTPS — для совместимости с классическими FTP-инструментами и хостингом . Вот подробные примеры использования обоих протоколов.</a:t>
            </a:r>
            <a:endParaRPr lang="en-US" dirty="0"/>
          </a:p>
        </p:txBody>
      </p:sp>
      <p:sp>
        <p:nvSpPr>
          <p:cNvPr id="7" name="TextBox 6">
            <a:extLst>
              <a:ext uri="{FF2B5EF4-FFF2-40B4-BE49-F238E27FC236}">
                <a16:creationId xmlns:a16="http://schemas.microsoft.com/office/drawing/2014/main" id="{BFFD8CB5-44C7-4135-843F-947D51DC2B23}"/>
              </a:ext>
            </a:extLst>
          </p:cNvPr>
          <p:cNvSpPr txBox="1"/>
          <p:nvPr/>
        </p:nvSpPr>
        <p:spPr>
          <a:xfrm>
            <a:off x="582705" y="1305343"/>
            <a:ext cx="11089341" cy="1477328"/>
          </a:xfrm>
          <a:prstGeom prst="rect">
            <a:avLst/>
          </a:prstGeom>
          <a:noFill/>
        </p:spPr>
        <p:txBody>
          <a:bodyPr wrap="square">
            <a:spAutoFit/>
          </a:bodyPr>
          <a:lstStyle/>
          <a:p>
            <a:r>
              <a:rPr lang="ru-RU" b="1" dirty="0"/>
              <a:t>Примеры использования SFTP</a:t>
            </a:r>
          </a:p>
          <a:p>
            <a:r>
              <a:rPr lang="ru-RU" dirty="0"/>
              <a:t>SFTP (SSH </a:t>
            </a:r>
            <a:r>
              <a:rPr lang="ru-RU" dirty="0" err="1"/>
              <a:t>File</a:t>
            </a:r>
            <a:r>
              <a:rPr lang="ru-RU" dirty="0"/>
              <a:t> </a:t>
            </a:r>
            <a:r>
              <a:rPr lang="ru-RU" dirty="0" err="1"/>
              <a:t>Transfer</a:t>
            </a:r>
            <a:r>
              <a:rPr lang="ru-RU" dirty="0"/>
              <a:t> </a:t>
            </a:r>
            <a:r>
              <a:rPr lang="ru-RU" dirty="0" err="1"/>
              <a:t>Protocol</a:t>
            </a:r>
            <a:r>
              <a:rPr lang="ru-RU" dirty="0"/>
              <a:t>) работает поверх протокола SSH (обычно порт 22) и идеально подходит для безопасного управления файлами на удаленных серверах .</a:t>
            </a:r>
          </a:p>
          <a:p>
            <a:pPr>
              <a:buFont typeface="Arial" panose="020B0604020202020204" pitchFamily="34" charset="0"/>
              <a:buChar char="•"/>
            </a:pPr>
            <a:r>
              <a:rPr lang="ru-RU" b="1" dirty="0"/>
              <a:t>Базовое подключение и загрузка (интерактивный режим).</a:t>
            </a:r>
            <a:r>
              <a:rPr lang="ru-RU" dirty="0"/>
              <a:t> Это самый распространенный сценарий для </a:t>
            </a:r>
            <a:r>
              <a:rPr lang="ru-RU" dirty="0" err="1"/>
              <a:t>Linux</a:t>
            </a:r>
            <a:r>
              <a:rPr lang="ru-RU" dirty="0"/>
              <a:t>, </a:t>
            </a:r>
            <a:r>
              <a:rPr lang="ru-RU" dirty="0" err="1"/>
              <a:t>macOS</a:t>
            </a:r>
            <a:r>
              <a:rPr lang="ru-RU" dirty="0"/>
              <a:t> и современных версий </a:t>
            </a:r>
            <a:r>
              <a:rPr lang="ru-RU" dirty="0" err="1"/>
              <a:t>Windows</a:t>
            </a:r>
            <a:r>
              <a:rPr lang="ru-RU" dirty="0"/>
              <a:t>.</a:t>
            </a:r>
          </a:p>
        </p:txBody>
      </p:sp>
      <p:sp>
        <p:nvSpPr>
          <p:cNvPr id="9" name="TextBox 8">
            <a:extLst>
              <a:ext uri="{FF2B5EF4-FFF2-40B4-BE49-F238E27FC236}">
                <a16:creationId xmlns:a16="http://schemas.microsoft.com/office/drawing/2014/main" id="{331B1969-D922-46C0-A13B-086D38570430}"/>
              </a:ext>
            </a:extLst>
          </p:cNvPr>
          <p:cNvSpPr txBox="1"/>
          <p:nvPr/>
        </p:nvSpPr>
        <p:spPr>
          <a:xfrm>
            <a:off x="735105" y="3034117"/>
            <a:ext cx="10712823" cy="923330"/>
          </a:xfrm>
          <a:prstGeom prst="rect">
            <a:avLst/>
          </a:prstGeom>
          <a:noFill/>
        </p:spPr>
        <p:txBody>
          <a:bodyPr wrap="square">
            <a:spAutoFit/>
          </a:bodyPr>
          <a:lstStyle/>
          <a:p>
            <a:r>
              <a:rPr lang="en-US" dirty="0"/>
              <a:t># </a:t>
            </a:r>
            <a:r>
              <a:rPr lang="en-US" dirty="0" err="1"/>
              <a:t>Подключение</a:t>
            </a:r>
            <a:r>
              <a:rPr lang="en-US" dirty="0"/>
              <a:t> к </a:t>
            </a:r>
            <a:r>
              <a:rPr lang="en-US" dirty="0" err="1"/>
              <a:t>серверу</a:t>
            </a:r>
            <a:endParaRPr lang="en-US" dirty="0"/>
          </a:p>
          <a:p>
            <a:r>
              <a:rPr lang="en-US" dirty="0"/>
              <a:t># </a:t>
            </a:r>
            <a:r>
              <a:rPr lang="en-US" dirty="0" err="1"/>
              <a:t>Формат</a:t>
            </a:r>
            <a:r>
              <a:rPr lang="en-US" dirty="0"/>
              <a:t>: sftp </a:t>
            </a:r>
            <a:r>
              <a:rPr lang="en-US" dirty="0" err="1"/>
              <a:t>имя_пользователя@адрес_сервера</a:t>
            </a:r>
            <a:endParaRPr lang="ru-RU" dirty="0"/>
          </a:p>
          <a:p>
            <a:r>
              <a:rPr lang="en-US" dirty="0"/>
              <a:t>sftp user@192.168.0.3</a:t>
            </a:r>
          </a:p>
        </p:txBody>
      </p:sp>
    </p:spTree>
    <p:extLst>
      <p:ext uri="{BB962C8B-B14F-4D97-AF65-F5344CB8AC3E}">
        <p14:creationId xmlns:p14="http://schemas.microsoft.com/office/powerpoint/2010/main" val="7229073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840F9B-D5B7-43F6-B989-903C81E80F53}"/>
              </a:ext>
            </a:extLst>
          </p:cNvPr>
          <p:cNvSpPr>
            <a:spLocks noChangeArrowheads="1"/>
          </p:cNvSpPr>
          <p:nvPr/>
        </p:nvSpPr>
        <p:spPr bwMode="auto">
          <a:xfrm>
            <a:off x="268941" y="487687"/>
            <a:ext cx="68620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После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ввода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пароля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вы</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попадете</a:t>
            </a:r>
            <a:r>
              <a:rPr kumimoji="0" lang="en-US" altLang="en-US" sz="1800" b="0" i="0" u="none" strike="noStrike" cap="none" normalizeH="0" baseline="0" dirty="0">
                <a:ln>
                  <a:noFill/>
                </a:ln>
                <a:solidFill>
                  <a:schemeClr val="tx1"/>
                </a:solidFill>
                <a:effectLst/>
                <a:latin typeface="Arial" panose="020B0604020202020204" pitchFamily="34" charset="0"/>
              </a:rPr>
              <a:t> в </a:t>
            </a:r>
            <a:r>
              <a:rPr kumimoji="0" lang="en-US" altLang="en-US" sz="1800" b="0" i="0" u="none" strike="noStrike" cap="none" normalizeH="0" baseline="0" dirty="0" err="1">
                <a:ln>
                  <a:noFill/>
                </a:ln>
                <a:solidFill>
                  <a:schemeClr val="tx1"/>
                </a:solidFill>
                <a:effectLst/>
                <a:latin typeface="Arial" panose="020B0604020202020204" pitchFamily="34" charset="0"/>
              </a:rPr>
              <a:t>интерактивную</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оболочку</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Рисунок 5">
            <a:extLst>
              <a:ext uri="{FF2B5EF4-FFF2-40B4-BE49-F238E27FC236}">
                <a16:creationId xmlns:a16="http://schemas.microsoft.com/office/drawing/2014/main" id="{87B69C25-D0FC-4E93-8758-366765DF4366}"/>
              </a:ext>
            </a:extLst>
          </p:cNvPr>
          <p:cNvPicPr>
            <a:picLocks noChangeAspect="1"/>
          </p:cNvPicPr>
          <p:nvPr/>
        </p:nvPicPr>
        <p:blipFill>
          <a:blip r:embed="rId2"/>
          <a:stretch>
            <a:fillRect/>
          </a:stretch>
        </p:blipFill>
        <p:spPr>
          <a:xfrm>
            <a:off x="1446823" y="857019"/>
            <a:ext cx="6791741" cy="5629484"/>
          </a:xfrm>
          <a:prstGeom prst="rect">
            <a:avLst/>
          </a:prstGeom>
        </p:spPr>
      </p:pic>
    </p:spTree>
    <p:extLst>
      <p:ext uri="{BB962C8B-B14F-4D97-AF65-F5344CB8AC3E}">
        <p14:creationId xmlns:p14="http://schemas.microsoft.com/office/powerpoint/2010/main" val="27029061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9ABC021-7190-4395-B0AA-F0D9C7FFC3E6}"/>
              </a:ext>
            </a:extLst>
          </p:cNvPr>
          <p:cNvSpPr>
            <a:spLocks noChangeArrowheads="1"/>
          </p:cNvSpPr>
          <p:nvPr/>
        </p:nvSpPr>
        <p:spPr bwMode="auto">
          <a:xfrm>
            <a:off x="540599" y="391552"/>
            <a:ext cx="1009154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a:ln>
                  <a:noFill/>
                </a:ln>
                <a:solidFill>
                  <a:schemeClr val="tx1"/>
                </a:solidFill>
                <a:effectLst/>
                <a:latin typeface="Arial" panose="020B0604020202020204" pitchFamily="34" charset="0"/>
              </a:rPr>
              <a:t>Подключение с нестандартным портом.</a:t>
            </a:r>
            <a:r>
              <a:rPr kumimoji="0" lang="en-US" altLang="en-US" sz="1800" b="0" i="0" u="none" strike="noStrike" cap="none" normalizeH="0" baseline="0">
                <a:ln>
                  <a:noFill/>
                </a:ln>
                <a:solidFill>
                  <a:schemeClr val="tx1"/>
                </a:solidFill>
                <a:effectLst/>
                <a:latin typeface="Arial" panose="020B0604020202020204" pitchFamily="34" charset="0"/>
              </a:rPr>
              <a:t> Если SSH-сервер (а значит и SFTP) слушает не 22-й порт, а другой, например, 10022, используется флаг </a:t>
            </a:r>
          </a:p>
        </p:txBody>
      </p:sp>
      <p:sp>
        <p:nvSpPr>
          <p:cNvPr id="5" name="TextBox 4">
            <a:extLst>
              <a:ext uri="{FF2B5EF4-FFF2-40B4-BE49-F238E27FC236}">
                <a16:creationId xmlns:a16="http://schemas.microsoft.com/office/drawing/2014/main" id="{DE3CFAB4-BC82-47BD-9BD9-B896AA6A1023}"/>
              </a:ext>
            </a:extLst>
          </p:cNvPr>
          <p:cNvSpPr txBox="1"/>
          <p:nvPr/>
        </p:nvSpPr>
        <p:spPr>
          <a:xfrm>
            <a:off x="1048870" y="1675511"/>
            <a:ext cx="6096000" cy="923330"/>
          </a:xfrm>
          <a:prstGeom prst="rect">
            <a:avLst/>
          </a:prstGeom>
          <a:noFill/>
        </p:spPr>
        <p:txBody>
          <a:bodyPr wrap="square">
            <a:spAutoFit/>
          </a:bodyPr>
          <a:lstStyle/>
          <a:p>
            <a:r>
              <a:rPr lang="en-US" dirty="0"/>
              <a:t>Bash</a:t>
            </a:r>
          </a:p>
          <a:p>
            <a:endParaRPr lang="en-US" dirty="0"/>
          </a:p>
          <a:p>
            <a:r>
              <a:rPr lang="en-US" dirty="0"/>
              <a:t>sftp -P 10022 john@sftp-acct1.example.com</a:t>
            </a:r>
          </a:p>
        </p:txBody>
      </p:sp>
      <p:sp>
        <p:nvSpPr>
          <p:cNvPr id="7" name="TextBox 6">
            <a:extLst>
              <a:ext uri="{FF2B5EF4-FFF2-40B4-BE49-F238E27FC236}">
                <a16:creationId xmlns:a16="http://schemas.microsoft.com/office/drawing/2014/main" id="{92001D0C-21B8-4D8A-B367-7FC08B462AF5}"/>
              </a:ext>
            </a:extLst>
          </p:cNvPr>
          <p:cNvSpPr txBox="1"/>
          <p:nvPr/>
        </p:nvSpPr>
        <p:spPr>
          <a:xfrm>
            <a:off x="824753" y="2757119"/>
            <a:ext cx="10847294" cy="646331"/>
          </a:xfrm>
          <a:prstGeom prst="rect">
            <a:avLst/>
          </a:prstGeom>
          <a:noFill/>
        </p:spPr>
        <p:txBody>
          <a:bodyPr wrap="square">
            <a:spAutoFit/>
          </a:bodyPr>
          <a:lstStyle/>
          <a:p>
            <a:r>
              <a:rPr lang="ru-RU" b="1" dirty="0"/>
              <a:t>Программное использование (на примере 1С:Шина).</a:t>
            </a:r>
            <a:r>
              <a:rPr lang="ru-RU" dirty="0"/>
              <a:t> SFTP часто встраивают в приложения для автоматизации. Пример на псевдокоде, демонстрирующий загрузку файла по SFTP </a:t>
            </a:r>
            <a:endParaRPr lang="en-US" dirty="0"/>
          </a:p>
        </p:txBody>
      </p:sp>
      <p:sp>
        <p:nvSpPr>
          <p:cNvPr id="9" name="TextBox 8">
            <a:extLst>
              <a:ext uri="{FF2B5EF4-FFF2-40B4-BE49-F238E27FC236}">
                <a16:creationId xmlns:a16="http://schemas.microsoft.com/office/drawing/2014/main" id="{7CA1D7B5-919A-405A-B399-022FB4847FA6}"/>
              </a:ext>
            </a:extLst>
          </p:cNvPr>
          <p:cNvSpPr txBox="1"/>
          <p:nvPr/>
        </p:nvSpPr>
        <p:spPr>
          <a:xfrm>
            <a:off x="708211" y="3561727"/>
            <a:ext cx="10963836" cy="1477328"/>
          </a:xfrm>
          <a:prstGeom prst="rect">
            <a:avLst/>
          </a:prstGeom>
          <a:noFill/>
        </p:spPr>
        <p:txBody>
          <a:bodyPr wrap="square">
            <a:spAutoFit/>
          </a:bodyPr>
          <a:lstStyle/>
          <a:p>
            <a:r>
              <a:rPr lang="en-US" dirty="0"/>
              <a:t># </a:t>
            </a:r>
            <a:r>
              <a:rPr lang="en-US" dirty="0" err="1"/>
              <a:t>Пример</a:t>
            </a:r>
            <a:r>
              <a:rPr lang="en-US" dirty="0"/>
              <a:t> </a:t>
            </a:r>
            <a:r>
              <a:rPr lang="en-US" dirty="0" err="1"/>
              <a:t>логики</a:t>
            </a:r>
            <a:r>
              <a:rPr lang="en-US" dirty="0"/>
              <a:t> </a:t>
            </a:r>
            <a:r>
              <a:rPr lang="en-US" dirty="0" err="1"/>
              <a:t>подключения</a:t>
            </a:r>
            <a:r>
              <a:rPr lang="en-US" dirty="0"/>
              <a:t> и </a:t>
            </a:r>
            <a:r>
              <a:rPr lang="en-US" dirty="0" err="1"/>
              <a:t>загрузки</a:t>
            </a:r>
            <a:r>
              <a:rPr lang="en-US" dirty="0"/>
              <a:t> </a:t>
            </a:r>
            <a:r>
              <a:rPr lang="en-US" dirty="0" err="1"/>
              <a:t>файла</a:t>
            </a:r>
            <a:endParaRPr lang="en-US" dirty="0"/>
          </a:p>
          <a:p>
            <a:r>
              <a:rPr lang="en-US" dirty="0" err="1"/>
              <a:t>соединение</a:t>
            </a:r>
            <a:r>
              <a:rPr lang="en-US" dirty="0"/>
              <a:t> = </a:t>
            </a:r>
            <a:r>
              <a:rPr lang="en-US" dirty="0" err="1"/>
              <a:t>новое</a:t>
            </a:r>
            <a:r>
              <a:rPr lang="en-US" dirty="0"/>
              <a:t> </a:t>
            </a:r>
            <a:r>
              <a:rPr lang="en-US" dirty="0" err="1"/>
              <a:t>Соединение</a:t>
            </a:r>
            <a:r>
              <a:rPr lang="ru-RU" dirty="0"/>
              <a:t> </a:t>
            </a:r>
            <a:r>
              <a:rPr lang="en-US" dirty="0" err="1"/>
              <a:t>Ssh</a:t>
            </a:r>
            <a:r>
              <a:rPr lang="en-US" dirty="0"/>
              <a:t>("192.168.0.3", "user", "password")</a:t>
            </a:r>
          </a:p>
          <a:p>
            <a:r>
              <a:rPr lang="en-US" dirty="0"/>
              <a:t>sftp=</a:t>
            </a:r>
            <a:r>
              <a:rPr lang="en-US" dirty="0" err="1"/>
              <a:t>соединение.ОткрытьСоединениеSftp</a:t>
            </a:r>
            <a:r>
              <a:rPr lang="en-US" dirty="0"/>
              <a:t>()</a:t>
            </a:r>
          </a:p>
          <a:p>
            <a:r>
              <a:rPr lang="en-US" dirty="0" err="1"/>
              <a:t>sftp.УстановитьТекущийКаталог</a:t>
            </a:r>
            <a:r>
              <a:rPr lang="en-US" dirty="0"/>
              <a:t>("/</a:t>
            </a:r>
            <a:r>
              <a:rPr lang="en-US" dirty="0" err="1"/>
              <a:t>tmp</a:t>
            </a:r>
            <a:r>
              <a:rPr lang="en-US" dirty="0"/>
              <a:t>/")</a:t>
            </a:r>
          </a:p>
          <a:p>
            <a:r>
              <a:rPr lang="en-US" dirty="0" err="1"/>
              <a:t>sftp.Поместить</a:t>
            </a:r>
            <a:r>
              <a:rPr lang="en-US" dirty="0"/>
              <a:t>(</a:t>
            </a:r>
            <a:r>
              <a:rPr lang="en-US" dirty="0" err="1"/>
              <a:t>мой_файл</a:t>
            </a:r>
            <a:r>
              <a:rPr lang="en-US" dirty="0"/>
              <a:t>) # </a:t>
            </a:r>
            <a:r>
              <a:rPr lang="en-US" dirty="0" err="1"/>
              <a:t>Загружаем</a:t>
            </a:r>
            <a:r>
              <a:rPr lang="en-US" dirty="0"/>
              <a:t> </a:t>
            </a:r>
            <a:r>
              <a:rPr lang="en-US" dirty="0" err="1"/>
              <a:t>файл</a:t>
            </a:r>
            <a:endParaRPr lang="en-US" dirty="0"/>
          </a:p>
        </p:txBody>
      </p:sp>
    </p:spTree>
    <p:extLst>
      <p:ext uri="{BB962C8B-B14F-4D97-AF65-F5344CB8AC3E}">
        <p14:creationId xmlns:p14="http://schemas.microsoft.com/office/powerpoint/2010/main" val="26309346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876FCD4-129B-4C40-B9F5-EE263FD5E67E}"/>
              </a:ext>
            </a:extLst>
          </p:cNvPr>
          <p:cNvSpPr txBox="1"/>
          <p:nvPr/>
        </p:nvSpPr>
        <p:spPr>
          <a:xfrm>
            <a:off x="591671" y="533872"/>
            <a:ext cx="11125200" cy="646331"/>
          </a:xfrm>
          <a:prstGeom prst="rect">
            <a:avLst/>
          </a:prstGeom>
          <a:noFill/>
        </p:spPr>
        <p:txBody>
          <a:bodyPr wrap="square">
            <a:spAutoFit/>
          </a:bodyPr>
          <a:lstStyle/>
          <a:p>
            <a:r>
              <a:rPr lang="ru-RU" b="1" dirty="0"/>
              <a:t>Подключение к облачным хранилищам.</a:t>
            </a:r>
            <a:r>
              <a:rPr lang="ru-RU" dirty="0"/>
              <a:t> Современные облачные сервисы, такие как </a:t>
            </a:r>
            <a:r>
              <a:rPr lang="ru-RU" dirty="0" err="1"/>
              <a:t>Azure</a:t>
            </a:r>
            <a:r>
              <a:rPr lang="ru-RU" dirty="0"/>
              <a:t> </a:t>
            </a:r>
            <a:r>
              <a:rPr lang="ru-RU" dirty="0" err="1"/>
              <a:t>Blob</a:t>
            </a:r>
            <a:r>
              <a:rPr lang="ru-RU" dirty="0"/>
              <a:t> </a:t>
            </a:r>
            <a:r>
              <a:rPr lang="ru-RU" dirty="0" err="1"/>
              <a:t>Storage</a:t>
            </a:r>
            <a:r>
              <a:rPr lang="ru-RU" dirty="0"/>
              <a:t>, также поддерживают SFTP. Имя пользователя при этом часто составляется из имени аккаунта и имени пользователя</a:t>
            </a:r>
            <a:endParaRPr lang="en-US" dirty="0"/>
          </a:p>
        </p:txBody>
      </p:sp>
      <p:pic>
        <p:nvPicPr>
          <p:cNvPr id="6" name="Рисунок 5">
            <a:extLst>
              <a:ext uri="{FF2B5EF4-FFF2-40B4-BE49-F238E27FC236}">
                <a16:creationId xmlns:a16="http://schemas.microsoft.com/office/drawing/2014/main" id="{646CACB9-8653-482B-B1CC-96DCC72F49D5}"/>
              </a:ext>
            </a:extLst>
          </p:cNvPr>
          <p:cNvPicPr>
            <a:picLocks noChangeAspect="1"/>
          </p:cNvPicPr>
          <p:nvPr/>
        </p:nvPicPr>
        <p:blipFill>
          <a:blip r:embed="rId2"/>
          <a:stretch>
            <a:fillRect/>
          </a:stretch>
        </p:blipFill>
        <p:spPr>
          <a:xfrm>
            <a:off x="922398" y="1575446"/>
            <a:ext cx="5811061" cy="1448002"/>
          </a:xfrm>
          <a:prstGeom prst="rect">
            <a:avLst/>
          </a:prstGeom>
        </p:spPr>
      </p:pic>
    </p:spTree>
    <p:extLst>
      <p:ext uri="{BB962C8B-B14F-4D97-AF65-F5344CB8AC3E}">
        <p14:creationId xmlns:p14="http://schemas.microsoft.com/office/powerpoint/2010/main" val="14826011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9FC5DC5-72A2-4175-82BF-3DA290803F42}"/>
              </a:ext>
            </a:extLst>
          </p:cNvPr>
          <p:cNvSpPr txBox="1"/>
          <p:nvPr/>
        </p:nvSpPr>
        <p:spPr>
          <a:xfrm>
            <a:off x="779930" y="572852"/>
            <a:ext cx="6096000" cy="369332"/>
          </a:xfrm>
          <a:prstGeom prst="rect">
            <a:avLst/>
          </a:prstGeom>
          <a:noFill/>
        </p:spPr>
        <p:txBody>
          <a:bodyPr wrap="square">
            <a:spAutoFit/>
          </a:bodyPr>
          <a:lstStyle/>
          <a:p>
            <a:r>
              <a:rPr lang="ru-RU" b="1" dirty="0"/>
              <a:t>Примеры использования </a:t>
            </a:r>
            <a:r>
              <a:rPr lang="en-US" b="1" dirty="0"/>
              <a:t>FTPS</a:t>
            </a:r>
          </a:p>
        </p:txBody>
      </p:sp>
      <p:sp>
        <p:nvSpPr>
          <p:cNvPr id="5" name="Rectangle 2">
            <a:extLst>
              <a:ext uri="{FF2B5EF4-FFF2-40B4-BE49-F238E27FC236}">
                <a16:creationId xmlns:a16="http://schemas.microsoft.com/office/drawing/2014/main" id="{AA7FD37C-9864-4312-9287-D20DB357C83E}"/>
              </a:ext>
            </a:extLst>
          </p:cNvPr>
          <p:cNvSpPr>
            <a:spLocks noChangeArrowheads="1"/>
          </p:cNvSpPr>
          <p:nvPr/>
        </p:nvSpPr>
        <p:spPr bwMode="auto">
          <a:xfrm rot="10800000" flipV="1">
            <a:off x="511258" y="758240"/>
            <a:ext cx="1065876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FTPS (FTP over SSL/TLS) — </a:t>
            </a:r>
            <a:r>
              <a:rPr kumimoji="0" lang="en-US" altLang="en-US" sz="1800" b="0" i="0" u="none" strike="noStrike" cap="none" normalizeH="0" baseline="0" dirty="0" err="1">
                <a:ln>
                  <a:noFill/>
                </a:ln>
                <a:solidFill>
                  <a:schemeClr val="tx1"/>
                </a:solidFill>
                <a:effectLst/>
                <a:latin typeface="Arial" panose="020B0604020202020204" pitchFamily="34" charset="0"/>
              </a:rPr>
              <a:t>это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расширение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классического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протокола</a:t>
            </a:r>
            <a:r>
              <a:rPr kumimoji="0" lang="en-US" altLang="en-US" sz="1800" b="0" i="0" u="none" strike="noStrike" cap="none" normalizeH="0" baseline="0" dirty="0">
                <a:ln>
                  <a:noFill/>
                </a:ln>
                <a:solidFill>
                  <a:schemeClr val="tx1"/>
                </a:solidFill>
                <a:effectLst/>
                <a:latin typeface="Arial" panose="020B0604020202020204" pitchFamily="34" charset="0"/>
              </a:rPr>
              <a:t> FTP, </a:t>
            </a:r>
            <a:r>
              <a:rPr kumimoji="0" lang="en-US" altLang="en-US" sz="1800" b="0" i="0" u="none" strike="noStrike" cap="none" normalizeH="0" baseline="0" dirty="0" err="1">
                <a:ln>
                  <a:noFill/>
                </a:ln>
                <a:solidFill>
                  <a:schemeClr val="tx1"/>
                </a:solidFill>
                <a:effectLst/>
                <a:latin typeface="Arial" panose="020B0604020202020204" pitchFamily="34" charset="0"/>
              </a:rPr>
              <a:t>добавляющее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шифрование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требует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установки</a:t>
            </a:r>
            <a:r>
              <a:rPr kumimoji="0" lang="en-US" altLang="en-US" sz="1800" b="0" i="0" u="none" strike="noStrike" cap="none" normalizeH="0" baseline="0" dirty="0">
                <a:ln>
                  <a:noFill/>
                </a:ln>
                <a:solidFill>
                  <a:schemeClr val="tx1"/>
                </a:solidFill>
                <a:effectLst/>
                <a:latin typeface="Arial" panose="020B0604020202020204" pitchFamily="34" charset="0"/>
              </a:rPr>
              <a:t> и </a:t>
            </a:r>
            <a:r>
              <a:rPr kumimoji="0" lang="en-US" altLang="en-US" sz="1800" b="0" i="0" u="none" strike="noStrike" cap="none" normalizeH="0" baseline="0" dirty="0" err="1">
                <a:ln>
                  <a:noFill/>
                </a:ln>
                <a:solidFill>
                  <a:schemeClr val="tx1"/>
                </a:solidFill>
                <a:effectLst/>
                <a:latin typeface="Arial" panose="020B0604020202020204" pitchFamily="34" charset="0"/>
              </a:rPr>
              <a:t>настройки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отдельного</a:t>
            </a:r>
            <a:r>
              <a:rPr kumimoji="0" lang="en-US" altLang="en-US" sz="1800" b="0" i="0" u="none" strike="noStrike" cap="none" normalizeH="0" baseline="0" dirty="0">
                <a:ln>
                  <a:noFill/>
                </a:ln>
                <a:solidFill>
                  <a:schemeClr val="tx1"/>
                </a:solidFill>
                <a:effectLst/>
                <a:latin typeface="Arial" panose="020B0604020202020204" pitchFamily="34" charset="0"/>
              </a:rPr>
              <a:t> FTP-</a:t>
            </a:r>
            <a:r>
              <a:rPr kumimoji="0" lang="en-US" altLang="en-US" sz="1800" b="0" i="0" u="none" strike="noStrike" cap="none" normalizeH="0" baseline="0" dirty="0" err="1">
                <a:ln>
                  <a:noFill/>
                </a:ln>
                <a:solidFill>
                  <a:schemeClr val="tx1"/>
                </a:solidFill>
                <a:effectLst/>
                <a:latin typeface="Arial" panose="020B0604020202020204" pitchFamily="34" charset="0"/>
              </a:rPr>
              <a:t>сервера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dirty="0" err="1">
                <a:latin typeface="Arial" panose="020B0604020202020204" pitchFamily="34" charset="0"/>
              </a:rPr>
              <a:t>vsftpd</a:t>
            </a:r>
            <a:r>
              <a:rPr lang="en-US" altLang="en-US" dirty="0">
                <a:latin typeface="Arial" panose="020B0604020202020204" pitchFamily="34" charset="0"/>
              </a:rPr>
              <a:t>) и </a:t>
            </a:r>
            <a:r>
              <a:rPr lang="en-US" altLang="en-US" dirty="0" err="1">
                <a:latin typeface="Arial" panose="020B0604020202020204" pitchFamily="34" charset="0"/>
              </a:rPr>
              <a:t>сертификатов</a:t>
            </a:r>
            <a:r>
              <a:rPr lang="en-US" altLang="en-US" dirty="0">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Arial" panose="020B0604020202020204" pitchFamily="34" charset="0"/>
            </a:endParaRPr>
          </a:p>
        </p:txBody>
      </p:sp>
      <p:sp>
        <p:nvSpPr>
          <p:cNvPr id="7" name="Rectangle 4">
            <a:extLst>
              <a:ext uri="{FF2B5EF4-FFF2-40B4-BE49-F238E27FC236}">
                <a16:creationId xmlns:a16="http://schemas.microsoft.com/office/drawing/2014/main" id="{98E4A5E5-850D-4285-87CC-C9F4088EE099}"/>
              </a:ext>
            </a:extLst>
          </p:cNvPr>
          <p:cNvSpPr>
            <a:spLocks noChangeArrowheads="1"/>
          </p:cNvSpPr>
          <p:nvPr/>
        </p:nvSpPr>
        <p:spPr bwMode="auto">
          <a:xfrm>
            <a:off x="511258" y="1773902"/>
            <a:ext cx="896470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Настройка</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сервера</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на</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примере</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vsftpd</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Это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пример</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включения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шифрования</a:t>
            </a:r>
            <a:r>
              <a:rPr kumimoji="0" lang="en-US" altLang="en-US" sz="1800" b="0" i="0" u="none" strike="noStrike" cap="none" normalizeH="0" baseline="0" dirty="0">
                <a:ln>
                  <a:noFill/>
                </a:ln>
                <a:solidFill>
                  <a:schemeClr val="tx1"/>
                </a:solidFill>
                <a:effectLst/>
                <a:latin typeface="Arial" panose="020B0604020202020204" pitchFamily="34" charset="0"/>
              </a:rPr>
              <a:t> в </a:t>
            </a:r>
            <a:r>
              <a:rPr kumimoji="0" lang="en-US" altLang="en-US" sz="1800" b="0" i="0" u="none" strike="noStrike" cap="none" normalizeH="0" baseline="0" dirty="0" err="1">
                <a:ln>
                  <a:noFill/>
                </a:ln>
                <a:solidFill>
                  <a:schemeClr val="tx1"/>
                </a:solidFill>
                <a:effectLst/>
                <a:latin typeface="Arial" panose="020B0604020202020204" pitchFamily="34" charset="0"/>
              </a:rPr>
              <a:t>конфигурационном</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файле</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dirty="0">
                <a:latin typeface="Arial" panose="020B0604020202020204" pitchFamily="34" charset="0"/>
              </a:rPr>
              <a:t>/</a:t>
            </a:r>
            <a:r>
              <a:rPr lang="en-US" altLang="en-US" dirty="0" err="1">
                <a:latin typeface="Arial" panose="020B0604020202020204" pitchFamily="34" charset="0"/>
              </a:rPr>
              <a:t>etc</a:t>
            </a:r>
            <a:r>
              <a:rPr lang="en-US" altLang="en-US" dirty="0">
                <a:latin typeface="Arial" panose="020B0604020202020204" pitchFamily="34" charset="0"/>
              </a:rPr>
              <a:t>/</a:t>
            </a:r>
            <a:r>
              <a:rPr lang="en-US" altLang="en-US" dirty="0" err="1">
                <a:latin typeface="Arial" panose="020B0604020202020204" pitchFamily="34" charset="0"/>
              </a:rPr>
              <a:t>vsftpd.conf</a:t>
            </a:r>
            <a:r>
              <a:rPr lang="en-US" altLang="en-US" dirty="0">
                <a:latin typeface="Arial" panose="020B0604020202020204" pitchFamily="34" charset="0"/>
              </a:rPr>
              <a:t> </a:t>
            </a:r>
            <a:r>
              <a:rPr lang="en-US" altLang="en-US" dirty="0" err="1">
                <a:latin typeface="Arial" panose="020B0604020202020204" pitchFamily="34" charset="0"/>
              </a:rPr>
              <a:t>на</a:t>
            </a:r>
            <a:r>
              <a:rPr lang="en-US" altLang="en-US" dirty="0">
                <a:latin typeface="Arial" panose="020B0604020202020204" pitchFamily="34" charset="0"/>
              </a:rPr>
              <a:t> Linux </a:t>
            </a:r>
          </a:p>
        </p:txBody>
      </p:sp>
      <p:pic>
        <p:nvPicPr>
          <p:cNvPr id="9" name="Рисунок 8">
            <a:extLst>
              <a:ext uri="{FF2B5EF4-FFF2-40B4-BE49-F238E27FC236}">
                <a16:creationId xmlns:a16="http://schemas.microsoft.com/office/drawing/2014/main" id="{CB7B4CE2-E399-429E-8700-639110D106E4}"/>
              </a:ext>
            </a:extLst>
          </p:cNvPr>
          <p:cNvPicPr>
            <a:picLocks noChangeAspect="1"/>
          </p:cNvPicPr>
          <p:nvPr/>
        </p:nvPicPr>
        <p:blipFill>
          <a:blip r:embed="rId2"/>
          <a:stretch>
            <a:fillRect/>
          </a:stretch>
        </p:blipFill>
        <p:spPr>
          <a:xfrm>
            <a:off x="1526944" y="2761562"/>
            <a:ext cx="5982535" cy="3296110"/>
          </a:xfrm>
          <a:prstGeom prst="rect">
            <a:avLst/>
          </a:prstGeom>
        </p:spPr>
      </p:pic>
    </p:spTree>
    <p:extLst>
      <p:ext uri="{BB962C8B-B14F-4D97-AF65-F5344CB8AC3E}">
        <p14:creationId xmlns:p14="http://schemas.microsoft.com/office/powerpoint/2010/main" val="18756438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CAAE790A-7753-479F-AD70-6E7CC16421C4}"/>
              </a:ext>
            </a:extLst>
          </p:cNvPr>
          <p:cNvPicPr>
            <a:picLocks noChangeAspect="1"/>
          </p:cNvPicPr>
          <p:nvPr/>
        </p:nvPicPr>
        <p:blipFill>
          <a:blip r:embed="rId2"/>
          <a:stretch>
            <a:fillRect/>
          </a:stretch>
        </p:blipFill>
        <p:spPr>
          <a:xfrm>
            <a:off x="1790099" y="1418944"/>
            <a:ext cx="8611802" cy="4020111"/>
          </a:xfrm>
          <a:prstGeom prst="rect">
            <a:avLst/>
          </a:prstGeom>
        </p:spPr>
      </p:pic>
      <p:sp>
        <p:nvSpPr>
          <p:cNvPr id="6" name="Rectangle 1">
            <a:extLst>
              <a:ext uri="{FF2B5EF4-FFF2-40B4-BE49-F238E27FC236}">
                <a16:creationId xmlns:a16="http://schemas.microsoft.com/office/drawing/2014/main" id="{C3075220-FA10-4C6B-A763-C669843527C2}"/>
              </a:ext>
            </a:extLst>
          </p:cNvPr>
          <p:cNvSpPr>
            <a:spLocks noChangeArrowheads="1"/>
          </p:cNvSpPr>
          <p:nvPr/>
        </p:nvSpPr>
        <p:spPr bwMode="auto">
          <a:xfrm>
            <a:off x="986118" y="371600"/>
            <a:ext cx="96191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Подключение</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из</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командной</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строки</a:t>
            </a:r>
            <a:r>
              <a:rPr kumimoji="0" lang="en-US" altLang="en-US" sz="1800" b="1" i="0" u="none" strike="noStrike" cap="none" normalizeH="0" baseline="0" dirty="0">
                <a:ln>
                  <a:noFill/>
                </a:ln>
                <a:solidFill>
                  <a:schemeClr val="tx1"/>
                </a:solidFill>
                <a:effectLst/>
                <a:latin typeface="Arial" panose="020B0604020202020204" pitchFamily="34" charset="0"/>
              </a:rPr>
              <a:t> с </a:t>
            </a:r>
            <a:r>
              <a:rPr kumimoji="0" lang="en-US" altLang="en-US" sz="1800" b="1" i="0" u="none" strike="noStrike" cap="none" normalizeH="0" baseline="0" dirty="0" err="1">
                <a:ln>
                  <a:noFill/>
                </a:ln>
                <a:solidFill>
                  <a:schemeClr val="tx1"/>
                </a:solidFill>
                <a:effectLst/>
                <a:latin typeface="Arial" panose="020B0604020202020204" pitchFamily="34" charset="0"/>
              </a:rPr>
              <a:t>помощью</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lftp</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Утилита</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b="1" dirty="0" err="1">
                <a:latin typeface="Arial" panose="020B0604020202020204" pitchFamily="34" charset="0"/>
              </a:rPr>
              <a:t>lftp</a:t>
            </a:r>
            <a:r>
              <a:rPr lang="en-US" altLang="en-US" b="1" dirty="0">
                <a:latin typeface="Arial" panose="020B0604020202020204" pitchFamily="34" charset="0"/>
              </a:rPr>
              <a:t> </a:t>
            </a:r>
            <a:r>
              <a:rPr lang="en-US" altLang="en-US" b="1" dirty="0" err="1">
                <a:latin typeface="Arial" panose="020B0604020202020204" pitchFamily="34" charset="0"/>
              </a:rPr>
              <a:t>позволяет</a:t>
            </a:r>
            <a:r>
              <a:rPr lang="en-US" altLang="en-US" b="1" dirty="0">
                <a:latin typeface="Arial" panose="020B0604020202020204" pitchFamily="34" charset="0"/>
              </a:rPr>
              <a:t> </a:t>
            </a:r>
            <a:r>
              <a:rPr lang="en-US" altLang="en-US" b="1" dirty="0" err="1">
                <a:latin typeface="Arial" panose="020B0604020202020204" pitchFamily="34" charset="0"/>
              </a:rPr>
              <a:t>явно</a:t>
            </a:r>
            <a:r>
              <a:rPr lang="en-US" altLang="en-US" b="1" dirty="0">
                <a:latin typeface="Arial" panose="020B0604020202020204" pitchFamily="34" charset="0"/>
              </a:rPr>
              <a:t> </a:t>
            </a:r>
            <a:r>
              <a:rPr lang="en-US" altLang="en-US" b="1" dirty="0" err="1">
                <a:latin typeface="Arial" panose="020B0604020202020204" pitchFamily="34" charset="0"/>
              </a:rPr>
              <a:t>форсировать</a:t>
            </a:r>
            <a:r>
              <a:rPr lang="en-US" altLang="en-US" b="1" dirty="0">
                <a:latin typeface="Arial" panose="020B0604020202020204" pitchFamily="34" charset="0"/>
              </a:rPr>
              <a:t> </a:t>
            </a:r>
            <a:r>
              <a:rPr lang="en-US" altLang="en-US" b="1" dirty="0" err="1">
                <a:latin typeface="Arial" panose="020B0604020202020204" pitchFamily="34" charset="0"/>
              </a:rPr>
              <a:t>использование</a:t>
            </a:r>
            <a:r>
              <a:rPr lang="en-US" altLang="en-US" b="1" dirty="0">
                <a:latin typeface="Arial" panose="020B0604020202020204" pitchFamily="34" charset="0"/>
              </a:rPr>
              <a:t> </a:t>
            </a:r>
            <a:r>
              <a:rPr lang="en-US" altLang="en-US" b="1" dirty="0" err="1">
                <a:latin typeface="Arial" panose="020B0604020202020204" pitchFamily="34" charset="0"/>
              </a:rPr>
              <a:t>шифрования</a:t>
            </a:r>
            <a:r>
              <a:rPr lang="en-US" altLang="en-US" b="1" dirty="0">
                <a:latin typeface="Arial" panose="020B0604020202020204" pitchFamily="34" charset="0"/>
              </a:rPr>
              <a:t> </a:t>
            </a:r>
          </a:p>
        </p:txBody>
      </p:sp>
    </p:spTree>
    <p:extLst>
      <p:ext uri="{BB962C8B-B14F-4D97-AF65-F5344CB8AC3E}">
        <p14:creationId xmlns:p14="http://schemas.microsoft.com/office/powerpoint/2010/main" val="32808651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3E117F-443F-4E35-BE66-3FA412422FA9}"/>
              </a:ext>
            </a:extLst>
          </p:cNvPr>
          <p:cNvSpPr txBox="1"/>
          <p:nvPr/>
        </p:nvSpPr>
        <p:spPr>
          <a:xfrm>
            <a:off x="699247" y="612845"/>
            <a:ext cx="8444753" cy="4247317"/>
          </a:xfrm>
          <a:prstGeom prst="rect">
            <a:avLst/>
          </a:prstGeom>
          <a:noFill/>
        </p:spPr>
        <p:txBody>
          <a:bodyPr wrap="square">
            <a:spAutoFit/>
          </a:bodyPr>
          <a:lstStyle/>
          <a:p>
            <a:r>
              <a:rPr lang="ru-RU" b="1" dirty="0"/>
              <a:t>Какой протокол выбрать?</a:t>
            </a:r>
          </a:p>
          <a:p>
            <a:r>
              <a:rPr lang="ru-RU" dirty="0"/>
              <a:t>Вот несколько ориентиров, которые помогут вам сделать выбор:</a:t>
            </a:r>
          </a:p>
          <a:p>
            <a:pPr>
              <a:buFont typeface="Arial" panose="020B0604020202020204" pitchFamily="34" charset="0"/>
              <a:buChar char="•"/>
            </a:pPr>
            <a:r>
              <a:rPr lang="ru-RU" b="1" dirty="0"/>
              <a:t>Выберите SFTP, если:</a:t>
            </a:r>
            <a:endParaRPr lang="ru-RU" dirty="0"/>
          </a:p>
          <a:p>
            <a:pPr marL="742950" lvl="1" indent="-285750">
              <a:buFont typeface="Arial" panose="020B0604020202020204" pitchFamily="34" charset="0"/>
              <a:buChar char="•"/>
            </a:pPr>
            <a:r>
              <a:rPr lang="ru-RU" dirty="0"/>
              <a:t>Вам нужно простое и безопасное решение, особенно для </a:t>
            </a:r>
            <a:r>
              <a:rPr lang="ru-RU" dirty="0" err="1"/>
              <a:t>Linux</a:t>
            </a:r>
            <a:r>
              <a:rPr lang="ru-RU" dirty="0"/>
              <a:t>-серверов.</a:t>
            </a:r>
          </a:p>
          <a:p>
            <a:pPr marL="742950" lvl="1" indent="-285750">
              <a:buFont typeface="Arial" panose="020B0604020202020204" pitchFamily="34" charset="0"/>
              <a:buChar char="•"/>
            </a:pPr>
            <a:r>
              <a:rPr lang="ru-RU" dirty="0"/>
              <a:t>У вас уже настроен SSH-доступ (он же используется и для SFTP, не нужно ничего дополнительно настраивать) .</a:t>
            </a:r>
          </a:p>
          <a:p>
            <a:pPr marL="742950" lvl="1" indent="-285750">
              <a:buFont typeface="Arial" panose="020B0604020202020204" pitchFamily="34" charset="0"/>
              <a:buChar char="•"/>
            </a:pPr>
            <a:r>
              <a:rPr lang="ru-RU" dirty="0"/>
              <a:t>Вы подключаетесь из-за строгого </a:t>
            </a:r>
            <a:r>
              <a:rPr lang="ru-RU" dirty="0" err="1"/>
              <a:t>файрвола</a:t>
            </a:r>
            <a:r>
              <a:rPr lang="ru-RU" dirty="0"/>
              <a:t> (SFTP использует один порт, его легче открыть) .</a:t>
            </a:r>
          </a:p>
          <a:p>
            <a:pPr>
              <a:buFont typeface="Arial" panose="020B0604020202020204" pitchFamily="34" charset="0"/>
              <a:buChar char="•"/>
            </a:pPr>
            <a:r>
              <a:rPr lang="ru-RU" b="1" dirty="0"/>
              <a:t>Выберите FTPS, если:</a:t>
            </a:r>
            <a:endParaRPr lang="ru-RU" dirty="0"/>
          </a:p>
          <a:p>
            <a:pPr marL="742950" lvl="1" indent="-285750">
              <a:buFont typeface="Arial" panose="020B0604020202020204" pitchFamily="34" charset="0"/>
              <a:buChar char="•"/>
            </a:pPr>
            <a:r>
              <a:rPr lang="ru-RU" dirty="0"/>
              <a:t>У вас есть требования совместимости со старыми системами или приложениями, которые поддерживают только FTP.</a:t>
            </a:r>
          </a:p>
          <a:p>
            <a:pPr marL="742950" lvl="1" indent="-285750">
              <a:buFont typeface="Arial" panose="020B0604020202020204" pitchFamily="34" charset="0"/>
              <a:buChar char="•"/>
            </a:pPr>
            <a:r>
              <a:rPr lang="ru-RU" dirty="0"/>
              <a:t>Вам нужен более детальный контроль над шифрованием на уровне сертификатов .</a:t>
            </a:r>
          </a:p>
          <a:p>
            <a:pPr marL="742950" lvl="1" indent="-285750">
              <a:buFont typeface="Arial" panose="020B0604020202020204" pitchFamily="34" charset="0"/>
              <a:buChar char="•"/>
            </a:pPr>
            <a:r>
              <a:rPr lang="ru-RU" dirty="0"/>
              <a:t>Вы работаете с </a:t>
            </a:r>
            <a:r>
              <a:rPr lang="ru-RU" dirty="0" err="1"/>
              <a:t>хостинговыми</a:t>
            </a:r>
            <a:r>
              <a:rPr lang="ru-RU" dirty="0"/>
              <a:t> площадками, которые часто предоставляют именно FTPS-доступ (например, </a:t>
            </a:r>
            <a:r>
              <a:rPr lang="ru-RU" dirty="0" err="1"/>
              <a:t>cPanel</a:t>
            </a:r>
            <a:r>
              <a:rPr lang="ru-RU" dirty="0"/>
              <a:t>) .</a:t>
            </a:r>
          </a:p>
        </p:txBody>
      </p:sp>
    </p:spTree>
    <p:extLst>
      <p:ext uri="{BB962C8B-B14F-4D97-AF65-F5344CB8AC3E}">
        <p14:creationId xmlns:p14="http://schemas.microsoft.com/office/powerpoint/2010/main" val="88393089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F3EE61D-AE05-4805-AE4C-26C8B4848800}"/>
              </a:ext>
            </a:extLst>
          </p:cNvPr>
          <p:cNvSpPr txBox="1"/>
          <p:nvPr/>
        </p:nvSpPr>
        <p:spPr>
          <a:xfrm>
            <a:off x="421341" y="865670"/>
            <a:ext cx="10748683" cy="4247317"/>
          </a:xfrm>
          <a:prstGeom prst="rect">
            <a:avLst/>
          </a:prstGeom>
          <a:noFill/>
        </p:spPr>
        <p:txBody>
          <a:bodyPr wrap="square">
            <a:spAutoFit/>
          </a:bodyPr>
          <a:lstStyle/>
          <a:p>
            <a:r>
              <a:rPr lang="ru-RU" b="1" dirty="0"/>
              <a:t>TFTP (</a:t>
            </a:r>
            <a:r>
              <a:rPr lang="ru-RU" b="1" dirty="0" err="1"/>
              <a:t>Trivial</a:t>
            </a:r>
            <a:r>
              <a:rPr lang="ru-RU" b="1" dirty="0"/>
              <a:t> </a:t>
            </a:r>
            <a:r>
              <a:rPr lang="ru-RU" b="1" dirty="0" err="1"/>
              <a:t>File</a:t>
            </a:r>
            <a:r>
              <a:rPr lang="ru-RU" b="1" dirty="0"/>
              <a:t> </a:t>
            </a:r>
            <a:r>
              <a:rPr lang="ru-RU" b="1" dirty="0" err="1"/>
              <a:t>Transfer</a:t>
            </a:r>
            <a:r>
              <a:rPr lang="ru-RU" b="1" dirty="0"/>
              <a:t> </a:t>
            </a:r>
            <a:r>
              <a:rPr lang="ru-RU" b="1" dirty="0" err="1"/>
              <a:t>Protocol</a:t>
            </a:r>
            <a:r>
              <a:rPr lang="ru-RU" b="1" dirty="0"/>
              <a:t>)</a:t>
            </a:r>
            <a:r>
              <a:rPr lang="ru-RU" dirty="0"/>
              <a:t> — это простой протокол передачи файлов, который используется в основном для отправки и получения файлов в локальных сетях. Как следует из названия (</a:t>
            </a:r>
            <a:r>
              <a:rPr lang="ru-RU" dirty="0" err="1"/>
              <a:t>Trivial</a:t>
            </a:r>
            <a:r>
              <a:rPr lang="ru-RU" dirty="0"/>
              <a:t> — "примитивный"), он является упрощённой версией протокола </a:t>
            </a:r>
            <a:r>
              <a:rPr lang="ru-RU" b="1" dirty="0"/>
              <a:t>FTP (</a:t>
            </a:r>
            <a:r>
              <a:rPr lang="ru-RU" b="1" dirty="0" err="1"/>
              <a:t>File</a:t>
            </a:r>
            <a:r>
              <a:rPr lang="ru-RU" b="1" dirty="0"/>
              <a:t> </a:t>
            </a:r>
            <a:r>
              <a:rPr lang="ru-RU" b="1" dirty="0" err="1"/>
              <a:t>Transfer</a:t>
            </a:r>
            <a:r>
              <a:rPr lang="ru-RU" b="1" dirty="0"/>
              <a:t> </a:t>
            </a:r>
            <a:r>
              <a:rPr lang="ru-RU" b="1" dirty="0" err="1"/>
              <a:t>Protocol</a:t>
            </a:r>
            <a:r>
              <a:rPr lang="ru-RU" b="1" dirty="0"/>
              <a:t>)</a:t>
            </a:r>
            <a:r>
              <a:rPr lang="ru-RU" dirty="0"/>
              <a:t>.</a:t>
            </a:r>
          </a:p>
          <a:p>
            <a:r>
              <a:rPr lang="ru-RU" dirty="0"/>
              <a:t>Вот подробный разбор того, что это такое и как они связаны.</a:t>
            </a:r>
          </a:p>
          <a:p>
            <a:r>
              <a:rPr lang="ru-RU" b="1" dirty="0"/>
              <a:t>1. Что такое TFTP (Простой/Тривиальный протокол)?</a:t>
            </a:r>
          </a:p>
          <a:p>
            <a:r>
              <a:rPr lang="ru-RU" dirty="0"/>
              <a:t>TFTP был создан для ситуаций, где не нужна сложная аутентификация и управление командами, а важна простота реализации и минимальное использование ресурсов.</a:t>
            </a:r>
          </a:p>
          <a:p>
            <a:r>
              <a:rPr lang="ru-RU" b="1" dirty="0"/>
              <a:t>Основные характеристики TFTP:</a:t>
            </a:r>
            <a:endParaRPr lang="ru-RU" dirty="0"/>
          </a:p>
          <a:p>
            <a:pPr>
              <a:buFont typeface="Arial" panose="020B0604020202020204" pitchFamily="34" charset="0"/>
              <a:buChar char="•"/>
            </a:pPr>
            <a:r>
              <a:rPr lang="ru-RU" b="1" dirty="0"/>
              <a:t>Порт:</a:t>
            </a:r>
            <a:r>
              <a:rPr lang="ru-RU" dirty="0"/>
              <a:t> Работает через </a:t>
            </a:r>
            <a:r>
              <a:rPr lang="ru-RU" b="1" dirty="0"/>
              <a:t>UDP</a:t>
            </a:r>
            <a:r>
              <a:rPr lang="ru-RU" dirty="0"/>
              <a:t> (обычно порт 69).</a:t>
            </a:r>
          </a:p>
          <a:p>
            <a:pPr>
              <a:buFont typeface="Arial" panose="020B0604020202020204" pitchFamily="34" charset="0"/>
              <a:buChar char="•"/>
            </a:pPr>
            <a:r>
              <a:rPr lang="ru-RU" b="1" dirty="0"/>
              <a:t>Аутентификация:</a:t>
            </a:r>
            <a:r>
              <a:rPr lang="ru-RU" dirty="0"/>
              <a:t> Отсутствует. Обычно доступ контролируется только правами на чтение/запись файлов в определенной папке на сервере (в настройках самого сервера).</a:t>
            </a:r>
          </a:p>
          <a:p>
            <a:pPr>
              <a:buFont typeface="Arial" panose="020B0604020202020204" pitchFamily="34" charset="0"/>
              <a:buChar char="•"/>
            </a:pPr>
            <a:r>
              <a:rPr lang="ru-RU" b="1" dirty="0"/>
              <a:t>Функции:</a:t>
            </a:r>
            <a:r>
              <a:rPr lang="ru-RU" dirty="0"/>
              <a:t> Умеет только читать и писать файлы. Нет возможности посмотреть список файлов (иногда это реализовано очень примитивно или отсутствует), переименовать, удалить и т.д.</a:t>
            </a:r>
          </a:p>
          <a:p>
            <a:pPr>
              <a:buFont typeface="Arial" panose="020B0604020202020204" pitchFamily="34" charset="0"/>
              <a:buChar char="•"/>
            </a:pPr>
            <a:r>
              <a:rPr lang="ru-RU" b="1" dirty="0"/>
              <a:t>Размер:</a:t>
            </a:r>
            <a:r>
              <a:rPr lang="ru-RU" dirty="0"/>
              <a:t> Исходный код клиента и сервера TFTP очень мал, поэтому его можно "зашить" в память сетевых устройств.</a:t>
            </a:r>
          </a:p>
        </p:txBody>
      </p:sp>
    </p:spTree>
    <p:extLst>
      <p:ext uri="{BB962C8B-B14F-4D97-AF65-F5344CB8AC3E}">
        <p14:creationId xmlns:p14="http://schemas.microsoft.com/office/powerpoint/2010/main" val="230562576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0B6CB2-8A9C-4AE7-8528-7B11E5FE18DE}"/>
              </a:ext>
            </a:extLst>
          </p:cNvPr>
          <p:cNvSpPr txBox="1"/>
          <p:nvPr/>
        </p:nvSpPr>
        <p:spPr>
          <a:xfrm>
            <a:off x="672353" y="612845"/>
            <a:ext cx="11349318" cy="3693319"/>
          </a:xfrm>
          <a:prstGeom prst="rect">
            <a:avLst/>
          </a:prstGeom>
          <a:noFill/>
        </p:spPr>
        <p:txBody>
          <a:bodyPr wrap="square">
            <a:spAutoFit/>
          </a:bodyPr>
          <a:lstStyle/>
          <a:p>
            <a:r>
              <a:rPr lang="ru-RU" b="1" dirty="0"/>
              <a:t>Как TFTP связан с FTP?</a:t>
            </a:r>
          </a:p>
          <a:p>
            <a:r>
              <a:rPr lang="ru-RU" dirty="0"/>
              <a:t>Оба протокола служат для передачи файлов, отсюда и название. TFTP — это </a:t>
            </a:r>
            <a:r>
              <a:rPr lang="ru-RU" b="1" dirty="0"/>
              <a:t>упрощенная, "облегченная" версия FTP</a:t>
            </a:r>
            <a:r>
              <a:rPr lang="ru-RU" dirty="0"/>
              <a:t>.</a:t>
            </a:r>
            <a:br>
              <a:rPr lang="ru-RU" dirty="0"/>
            </a:br>
            <a:r>
              <a:rPr lang="ru-RU" dirty="0"/>
              <a:t>Можно провести аналогию с автомобилями:</a:t>
            </a:r>
          </a:p>
          <a:p>
            <a:pPr>
              <a:buFont typeface="Arial" panose="020B0604020202020204" pitchFamily="34" charset="0"/>
              <a:buChar char="•"/>
            </a:pPr>
            <a:r>
              <a:rPr lang="ru-RU" b="1" dirty="0"/>
              <a:t>FTP</a:t>
            </a:r>
            <a:r>
              <a:rPr lang="ru-RU" dirty="0"/>
              <a:t> — это полноценный грузовик с водителем (аутентификацией), который может ездить по сложным маршрутам и делать много операций.</a:t>
            </a:r>
          </a:p>
          <a:p>
            <a:pPr>
              <a:buFont typeface="Arial" panose="020B0604020202020204" pitchFamily="34" charset="0"/>
              <a:buChar char="•"/>
            </a:pPr>
            <a:r>
              <a:rPr lang="ru-RU" b="1" dirty="0"/>
              <a:t>TFTP</a:t>
            </a:r>
            <a:r>
              <a:rPr lang="ru-RU" dirty="0"/>
              <a:t> — это простая ручная тележка. Она не умеет ничего, кроме как везти груз из точки А в точку Б, но она простая, дешевая, и ее можно использовать там, где грузовик не проедет (где нет сложной логики TCP или места для кода драйвера грузовика).</a:t>
            </a:r>
          </a:p>
          <a:p>
            <a:r>
              <a:rPr lang="ru-RU" dirty="0"/>
              <a:t>Главное различие, которое определяет их применение, — это транспортный протокол:</a:t>
            </a:r>
          </a:p>
          <a:p>
            <a:pPr>
              <a:buFont typeface="Arial" panose="020B0604020202020204" pitchFamily="34" charset="0"/>
              <a:buChar char="•"/>
            </a:pPr>
            <a:r>
              <a:rPr lang="ru-RU" dirty="0"/>
              <a:t>FTP использует </a:t>
            </a:r>
            <a:r>
              <a:rPr lang="ru-RU" b="1" dirty="0"/>
              <a:t>TCP</a:t>
            </a:r>
            <a:r>
              <a:rPr lang="ru-RU" dirty="0"/>
              <a:t> (гарантирует доставку, контролирует поток данных, пересылает потерянные пакеты).</a:t>
            </a:r>
          </a:p>
          <a:p>
            <a:pPr>
              <a:buFont typeface="Arial" panose="020B0604020202020204" pitchFamily="34" charset="0"/>
              <a:buChar char="•"/>
            </a:pPr>
            <a:r>
              <a:rPr lang="ru-RU" dirty="0"/>
              <a:t>TFTP использует </a:t>
            </a:r>
            <a:r>
              <a:rPr lang="ru-RU" b="1" dirty="0"/>
              <a:t>UDP</a:t>
            </a:r>
            <a:r>
              <a:rPr lang="ru-RU" dirty="0"/>
              <a:t> (просто "кидает" пакеты и ждет подтверждения; если подтверждения нет — пересылает снова, но делает это очень примитивно).</a:t>
            </a:r>
          </a:p>
        </p:txBody>
      </p:sp>
    </p:spTree>
    <p:extLst>
      <p:ext uri="{BB962C8B-B14F-4D97-AF65-F5344CB8AC3E}">
        <p14:creationId xmlns:p14="http://schemas.microsoft.com/office/powerpoint/2010/main" val="5491994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9D4767-4D2D-4AA0-9C01-D279C2EBA7EA}"/>
              </a:ext>
            </a:extLst>
          </p:cNvPr>
          <p:cNvSpPr txBox="1"/>
          <p:nvPr/>
        </p:nvSpPr>
        <p:spPr>
          <a:xfrm>
            <a:off x="493059" y="335845"/>
            <a:ext cx="11304494" cy="4801314"/>
          </a:xfrm>
          <a:prstGeom prst="rect">
            <a:avLst/>
          </a:prstGeom>
          <a:noFill/>
        </p:spPr>
        <p:txBody>
          <a:bodyPr wrap="square">
            <a:spAutoFit/>
          </a:bodyPr>
          <a:lstStyle/>
          <a:p>
            <a:r>
              <a:rPr lang="ru-RU" b="1" dirty="0"/>
              <a:t>Где используется TFTP сегодня?</a:t>
            </a:r>
            <a:endParaRPr lang="en-US" b="1" dirty="0"/>
          </a:p>
          <a:p>
            <a:endParaRPr lang="ru-RU" b="1" dirty="0"/>
          </a:p>
          <a:p>
            <a:r>
              <a:rPr lang="ru-RU" dirty="0"/>
              <a:t>Несмотря на свою древность, TFTP живуч и используется в узкоспециализированных задачах, где не нужен полноценный FTP, так как FTP-клиент физически не поместится в память устройства.</a:t>
            </a:r>
          </a:p>
          <a:p>
            <a:r>
              <a:rPr lang="ru-RU" b="1" dirty="0"/>
              <a:t>Основные сценарии использования:</a:t>
            </a:r>
            <a:endParaRPr lang="en-US" b="1" dirty="0"/>
          </a:p>
          <a:p>
            <a:endParaRPr lang="ru-RU" dirty="0"/>
          </a:p>
          <a:p>
            <a:pPr>
              <a:buFont typeface="+mj-lt"/>
              <a:buAutoNum type="arabicPeriod"/>
            </a:pPr>
            <a:r>
              <a:rPr lang="ru-RU" b="1" dirty="0"/>
              <a:t>Бездисковая загрузка (PXE — </a:t>
            </a:r>
            <a:r>
              <a:rPr lang="ru-RU" b="1" dirty="0" err="1"/>
              <a:t>Preboot</a:t>
            </a:r>
            <a:r>
              <a:rPr lang="ru-RU" b="1" dirty="0"/>
              <a:t> </a:t>
            </a:r>
            <a:r>
              <a:rPr lang="ru-RU" b="1" dirty="0" err="1"/>
              <a:t>Execution</a:t>
            </a:r>
            <a:r>
              <a:rPr lang="ru-RU" b="1" dirty="0"/>
              <a:t> </a:t>
            </a:r>
            <a:r>
              <a:rPr lang="ru-RU" b="1" dirty="0" err="1"/>
              <a:t>Environment</a:t>
            </a:r>
            <a:r>
              <a:rPr lang="ru-RU" b="1" dirty="0"/>
              <a:t>):</a:t>
            </a:r>
            <a:r>
              <a:rPr lang="ru-RU" dirty="0"/>
              <a:t> Когда компьютер включается, у него еще нет операционной системы. Сетевая карта запускает встроенную микропрограмму, которая по протоколу TFTP скачивает с сервера начальный загрузчик. Размер этого загрузчика мал, а TFTP как раз подходит для простой передачи.</a:t>
            </a:r>
            <a:endParaRPr lang="en-US" dirty="0"/>
          </a:p>
          <a:p>
            <a:pPr>
              <a:buFont typeface="+mj-lt"/>
              <a:buAutoNum type="arabicPeriod"/>
            </a:pPr>
            <a:endParaRPr lang="ru-RU" dirty="0"/>
          </a:p>
          <a:p>
            <a:pPr>
              <a:buFont typeface="+mj-lt"/>
              <a:buAutoNum type="arabicPeriod"/>
            </a:pPr>
            <a:r>
              <a:rPr lang="ru-RU" b="1" dirty="0"/>
              <a:t>Обновление прошивок сетевого оборудования:</a:t>
            </a:r>
            <a:r>
              <a:rPr lang="ru-RU" dirty="0"/>
              <a:t> Маршрутизаторы, коммутаторы (</a:t>
            </a:r>
            <a:r>
              <a:rPr lang="ru-RU" dirty="0" err="1"/>
              <a:t>Cisco</a:t>
            </a:r>
            <a:r>
              <a:rPr lang="ru-RU" dirty="0"/>
              <a:t>, </a:t>
            </a:r>
            <a:r>
              <a:rPr lang="ru-RU" dirty="0" err="1"/>
              <a:t>MikroTik</a:t>
            </a:r>
            <a:r>
              <a:rPr lang="ru-RU" dirty="0"/>
              <a:t> и др.) и IP-камеры часто используют TFTP для загрузки или обновления файлов операционной системы (образа IOS или прошивки). Администратор поднимает TFTP-сервер на своем компьютере, и устройство "забирает" оттуда файл.</a:t>
            </a:r>
            <a:endParaRPr lang="en-US" dirty="0"/>
          </a:p>
          <a:p>
            <a:pPr>
              <a:buFont typeface="+mj-lt"/>
              <a:buAutoNum type="arabicPeriod"/>
            </a:pPr>
            <a:endParaRPr lang="ru-RU" dirty="0"/>
          </a:p>
          <a:p>
            <a:pPr>
              <a:buFont typeface="+mj-lt"/>
              <a:buAutoNum type="arabicPeriod"/>
            </a:pPr>
            <a:r>
              <a:rPr lang="ru-RU" b="1" dirty="0"/>
              <a:t>Загрузка конфигураций:</a:t>
            </a:r>
            <a:r>
              <a:rPr lang="ru-RU" dirty="0"/>
              <a:t> Сетевое оборудование может сохранять резервную копию конфигурации на TFTP-сервер или загружать конфигурацию с него при старте.</a:t>
            </a:r>
          </a:p>
        </p:txBody>
      </p:sp>
    </p:spTree>
    <p:extLst>
      <p:ext uri="{BB962C8B-B14F-4D97-AF65-F5344CB8AC3E}">
        <p14:creationId xmlns:p14="http://schemas.microsoft.com/office/powerpoint/2010/main" val="414724751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8E75F76D-5F87-488E-85CB-17037B41358E}"/>
              </a:ext>
            </a:extLst>
          </p:cNvPr>
          <p:cNvPicPr>
            <a:picLocks noChangeAspect="1"/>
          </p:cNvPicPr>
          <p:nvPr/>
        </p:nvPicPr>
        <p:blipFill>
          <a:blip r:embed="rId2"/>
          <a:stretch>
            <a:fillRect/>
          </a:stretch>
        </p:blipFill>
        <p:spPr>
          <a:xfrm>
            <a:off x="548349" y="406452"/>
            <a:ext cx="10593278" cy="4610743"/>
          </a:xfrm>
          <a:prstGeom prst="rect">
            <a:avLst/>
          </a:prstGeom>
        </p:spPr>
      </p:pic>
      <p:sp>
        <p:nvSpPr>
          <p:cNvPr id="7" name="TextBox 6">
            <a:extLst>
              <a:ext uri="{FF2B5EF4-FFF2-40B4-BE49-F238E27FC236}">
                <a16:creationId xmlns:a16="http://schemas.microsoft.com/office/drawing/2014/main" id="{405B6927-AC47-4143-B5C3-9DDDF81B5DC2}"/>
              </a:ext>
            </a:extLst>
          </p:cNvPr>
          <p:cNvSpPr txBox="1"/>
          <p:nvPr/>
        </p:nvSpPr>
        <p:spPr>
          <a:xfrm>
            <a:off x="730623" y="5277171"/>
            <a:ext cx="10730753" cy="646331"/>
          </a:xfrm>
          <a:prstGeom prst="rect">
            <a:avLst/>
          </a:prstGeom>
          <a:noFill/>
        </p:spPr>
        <p:txBody>
          <a:bodyPr wrap="square">
            <a:spAutoFit/>
          </a:bodyPr>
          <a:lstStyle/>
          <a:p>
            <a:r>
              <a:rPr lang="ru-RU" dirty="0"/>
              <a:t>Таким образом, связь прямая: </a:t>
            </a:r>
            <a:r>
              <a:rPr lang="ru-RU" b="1" dirty="0"/>
              <a:t>TFTP берет базовую идею передачи файлов от FTP, но убирает все лишнее ради простоты работы в условиях ограниченных ресурсов или на ранних этапах загрузки устройств.</a:t>
            </a:r>
            <a:endParaRPr lang="ru-RU" dirty="0"/>
          </a:p>
        </p:txBody>
      </p:sp>
    </p:spTree>
    <p:extLst>
      <p:ext uri="{BB962C8B-B14F-4D97-AF65-F5344CB8AC3E}">
        <p14:creationId xmlns:p14="http://schemas.microsoft.com/office/powerpoint/2010/main" val="2591980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076942-C077-4D9B-BB4A-8BE21F15F268}"/>
              </a:ext>
            </a:extLst>
          </p:cNvPr>
          <p:cNvSpPr txBox="1"/>
          <p:nvPr/>
        </p:nvSpPr>
        <p:spPr>
          <a:xfrm>
            <a:off x="188259" y="262898"/>
            <a:ext cx="11250706" cy="2608729"/>
          </a:xfrm>
          <a:prstGeom prst="rect">
            <a:avLst/>
          </a:prstGeom>
          <a:noFill/>
        </p:spPr>
        <p:txBody>
          <a:bodyPr wrap="square">
            <a:spAutoFit/>
          </a:bodyPr>
          <a:lstStyle/>
          <a:p>
            <a:r>
              <a:rPr lang="ru-RU" dirty="0"/>
              <a:t>Протокол </a:t>
            </a:r>
            <a:r>
              <a:rPr lang="ru-RU" b="1" dirty="0"/>
              <a:t>HTTP</a:t>
            </a:r>
            <a:r>
              <a:rPr lang="ru-RU" dirty="0"/>
              <a:t> (</a:t>
            </a:r>
            <a:r>
              <a:rPr lang="ru-RU" dirty="0" err="1"/>
              <a:t>HyperText</a:t>
            </a:r>
            <a:r>
              <a:rPr lang="ru-RU" dirty="0"/>
              <a:t> </a:t>
            </a:r>
            <a:r>
              <a:rPr lang="ru-RU" dirty="0" err="1"/>
              <a:t>Transfer</a:t>
            </a:r>
            <a:r>
              <a:rPr lang="ru-RU" dirty="0"/>
              <a:t> </a:t>
            </a:r>
            <a:r>
              <a:rPr lang="ru-RU" dirty="0" err="1"/>
              <a:t>Protocol</a:t>
            </a:r>
            <a:r>
              <a:rPr lang="ru-RU" dirty="0"/>
              <a:t> — «протокол передачи гипертекста») — это основа интернета. Именно по этому правилу ваш браузер (клиент) общается с серверами, чтобы загружать сайты, картинки и видео.</a:t>
            </a:r>
          </a:p>
          <a:p>
            <a:r>
              <a:rPr lang="ru-RU" dirty="0"/>
              <a:t>Вот краткая структура того, как это работает:</a:t>
            </a:r>
          </a:p>
          <a:p>
            <a:r>
              <a:rPr lang="ru-RU" b="1" dirty="0"/>
              <a:t>1. Принцип работы (Клиент-Сервер)</a:t>
            </a:r>
          </a:p>
          <a:p>
            <a:r>
              <a:rPr lang="ru-RU" dirty="0"/>
              <a:t>Работа строится по схеме «Запрос — Ответ»:</a:t>
            </a:r>
          </a:p>
          <a:p>
            <a:pPr>
              <a:buFont typeface="Arial" panose="020B0604020202020204" pitchFamily="34" charset="0"/>
              <a:buChar char="•"/>
            </a:pPr>
            <a:r>
              <a:rPr lang="ru-RU" b="1" dirty="0"/>
              <a:t>Клиент</a:t>
            </a:r>
            <a:r>
              <a:rPr lang="ru-RU" dirty="0"/>
              <a:t> (обычно браузер) отправляет запрос на сервер.</a:t>
            </a:r>
          </a:p>
          <a:p>
            <a:pPr>
              <a:buFont typeface="Arial" panose="020B0604020202020204" pitchFamily="34" charset="0"/>
              <a:buChar char="•"/>
            </a:pPr>
            <a:r>
              <a:rPr lang="ru-RU" b="1" dirty="0"/>
              <a:t>Сервер</a:t>
            </a:r>
            <a:r>
              <a:rPr lang="ru-RU" dirty="0"/>
              <a:t> обрабатывает запрос и возвращает ответ (HTML-страницу, JSON-данные, файл) и статус (успешно или ошибка).</a:t>
            </a:r>
          </a:p>
        </p:txBody>
      </p:sp>
      <p:sp>
        <p:nvSpPr>
          <p:cNvPr id="5" name="TextBox 4">
            <a:extLst>
              <a:ext uri="{FF2B5EF4-FFF2-40B4-BE49-F238E27FC236}">
                <a16:creationId xmlns:a16="http://schemas.microsoft.com/office/drawing/2014/main" id="{FB01B7E5-BD73-4826-BBC8-AC37B43AC7B8}"/>
              </a:ext>
            </a:extLst>
          </p:cNvPr>
          <p:cNvSpPr txBox="1"/>
          <p:nvPr/>
        </p:nvSpPr>
        <p:spPr>
          <a:xfrm>
            <a:off x="318247" y="2830540"/>
            <a:ext cx="10990730" cy="646331"/>
          </a:xfrm>
          <a:prstGeom prst="rect">
            <a:avLst/>
          </a:prstGeom>
          <a:noFill/>
        </p:spPr>
        <p:txBody>
          <a:bodyPr wrap="square">
            <a:spAutoFit/>
          </a:bodyPr>
          <a:lstStyle/>
          <a:p>
            <a:r>
              <a:rPr lang="ru-RU" b="1" dirty="0"/>
              <a:t>2. Структура HTTP-запроса</a:t>
            </a:r>
          </a:p>
          <a:p>
            <a:r>
              <a:rPr lang="ru-RU" dirty="0"/>
              <a:t>Когда вы открываете сайт, ваш браузер отправляет :</a:t>
            </a:r>
          </a:p>
        </p:txBody>
      </p:sp>
      <p:sp>
        <p:nvSpPr>
          <p:cNvPr id="7" name="TextBox 6">
            <a:extLst>
              <a:ext uri="{FF2B5EF4-FFF2-40B4-BE49-F238E27FC236}">
                <a16:creationId xmlns:a16="http://schemas.microsoft.com/office/drawing/2014/main" id="{760FA8C9-F44C-4F22-9F19-E87B079E5F54}"/>
              </a:ext>
            </a:extLst>
          </p:cNvPr>
          <p:cNvSpPr txBox="1"/>
          <p:nvPr/>
        </p:nvSpPr>
        <p:spPr>
          <a:xfrm>
            <a:off x="493059" y="3622384"/>
            <a:ext cx="6364941" cy="1477328"/>
          </a:xfrm>
          <a:prstGeom prst="rect">
            <a:avLst/>
          </a:prstGeom>
          <a:noFill/>
        </p:spPr>
        <p:txBody>
          <a:bodyPr wrap="square">
            <a:spAutoFit/>
          </a:bodyPr>
          <a:lstStyle/>
          <a:p>
            <a:r>
              <a:rPr lang="en-US" dirty="0"/>
              <a:t>GET /index.html HTTP/1.1</a:t>
            </a:r>
            <a:endParaRPr lang="ru-RU" dirty="0"/>
          </a:p>
          <a:p>
            <a:r>
              <a:rPr lang="en-US" dirty="0"/>
              <a:t>Host: </a:t>
            </a:r>
            <a:r>
              <a:rPr lang="en-US" dirty="0">
                <a:hlinkClick r:id="rId2"/>
              </a:rPr>
              <a:t>www.example.com</a:t>
            </a:r>
            <a:endParaRPr lang="ru-RU" dirty="0"/>
          </a:p>
          <a:p>
            <a:r>
              <a:rPr lang="en-US" dirty="0"/>
              <a:t>User-Agent: Mozilla/5.0</a:t>
            </a:r>
            <a:endParaRPr lang="ru-RU" dirty="0"/>
          </a:p>
          <a:p>
            <a:r>
              <a:rPr lang="en-US" dirty="0"/>
              <a:t>Accept: text/html</a:t>
            </a:r>
            <a:endParaRPr lang="ru-RU" dirty="0"/>
          </a:p>
          <a:p>
            <a:endParaRPr lang="en-US" dirty="0"/>
          </a:p>
        </p:txBody>
      </p:sp>
      <p:sp>
        <p:nvSpPr>
          <p:cNvPr id="11" name="Rectangle 4">
            <a:extLst>
              <a:ext uri="{FF2B5EF4-FFF2-40B4-BE49-F238E27FC236}">
                <a16:creationId xmlns:a16="http://schemas.microsoft.com/office/drawing/2014/main" id="{AFBCE129-8B3E-47FE-8DA0-30BA88CE99B6}"/>
              </a:ext>
            </a:extLst>
          </p:cNvPr>
          <p:cNvSpPr>
            <a:spLocks noChangeArrowheads="1"/>
          </p:cNvSpPr>
          <p:nvPr/>
        </p:nvSpPr>
        <p:spPr bwMode="auto">
          <a:xfrm>
            <a:off x="609600" y="5058328"/>
            <a:ext cx="893052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ymbol" panose="05050102010706020507" pitchFamily="18" charset="2"/>
                <a:ea typeface="Times New Roman" panose="02020603050405020304" pitchFamily="18" charset="0"/>
              </a:rPr>
              <a:t>·</a:t>
            </a:r>
            <a:r>
              <a:rPr kumimoji="0" lang="ru-RU" altLang="en-US" sz="1200" b="0" i="0" u="none" strike="noStrike" cap="none" normalizeH="0" baseline="0" dirty="0">
                <a:ln>
                  <a:noFill/>
                </a:ln>
                <a:solidFill>
                  <a:schemeClr val="tx1"/>
                </a:solidFill>
                <a:effectLst/>
                <a:ea typeface="Times New Roman" panose="02020603050405020304" pitchFamily="18" charset="0"/>
              </a:rPr>
              <a:t>  </a:t>
            </a:r>
            <a:r>
              <a:rPr kumimoji="0" lang="ru-RU"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Метод:</a:t>
            </a:r>
            <a:r>
              <a:rPr kumimoji="0" lang="ru-RU"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GET</a:t>
            </a:r>
            <a:r>
              <a:rPr kumimoji="0" lang="ru-RU" altLang="en-US" sz="1200" b="0" i="0" u="none" strike="noStrike" cap="none" normalizeH="0" baseline="0" dirty="0">
                <a:ln>
                  <a:noFill/>
                </a:ln>
                <a:solidFill>
                  <a:schemeClr val="tx1"/>
                </a:solidFill>
                <a:effectLst/>
                <a:ea typeface="Times New Roman" panose="02020603050405020304" pitchFamily="18" charset="0"/>
              </a:rPr>
              <a:t> (что сделать).</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ymbol" panose="05050102010706020507" pitchFamily="18" charset="2"/>
                <a:ea typeface="Times New Roman" panose="02020603050405020304" pitchFamily="18" charset="0"/>
              </a:rPr>
              <a:t>·</a:t>
            </a:r>
            <a:r>
              <a:rPr kumimoji="0" lang="ru-RU" altLang="en-US" sz="1200" b="0" i="0" u="none" strike="noStrike" cap="none" normalizeH="0" baseline="0" dirty="0">
                <a:ln>
                  <a:noFill/>
                </a:ln>
                <a:solidFill>
                  <a:schemeClr val="tx1"/>
                </a:solidFill>
                <a:effectLst/>
                <a:ea typeface="Times New Roman" panose="02020603050405020304" pitchFamily="18" charset="0"/>
              </a:rPr>
              <a:t>  </a:t>
            </a:r>
            <a:r>
              <a:rPr kumimoji="0" lang="ru-RU"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Путь:</a:t>
            </a:r>
            <a:r>
              <a:rPr kumimoji="0" lang="ru-RU"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ru-RU" altLang="en-US" sz="12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a:t>
            </a:r>
            <a:r>
              <a:rPr kumimoji="0" lang="en-US" altLang="en-US" sz="12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index</a:t>
            </a:r>
            <a:r>
              <a:rPr kumimoji="0" lang="ru-RU" altLang="en-US" sz="12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a:t>
            </a:r>
            <a:r>
              <a:rPr kumimoji="0" lang="en-US" altLang="en-US" sz="12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html</a:t>
            </a:r>
            <a:r>
              <a:rPr kumimoji="0" lang="ru-RU" altLang="en-US" sz="1200" b="0" i="0" u="none" strike="noStrike" cap="none" normalizeH="0" baseline="0" dirty="0">
                <a:ln>
                  <a:noFill/>
                </a:ln>
                <a:solidFill>
                  <a:schemeClr val="tx1"/>
                </a:solidFill>
                <a:effectLst/>
                <a:ea typeface="Times New Roman" panose="02020603050405020304" pitchFamily="18" charset="0"/>
              </a:rPr>
              <a:t> (где взять).</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ymbol" panose="05050102010706020507" pitchFamily="18" charset="2"/>
                <a:ea typeface="Times New Roman" panose="02020603050405020304" pitchFamily="18" charset="0"/>
              </a:rPr>
              <a:t>·</a:t>
            </a:r>
            <a:r>
              <a:rPr kumimoji="0" lang="ru-RU" altLang="en-US" sz="1200" b="0" i="0" u="none" strike="noStrike" cap="none" normalizeH="0" baseline="0" dirty="0">
                <a:ln>
                  <a:noFill/>
                </a:ln>
                <a:solidFill>
                  <a:schemeClr val="tx1"/>
                </a:solidFill>
                <a:effectLst/>
                <a:ea typeface="Times New Roman" panose="02020603050405020304" pitchFamily="18" charset="0"/>
              </a:rPr>
              <a:t>  </a:t>
            </a:r>
            <a:r>
              <a:rPr kumimoji="0" lang="ru-RU"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Версия:</a:t>
            </a:r>
            <a:r>
              <a:rPr kumimoji="0" lang="ru-RU"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a:t>
            </a:r>
            <a:r>
              <a:rPr kumimoji="0" lang="en-US" altLang="en-US" sz="12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HTTP</a:t>
            </a:r>
            <a:r>
              <a:rPr kumimoji="0" lang="ru-RU" altLang="en-US" sz="1200" b="0" i="0" u="none" strike="noStrike" cap="none" normalizeH="0" baseline="0" dirty="0">
                <a:ln>
                  <a:noFill/>
                </a:ln>
                <a:solidFill>
                  <a:schemeClr val="tx1"/>
                </a:solidFill>
                <a:effectLst/>
                <a:latin typeface="Arial Unicode MS"/>
                <a:ea typeface="Times New Roman" panose="02020603050405020304" pitchFamily="18" charset="0"/>
                <a:cs typeface="Courier New" panose="02070309020205020404" pitchFamily="49" charset="0"/>
              </a:rPr>
              <a:t>/1.1</a:t>
            </a:r>
            <a:r>
              <a:rPr kumimoji="0" lang="ru-RU" altLang="en-US" sz="1200" b="0" i="0" u="none" strike="noStrike" cap="none" normalizeH="0" baseline="0" dirty="0">
                <a:ln>
                  <a:noFill/>
                </a:ln>
                <a:solidFill>
                  <a:schemeClr val="tx1"/>
                </a:solidFill>
                <a:effectLst/>
                <a:ea typeface="Times New Roman" panose="02020603050405020304" pitchFamily="18" charset="0"/>
              </a:rPr>
              <a:t> (какую версию протокола использовать).</a:t>
            </a:r>
            <a:endParaRPr kumimoji="0" lang="en-US" altLang="en-US" sz="1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Symbol" panose="05050102010706020507" pitchFamily="18" charset="2"/>
                <a:ea typeface="Times New Roman" panose="02020603050405020304" pitchFamily="18" charset="0"/>
              </a:rPr>
              <a:t>·</a:t>
            </a:r>
            <a:r>
              <a:rPr kumimoji="0" lang="ru-RU" altLang="en-US" sz="1200" b="0" i="0" u="none" strike="noStrike" cap="none" normalizeH="0" baseline="0" dirty="0">
                <a:ln>
                  <a:noFill/>
                </a:ln>
                <a:solidFill>
                  <a:schemeClr val="tx1"/>
                </a:solidFill>
                <a:effectLst/>
                <a:ea typeface="Times New Roman" panose="02020603050405020304" pitchFamily="18" charset="0"/>
              </a:rPr>
              <a:t>  </a:t>
            </a:r>
            <a:r>
              <a:rPr kumimoji="0" lang="ru-RU"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Заголовки (</a:t>
            </a:r>
            <a:r>
              <a:rPr kumimoji="0" lang="en-US"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Headers</a:t>
            </a:r>
            <a:r>
              <a:rPr kumimoji="0" lang="ru-RU" altLang="en-US" sz="12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a:t>
            </a:r>
            <a:r>
              <a:rPr kumimoji="0" lang="ru-RU"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дополнительная информация (какой сайт нужен, какие языки поддерживает браузер, </a:t>
            </a:r>
            <a:r>
              <a:rPr kumimoji="0" lang="ru-RU" altLang="en-US" sz="1200" b="0" i="0" u="none" strike="noStrike" cap="none" normalizeH="0" baseline="0" dirty="0" err="1">
                <a:ln>
                  <a:noFill/>
                </a:ln>
                <a:solidFill>
                  <a:schemeClr val="tx1"/>
                </a:solidFill>
                <a:effectLst/>
                <a:latin typeface="Arial" panose="020B0604020202020204" pitchFamily="34" charset="0"/>
                <a:ea typeface="Times New Roman" panose="02020603050405020304" pitchFamily="18" charset="0"/>
              </a:rPr>
              <a:t>куки</a:t>
            </a:r>
            <a:r>
              <a:rPr kumimoji="0" lang="ru-RU" altLang="en-US" sz="1200" b="0" i="0" u="none" strike="noStrike" cap="none" normalizeH="0" baseline="0" dirty="0">
                <a:ln>
                  <a:noFill/>
                </a:ln>
                <a:solidFill>
                  <a:schemeClr val="tx1"/>
                </a:solidFill>
                <a:effectLst/>
                <a:latin typeface="Arial" panose="020B0604020202020204" pitchFamily="34" charset="0"/>
                <a:ea typeface="Times New Roman" panose="02020603050405020304" pitchFamily="18" charset="0"/>
              </a:rPr>
              <a:t> и т.д.).</a:t>
            </a:r>
            <a:endParaRPr kumimoji="0" lang="ru-RU"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633278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C39AE2-5700-47C4-90E8-37280E76881D}"/>
              </a:ext>
            </a:extLst>
          </p:cNvPr>
          <p:cNvSpPr txBox="1"/>
          <p:nvPr/>
        </p:nvSpPr>
        <p:spPr>
          <a:xfrm>
            <a:off x="546846" y="226764"/>
            <a:ext cx="10954871" cy="5523820"/>
          </a:xfrm>
          <a:prstGeom prst="rect">
            <a:avLst/>
          </a:prstGeom>
          <a:noFill/>
        </p:spPr>
        <p:txBody>
          <a:bodyPr wrap="square">
            <a:spAutoFit/>
          </a:bodyPr>
          <a:lstStyle/>
          <a:p>
            <a:pPr>
              <a:lnSpc>
                <a:spcPct val="107000"/>
              </a:lnSpc>
              <a:spcAft>
                <a:spcPts val="80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3. </a:t>
            </a:r>
            <a:r>
              <a:rPr lang="en-US" sz="2000" b="1" dirty="0" err="1">
                <a:effectLst/>
                <a:latin typeface="Times New Roman" panose="02020603050405020304" pitchFamily="18" charset="0"/>
                <a:ea typeface="Times New Roman" panose="02020603050405020304" pitchFamily="18" charset="0"/>
                <a:cs typeface="Times New Roman" panose="02020603050405020304" pitchFamily="18" charset="0"/>
              </a:rPr>
              <a:t>Основные</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 HTTP-</a:t>
            </a:r>
            <a:r>
              <a:rPr lang="en-US" sz="2000" b="1" dirty="0" err="1">
                <a:effectLst/>
                <a:latin typeface="Times New Roman" panose="02020603050405020304" pitchFamily="18" charset="0"/>
                <a:ea typeface="Times New Roman" panose="02020603050405020304" pitchFamily="18" charset="0"/>
                <a:cs typeface="Times New Roman" panose="02020603050405020304" pitchFamily="18" charset="0"/>
              </a:rPr>
              <a:t>методы</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err="1">
                <a:effectLst/>
                <a:latin typeface="Times New Roman" panose="02020603050405020304" pitchFamily="18" charset="0"/>
                <a:ea typeface="Times New Roman" panose="02020603050405020304" pitchFamily="18" charset="0"/>
                <a:cs typeface="Times New Roman" panose="02020603050405020304" pitchFamily="18" charset="0"/>
              </a:rPr>
              <a:t>глаголы</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GET</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 получить данные (самый частый).</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POST</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 отправить новые данные на сервер (например, при регистрации).</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PUT</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 полностью заменить существующие данные.</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PATCH</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частично</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изменить</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данные</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DELETE</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удалить</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ea typeface="Times New Roman" panose="02020603050405020304" pitchFamily="18" charset="0"/>
                <a:cs typeface="Times New Roman" panose="02020603050405020304" pitchFamily="18" charset="0"/>
              </a:rPr>
              <a:t>данные</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4. </a:t>
            </a:r>
            <a:r>
              <a:rPr lang="en-US" sz="2000" b="1" dirty="0" err="1">
                <a:effectLst/>
                <a:latin typeface="Times New Roman" panose="02020603050405020304" pitchFamily="18" charset="0"/>
                <a:ea typeface="Times New Roman" panose="02020603050405020304" pitchFamily="18" charset="0"/>
                <a:cs typeface="Times New Roman" panose="02020603050405020304" pitchFamily="18" charset="0"/>
              </a:rPr>
              <a:t>Коды</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err="1">
                <a:effectLst/>
                <a:latin typeface="Times New Roman" panose="02020603050405020304" pitchFamily="18" charset="0"/>
                <a:ea typeface="Times New Roman" panose="02020603050405020304" pitchFamily="18" charset="0"/>
                <a:cs typeface="Times New Roman" panose="02020603050405020304" pitchFamily="18" charset="0"/>
              </a:rPr>
              <a:t>ответа</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 (Status Codes)</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Сервер всегда отвечает числовым кодом:</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xx</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 Информация (редко видно пользователю).</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xx</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 Успех. </a:t>
            </a: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200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OK</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(все отлично), </a:t>
            </a: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201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Created</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(создано).</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xx</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 Перенаправление (</a:t>
            </a:r>
            <a:r>
              <a:rPr lang="ru-RU" sz="1800" dirty="0" err="1">
                <a:effectLst/>
                <a:latin typeface="Times New Roman" panose="02020603050405020304" pitchFamily="18" charset="0"/>
                <a:ea typeface="Times New Roman" panose="02020603050405020304" pitchFamily="18" charset="0"/>
                <a:cs typeface="Times New Roman" panose="02020603050405020304" pitchFamily="18" charset="0"/>
              </a:rPr>
              <a:t>редирект</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301</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(страница навсегда переехала), </a:t>
            </a: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304</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(кэш, страница не менялась).</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4</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xx</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 Ошибка клиента. </a:t>
            </a: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404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Not Found</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(не найдено), </a:t>
            </a: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403</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(доступ запрещен), </a:t>
            </a: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429</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(слишком много запросов).</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xx</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 Ошибка сервера. </a:t>
            </a: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500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Internal Server Error</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 (что-то сломалось на сервере), </a:t>
            </a:r>
            <a:r>
              <a:rPr lang="ru-RU" sz="1800" b="1" dirty="0">
                <a:effectLst/>
                <a:latin typeface="Times New Roman" panose="02020603050405020304" pitchFamily="18" charset="0"/>
                <a:ea typeface="Times New Roman" panose="02020603050405020304" pitchFamily="18" charset="0"/>
                <a:cs typeface="Times New Roman" panose="02020603050405020304" pitchFamily="18" charset="0"/>
              </a:rPr>
              <a:t>502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Bad Gateway</a:t>
            </a:r>
            <a:r>
              <a:rPr lang="ru-RU" sz="180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266646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056CFE-9390-4449-BDB3-40C1083E467F}"/>
              </a:ext>
            </a:extLst>
          </p:cNvPr>
          <p:cNvSpPr txBox="1"/>
          <p:nvPr/>
        </p:nvSpPr>
        <p:spPr>
          <a:xfrm>
            <a:off x="466164" y="334433"/>
            <a:ext cx="11223811" cy="1754326"/>
          </a:xfrm>
          <a:prstGeom prst="rect">
            <a:avLst/>
          </a:prstGeom>
          <a:noFill/>
        </p:spPr>
        <p:txBody>
          <a:bodyPr wrap="square">
            <a:spAutoFit/>
          </a:bodyPr>
          <a:lstStyle/>
          <a:p>
            <a:r>
              <a:rPr lang="ru-RU" b="1"/>
              <a:t>Эволюция: HTTP/1.1, HTTP/2 и HTTP/3</a:t>
            </a:r>
          </a:p>
          <a:p>
            <a:pPr>
              <a:buFont typeface="Arial" panose="020B0604020202020204" pitchFamily="34" charset="0"/>
              <a:buChar char="•"/>
            </a:pPr>
            <a:r>
              <a:rPr lang="ru-RU" b="1"/>
              <a:t>HTTP/1.1:</a:t>
            </a:r>
            <a:r>
              <a:rPr lang="ru-RU"/>
              <a:t> Долгое время был стандартом. Обрабатывает запросы по очереди.</a:t>
            </a:r>
          </a:p>
          <a:p>
            <a:pPr>
              <a:buFont typeface="Arial" panose="020B0604020202020204" pitchFamily="34" charset="0"/>
              <a:buChar char="•"/>
            </a:pPr>
            <a:r>
              <a:rPr lang="ru-RU" b="1"/>
              <a:t>HTTP/2:</a:t>
            </a:r>
            <a:r>
              <a:rPr lang="ru-RU"/>
              <a:t> Использует мультиплексирование (отправляет и получает данные параллельно в одном соединении), что делает сайты быстрее.</a:t>
            </a:r>
          </a:p>
          <a:p>
            <a:pPr>
              <a:buFont typeface="Arial" panose="020B0604020202020204" pitchFamily="34" charset="0"/>
              <a:buChar char="•"/>
            </a:pPr>
            <a:r>
              <a:rPr lang="ru-RU" b="1"/>
              <a:t>HTTP/3:</a:t>
            </a:r>
            <a:r>
              <a:rPr lang="ru-RU"/>
              <a:t> Самая современная версия. Использует протокол </a:t>
            </a:r>
            <a:r>
              <a:rPr lang="ru-RU" b="1"/>
              <a:t>QUIC</a:t>
            </a:r>
            <a:r>
              <a:rPr lang="ru-RU"/>
              <a:t> (поверх UDP вместо TCP), что критически улучшает скорость на мобильных сетях и при потере пакетов.</a:t>
            </a:r>
            <a:endParaRPr lang="ru-RU" dirty="0"/>
          </a:p>
        </p:txBody>
      </p:sp>
      <p:sp>
        <p:nvSpPr>
          <p:cNvPr id="5" name="TextBox 4">
            <a:extLst>
              <a:ext uri="{FF2B5EF4-FFF2-40B4-BE49-F238E27FC236}">
                <a16:creationId xmlns:a16="http://schemas.microsoft.com/office/drawing/2014/main" id="{CDDFC390-270A-4EFC-A6BE-6F663FBB7BDE}"/>
              </a:ext>
            </a:extLst>
          </p:cNvPr>
          <p:cNvSpPr txBox="1"/>
          <p:nvPr/>
        </p:nvSpPr>
        <p:spPr>
          <a:xfrm>
            <a:off x="466163" y="2323691"/>
            <a:ext cx="10748683" cy="1200329"/>
          </a:xfrm>
          <a:prstGeom prst="rect">
            <a:avLst/>
          </a:prstGeom>
          <a:noFill/>
        </p:spPr>
        <p:txBody>
          <a:bodyPr wrap="square">
            <a:spAutoFit/>
          </a:bodyPr>
          <a:lstStyle/>
          <a:p>
            <a:r>
              <a:rPr lang="ru-RU" b="1" dirty="0"/>
              <a:t>6. HTTPS (S — </a:t>
            </a:r>
            <a:r>
              <a:rPr lang="ru-RU" b="1" dirty="0" err="1"/>
              <a:t>Security</a:t>
            </a:r>
            <a:r>
              <a:rPr lang="ru-RU" b="1" dirty="0"/>
              <a:t>)</a:t>
            </a:r>
          </a:p>
          <a:p>
            <a:r>
              <a:rPr lang="ru-RU" dirty="0"/>
              <a:t>Сейчас практически везде используется </a:t>
            </a:r>
            <a:r>
              <a:rPr lang="ru-RU" b="1" dirty="0"/>
              <a:t>HTTPS</a:t>
            </a:r>
            <a:r>
              <a:rPr lang="ru-RU" dirty="0"/>
              <a:t>. Это тот же HTTP, но поверх шифрования (SSL/TLS).</a:t>
            </a:r>
          </a:p>
          <a:p>
            <a:pPr>
              <a:buFont typeface="Arial" panose="020B0604020202020204" pitchFamily="34" charset="0"/>
              <a:buChar char="•"/>
            </a:pPr>
            <a:r>
              <a:rPr lang="ru-RU" dirty="0"/>
              <a:t>Защищает данные от прослушивания (ваши пароли не летят по сети в открытом виде).</a:t>
            </a:r>
          </a:p>
          <a:p>
            <a:pPr>
              <a:buFont typeface="Arial" panose="020B0604020202020204" pitchFamily="34" charset="0"/>
              <a:buChar char="•"/>
            </a:pPr>
            <a:r>
              <a:rPr lang="ru-RU" dirty="0"/>
              <a:t>Подтверждает, что вы подключились к настоящему сайту, а не к поддельному (фишинговому).</a:t>
            </a:r>
          </a:p>
        </p:txBody>
      </p:sp>
    </p:spTree>
    <p:extLst>
      <p:ext uri="{BB962C8B-B14F-4D97-AF65-F5344CB8AC3E}">
        <p14:creationId xmlns:p14="http://schemas.microsoft.com/office/powerpoint/2010/main" val="6721115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5D83C6-FEDD-453F-B9D0-B8D22F2058A3}"/>
              </a:ext>
            </a:extLst>
          </p:cNvPr>
          <p:cNvSpPr>
            <a:spLocks noChangeArrowheads="1"/>
          </p:cNvSpPr>
          <p:nvPr/>
        </p:nvSpPr>
        <p:spPr bwMode="auto">
          <a:xfrm>
            <a:off x="184184" y="368649"/>
            <a:ext cx="1131753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HTTP/0.9</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самую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первую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версию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протокола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описанную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Тимом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Бернерсом-Ли</a:t>
            </a:r>
            <a:r>
              <a:rPr kumimoji="0" lang="en-US" altLang="en-US" b="0" i="0" u="none" strike="noStrike" cap="none" normalizeH="0" baseline="0" dirty="0">
                <a:ln>
                  <a:noFill/>
                </a:ln>
                <a:solidFill>
                  <a:schemeClr val="tx1"/>
                </a:solidFill>
                <a:effectLst/>
                <a:latin typeface="Arial" panose="020B0604020202020204" pitchFamily="34" charset="0"/>
              </a:rPr>
              <a:t> в 1991 </a:t>
            </a:r>
            <a:r>
              <a:rPr kumimoji="0" lang="en-US" altLang="en-US" b="0" i="0" u="none" strike="noStrike" cap="none" normalizeH="0" baseline="0" dirty="0" err="1">
                <a:ln>
                  <a:noFill/>
                </a:ln>
                <a:solidFill>
                  <a:schemeClr val="tx1"/>
                </a:solidFill>
                <a:effectLst/>
                <a:latin typeface="Arial" panose="020B0604020202020204" pitchFamily="34" charset="0"/>
              </a:rPr>
              <a:t>году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был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крайне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простой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протокол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который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заложил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основу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отличался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современных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версий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кардинально</a:t>
            </a:r>
            <a:r>
              <a:rPr kumimoji="0" lang="en-US" altLang="en-US" b="0" i="0" u="none" strike="noStrike" cap="none" normalizeH="0" baseline="0" dirty="0">
                <a:ln>
                  <a:noFill/>
                </a:ln>
                <a:solidFill>
                  <a:schemeClr val="tx1"/>
                </a:solidFill>
                <a:effectLst/>
                <a:latin typeface="Arial" panose="020B0604020202020204" pitchFamily="34" charset="0"/>
              </a:rPr>
              <a:t>.</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Основные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характеристики</a:t>
            </a:r>
            <a:r>
              <a:rPr kumimoji="0" lang="en-US" altLang="en-US" b="1" i="0" u="none" strike="noStrike" cap="none" normalizeH="0" baseline="0" dirty="0">
                <a:ln>
                  <a:noFill/>
                </a:ln>
                <a:solidFill>
                  <a:schemeClr val="tx1"/>
                </a:solidFill>
                <a:effectLst/>
                <a:latin typeface="Arial" panose="020B0604020202020204" pitchFamily="34" charset="0"/>
              </a:rPr>
              <a:t> HTTP/0.9</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err="1">
                <a:ln>
                  <a:noFill/>
                </a:ln>
                <a:solidFill>
                  <a:schemeClr val="tx1"/>
                </a:solidFill>
                <a:effectLst/>
                <a:latin typeface="Arial" panose="020B0604020202020204" pitchFamily="34" charset="0"/>
              </a:rPr>
              <a:t>Только</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один</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метод</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Unicode MS"/>
              </a:rPr>
              <a:t>GET</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было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ни</a:t>
            </a:r>
            <a:r>
              <a:rPr kumimoji="0" lang="en-US" altLang="en-US" b="0" i="0" u="none" strike="noStrike" cap="none" normalizeH="0" baseline="0" dirty="0">
                <a:ln>
                  <a:noFill/>
                </a:ln>
                <a:solidFill>
                  <a:schemeClr val="tx1"/>
                </a:solidFill>
                <a:effectLst/>
                <a:latin typeface="Arial" panose="020B0604020202020204" pitchFamily="34" charset="0"/>
              </a:rPr>
              <a:t> POST, </a:t>
            </a:r>
            <a:r>
              <a:rPr kumimoji="0" lang="en-US" altLang="en-US" b="0" i="0" u="none" strike="noStrike" cap="none" normalizeH="0" baseline="0" dirty="0" err="1">
                <a:ln>
                  <a:noFill/>
                </a:ln>
                <a:solidFill>
                  <a:schemeClr val="tx1"/>
                </a:solidFill>
                <a:effectLst/>
                <a:latin typeface="Arial" panose="020B0604020202020204" pitchFamily="34" charset="0"/>
              </a:rPr>
              <a:t>ни</a:t>
            </a:r>
            <a:r>
              <a:rPr kumimoji="0" lang="en-US" altLang="en-US" b="0" i="0" u="none" strike="noStrike" cap="none" normalizeH="0" baseline="0" dirty="0">
                <a:ln>
                  <a:noFill/>
                </a:ln>
                <a:solidFill>
                  <a:schemeClr val="tx1"/>
                </a:solidFill>
                <a:effectLst/>
                <a:latin typeface="Arial" panose="020B0604020202020204" pitchFamily="34" charset="0"/>
              </a:rPr>
              <a:t> HEAD, </a:t>
            </a:r>
            <a:r>
              <a:rPr kumimoji="0" lang="en-US" altLang="en-US" b="0" i="0" u="none" strike="noStrike" cap="none" normalizeH="0" baseline="0" dirty="0" err="1">
                <a:ln>
                  <a:noFill/>
                </a:ln>
                <a:solidFill>
                  <a:schemeClr val="tx1"/>
                </a:solidFill>
                <a:effectLst/>
                <a:latin typeface="Arial" panose="020B0604020202020204" pitchFamily="34" charset="0"/>
              </a:rPr>
              <a:t>ни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каких-либо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других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методов</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Клиент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мог</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только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1" u="none" strike="noStrike" cap="none" normalizeH="0" baseline="0" dirty="0" err="1">
                <a:ln>
                  <a:noFill/>
                </a:ln>
                <a:solidFill>
                  <a:schemeClr val="tx1"/>
                </a:solidFill>
                <a:effectLst/>
                <a:latin typeface="Arial" panose="020B0604020202020204" pitchFamily="34" charset="0"/>
              </a:rPr>
              <a:t>запросить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ресурс</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err="1">
                <a:ln>
                  <a:noFill/>
                </a:ln>
                <a:solidFill>
                  <a:schemeClr val="tx1"/>
                </a:solidFill>
                <a:effectLst/>
                <a:latin typeface="Arial" panose="020B0604020202020204" pitchFamily="34" charset="0"/>
              </a:rPr>
              <a:t>Никаких</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заголовков</a:t>
            </a:r>
            <a:r>
              <a:rPr kumimoji="0" lang="en-US" altLang="en-US" b="1" i="0" u="none" strike="noStrike" cap="none" normalizeH="0" baseline="0" dirty="0">
                <a:ln>
                  <a:noFill/>
                </a:ln>
                <a:solidFill>
                  <a:schemeClr val="tx1"/>
                </a:solidFill>
                <a:effectLst/>
                <a:latin typeface="Arial" panose="020B0604020202020204" pitchFamily="34" charset="0"/>
              </a:rPr>
              <a:t> (headers)</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Запрос</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состоял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одной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строки</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0B6A177A-7BE3-4E09-A3B0-AE8A9C1ED3FD}"/>
              </a:ext>
            </a:extLst>
          </p:cNvPr>
          <p:cNvSpPr txBox="1"/>
          <p:nvPr/>
        </p:nvSpPr>
        <p:spPr>
          <a:xfrm>
            <a:off x="546847" y="2492307"/>
            <a:ext cx="6096000" cy="369332"/>
          </a:xfrm>
          <a:prstGeom prst="rect">
            <a:avLst/>
          </a:prstGeom>
          <a:noFill/>
        </p:spPr>
        <p:txBody>
          <a:bodyPr wrap="square">
            <a:spAutoFit/>
          </a:bodyPr>
          <a:lstStyle/>
          <a:p>
            <a:r>
              <a:rPr lang="en-US" dirty="0"/>
              <a:t>GET /index.html</a:t>
            </a:r>
          </a:p>
        </p:txBody>
      </p:sp>
      <p:sp>
        <p:nvSpPr>
          <p:cNvPr id="5" name="Rectangle 2">
            <a:extLst>
              <a:ext uri="{FF2B5EF4-FFF2-40B4-BE49-F238E27FC236}">
                <a16:creationId xmlns:a16="http://schemas.microsoft.com/office/drawing/2014/main" id="{E7DAFC81-EFE9-406E-B48C-A73444849F05}"/>
              </a:ext>
            </a:extLst>
          </p:cNvPr>
          <p:cNvSpPr>
            <a:spLocks noChangeArrowheads="1"/>
          </p:cNvSpPr>
          <p:nvPr/>
        </p:nvSpPr>
        <p:spPr bwMode="auto">
          <a:xfrm>
            <a:off x="340659" y="2961946"/>
            <a:ext cx="654288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Ни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Host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ни</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User-Agent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ни</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Accept</a:t>
            </a:r>
            <a:r>
              <a:rPr kumimoji="0" lang="en-US" altLang="en-US" b="0" i="0" u="none" strike="noStrike" cap="none" normalizeH="0" baseline="0" dirty="0">
                <a:ln>
                  <a:noFill/>
                </a:ln>
                <a:solidFill>
                  <a:schemeClr val="tx1"/>
                </a:solidFill>
                <a:effectLst/>
              </a:rPr>
              <a:t> — </a:t>
            </a:r>
            <a:r>
              <a:rPr kumimoji="0" lang="en-US" altLang="en-US" b="0" i="0" u="none" strike="noStrike" cap="none" normalizeH="0" baseline="0" dirty="0" err="1">
                <a:ln>
                  <a:noFill/>
                </a:ln>
                <a:solidFill>
                  <a:schemeClr val="tx1"/>
                </a:solidFill>
                <a:effectLst/>
              </a:rPr>
              <a:t>ничего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передавалось</a:t>
            </a:r>
            <a:r>
              <a:rPr kumimoji="0" lang="en-US" altLang="en-US" b="0" i="0" u="none" strike="noStrike" cap="none" normalizeH="0" baseline="0" dirty="0">
                <a:ln>
                  <a:noFill/>
                </a:ln>
                <a:solidFill>
                  <a:schemeClr val="tx1"/>
                </a:solidFill>
                <a:effectLst/>
              </a:rPr>
              <a:t>.</a:t>
            </a:r>
            <a:r>
              <a:rPr kumimoji="0" lang="en-US" altLang="en-US" b="0" i="0" u="none" strike="noStrike" cap="none" normalizeH="0" baseline="0" dirty="0">
                <a:ln>
                  <a:noFill/>
                </a:ln>
                <a:solidFill>
                  <a:schemeClr val="tx1"/>
                </a:solidFill>
                <a:effectLst/>
                <a:latin typeface="Arial" panose="020B0604020202020204" pitchFamily="34" charset="0"/>
              </a:rPr>
              <a:t> </a:t>
            </a:r>
          </a:p>
        </p:txBody>
      </p:sp>
      <p:sp>
        <p:nvSpPr>
          <p:cNvPr id="7" name="Rectangle 4">
            <a:extLst>
              <a:ext uri="{FF2B5EF4-FFF2-40B4-BE49-F238E27FC236}">
                <a16:creationId xmlns:a16="http://schemas.microsoft.com/office/drawing/2014/main" id="{DC692665-216A-4B0B-8E0C-0EA7468E8E6B}"/>
              </a:ext>
            </a:extLst>
          </p:cNvPr>
          <p:cNvSpPr>
            <a:spLocks noChangeArrowheads="1"/>
          </p:cNvSpPr>
          <p:nvPr/>
        </p:nvSpPr>
        <p:spPr bwMode="auto">
          <a:xfrm>
            <a:off x="419100" y="3429000"/>
            <a:ext cx="10157572"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Ответ — только тело (body)</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Сервер возвращал </a:t>
            </a:r>
            <a:r>
              <a:rPr kumimoji="0" lang="en-US" altLang="en-US" sz="1800" b="1" i="0" u="none" strike="noStrike" cap="none" normalizeH="0" baseline="0">
                <a:ln>
                  <a:noFill/>
                </a:ln>
                <a:solidFill>
                  <a:schemeClr val="tx1"/>
                </a:solidFill>
                <a:effectLst/>
                <a:latin typeface="Arial" panose="020B0604020202020204" pitchFamily="34" charset="0"/>
              </a:rPr>
              <a:t>только HTML</a:t>
            </a:r>
            <a:r>
              <a:rPr kumimoji="0" lang="en-US" altLang="en-US" sz="1800" b="0" i="0" u="none" strike="noStrike" cap="none" normalizeH="0" baseline="0">
                <a:ln>
                  <a:noFill/>
                </a:ln>
                <a:solidFill>
                  <a:schemeClr val="tx1"/>
                </a:solidFill>
                <a:effectLst/>
                <a:latin typeface="Arial" panose="020B0604020202020204" pitchFamily="34" charset="0"/>
              </a:rPr>
              <a:t> (или текстовый файл) без каких-либо метаданных. Не было кодов состояния (200, 404 и т.д.), не было заголовков ответа. Если ресурс не найден, сервер просто возвращал человекочитаемое сообщение об ошибке в виде HTML.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Соединение закрывалось сразу после ответа</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Каждый запрос открывал новое TCP-соединение, и после передачи файла сервер закрывал его. Никаких keep-alive или конвейеризации.</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Только текстовые ресурсы</a:t>
            </a:r>
            <a:br>
              <a:rPr kumimoji="0" lang="en-US" altLang="en-US" sz="1800" b="0" i="0" u="none" strike="noStrike" cap="none" normalizeH="0" baseline="0">
                <a:ln>
                  <a:noFill/>
                </a:ln>
                <a:solidFill>
                  <a:schemeClr val="tx1"/>
                </a:solidFill>
                <a:effectLst/>
                <a:latin typeface="Arial" panose="020B0604020202020204" pitchFamily="34" charset="0"/>
              </a:rPr>
            </a:br>
            <a:r>
              <a:rPr kumimoji="0" lang="en-US" altLang="en-US" sz="1800" b="0" i="0" u="none" strike="noStrike" cap="none" normalizeH="0" baseline="0">
                <a:ln>
                  <a:noFill/>
                </a:ln>
                <a:solidFill>
                  <a:schemeClr val="tx1"/>
                </a:solidFill>
                <a:effectLst/>
                <a:latin typeface="Arial" panose="020B0604020202020204" pitchFamily="34" charset="0"/>
              </a:rPr>
              <a:t>Изначально протокол задумывался для передачи HTML-страниц. Бинарные данные (картинки, стили) не поддерживались напрямую — позже их стали встраивать через отдельные запросы, но в 0.9 их фактически не было.</a:t>
            </a:r>
          </a:p>
        </p:txBody>
      </p:sp>
    </p:spTree>
    <p:extLst>
      <p:ext uri="{BB962C8B-B14F-4D97-AF65-F5344CB8AC3E}">
        <p14:creationId xmlns:p14="http://schemas.microsoft.com/office/powerpoint/2010/main" val="39014074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E67C075-9FCB-4682-954F-06FE5B8A803B}"/>
              </a:ext>
            </a:extLst>
          </p:cNvPr>
          <p:cNvSpPr txBox="1"/>
          <p:nvPr/>
        </p:nvSpPr>
        <p:spPr>
          <a:xfrm>
            <a:off x="638174" y="391210"/>
            <a:ext cx="8772525" cy="369332"/>
          </a:xfrm>
          <a:prstGeom prst="rect">
            <a:avLst/>
          </a:prstGeom>
          <a:noFill/>
        </p:spPr>
        <p:txBody>
          <a:bodyPr wrap="square">
            <a:spAutoFit/>
          </a:bodyPr>
          <a:lstStyle/>
          <a:p>
            <a:r>
              <a:rPr lang="ru-RU" b="1" dirty="0"/>
              <a:t>Запрос</a:t>
            </a:r>
            <a:r>
              <a:rPr lang="ru-RU" dirty="0"/>
              <a:t> (клиент открывает TCP-соединение с сервером на порт 80 и отправляет):</a:t>
            </a:r>
            <a:endParaRPr lang="en-US" dirty="0"/>
          </a:p>
        </p:txBody>
      </p:sp>
      <p:sp>
        <p:nvSpPr>
          <p:cNvPr id="4" name="Rectangle 1">
            <a:extLst>
              <a:ext uri="{FF2B5EF4-FFF2-40B4-BE49-F238E27FC236}">
                <a16:creationId xmlns:a16="http://schemas.microsoft.com/office/drawing/2014/main" id="{1CBE20CB-B177-4786-B703-B173FB418688}"/>
              </a:ext>
            </a:extLst>
          </p:cNvPr>
          <p:cNvSpPr>
            <a:spLocks noChangeArrowheads="1"/>
          </p:cNvSpPr>
          <p:nvPr/>
        </p:nvSpPr>
        <p:spPr bwMode="auto">
          <a:xfrm>
            <a:off x="838200" y="788283"/>
            <a:ext cx="261937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Unicode MS"/>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GET /hello.html</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614C8868-8519-462A-99FC-ED5EEFB85414}"/>
              </a:ext>
            </a:extLst>
          </p:cNvPr>
          <p:cNvSpPr>
            <a:spLocks noChangeArrowheads="1"/>
          </p:cNvSpPr>
          <p:nvPr/>
        </p:nvSpPr>
        <p:spPr bwMode="auto">
          <a:xfrm>
            <a:off x="304800" y="2019985"/>
            <a:ext cx="935355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Ответ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сервер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читает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файл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hello.html</a:t>
            </a:r>
            <a:r>
              <a:rPr kumimoji="0" lang="en-US" altLang="en-US" b="0" i="0" u="none" strike="noStrike" cap="none" normalizeH="0" baseline="0" dirty="0">
                <a:ln>
                  <a:noFill/>
                </a:ln>
                <a:solidFill>
                  <a:schemeClr val="tx1"/>
                </a:solidFill>
                <a:effectLst/>
              </a:rPr>
              <a:t> и </a:t>
            </a:r>
            <a:r>
              <a:rPr kumimoji="0" lang="en-US" altLang="en-US" b="0" i="0" u="none" strike="noStrike" cap="none" normalizeH="0" baseline="0" dirty="0" err="1">
                <a:ln>
                  <a:noFill/>
                </a:ln>
                <a:solidFill>
                  <a:schemeClr val="tx1"/>
                </a:solidFill>
                <a:effectLst/>
              </a:rPr>
              <a:t>отправляет</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содержимое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затем</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закрывает</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соединение</a:t>
            </a:r>
            <a:r>
              <a:rPr kumimoji="0" lang="en-US" altLang="en-US" b="0" i="0" u="none" strike="noStrike" cap="none" normalizeH="0" baseline="0" dirty="0">
                <a:ln>
                  <a:noFill/>
                </a:ln>
                <a:solidFill>
                  <a:schemeClr val="tx1"/>
                </a:solidFill>
                <a:effectLst/>
              </a:rPr>
              <a:t>):</a:t>
            </a:r>
            <a:r>
              <a:rPr kumimoji="0" lang="en-US" altLang="en-US" b="0" i="0" u="none" strike="noStrike" cap="none" normalizeH="0" baseline="0" dirty="0">
                <a:ln>
                  <a:noFill/>
                </a:ln>
                <a:solidFill>
                  <a:schemeClr val="tx1"/>
                </a:solidFill>
                <a:effectLst/>
                <a:latin typeface="Arial" panose="020B0604020202020204" pitchFamily="34" charset="0"/>
              </a:rPr>
              <a:t> </a:t>
            </a:r>
          </a:p>
        </p:txBody>
      </p:sp>
      <p:sp>
        <p:nvSpPr>
          <p:cNvPr id="6" name="Rectangle 3">
            <a:extLst>
              <a:ext uri="{FF2B5EF4-FFF2-40B4-BE49-F238E27FC236}">
                <a16:creationId xmlns:a16="http://schemas.microsoft.com/office/drawing/2014/main" id="{2DD46735-7A03-4E21-8F41-39551553E59E}"/>
              </a:ext>
            </a:extLst>
          </p:cNvPr>
          <p:cNvSpPr>
            <a:spLocks noChangeArrowheads="1"/>
          </p:cNvSpPr>
          <p:nvPr/>
        </p:nvSpPr>
        <p:spPr bwMode="auto">
          <a:xfrm>
            <a:off x="638174" y="2567226"/>
            <a:ext cx="749617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&lt;html&gt;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&lt;body&gt;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&lt;h1&gt;Hello, World!&lt;/h1&gt;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 &lt;/body&gt;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Unicode MS"/>
              </a:rPr>
              <a:t>&lt;/html&gt;</a:t>
            </a:r>
            <a:r>
              <a:rPr kumimoji="0" lang="en-US" altLang="en-US" b="0" i="0" u="none" strike="noStrike" cap="none" normalizeH="0" baseline="0" dirty="0">
                <a:ln>
                  <a:noFill/>
                </a:ln>
                <a:solidFill>
                  <a:schemeClr val="tx1"/>
                </a:solidFill>
                <a:effectLst/>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3219AACB-1B65-4A1D-82D4-FCBE6F42BAC7}"/>
              </a:ext>
            </a:extLst>
          </p:cNvPr>
          <p:cNvSpPr>
            <a:spLocks noChangeArrowheads="1"/>
          </p:cNvSpPr>
          <p:nvPr/>
        </p:nvSpPr>
        <p:spPr bwMode="auto">
          <a:xfrm>
            <a:off x="471486" y="3938886"/>
            <a:ext cx="686630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Никаких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HTTP/1.0 200 OK</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ни</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Content-Type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ни</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Content-Length</a:t>
            </a:r>
            <a:r>
              <a:rPr kumimoji="0" lang="en-US" altLang="en-US" b="0" i="0" u="none" strike="noStrike" cap="none" normalizeH="0" baseline="0" dirty="0">
                <a:ln>
                  <a:noFill/>
                </a:ln>
                <a:solidFill>
                  <a:schemeClr val="tx1"/>
                </a:solidFill>
                <a:effectLst/>
              </a:rPr>
              <a:t>. </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err="1">
                <a:ln>
                  <a:noFill/>
                </a:ln>
                <a:solidFill>
                  <a:schemeClr val="tx1"/>
                </a:solidFill>
                <a:effectLst/>
              </a:rPr>
              <a:t>Браузер</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просто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начинал</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отображать</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полученные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байты</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как</a:t>
            </a:r>
            <a:r>
              <a:rPr kumimoji="0" lang="en-US" altLang="en-US" b="0" i="0" u="none" strike="noStrike" cap="none" normalizeH="0" baseline="0" dirty="0">
                <a:ln>
                  <a:noFill/>
                </a:ln>
                <a:solidFill>
                  <a:schemeClr val="tx1"/>
                </a:solidFill>
                <a:effectLst/>
              </a:rPr>
              <a:t> HTML.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0258254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0D24EC-DEE6-468A-905E-1C42719BD98E}"/>
              </a:ext>
            </a:extLst>
          </p:cNvPr>
          <p:cNvSpPr>
            <a:spLocks noChangeArrowheads="1"/>
          </p:cNvSpPr>
          <p:nvPr/>
        </p:nvSpPr>
        <p:spPr bwMode="auto">
          <a:xfrm>
            <a:off x="157162" y="1270248"/>
            <a:ext cx="1190148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Почему</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отказались</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от</a:t>
            </a:r>
            <a:r>
              <a:rPr kumimoji="0" lang="en-US" altLang="en-US" b="1" i="0" u="none" strike="noStrike" cap="none" normalizeH="0" baseline="0" dirty="0">
                <a:ln>
                  <a:noFill/>
                </a:ln>
                <a:solidFill>
                  <a:schemeClr val="tx1"/>
                </a:solidFill>
                <a:effectLst/>
                <a:latin typeface="Arial" panose="020B0604020202020204" pitchFamily="34" charset="0"/>
              </a:rPr>
              <a:t> HTTP/0.9</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Отсутствие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информации</a:t>
            </a:r>
            <a:r>
              <a:rPr kumimoji="0" lang="en-US" altLang="en-US" b="1" i="0" u="none" strike="noStrike" cap="none" normalizeH="0" baseline="0" dirty="0">
                <a:ln>
                  <a:noFill/>
                </a:ln>
                <a:solidFill>
                  <a:schemeClr val="tx1"/>
                </a:solidFill>
                <a:effectLst/>
                <a:latin typeface="Arial" panose="020B0604020202020204" pitchFamily="34" charset="0"/>
              </a:rPr>
              <a:t> о </a:t>
            </a:r>
            <a:r>
              <a:rPr kumimoji="0" lang="en-US" altLang="en-US" b="1" i="0" u="none" strike="noStrike" cap="none" normalizeH="0" baseline="0" dirty="0" err="1">
                <a:ln>
                  <a:noFill/>
                </a:ln>
                <a:solidFill>
                  <a:schemeClr val="tx1"/>
                </a:solidFill>
                <a:effectLst/>
                <a:latin typeface="Arial" panose="020B0604020202020204" pitchFamily="34" charset="0"/>
              </a:rPr>
              <a:t>хосте</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невозможно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было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разместить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несколько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сайтов</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одном</a:t>
            </a:r>
            <a:r>
              <a:rPr kumimoji="0" lang="en-US" altLang="en-US" b="0" i="0" u="none" strike="noStrike" cap="none" normalizeH="0" baseline="0" dirty="0">
                <a:ln>
                  <a:noFill/>
                </a:ln>
                <a:solidFill>
                  <a:schemeClr val="tx1"/>
                </a:solidFill>
                <a:effectLst/>
                <a:latin typeface="Arial" panose="020B0604020202020204" pitchFamily="34" charset="0"/>
              </a:rPr>
              <a:t> IP (</a:t>
            </a:r>
            <a:r>
              <a:rPr kumimoji="0" lang="en-US" altLang="en-US" b="0" i="0" u="none" strike="noStrike" cap="none" normalizeH="0" baseline="0" dirty="0" err="1">
                <a:ln>
                  <a:noFill/>
                </a:ln>
                <a:solidFill>
                  <a:schemeClr val="tx1"/>
                </a:solidFill>
                <a:effectLst/>
                <a:latin typeface="Arial" panose="020B0604020202020204" pitchFamily="34" charset="0"/>
              </a:rPr>
              <a:t>виртуальный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хостинг</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так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передавалось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поле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Host</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Невозможность</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передавать</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произвольные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типы</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данных</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было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Content-Type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поэтому</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картинки</a:t>
            </a:r>
            <a:r>
              <a:rPr kumimoji="0" lang="en-US" altLang="en-US" b="0" i="0" u="none" strike="noStrike" cap="none" normalizeH="0" baseline="0" dirty="0">
                <a:ln>
                  <a:noFill/>
                </a:ln>
                <a:solidFill>
                  <a:schemeClr val="tx1"/>
                </a:solidFill>
                <a:effectLst/>
              </a:rPr>
              <a:t>, CSS, JavaScript </a:t>
            </a:r>
            <a:r>
              <a:rPr kumimoji="0" lang="en-US" altLang="en-US" b="0" i="0" u="none" strike="noStrike" cap="none" normalizeH="0" baseline="0" dirty="0" err="1">
                <a:ln>
                  <a:noFill/>
                </a:ln>
                <a:solidFill>
                  <a:schemeClr val="tx1"/>
                </a:solidFill>
                <a:effectLst/>
              </a:rPr>
              <a:t>приходилось</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передавать</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как</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текст</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Нет</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механизма</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кэширования</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было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заголовков</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управления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кэшем</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Нет</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кодов</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состояния</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клиент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мог</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программно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различить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успешный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ответ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ошибки</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Огромные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накладные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расходы</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на</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соединения</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каждый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ресурс</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требовал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нового</a:t>
            </a:r>
            <a:r>
              <a:rPr kumimoji="0" lang="en-US" altLang="en-US" b="0" i="0" u="none" strike="noStrike" cap="none" normalizeH="0" baseline="0" dirty="0">
                <a:ln>
                  <a:noFill/>
                </a:ln>
                <a:solidFill>
                  <a:schemeClr val="tx1"/>
                </a:solidFill>
                <a:effectLst/>
                <a:latin typeface="Arial" panose="020B0604020202020204" pitchFamily="34" charset="0"/>
              </a:rPr>
              <a:t> TCP-</a:t>
            </a:r>
            <a:r>
              <a:rPr kumimoji="0" lang="en-US" altLang="en-US" b="0" i="0" u="none" strike="noStrike" cap="none" normalizeH="0" baseline="0" dirty="0" err="1">
                <a:ln>
                  <a:noFill/>
                </a:ln>
                <a:solidFill>
                  <a:schemeClr val="tx1"/>
                </a:solidFill>
                <a:effectLst/>
                <a:latin typeface="Arial" panose="020B0604020202020204" pitchFamily="34" charset="0"/>
              </a:rPr>
              <a:t>рукопожатия</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Наследие</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HTTP/0.9 </a:t>
            </a:r>
            <a:r>
              <a:rPr kumimoji="0" lang="en-US" altLang="en-US" b="0" i="0" u="none" strike="noStrike" cap="none" normalizeH="0" baseline="0" dirty="0" err="1">
                <a:ln>
                  <a:noFill/>
                </a:ln>
                <a:solidFill>
                  <a:schemeClr val="tx1"/>
                </a:solidFill>
                <a:effectLst/>
                <a:latin typeface="Arial" panose="020B0604020202020204" pitchFamily="34" charset="0"/>
              </a:rPr>
              <a:t>официально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устарел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Современные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серверы</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браузеры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его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поддерживают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поддерживают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только</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виде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эмуляции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Однако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его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простота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повлияла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дизайн</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последующих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версий</a:t>
            </a:r>
            <a:r>
              <a:rPr kumimoji="0" lang="en-US" altLang="en-US" b="0" i="0" u="none" strike="noStrike" cap="none" normalizeH="0" baseline="0" dirty="0">
                <a:ln>
                  <a:noFill/>
                </a:ln>
                <a:solidFill>
                  <a:schemeClr val="tx1"/>
                </a:solidFill>
                <a:effectLst/>
                <a:latin typeface="Arial" panose="020B0604020202020204" pitchFamily="34" charset="0"/>
              </a:rPr>
              <a:t>: в HTTP/1.0 </a:t>
            </a:r>
            <a:r>
              <a:rPr kumimoji="0" lang="en-US" altLang="en-US" b="0" i="0" u="none" strike="noStrike" cap="none" normalizeH="0" baseline="0" dirty="0" err="1">
                <a:ln>
                  <a:noFill/>
                </a:ln>
                <a:solidFill>
                  <a:schemeClr val="tx1"/>
                </a:solidFill>
                <a:effectLst/>
                <a:latin typeface="Arial" panose="020B0604020202020204" pitchFamily="34" charset="0"/>
              </a:rPr>
              <a:t>добавили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методы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коды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состояния</a:t>
            </a:r>
            <a:r>
              <a:rPr kumimoji="0" lang="en-US" altLang="en-US" b="0" i="0" u="none" strike="noStrike" cap="none" normalizeH="0" baseline="0" dirty="0">
                <a:ln>
                  <a:noFill/>
                </a:ln>
                <a:solidFill>
                  <a:schemeClr val="tx1"/>
                </a:solidFill>
                <a:effectLst/>
                <a:latin typeface="Arial" panose="020B0604020202020204" pitchFamily="34" charset="0"/>
              </a:rPr>
              <a:t>, а </a:t>
            </a:r>
            <a:r>
              <a:rPr kumimoji="0" lang="en-US" altLang="en-US" b="0" i="0" u="none" strike="noStrike" cap="none" normalizeH="0" baseline="0" dirty="0" err="1">
                <a:ln>
                  <a:noFill/>
                </a:ln>
                <a:solidFill>
                  <a:schemeClr val="tx1"/>
                </a:solidFill>
                <a:effectLst/>
                <a:latin typeface="Arial" panose="020B0604020202020204" pitchFamily="34" charset="0"/>
              </a:rPr>
              <a:t>затем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пришли</a:t>
            </a:r>
            <a:r>
              <a:rPr kumimoji="0" lang="en-US" altLang="en-US" b="0" i="0" u="none" strike="noStrike" cap="none" normalizeH="0" baseline="0" dirty="0">
                <a:ln>
                  <a:noFill/>
                </a:ln>
                <a:solidFill>
                  <a:schemeClr val="tx1"/>
                </a:solidFill>
                <a:effectLst/>
                <a:latin typeface="Arial" panose="020B0604020202020204" pitchFamily="34" charset="0"/>
              </a:rPr>
              <a:t> к </a:t>
            </a:r>
            <a:r>
              <a:rPr kumimoji="0" lang="en-US" altLang="en-US" b="0" i="0" u="none" strike="noStrike" cap="none" normalizeH="0" baseline="0" dirty="0" err="1">
                <a:ln>
                  <a:noFill/>
                </a:ln>
                <a:solidFill>
                  <a:schemeClr val="tx1"/>
                </a:solidFill>
                <a:effectLst/>
                <a:latin typeface="Arial" panose="020B0604020202020204" pitchFamily="34" charset="0"/>
              </a:rPr>
              <a:t>более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эффективным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версиям</a:t>
            </a:r>
            <a:r>
              <a:rPr kumimoji="0" lang="en-US" altLang="en-US" b="0" i="0" u="none" strike="noStrike" cap="none" normalizeH="0" baseline="0" dirty="0">
                <a:ln>
                  <a:noFill/>
                </a:ln>
                <a:solidFill>
                  <a:schemeClr val="tx1"/>
                </a:solidFill>
                <a:effectLst/>
                <a:latin typeface="Arial" panose="020B0604020202020204" pitchFamily="34" charset="0"/>
              </a:rPr>
              <a:t> 1.1, 2 и 3.</a:t>
            </a:r>
          </a:p>
        </p:txBody>
      </p:sp>
    </p:spTree>
    <p:extLst>
      <p:ext uri="{BB962C8B-B14F-4D97-AF65-F5344CB8AC3E}">
        <p14:creationId xmlns:p14="http://schemas.microsoft.com/office/powerpoint/2010/main" val="15846510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1BF471F-B618-4C4D-B339-C4EC330EC3E2}"/>
              </a:ext>
            </a:extLst>
          </p:cNvPr>
          <p:cNvSpPr>
            <a:spLocks noChangeArrowheads="1"/>
          </p:cNvSpPr>
          <p:nvPr/>
        </p:nvSpPr>
        <p:spPr bwMode="auto">
          <a:xfrm>
            <a:off x="314325" y="347320"/>
            <a:ext cx="11258549"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Ключевые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нововведения</a:t>
            </a:r>
            <a:r>
              <a:rPr kumimoji="0" lang="en-US" altLang="en-US" b="1" i="0" u="none" strike="noStrike" cap="none" normalizeH="0" baseline="0" dirty="0">
                <a:ln>
                  <a:noFill/>
                </a:ln>
                <a:solidFill>
                  <a:schemeClr val="tx1"/>
                </a:solidFill>
                <a:effectLst/>
                <a:latin typeface="Arial" panose="020B0604020202020204" pitchFamily="34" charset="0"/>
              </a:rPr>
              <a:t> HTTP/1.0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1. </a:t>
            </a:r>
            <a:r>
              <a:rPr kumimoji="0" lang="en-US" altLang="en-US" b="1" i="0" u="none" strike="noStrike" cap="none" normalizeH="0" baseline="0" dirty="0" err="1">
                <a:ln>
                  <a:noFill/>
                </a:ln>
                <a:solidFill>
                  <a:schemeClr val="tx1"/>
                </a:solidFill>
                <a:effectLst/>
                <a:latin typeface="Arial" panose="020B0604020202020204" pitchFamily="34" charset="0"/>
              </a:rPr>
              <a:t>Методы</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Появились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новые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методы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помимо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GET</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HEAD</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запрашивает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только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ответа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без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тела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полезно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проверки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существования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ресурса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получения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последней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модификации</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т.д</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POST</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отправка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данных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сервер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например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форм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загрузки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файлов</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2. </a:t>
            </a:r>
            <a:r>
              <a:rPr kumimoji="0" lang="en-US" altLang="en-US" b="1" i="0" u="none" strike="noStrike" cap="none" normalizeH="0" baseline="0" dirty="0" err="1">
                <a:ln>
                  <a:noFill/>
                </a:ln>
                <a:solidFill>
                  <a:schemeClr val="tx1"/>
                </a:solidFill>
                <a:effectLst/>
                <a:latin typeface="Arial" panose="020B0604020202020204" pitchFamily="34" charset="0"/>
              </a:rPr>
              <a:t>Заголовки</a:t>
            </a:r>
            <a:r>
              <a:rPr kumimoji="0" lang="en-US" altLang="en-US" b="1" i="0" u="none" strike="noStrike" cap="none" normalizeH="0" baseline="0" dirty="0">
                <a:ln>
                  <a:noFill/>
                </a:ln>
                <a:solidFill>
                  <a:schemeClr val="tx1"/>
                </a:solidFill>
                <a:effectLst/>
                <a:latin typeface="Arial" panose="020B0604020202020204" pitchFamily="34" charset="0"/>
              </a:rPr>
              <a:t> (Headers)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В HTTP/1.0 </a:t>
            </a:r>
            <a:r>
              <a:rPr kumimoji="0" lang="en-US" altLang="en-US" b="0" i="0" u="none" strike="noStrike" cap="none" normalizeH="0" baseline="0" dirty="0" err="1">
                <a:ln>
                  <a:noFill/>
                </a:ln>
                <a:solidFill>
                  <a:schemeClr val="tx1"/>
                </a:solidFill>
                <a:effectLst/>
                <a:latin typeface="Arial" panose="020B0604020202020204" pitchFamily="34" charset="0"/>
              </a:rPr>
              <a:t>впервые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появились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запроса</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ответа</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метаданные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которые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позволяли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передавать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дополнительную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информацию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Примеры</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Запрос</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User-Agent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Accept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Authorization</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Referer</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Ответ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Content-Type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Content-Length</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Date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Server</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Last-Modified</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Благодаря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заголовкам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стало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возможным</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Передавать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любые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типы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данных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только</a:t>
            </a:r>
            <a:r>
              <a:rPr kumimoji="0" lang="en-US" altLang="en-US" b="0" i="0" u="none" strike="noStrike" cap="none" normalizeH="0" baseline="0" dirty="0">
                <a:ln>
                  <a:noFill/>
                </a:ln>
                <a:solidFill>
                  <a:schemeClr val="tx1"/>
                </a:solidFill>
                <a:effectLst/>
                <a:latin typeface="Arial" panose="020B0604020202020204" pitchFamily="34" charset="0"/>
              </a:rPr>
              <a:t> HTML) — </a:t>
            </a:r>
            <a:r>
              <a:rPr kumimoji="0" lang="en-US" altLang="en-US" b="0" i="0" u="none" strike="noStrike" cap="none" normalizeH="0" baseline="0" dirty="0" err="1">
                <a:ln>
                  <a:noFill/>
                </a:ln>
                <a:solidFill>
                  <a:schemeClr val="tx1"/>
                </a:solidFill>
                <a:effectLst/>
                <a:latin typeface="Arial" panose="020B0604020202020204" pitchFamily="34" charset="0"/>
              </a:rPr>
              <a:t>достаточно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указать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Content-Type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Поддерживать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кэширование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через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Last-Modified</a:t>
            </a:r>
            <a:r>
              <a:rPr kumimoji="0" lang="en-US" altLang="en-US" b="0" i="0" u="none" strike="noStrike" cap="none" normalizeH="0" baseline="0" dirty="0">
                <a:ln>
                  <a:noFill/>
                </a:ln>
                <a:solidFill>
                  <a:schemeClr val="tx1"/>
                </a:solidFill>
                <a:effectLst/>
              </a:rPr>
              <a:t> и </a:t>
            </a:r>
            <a:r>
              <a:rPr kumimoji="0" lang="en-US" altLang="en-US" b="0" i="0" u="none" strike="noStrike" cap="none" normalizeH="0" baseline="0" dirty="0">
                <a:ln>
                  <a:noFill/>
                </a:ln>
                <a:solidFill>
                  <a:schemeClr val="tx1"/>
                </a:solidFill>
                <a:effectLst/>
                <a:latin typeface="Arial Unicode MS"/>
              </a:rPr>
              <a:t>Expires</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Реализовать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базовую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аутентификацию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Authorization</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3. </a:t>
            </a:r>
            <a:r>
              <a:rPr kumimoji="0" lang="en-US" altLang="en-US" b="1" i="0" u="none" strike="noStrike" cap="none" normalizeH="0" baseline="0" dirty="0" err="1">
                <a:ln>
                  <a:noFill/>
                </a:ln>
                <a:solidFill>
                  <a:schemeClr val="tx1"/>
                </a:solidFill>
                <a:effectLst/>
                <a:latin typeface="Arial" panose="020B0604020202020204" pitchFamily="34" charset="0"/>
              </a:rPr>
              <a:t>Коды</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состояния</a:t>
            </a:r>
            <a:r>
              <a:rPr kumimoji="0" lang="en-US" altLang="en-US" b="1" i="0" u="none" strike="noStrike" cap="none" normalizeH="0" baseline="0" dirty="0">
                <a:ln>
                  <a:noFill/>
                </a:ln>
                <a:solidFill>
                  <a:schemeClr val="tx1"/>
                </a:solidFill>
                <a:effectLst/>
                <a:latin typeface="Arial" panose="020B0604020202020204" pitchFamily="34" charset="0"/>
              </a:rPr>
              <a:t> (Status Codes)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Сервер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начал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возвращать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числовой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код</a:t>
            </a:r>
            <a:r>
              <a:rPr kumimoji="0" lang="en-US" altLang="en-US" b="0" i="0" u="none" strike="noStrike" cap="none" normalizeH="0" baseline="0" dirty="0">
                <a:ln>
                  <a:noFill/>
                </a:ln>
                <a:solidFill>
                  <a:schemeClr val="tx1"/>
                </a:solidFill>
                <a:effectLst/>
                <a:latin typeface="Arial" panose="020B0604020202020204" pitchFamily="34" charset="0"/>
              </a:rPr>
              <a:t> с </a:t>
            </a:r>
            <a:r>
              <a:rPr kumimoji="0" lang="en-US" altLang="en-US" b="0" i="0" u="none" strike="noStrike" cap="none" normalizeH="0" baseline="0" dirty="0" err="1">
                <a:ln>
                  <a:noFill/>
                </a:ln>
                <a:solidFill>
                  <a:schemeClr val="tx1"/>
                </a:solidFill>
                <a:effectLst/>
                <a:latin typeface="Arial" panose="020B0604020202020204" pitchFamily="34" charset="0"/>
              </a:rPr>
              <a:t>текстовым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пояснением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позволило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клиенту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программно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реагировать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результат</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2xx</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успех</a:t>
            </a:r>
            <a:r>
              <a:rPr kumimoji="0" lang="en-US" altLang="en-US" b="0" i="0" u="none" strike="noStrike" cap="none" normalizeH="0" baseline="0" dirty="0">
                <a:ln>
                  <a:noFill/>
                </a:ln>
                <a:solidFill>
                  <a:schemeClr val="tx1"/>
                </a:solidFill>
                <a:effectLst/>
                <a:latin typeface="Arial" panose="020B0604020202020204" pitchFamily="34" charset="0"/>
              </a:rPr>
              <a:t> (200 OK, 201 Created)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3xx</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перенаправления</a:t>
            </a:r>
            <a:r>
              <a:rPr kumimoji="0" lang="en-US" altLang="en-US" b="0" i="0" u="none" strike="noStrike" cap="none" normalizeH="0" baseline="0" dirty="0">
                <a:ln>
                  <a:noFill/>
                </a:ln>
                <a:solidFill>
                  <a:schemeClr val="tx1"/>
                </a:solidFill>
                <a:effectLst/>
                <a:latin typeface="Arial" panose="020B0604020202020204" pitchFamily="34" charset="0"/>
              </a:rPr>
              <a:t> (301 Moved Permanently, 302 Moved Temporarily)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4xx</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ошибки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клиента</a:t>
            </a:r>
            <a:r>
              <a:rPr kumimoji="0" lang="en-US" altLang="en-US" b="0" i="0" u="none" strike="noStrike" cap="none" normalizeH="0" baseline="0" dirty="0">
                <a:ln>
                  <a:noFill/>
                </a:ln>
                <a:solidFill>
                  <a:schemeClr val="tx1"/>
                </a:solidFill>
                <a:effectLst/>
                <a:latin typeface="Arial" panose="020B0604020202020204" pitchFamily="34" charset="0"/>
              </a:rPr>
              <a:t> (400 Bad Request, 401 Unauthorized, 404 Not Found)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5xx</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ошибки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сервера</a:t>
            </a:r>
            <a:r>
              <a:rPr kumimoji="0" lang="en-US" altLang="en-US" b="0" i="0" u="none" strike="noStrike" cap="none" normalizeH="0" baseline="0" dirty="0">
                <a:ln>
                  <a:noFill/>
                </a:ln>
                <a:solidFill>
                  <a:schemeClr val="tx1"/>
                </a:solidFill>
                <a:effectLst/>
                <a:latin typeface="Arial" panose="020B0604020202020204" pitchFamily="34" charset="0"/>
              </a:rPr>
              <a:t> (500 Internal Server Error)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9189796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B1C771-5A15-4374-A1F1-DDFC2756442A}"/>
              </a:ext>
            </a:extLst>
          </p:cNvPr>
          <p:cNvSpPr>
            <a:spLocks noChangeArrowheads="1"/>
          </p:cNvSpPr>
          <p:nvPr/>
        </p:nvSpPr>
        <p:spPr bwMode="auto">
          <a:xfrm>
            <a:off x="819150" y="586294"/>
            <a:ext cx="10163175"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4. </a:t>
            </a:r>
            <a:r>
              <a:rPr kumimoji="0" lang="en-US" altLang="en-US" b="1" i="0" u="none" strike="noStrike" cap="none" normalizeH="0" baseline="0" dirty="0" err="1">
                <a:ln>
                  <a:noFill/>
                </a:ln>
                <a:solidFill>
                  <a:schemeClr val="tx1"/>
                </a:solidFill>
                <a:effectLst/>
                <a:latin typeface="Arial" panose="020B0604020202020204" pitchFamily="34" charset="0"/>
              </a:rPr>
              <a:t>Формат</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сообщений</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Установилась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стандартная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структура</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Стартовая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строка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запрос</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GET /page.html HTTP/1.0</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ответ</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HTTP/1.0 200 OK</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Заголовки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одному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строке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разделитель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 </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Пустая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строка</a:t>
            </a:r>
            <a:r>
              <a:rPr kumimoji="0" lang="en-US" altLang="en-US" b="0" i="0" u="none" strike="noStrike" cap="none" normalizeH="0" baseline="0" dirty="0">
                <a:ln>
                  <a:noFill/>
                </a:ln>
                <a:solidFill>
                  <a:schemeClr val="tx1"/>
                </a:solidFill>
                <a:effectLst/>
                <a:latin typeface="Arial" panose="020B0604020202020204" pitchFamily="34" charset="0"/>
              </a:rPr>
              <a:t> (CRLF)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Тело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сообщения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необязательно</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Этот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формат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остался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базовым</a:t>
            </a:r>
            <a:r>
              <a:rPr kumimoji="0" lang="en-US" altLang="en-US" b="0" i="0" u="none" strike="noStrike" cap="none" normalizeH="0" baseline="0" dirty="0">
                <a:ln>
                  <a:noFill/>
                </a:ln>
                <a:solidFill>
                  <a:schemeClr val="tx1"/>
                </a:solidFill>
                <a:effectLst/>
                <a:latin typeface="Arial" panose="020B0604020202020204" pitchFamily="34" charset="0"/>
              </a:rPr>
              <a:t> и в </a:t>
            </a:r>
            <a:r>
              <a:rPr kumimoji="0" lang="en-US" altLang="en-US" b="0" i="0" u="none" strike="noStrike" cap="none" normalizeH="0" baseline="0" dirty="0" err="1">
                <a:ln>
                  <a:noFill/>
                </a:ln>
                <a:solidFill>
                  <a:schemeClr val="tx1"/>
                </a:solidFill>
                <a:effectLst/>
                <a:latin typeface="Arial" panose="020B0604020202020204" pitchFamily="34" charset="0"/>
              </a:rPr>
              <a:t>последующих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версиях</a:t>
            </a:r>
            <a:r>
              <a:rPr kumimoji="0" lang="en-US" altLang="en-US" b="0" i="0" u="none" strike="noStrike" cap="none" normalizeH="0" baseline="0" dirty="0">
                <a:ln>
                  <a:noFill/>
                </a:ln>
                <a:solidFill>
                  <a:schemeClr val="tx1"/>
                </a:solidFill>
                <a:effectLst/>
                <a:latin typeface="Arial" panose="020B0604020202020204" pitchFamily="34" charset="0"/>
              </a:rPr>
              <a:t>.</a:t>
            </a:r>
          </a:p>
        </p:txBody>
      </p:sp>
      <p:sp>
        <p:nvSpPr>
          <p:cNvPr id="4" name="Rectangle 3">
            <a:extLst>
              <a:ext uri="{FF2B5EF4-FFF2-40B4-BE49-F238E27FC236}">
                <a16:creationId xmlns:a16="http://schemas.microsoft.com/office/drawing/2014/main" id="{6196399B-E2A4-4631-BB90-A40B46CEBFCC}"/>
              </a:ext>
            </a:extLst>
          </p:cNvPr>
          <p:cNvSpPr>
            <a:spLocks noChangeArrowheads="1"/>
          </p:cNvSpPr>
          <p:nvPr/>
        </p:nvSpPr>
        <p:spPr bwMode="auto">
          <a:xfrm>
            <a:off x="356222" y="3103743"/>
            <a:ext cx="11492878"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Особенности</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работы</a:t>
            </a:r>
            <a:r>
              <a:rPr kumimoji="0" lang="en-US" altLang="en-US" b="1" i="0" u="none" strike="noStrike" cap="none" normalizeH="0" baseline="0" dirty="0">
                <a:ln>
                  <a:noFill/>
                </a:ln>
                <a:solidFill>
                  <a:schemeClr val="tx1"/>
                </a:solidFill>
                <a:effectLst/>
                <a:latin typeface="Arial" panose="020B0604020202020204" pitchFamily="34" charset="0"/>
              </a:rPr>
              <a:t> с </a:t>
            </a:r>
            <a:r>
              <a:rPr kumimoji="0" lang="en-US" altLang="en-US" b="1" i="0" u="none" strike="noStrike" cap="none" normalizeH="0" baseline="0" dirty="0" err="1">
                <a:ln>
                  <a:noFill/>
                </a:ln>
                <a:solidFill>
                  <a:schemeClr val="tx1"/>
                </a:solidFill>
                <a:effectLst/>
                <a:latin typeface="Arial" panose="020B0604020202020204" pitchFamily="34" charset="0"/>
              </a:rPr>
              <a:t>соединениями</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В HTTP/1.0 </a:t>
            </a:r>
            <a:r>
              <a:rPr kumimoji="0" lang="en-US" altLang="en-US" b="1" i="0" u="none" strike="noStrike" cap="none" normalizeH="0" baseline="0" dirty="0" err="1">
                <a:ln>
                  <a:noFill/>
                </a:ln>
                <a:solidFill>
                  <a:schemeClr val="tx1"/>
                </a:solidFill>
                <a:effectLst/>
                <a:latin typeface="Arial" panose="020B0604020202020204" pitchFamily="34" charset="0"/>
              </a:rPr>
              <a:t>по</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умолчанию</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каждое</a:t>
            </a:r>
            <a:r>
              <a:rPr kumimoji="0" lang="en-US" altLang="en-US" b="1" i="0" u="none" strike="noStrike" cap="none" normalizeH="0" baseline="0" dirty="0">
                <a:ln>
                  <a:noFill/>
                </a:ln>
                <a:solidFill>
                  <a:schemeClr val="tx1"/>
                </a:solidFill>
                <a:effectLst/>
                <a:latin typeface="Arial" panose="020B0604020202020204" pitchFamily="34" charset="0"/>
              </a:rPr>
              <a:t> TCP-</a:t>
            </a:r>
            <a:r>
              <a:rPr kumimoji="0" lang="en-US" altLang="en-US" b="1" i="0" u="none" strike="noStrike" cap="none" normalizeH="0" baseline="0" dirty="0" err="1">
                <a:ln>
                  <a:noFill/>
                </a:ln>
                <a:solidFill>
                  <a:schemeClr val="tx1"/>
                </a:solidFill>
                <a:effectLst/>
                <a:latin typeface="Arial" panose="020B0604020202020204" pitchFamily="34" charset="0"/>
              </a:rPr>
              <a:t>соединение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закрывалось</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после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завершения</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ответа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каждого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ресурса</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 (HTML, </a:t>
            </a:r>
            <a:r>
              <a:rPr kumimoji="0" lang="en-US" altLang="en-US" b="0" i="0" u="none" strike="noStrike" cap="none" normalizeH="0" baseline="0" dirty="0" err="1">
                <a:ln>
                  <a:noFill/>
                </a:ln>
                <a:solidFill>
                  <a:schemeClr val="tx1"/>
                </a:solidFill>
                <a:effectLst/>
                <a:latin typeface="Arial" panose="020B0604020202020204" pitchFamily="34" charset="0"/>
              </a:rPr>
              <a:t>картинка</a:t>
            </a:r>
            <a:r>
              <a:rPr kumimoji="0" lang="en-US" altLang="en-US" b="0" i="0" u="none" strike="noStrike" cap="none" normalizeH="0" baseline="0" dirty="0">
                <a:ln>
                  <a:noFill/>
                </a:ln>
                <a:solidFill>
                  <a:schemeClr val="tx1"/>
                </a:solidFill>
                <a:effectLst/>
                <a:latin typeface="Arial" panose="020B0604020202020204" pitchFamily="34" charset="0"/>
              </a:rPr>
              <a:t>, CSS) </a:t>
            </a:r>
            <a:r>
              <a:rPr kumimoji="0" lang="en-US" altLang="en-US" b="0" i="0" u="none" strike="noStrike" cap="none" normalizeH="0" baseline="0" dirty="0" err="1">
                <a:ln>
                  <a:noFill/>
                </a:ln>
                <a:solidFill>
                  <a:schemeClr val="tx1"/>
                </a:solidFill>
                <a:effectLst/>
                <a:latin typeface="Arial" panose="020B0604020202020204" pitchFamily="34" charset="0"/>
              </a:rPr>
              <a:t>требовалось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новое</a:t>
            </a:r>
            <a:r>
              <a:rPr kumimoji="0" lang="en-US" altLang="en-US" b="0" i="0" u="none" strike="noStrike" cap="none" normalizeH="0" baseline="0" dirty="0">
                <a:ln>
                  <a:noFill/>
                </a:ln>
                <a:solidFill>
                  <a:schemeClr val="tx1"/>
                </a:solidFill>
                <a:effectLst/>
                <a:latin typeface="Arial" panose="020B0604020202020204" pitchFamily="34" charset="0"/>
              </a:rPr>
              <a:t> TCP-</a:t>
            </a:r>
            <a:r>
              <a:rPr kumimoji="0" lang="en-US" altLang="en-US" b="0" i="0" u="none" strike="noStrike" cap="none" normalizeH="0" baseline="0" dirty="0" err="1">
                <a:ln>
                  <a:noFill/>
                </a:ln>
                <a:solidFill>
                  <a:schemeClr val="tx1"/>
                </a:solidFill>
                <a:effectLst/>
                <a:latin typeface="Arial" panose="020B0604020202020204" pitchFamily="34" charset="0"/>
              </a:rPr>
              <a:t>рукопожатие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создавало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значительные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накладные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расходы</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1" u="none" strike="noStrike" cap="none" normalizeH="0" baseline="0" dirty="0">
                <a:ln>
                  <a:noFill/>
                </a:ln>
                <a:solidFill>
                  <a:schemeClr val="tx1"/>
                </a:solidFill>
                <a:effectLst/>
                <a:latin typeface="Arial" panose="020B0604020202020204" pitchFamily="34" charset="0"/>
              </a:rPr>
              <a:t>В </a:t>
            </a:r>
            <a:r>
              <a:rPr kumimoji="0" lang="en-US" altLang="en-US" b="0" i="1" u="none" strike="noStrike" cap="none" normalizeH="0" baseline="0" dirty="0" err="1">
                <a:ln>
                  <a:noFill/>
                </a:ln>
                <a:solidFill>
                  <a:schemeClr val="tx1"/>
                </a:solidFill>
                <a:effectLst/>
                <a:latin typeface="Arial" panose="020B0604020202020204" pitchFamily="34" charset="0"/>
              </a:rPr>
              <a:t>качестве</a:t>
            </a:r>
            <a:r>
              <a:rPr kumimoji="0" lang="en-US" altLang="en-US" b="0" i="1" u="none" strike="noStrike" cap="none" normalizeH="0" baseline="0" dirty="0">
                <a:ln>
                  <a:noFill/>
                </a:ln>
                <a:solidFill>
                  <a:schemeClr val="tx1"/>
                </a:solidFill>
                <a:effectLst/>
                <a:latin typeface="Arial" panose="020B0604020202020204" pitchFamily="34" charset="0"/>
              </a:rPr>
              <a:t> </a:t>
            </a:r>
            <a:r>
              <a:rPr kumimoji="0" lang="en-US" altLang="en-US" b="0" i="1" u="none" strike="noStrike" cap="none" normalizeH="0" baseline="0" dirty="0" err="1">
                <a:ln>
                  <a:noFill/>
                </a:ln>
                <a:solidFill>
                  <a:schemeClr val="tx1"/>
                </a:solidFill>
                <a:effectLst/>
                <a:latin typeface="Arial" panose="020B0604020202020204" pitchFamily="34" charset="0"/>
              </a:rPr>
              <a:t>нестандартного</a:t>
            </a:r>
            <a:r>
              <a:rPr kumimoji="0" lang="en-US" altLang="en-US" b="0" i="1" u="none" strike="noStrike" cap="none" normalizeH="0" baseline="0" dirty="0">
                <a:ln>
                  <a:noFill/>
                </a:ln>
                <a:solidFill>
                  <a:schemeClr val="tx1"/>
                </a:solidFill>
                <a:effectLst/>
                <a:latin typeface="Arial" panose="020B0604020202020204" pitchFamily="34" charset="0"/>
              </a:rPr>
              <a:t> </a:t>
            </a:r>
            <a:r>
              <a:rPr kumimoji="0" lang="en-US" altLang="en-US" b="0" i="1" u="none" strike="noStrike" cap="none" normalizeH="0" baseline="0" dirty="0" err="1">
                <a:ln>
                  <a:noFill/>
                </a:ln>
                <a:solidFill>
                  <a:schemeClr val="tx1"/>
                </a:solidFill>
                <a:effectLst/>
                <a:latin typeface="Arial" panose="020B0604020202020204" pitchFamily="34" charset="0"/>
              </a:rPr>
              <a:t>расширения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некоторые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серверы</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и </a:t>
            </a:r>
            <a:r>
              <a:rPr kumimoji="0" lang="en-US" altLang="en-US" b="0" i="0" u="none" strike="noStrike" cap="none" normalizeH="0" baseline="0" dirty="0" err="1">
                <a:ln>
                  <a:noFill/>
                </a:ln>
                <a:solidFill>
                  <a:schemeClr val="tx1"/>
                </a:solidFill>
                <a:effectLst/>
                <a:latin typeface="Arial" panose="020B0604020202020204" pitchFamily="34" charset="0"/>
              </a:rPr>
              <a:t>клиенты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поддерживали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заголовок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Connection: keep-alive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позволявший</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переиспользовать</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соединение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это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было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частью</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спецификации</a:t>
            </a:r>
            <a:r>
              <a:rPr kumimoji="0" lang="en-US" altLang="en-US" b="0" i="0" u="none" strike="noStrike" cap="none" normalizeH="0" baseline="0" dirty="0">
                <a:ln>
                  <a:noFill/>
                </a:ln>
                <a:solidFill>
                  <a:schemeClr val="tx1"/>
                </a:solidFill>
                <a:effectLst/>
              </a:rPr>
              <a:t> и </a:t>
            </a:r>
            <a:r>
              <a:rPr kumimoji="0" lang="en-US" altLang="en-US" b="0" i="0" u="none" strike="noStrike" cap="none" normalizeH="0" baseline="0" dirty="0" err="1">
                <a:ln>
                  <a:noFill/>
                </a:ln>
                <a:solidFill>
                  <a:schemeClr val="tx1"/>
                </a:solidFill>
                <a:effectLst/>
              </a:rPr>
              <a:t>работало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непредсказуемо</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707859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CC5A97-EEBD-433B-8B12-57B6E6FFB500}"/>
              </a:ext>
            </a:extLst>
          </p:cNvPr>
          <p:cNvSpPr>
            <a:spLocks noChangeArrowheads="1"/>
          </p:cNvSpPr>
          <p:nvPr/>
        </p:nvSpPr>
        <p:spPr bwMode="auto">
          <a:xfrm>
            <a:off x="161925" y="505243"/>
            <a:ext cx="1168794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Ограничения</a:t>
            </a:r>
            <a:r>
              <a:rPr kumimoji="0" lang="en-US" altLang="en-US" b="1" i="0" u="none" strike="noStrike" cap="none" normalizeH="0" baseline="0" dirty="0">
                <a:ln>
                  <a:noFill/>
                </a:ln>
                <a:solidFill>
                  <a:schemeClr val="tx1"/>
                </a:solidFill>
                <a:effectLst/>
                <a:latin typeface="Arial" panose="020B0604020202020204" pitchFamily="34" charset="0"/>
              </a:rPr>
              <a:t> HTTP/1.0</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err="1">
                <a:ln>
                  <a:noFill/>
                </a:ln>
                <a:solidFill>
                  <a:schemeClr val="tx1"/>
                </a:solidFill>
                <a:effectLst/>
                <a:latin typeface="Arial" panose="020B0604020202020204" pitchFamily="34" charset="0"/>
              </a:rPr>
              <a:t>Отсутствие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обязательного</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Unicode MS"/>
              </a:rPr>
              <a:t>Host</a:t>
            </a:r>
            <a:br>
              <a:rPr kumimoji="0" lang="en-US" altLang="en-US" b="0" i="0" u="none" strike="noStrike" cap="none" normalizeH="0" baseline="0" dirty="0">
                <a:ln>
                  <a:noFill/>
                </a:ln>
                <a:solidFill>
                  <a:schemeClr val="tx1"/>
                </a:solidFill>
                <a:effectLst/>
              </a:rPr>
            </a:br>
            <a:r>
              <a:rPr kumimoji="0" lang="en-US" altLang="en-US" b="0" i="0" u="none" strike="noStrike" cap="none" normalizeH="0" baseline="0" dirty="0">
                <a:ln>
                  <a:noFill/>
                </a:ln>
                <a:solidFill>
                  <a:schemeClr val="tx1"/>
                </a:solidFill>
                <a:effectLst/>
                <a:latin typeface="Arial" panose="020B0604020202020204" pitchFamily="34" charset="0"/>
              </a:rPr>
              <a:t>В </a:t>
            </a:r>
            <a:r>
              <a:rPr kumimoji="0" lang="en-US" altLang="en-US" b="0" i="0" u="none" strike="noStrike" cap="none" normalizeH="0" baseline="0" dirty="0" err="1">
                <a:ln>
                  <a:noFill/>
                </a:ln>
                <a:solidFill>
                  <a:schemeClr val="tx1"/>
                </a:solidFill>
                <a:effectLst/>
                <a:latin typeface="Arial" panose="020B0604020202020204" pitchFamily="34" charset="0"/>
              </a:rPr>
              <a:t>спецификации</a:t>
            </a:r>
            <a:r>
              <a:rPr kumimoji="0" lang="en-US" altLang="en-US" b="0" i="0" u="none" strike="noStrike" cap="none" normalizeH="0" baseline="0" dirty="0">
                <a:ln>
                  <a:noFill/>
                </a:ln>
                <a:solidFill>
                  <a:schemeClr val="tx1"/>
                </a:solidFill>
                <a:effectLst/>
                <a:latin typeface="Arial" panose="020B0604020202020204" pitchFamily="34" charset="0"/>
              </a:rPr>
              <a:t> HTTP/1.0 </a:t>
            </a:r>
            <a:r>
              <a:rPr kumimoji="0" lang="en-US" altLang="en-US" b="0" i="0" u="none" strike="noStrike" cap="none" normalizeH="0" baseline="0" dirty="0" err="1">
                <a:ln>
                  <a:noFill/>
                </a:ln>
                <a:solidFill>
                  <a:schemeClr val="tx1"/>
                </a:solidFill>
                <a:effectLst/>
                <a:latin typeface="Arial" panose="020B0604020202020204" pitchFamily="34" charset="0"/>
              </a:rPr>
              <a:t>заголовок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Host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требовался</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Это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делало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невозможным</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виртуальный</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хостинг</a:t>
            </a: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0" i="0" u="none" strike="noStrike" cap="none" normalizeH="0" baseline="0" dirty="0">
                <a:ln>
                  <a:noFill/>
                </a:ln>
                <a:solidFill>
                  <a:schemeClr val="tx1"/>
                </a:solidFill>
                <a:effectLst/>
              </a:rPr>
              <a:t>(</a:t>
            </a:r>
            <a:r>
              <a:rPr kumimoji="0" lang="en-US" altLang="en-US" b="0" i="0" u="none" strike="noStrike" cap="none" normalizeH="0" baseline="0" dirty="0" err="1">
                <a:ln>
                  <a:noFill/>
                </a:ln>
                <a:solidFill>
                  <a:schemeClr val="tx1"/>
                </a:solidFill>
                <a:effectLst/>
              </a:rPr>
              <a:t>размещение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нескольких</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сайтов</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на</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одном</a:t>
            </a:r>
            <a:r>
              <a:rPr kumimoji="0" lang="en-US" altLang="en-US" b="0" i="0" u="none" strike="noStrike" cap="none" normalizeH="0" baseline="0" dirty="0">
                <a:ln>
                  <a:noFill/>
                </a:ln>
                <a:solidFill>
                  <a:schemeClr val="tx1"/>
                </a:solidFill>
                <a:effectLst/>
              </a:rPr>
              <a:t> IP). </a:t>
            </a:r>
            <a:r>
              <a:rPr kumimoji="0" lang="en-US" altLang="en-US" b="0" i="0" u="none" strike="noStrike" cap="none" normalizeH="0" baseline="0" dirty="0" err="1">
                <a:ln>
                  <a:noFill/>
                </a:ln>
                <a:solidFill>
                  <a:schemeClr val="tx1"/>
                </a:solidFill>
                <a:effectLst/>
              </a:rPr>
              <a:t>Исправлено</a:t>
            </a:r>
            <a:r>
              <a:rPr kumimoji="0" lang="en-US" altLang="en-US" b="0" i="0" u="none" strike="noStrike" cap="none" normalizeH="0" baseline="0" dirty="0">
                <a:ln>
                  <a:noFill/>
                </a:ln>
                <a:solidFill>
                  <a:schemeClr val="tx1"/>
                </a:solidFill>
                <a:effectLst/>
              </a:rPr>
              <a:t> в HTTP/1.1.</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err="1">
                <a:ln>
                  <a:noFill/>
                </a:ln>
                <a:solidFill>
                  <a:schemeClr val="tx1"/>
                </a:solidFill>
                <a:effectLst/>
                <a:latin typeface="Arial" panose="020B0604020202020204" pitchFamily="34" charset="0"/>
              </a:rPr>
              <a:t>Неэффективное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использование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соединений</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Каждый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запрос</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открывал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новое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соединение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увеличивало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задержки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особенно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a:t>
            </a:r>
            <a:r>
              <a:rPr kumimoji="0" lang="en-US" altLang="en-US" b="0" i="0" u="none" strike="noStrike" cap="none" normalizeH="0" baseline="0" dirty="0">
                <a:ln>
                  <a:noFill/>
                </a:ln>
                <a:solidFill>
                  <a:schemeClr val="tx1"/>
                </a:solidFill>
                <a:effectLst/>
                <a:latin typeface="Arial" panose="020B0604020202020204" pitchFamily="34" charset="0"/>
              </a:rPr>
              <a:t> HTTPS,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0" i="0" u="none" strike="noStrike" cap="none" normalizeH="0" baseline="0" dirty="0" err="1">
                <a:ln>
                  <a:noFill/>
                </a:ln>
                <a:solidFill>
                  <a:schemeClr val="tx1"/>
                </a:solidFill>
                <a:effectLst/>
                <a:latin typeface="Arial" panose="020B0604020202020204" pitchFamily="34" charset="0"/>
              </a:rPr>
              <a:t>где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добавлялись</a:t>
            </a:r>
            <a:r>
              <a:rPr kumimoji="0" lang="en-US" altLang="en-US" b="0" i="0" u="none" strike="noStrike" cap="none" normalizeH="0" baseline="0" dirty="0">
                <a:ln>
                  <a:noFill/>
                </a:ln>
                <a:solidFill>
                  <a:schemeClr val="tx1"/>
                </a:solidFill>
                <a:effectLst/>
                <a:latin typeface="Arial" panose="020B0604020202020204" pitchFamily="34" charset="0"/>
              </a:rPr>
              <a:t> TLS-</a:t>
            </a:r>
            <a:r>
              <a:rPr kumimoji="0" lang="en-US" altLang="en-US" b="0" i="0" u="none" strike="noStrike" cap="none" normalizeH="0" baseline="0" dirty="0" err="1">
                <a:ln>
                  <a:noFill/>
                </a:ln>
                <a:solidFill>
                  <a:schemeClr val="tx1"/>
                </a:solidFill>
                <a:effectLst/>
                <a:latin typeface="Arial" panose="020B0604020202020204" pitchFamily="34" charset="0"/>
              </a:rPr>
              <a:t>рукопожатия</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err="1">
                <a:ln>
                  <a:noFill/>
                </a:ln>
                <a:solidFill>
                  <a:schemeClr val="tx1"/>
                </a:solidFill>
                <a:effectLst/>
                <a:latin typeface="Arial" panose="020B0604020202020204" pitchFamily="34" charset="0"/>
              </a:rPr>
              <a:t>Слабое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кэширование</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Поддерживались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только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Last-Modified</a:t>
            </a:r>
            <a:r>
              <a:rPr kumimoji="0" lang="en-US" altLang="en-US" b="0" i="0" u="none" strike="noStrike" cap="none" normalizeH="0" baseline="0" dirty="0">
                <a:ln>
                  <a:noFill/>
                </a:ln>
                <a:solidFill>
                  <a:schemeClr val="tx1"/>
                </a:solidFill>
                <a:effectLst/>
              </a:rPr>
              <a:t> и </a:t>
            </a:r>
            <a:r>
              <a:rPr kumimoji="0" lang="en-US" altLang="en-US" b="0" i="0" u="none" strike="noStrike" cap="none" normalizeH="0" baseline="0" dirty="0">
                <a:ln>
                  <a:noFill/>
                </a:ln>
                <a:solidFill>
                  <a:schemeClr val="tx1"/>
                </a:solidFill>
                <a:effectLst/>
                <a:latin typeface="Arial Unicode MS"/>
              </a:rPr>
              <a:t>Expires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было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гибких</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механизмов</a:t>
            </a:r>
            <a:r>
              <a:rPr kumimoji="0" lang="en-US" altLang="en-US" b="0" i="0" u="none" strike="noStrike" cap="none" normalizeH="0" baseline="0" dirty="0">
                <a:ln>
                  <a:noFill/>
                </a:ln>
                <a:solidFill>
                  <a:schemeClr val="tx1"/>
                </a:solidFill>
                <a:effectLst/>
              </a:rPr>
              <a:t> вроде </a:t>
            </a:r>
            <a:r>
              <a:rPr kumimoji="0" lang="en-US" altLang="en-US" b="0" i="0" u="none" strike="noStrike" cap="none" normalizeH="0" baseline="0" dirty="0">
                <a:ln>
                  <a:noFill/>
                </a:ln>
                <a:solidFill>
                  <a:schemeClr val="tx1"/>
                </a:solidFill>
                <a:effectLst/>
                <a:latin typeface="Arial Unicode MS"/>
              </a:rPr>
              <a:t>Cache-Control</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или</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ETag</a:t>
            </a:r>
            <a:r>
              <a:rPr kumimoji="0" lang="en-US" altLang="en-US"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0" i="0" u="none" strike="noStrike" cap="none" normalizeH="0" baseline="0" dirty="0">
                <a:ln>
                  <a:noFill/>
                </a:ln>
                <a:solidFill>
                  <a:schemeClr val="tx1"/>
                </a:solidFill>
                <a:effectLst/>
              </a:rPr>
              <a:t>(</a:t>
            </a:r>
            <a:r>
              <a:rPr kumimoji="0" lang="en-US" altLang="en-US" b="0" i="0" u="none" strike="noStrike" cap="none" normalizeH="0" baseline="0" dirty="0" err="1">
                <a:ln>
                  <a:noFill/>
                </a:ln>
                <a:solidFill>
                  <a:schemeClr val="tx1"/>
                </a:solidFill>
                <a:effectLst/>
              </a:rPr>
              <a:t>появились</a:t>
            </a:r>
            <a:r>
              <a:rPr kumimoji="0" lang="en-US" altLang="en-US" b="0" i="0" u="none" strike="noStrike" cap="none" normalizeH="0" baseline="0" dirty="0">
                <a:ln>
                  <a:noFill/>
                </a:ln>
                <a:solidFill>
                  <a:schemeClr val="tx1"/>
                </a:solidFill>
                <a:effectLst/>
              </a:rPr>
              <a:t> в HTTP/1.1).</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err="1">
                <a:ln>
                  <a:noFill/>
                </a:ln>
                <a:solidFill>
                  <a:schemeClr val="tx1"/>
                </a:solidFill>
                <a:effectLst/>
                <a:latin typeface="Arial" panose="020B0604020202020204" pitchFamily="34" charset="0"/>
              </a:rPr>
              <a:t>Нет</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поддержки</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частичной</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загрузки</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Нельзя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было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возобновить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прерванную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загрузку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файла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запросить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только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часть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ресурса</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err="1">
                <a:ln>
                  <a:noFill/>
                </a:ln>
                <a:solidFill>
                  <a:schemeClr val="tx1"/>
                </a:solidFill>
                <a:effectLst/>
                <a:latin typeface="Arial" panose="020B0604020202020204" pitchFamily="34" charset="0"/>
              </a:rPr>
              <a:t>Конвейеризация</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отсутствовала</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Клиент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мог</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отправить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только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один</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запрос</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ожидая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ответа</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014BAE2E-D284-442D-97D7-4CC8FCDBC8BB}"/>
              </a:ext>
            </a:extLst>
          </p:cNvPr>
          <p:cNvSpPr>
            <a:spLocks noChangeArrowheads="1"/>
          </p:cNvSpPr>
          <p:nvPr/>
        </p:nvSpPr>
        <p:spPr bwMode="auto">
          <a:xfrm>
            <a:off x="161925" y="4504462"/>
            <a:ext cx="1067330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HTTP/1.0 </a:t>
            </a:r>
            <a:r>
              <a:rPr kumimoji="0" lang="en-US" altLang="en-US" sz="1800" b="0" i="0" u="none" strike="noStrike" cap="none" normalizeH="0" baseline="0" dirty="0" err="1">
                <a:ln>
                  <a:noFill/>
                </a:ln>
                <a:solidFill>
                  <a:schemeClr val="tx1"/>
                </a:solidFill>
                <a:effectLst/>
                <a:latin typeface="Arial" panose="020B0604020202020204" pitchFamily="34" charset="0"/>
              </a:rPr>
              <a:t>стал</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первым</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полноценным</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стандартом</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который</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Сделал</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веб</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мультимедийным</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благодаря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Content-Type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Заложил</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основу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для</a:t>
            </a:r>
            <a:r>
              <a:rPr kumimoji="0" lang="en-US" altLang="en-US" sz="1800" b="0" i="0" u="none" strike="noStrike" cap="none" normalizeH="0" baseline="0" dirty="0">
                <a:ln>
                  <a:noFill/>
                </a:ln>
                <a:solidFill>
                  <a:schemeClr val="tx1"/>
                </a:solidFill>
                <a:effectLst/>
                <a:latin typeface="Arial" panose="020B0604020202020204" pitchFamily="34" charset="0"/>
              </a:rPr>
              <a:t> API и </a:t>
            </a:r>
            <a:r>
              <a:rPr kumimoji="0" lang="en-US" altLang="en-US" sz="1800" b="0" i="0" u="none" strike="noStrike" cap="none" normalizeH="0" baseline="0" dirty="0" err="1">
                <a:ln>
                  <a:noFill/>
                </a:ln>
                <a:solidFill>
                  <a:schemeClr val="tx1"/>
                </a:solidFill>
                <a:effectLst/>
                <a:latin typeface="Arial" panose="020B0604020202020204" pitchFamily="34" charset="0"/>
              </a:rPr>
              <a:t>взаимодействия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клиент-сервер</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через</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методы</a:t>
            </a:r>
            <a:r>
              <a:rPr kumimoji="0" lang="en-US" altLang="en-US" sz="1800" b="0" i="0" u="none" strike="noStrike" cap="none" normalizeH="0" baseline="0" dirty="0">
                <a:ln>
                  <a:noFill/>
                </a:ln>
                <a:solidFill>
                  <a:schemeClr val="tx1"/>
                </a:solidFill>
                <a:effectLst/>
                <a:latin typeface="Arial" panose="020B0604020202020204" pitchFamily="34" charset="0"/>
              </a:rPr>
              <a:t> и </a:t>
            </a:r>
            <a:r>
              <a:rPr kumimoji="0" lang="en-US" altLang="en-US" sz="1800" b="0" i="0" u="none" strike="noStrike" cap="none" normalizeH="0" baseline="0" dirty="0" err="1">
                <a:ln>
                  <a:noFill/>
                </a:ln>
                <a:solidFill>
                  <a:schemeClr val="tx1"/>
                </a:solidFill>
                <a:effectLst/>
                <a:latin typeface="Arial" panose="020B0604020202020204" pitchFamily="34" charset="0"/>
              </a:rPr>
              <a:t>коды</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состояния</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Был</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реализован</a:t>
            </a:r>
            <a:r>
              <a:rPr kumimoji="0" lang="en-US" altLang="en-US" sz="1800" b="0" i="0" u="none" strike="noStrike" cap="none" normalizeH="0" baseline="0" dirty="0">
                <a:ln>
                  <a:noFill/>
                </a:ln>
                <a:solidFill>
                  <a:schemeClr val="tx1"/>
                </a:solidFill>
                <a:effectLst/>
                <a:latin typeface="Arial" panose="020B0604020202020204" pitchFamily="34" charset="0"/>
              </a:rPr>
              <a:t> в </a:t>
            </a:r>
            <a:r>
              <a:rPr kumimoji="0" lang="en-US" altLang="en-US" sz="1800" b="0" i="0" u="none" strike="noStrike" cap="none" normalizeH="0" baseline="0" dirty="0" err="1">
                <a:ln>
                  <a:noFill/>
                </a:ln>
                <a:solidFill>
                  <a:schemeClr val="tx1"/>
                </a:solidFill>
                <a:effectLst/>
                <a:latin typeface="Arial" panose="020B0604020202020204" pitchFamily="34" charset="0"/>
              </a:rPr>
              <a:t>первых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версиях</a:t>
            </a:r>
            <a:r>
              <a:rPr kumimoji="0" lang="en-US" altLang="en-US" sz="1800" b="0" i="0" u="none" strike="noStrike" cap="none" normalizeH="0" baseline="0" dirty="0">
                <a:ln>
                  <a:noFill/>
                </a:ln>
                <a:solidFill>
                  <a:schemeClr val="tx1"/>
                </a:solidFill>
                <a:effectLst/>
                <a:latin typeface="Arial" panose="020B0604020202020204" pitchFamily="34" charset="0"/>
              </a:rPr>
              <a:t> Apache, NCSA </a:t>
            </a:r>
            <a:r>
              <a:rPr kumimoji="0" lang="en-US" altLang="en-US" sz="1800" b="0" i="0" u="none" strike="noStrike" cap="none" normalizeH="0" baseline="0" dirty="0" err="1">
                <a:ln>
                  <a:noFill/>
                </a:ln>
                <a:solidFill>
                  <a:schemeClr val="tx1"/>
                </a:solidFill>
                <a:effectLst/>
                <a:latin typeface="Arial" panose="020B0604020202020204" pitchFamily="34" charset="0"/>
              </a:rPr>
              <a:t>HTTPd</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браузерах</a:t>
            </a:r>
            <a:r>
              <a:rPr kumimoji="0" lang="en-US" altLang="en-US" sz="1800" b="0" i="0" u="none" strike="noStrike" cap="none" normalizeH="0" baseline="0" dirty="0">
                <a:ln>
                  <a:noFill/>
                </a:ln>
                <a:solidFill>
                  <a:schemeClr val="tx1"/>
                </a:solidFill>
                <a:effectLst/>
                <a:latin typeface="Arial" panose="020B0604020202020204" pitchFamily="34" charset="0"/>
              </a:rPr>
              <a:t> Netscape и Internet Explorer.</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Однако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уже</a:t>
            </a:r>
            <a:r>
              <a:rPr kumimoji="0" lang="en-US" altLang="en-US" sz="1800" b="0" i="0" u="none" strike="noStrike" cap="none" normalizeH="0" baseline="0" dirty="0">
                <a:ln>
                  <a:noFill/>
                </a:ln>
                <a:solidFill>
                  <a:schemeClr val="tx1"/>
                </a:solidFill>
                <a:effectLst/>
                <a:latin typeface="Arial" panose="020B0604020202020204" pitchFamily="34" charset="0"/>
              </a:rPr>
              <a:t> к </a:t>
            </a:r>
            <a:r>
              <a:rPr kumimoji="0" lang="en-US" altLang="en-US" sz="1800" b="0" i="0" u="none" strike="noStrike" cap="none" normalizeH="0" baseline="0" dirty="0" err="1">
                <a:ln>
                  <a:noFill/>
                </a:ln>
                <a:solidFill>
                  <a:schemeClr val="tx1"/>
                </a:solidFill>
                <a:effectLst/>
                <a:latin typeface="Arial" panose="020B0604020202020204" pitchFamily="34" charset="0"/>
              </a:rPr>
              <a:t>концу</a:t>
            </a:r>
            <a:r>
              <a:rPr kumimoji="0" lang="en-US" altLang="en-US" sz="1800" b="0" i="0" u="none" strike="noStrike" cap="none" normalizeH="0" baseline="0" dirty="0">
                <a:ln>
                  <a:noFill/>
                </a:ln>
                <a:solidFill>
                  <a:schemeClr val="tx1"/>
                </a:solidFill>
                <a:effectLst/>
                <a:latin typeface="Arial" panose="020B0604020202020204" pitchFamily="34" charset="0"/>
              </a:rPr>
              <a:t> 1990-х </a:t>
            </a:r>
            <a:r>
              <a:rPr kumimoji="0" lang="en-US" altLang="en-US" sz="1800" b="0" i="0" u="none" strike="noStrike" cap="none" normalizeH="0" baseline="0" dirty="0" err="1">
                <a:ln>
                  <a:noFill/>
                </a:ln>
                <a:solidFill>
                  <a:schemeClr val="tx1"/>
                </a:solidFill>
                <a:effectLst/>
                <a:latin typeface="Arial" panose="020B0604020202020204" pitchFamily="34" charset="0"/>
              </a:rPr>
              <a:t>его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ограничения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стали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очевидны</a:t>
            </a:r>
            <a:r>
              <a:rPr kumimoji="0" lang="en-US" altLang="en-US" sz="1800" b="0" i="0" u="none" strike="noStrike" cap="none" normalizeH="0" baseline="0" dirty="0">
                <a:ln>
                  <a:noFill/>
                </a:ln>
                <a:solidFill>
                  <a:schemeClr val="tx1"/>
                </a:solidFill>
                <a:effectLst/>
                <a:latin typeface="Arial" panose="020B0604020202020204" pitchFamily="34" charset="0"/>
              </a:rPr>
              <a:t>, и </a:t>
            </a:r>
            <a:r>
              <a:rPr kumimoji="0" lang="en-US" altLang="en-US" sz="1800" b="0" i="0" u="none" strike="noStrike" cap="none" normalizeH="0" baseline="0" dirty="0" err="1">
                <a:ln>
                  <a:noFill/>
                </a:ln>
                <a:solidFill>
                  <a:schemeClr val="tx1"/>
                </a:solidFill>
                <a:effectLst/>
                <a:latin typeface="Arial" panose="020B0604020202020204" pitchFamily="34" charset="0"/>
              </a:rPr>
              <a:t>началась</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работа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над</a:t>
            </a:r>
            <a:r>
              <a:rPr kumimoji="0" lang="en-US" altLang="en-US" sz="1800" b="0" i="0" u="none" strike="noStrike" cap="none" normalizeH="0" baseline="0" dirty="0">
                <a:ln>
                  <a:noFill/>
                </a:ln>
                <a:solidFill>
                  <a:schemeClr val="tx1"/>
                </a:solidFill>
                <a:effectLst/>
                <a:latin typeface="Arial" panose="020B0604020202020204" pitchFamily="34" charset="0"/>
              </a:rPr>
              <a:t> HTTP/1.1,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который</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исправил</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основные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недостатки</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4239598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D770B077-7396-4B55-901B-6155C13C512B}"/>
              </a:ext>
            </a:extLst>
          </p:cNvPr>
          <p:cNvPicPr>
            <a:picLocks noChangeAspect="1"/>
          </p:cNvPicPr>
          <p:nvPr/>
        </p:nvPicPr>
        <p:blipFill>
          <a:blip r:embed="rId2"/>
          <a:stretch>
            <a:fillRect/>
          </a:stretch>
        </p:blipFill>
        <p:spPr>
          <a:xfrm>
            <a:off x="484992" y="552048"/>
            <a:ext cx="11222016" cy="5753903"/>
          </a:xfrm>
          <a:prstGeom prst="rect">
            <a:avLst/>
          </a:prstGeom>
        </p:spPr>
      </p:pic>
    </p:spTree>
    <p:extLst>
      <p:ext uri="{BB962C8B-B14F-4D97-AF65-F5344CB8AC3E}">
        <p14:creationId xmlns:p14="http://schemas.microsoft.com/office/powerpoint/2010/main" val="5179844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20F7B0D-6645-489A-8EFD-D4699D7C3185}"/>
              </a:ext>
            </a:extLst>
          </p:cNvPr>
          <p:cNvSpPr txBox="1"/>
          <p:nvPr/>
        </p:nvSpPr>
        <p:spPr>
          <a:xfrm>
            <a:off x="561975" y="751344"/>
            <a:ext cx="11182350" cy="4832092"/>
          </a:xfrm>
          <a:prstGeom prst="rect">
            <a:avLst/>
          </a:prstGeom>
          <a:noFill/>
        </p:spPr>
        <p:txBody>
          <a:bodyPr wrap="square">
            <a:spAutoFit/>
          </a:bodyPr>
          <a:lstStyle/>
          <a:p>
            <a:r>
              <a:rPr lang="ru-RU" sz="2200" b="1" dirty="0"/>
              <a:t>Ключевые особенности HTTP/1.1</a:t>
            </a:r>
          </a:p>
          <a:p>
            <a:r>
              <a:rPr lang="ru-RU" sz="2200" b="1" dirty="0"/>
              <a:t>1. Постоянные соединения (</a:t>
            </a:r>
            <a:r>
              <a:rPr lang="ru-RU" sz="2200" b="1" dirty="0" err="1"/>
              <a:t>Persistent</a:t>
            </a:r>
            <a:r>
              <a:rPr lang="ru-RU" sz="2200" b="1" dirty="0"/>
              <a:t> </a:t>
            </a:r>
            <a:r>
              <a:rPr lang="ru-RU" sz="2200" b="1" dirty="0" err="1"/>
              <a:t>Connections</a:t>
            </a:r>
            <a:r>
              <a:rPr lang="ru-RU" sz="2200" b="1" dirty="0"/>
              <a:t>)</a:t>
            </a:r>
          </a:p>
          <a:p>
            <a:pPr>
              <a:buFont typeface="Arial" panose="020B0604020202020204" pitchFamily="34" charset="0"/>
              <a:buChar char="•"/>
            </a:pPr>
            <a:r>
              <a:rPr lang="ru-RU" sz="2200" dirty="0"/>
              <a:t>До этого в HTTP/1.0 каждый запрос открывал новое TCP-соединение и закрывал его после ответа.</a:t>
            </a:r>
          </a:p>
          <a:p>
            <a:pPr>
              <a:buFont typeface="Arial" panose="020B0604020202020204" pitchFamily="34" charset="0"/>
              <a:buChar char="•"/>
            </a:pPr>
            <a:r>
              <a:rPr lang="ru-RU" sz="2200" b="1" dirty="0"/>
              <a:t>В HTTP/1.1 соединение по умолчанию не закрывается</a:t>
            </a:r>
            <a:r>
              <a:rPr lang="ru-RU" sz="2200" dirty="0"/>
              <a:t> (</a:t>
            </a:r>
            <a:r>
              <a:rPr lang="ru-RU" sz="2200" dirty="0" err="1"/>
              <a:t>keep-alive</a:t>
            </a:r>
            <a:r>
              <a:rPr lang="ru-RU" sz="2200" dirty="0"/>
              <a:t>). Один TCP-канал может использоваться для множества последовательных запросов.</a:t>
            </a:r>
          </a:p>
          <a:p>
            <a:pPr>
              <a:buFont typeface="Arial" panose="020B0604020202020204" pitchFamily="34" charset="0"/>
              <a:buChar char="•"/>
            </a:pPr>
            <a:r>
              <a:rPr lang="ru-RU" sz="2200" dirty="0"/>
              <a:t>Это снижает накладные расходы на TCP-рукопожатие и медленный старт (</a:t>
            </a:r>
            <a:r>
              <a:rPr lang="ru-RU" sz="2200" dirty="0" err="1"/>
              <a:t>slow</a:t>
            </a:r>
            <a:r>
              <a:rPr lang="ru-RU" sz="2200" dirty="0"/>
              <a:t> </a:t>
            </a:r>
            <a:r>
              <a:rPr lang="ru-RU" sz="2200" dirty="0" err="1"/>
              <a:t>start</a:t>
            </a:r>
            <a:r>
              <a:rPr lang="ru-RU" sz="2200" dirty="0"/>
              <a:t>).</a:t>
            </a:r>
          </a:p>
          <a:p>
            <a:r>
              <a:rPr lang="ru-RU" sz="2200" b="1" dirty="0"/>
              <a:t>2. Конвейеризация (</a:t>
            </a:r>
            <a:r>
              <a:rPr lang="ru-RU" sz="2200" b="1" dirty="0" err="1"/>
              <a:t>Pipelining</a:t>
            </a:r>
            <a:r>
              <a:rPr lang="ru-RU" sz="2200" b="1" dirty="0"/>
              <a:t>)</a:t>
            </a:r>
          </a:p>
          <a:p>
            <a:pPr>
              <a:buFont typeface="Arial" panose="020B0604020202020204" pitchFamily="34" charset="0"/>
              <a:buChar char="•"/>
            </a:pPr>
            <a:r>
              <a:rPr lang="ru-RU" sz="2200" dirty="0"/>
              <a:t>Клиент может отправлять следующий запрос, не дожидаясь ответа на предыдущий.</a:t>
            </a:r>
          </a:p>
          <a:p>
            <a:pPr>
              <a:buFont typeface="Arial" panose="020B0604020202020204" pitchFamily="34" charset="0"/>
              <a:buChar char="•"/>
            </a:pPr>
            <a:r>
              <a:rPr lang="ru-RU" sz="2200" dirty="0"/>
              <a:t>Однако сервер </a:t>
            </a:r>
            <a:r>
              <a:rPr lang="ru-RU" sz="2200" b="1" dirty="0"/>
              <a:t>обязан возвращать ответы в том же порядке</a:t>
            </a:r>
            <a:r>
              <a:rPr lang="ru-RU" sz="2200" dirty="0"/>
              <a:t>, что и запросы. Это приводило к проблеме </a:t>
            </a:r>
            <a:r>
              <a:rPr lang="ru-RU" sz="2200" b="1" dirty="0" err="1"/>
              <a:t>head-of-line</a:t>
            </a:r>
            <a:r>
              <a:rPr lang="ru-RU" sz="2200" b="1" dirty="0"/>
              <a:t> </a:t>
            </a:r>
            <a:r>
              <a:rPr lang="ru-RU" sz="2200" b="1" dirty="0" err="1"/>
              <a:t>blocking</a:t>
            </a:r>
            <a:r>
              <a:rPr lang="ru-RU" sz="2200" dirty="0"/>
              <a:t> (если первый ответ задерживался, блокировались все последующие).</a:t>
            </a:r>
            <a:br>
              <a:rPr lang="ru-RU" sz="2200" dirty="0"/>
            </a:br>
            <a:r>
              <a:rPr lang="ru-RU" sz="2200" dirty="0"/>
              <a:t>*Из-за сложностей реализации конвейеризация редко используется, а в HTTP/2 от неё отказались в пользу </a:t>
            </a:r>
            <a:r>
              <a:rPr lang="ru-RU" dirty="0"/>
              <a:t>мультиплексирования</a:t>
            </a:r>
          </a:p>
        </p:txBody>
      </p:sp>
    </p:spTree>
    <p:extLst>
      <p:ext uri="{BB962C8B-B14F-4D97-AF65-F5344CB8AC3E}">
        <p14:creationId xmlns:p14="http://schemas.microsoft.com/office/powerpoint/2010/main" val="25530187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9B4FDE-DD40-4DF0-ADB3-19AC418B6C4B}"/>
              </a:ext>
            </a:extLst>
          </p:cNvPr>
          <p:cNvSpPr>
            <a:spLocks noChangeArrowheads="1"/>
          </p:cNvSpPr>
          <p:nvPr/>
        </p:nvSpPr>
        <p:spPr bwMode="auto">
          <a:xfrm>
            <a:off x="314325" y="28069"/>
            <a:ext cx="11468100" cy="680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3. </a:t>
            </a:r>
            <a:r>
              <a:rPr kumimoji="0" lang="en-US" altLang="en-US" sz="2200" b="1" i="0" u="none" strike="noStrike" cap="none" normalizeH="0" baseline="0" dirty="0" err="1">
                <a:ln>
                  <a:noFill/>
                </a:ln>
                <a:solidFill>
                  <a:schemeClr val="tx1"/>
                </a:solidFill>
                <a:effectLst/>
                <a:latin typeface="Arial" panose="020B0604020202020204" pitchFamily="34" charset="0"/>
              </a:rPr>
              <a:t>Виртуальный</a:t>
            </a:r>
            <a:r>
              <a:rPr kumimoji="0" lang="en-US" altLang="en-US" sz="2200" b="1" i="0" u="none" strike="noStrike" cap="none" normalizeH="0" baseline="0" dirty="0">
                <a:ln>
                  <a:noFill/>
                </a:ln>
                <a:solidFill>
                  <a:schemeClr val="tx1"/>
                </a:solidFill>
                <a:effectLst/>
                <a:latin typeface="Arial" panose="020B0604020202020204" pitchFamily="34" charset="0"/>
              </a:rPr>
              <a:t> </a:t>
            </a:r>
            <a:r>
              <a:rPr kumimoji="0" lang="en-US" altLang="en-US" sz="2200" b="1" i="0" u="none" strike="noStrike" cap="none" normalizeH="0" baseline="0" dirty="0" err="1">
                <a:ln>
                  <a:noFill/>
                </a:ln>
                <a:solidFill>
                  <a:schemeClr val="tx1"/>
                </a:solidFill>
                <a:effectLst/>
                <a:latin typeface="Arial" panose="020B0604020202020204" pitchFamily="34" charset="0"/>
              </a:rPr>
              <a:t>хостинг</a:t>
            </a:r>
            <a:r>
              <a:rPr kumimoji="0" lang="en-US" altLang="en-US" sz="2200" b="1" i="0" u="none" strike="noStrike" cap="none" normalizeH="0" baseline="0" dirty="0">
                <a:ln>
                  <a:noFill/>
                </a:ln>
                <a:solidFill>
                  <a:schemeClr val="tx1"/>
                </a:solidFill>
                <a:effectLst/>
                <a:latin typeface="Arial" panose="020B0604020202020204" pitchFamily="34" charset="0"/>
              </a:rPr>
              <a:t> (Host Header)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err="1">
                <a:ln>
                  <a:noFill/>
                </a:ln>
                <a:solidFill>
                  <a:schemeClr val="tx1"/>
                </a:solidFill>
                <a:effectLst/>
                <a:latin typeface="Arial" panose="020B0604020202020204" pitchFamily="34" charset="0"/>
              </a:rPr>
              <a:t>Добавлен</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обязательный</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заголовок</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Unicode MS"/>
              </a:rPr>
              <a:t>Host</a:t>
            </a:r>
            <a:r>
              <a:rPr kumimoji="0" lang="en-US" altLang="en-US" sz="2200" b="0" i="0" u="none" strike="noStrike" cap="none" normalizeH="0" baseline="0" dirty="0">
                <a:ln>
                  <a:noFill/>
                </a:ln>
                <a:solidFill>
                  <a:schemeClr val="tx1"/>
                </a:solidFill>
                <a:effectLst/>
              </a:rPr>
              <a:t>.</a:t>
            </a:r>
            <a:br>
              <a:rPr kumimoji="0" lang="en-US" altLang="en-US" sz="2200" b="0" i="0" u="none" strike="noStrike" cap="none" normalizeH="0" baseline="0" dirty="0">
                <a:ln>
                  <a:noFill/>
                </a:ln>
                <a:solidFill>
                  <a:schemeClr val="tx1"/>
                </a:solidFill>
                <a:effectLst/>
                <a:latin typeface="Arial" panose="020B0604020202020204" pitchFamily="34" charset="0"/>
              </a:rPr>
            </a:br>
            <a:r>
              <a:rPr kumimoji="0" lang="en-US" altLang="en-US" sz="2200" b="0" i="0" u="none" strike="noStrike" cap="none" normalizeH="0" baseline="0" dirty="0" err="1">
                <a:ln>
                  <a:noFill/>
                </a:ln>
                <a:solidFill>
                  <a:schemeClr val="tx1"/>
                </a:solidFill>
                <a:effectLst/>
                <a:latin typeface="Arial" panose="020B0604020202020204" pitchFamily="34" charset="0"/>
              </a:rPr>
              <a:t>Раньше</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один</a:t>
            </a:r>
            <a:r>
              <a:rPr kumimoji="0" lang="en-US" altLang="en-US" sz="2200" b="0" i="0" u="none" strike="noStrike" cap="none" normalizeH="0" baseline="0" dirty="0">
                <a:ln>
                  <a:noFill/>
                </a:ln>
                <a:solidFill>
                  <a:schemeClr val="tx1"/>
                </a:solidFill>
                <a:effectLst/>
                <a:latin typeface="Arial" panose="020B0604020202020204" pitchFamily="34" charset="0"/>
              </a:rPr>
              <a:t> IP-</a:t>
            </a:r>
            <a:r>
              <a:rPr kumimoji="0" lang="en-US" altLang="en-US" sz="2200" b="0" i="0" u="none" strike="noStrike" cap="none" normalizeH="0" baseline="0" dirty="0" err="1">
                <a:ln>
                  <a:noFill/>
                </a:ln>
                <a:solidFill>
                  <a:schemeClr val="tx1"/>
                </a:solidFill>
                <a:effectLst/>
                <a:latin typeface="Arial" panose="020B0604020202020204" pitchFamily="34" charset="0"/>
              </a:rPr>
              <a:t>адрес</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мог</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обслуживать</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только</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один</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сайт</a:t>
            </a:r>
            <a:r>
              <a:rPr kumimoji="0" lang="en-US" altLang="en-US" sz="2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err="1">
                <a:ln>
                  <a:noFill/>
                </a:ln>
                <a:solidFill>
                  <a:schemeClr val="tx1"/>
                </a:solidFill>
                <a:effectLst/>
                <a:latin typeface="Arial" panose="020B0604020202020204" pitchFamily="34" charset="0"/>
              </a:rPr>
              <a:t>Теперь</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на</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одном</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сервере</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можно</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разместить</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множество</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доменов</a:t>
            </a:r>
            <a:r>
              <a:rPr kumimoji="0" lang="en-US" altLang="en-US" sz="2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err="1">
                <a:ln>
                  <a:noFill/>
                </a:ln>
                <a:solidFill>
                  <a:schemeClr val="tx1"/>
                </a:solidFill>
                <a:effectLst/>
                <a:latin typeface="Arial" panose="020B0604020202020204" pitchFamily="34" charset="0"/>
              </a:rPr>
              <a:t>различая</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их</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по</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Unicode MS"/>
              </a:rPr>
              <a:t>Host: example.com</a:t>
            </a:r>
            <a:r>
              <a:rPr kumimoji="0" lang="en-US" altLang="en-US" sz="2200" b="0" i="0" u="none" strike="noStrike" cap="none" normalizeH="0" baseline="0" dirty="0">
                <a:ln>
                  <a:noFill/>
                </a:ln>
                <a:solidFill>
                  <a:schemeClr val="tx1"/>
                </a:solidFill>
                <a:effectLst/>
              </a:rPr>
              <a:t>.</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4. </a:t>
            </a:r>
            <a:r>
              <a:rPr kumimoji="0" lang="en-US" altLang="en-US" sz="2200" b="1" i="0" u="none" strike="noStrike" cap="none" normalizeH="0" baseline="0" dirty="0" err="1">
                <a:ln>
                  <a:noFill/>
                </a:ln>
                <a:solidFill>
                  <a:schemeClr val="tx1"/>
                </a:solidFill>
                <a:effectLst/>
                <a:latin typeface="Arial" panose="020B0604020202020204" pitchFamily="34" charset="0"/>
              </a:rPr>
              <a:t>Поддержка</a:t>
            </a:r>
            <a:r>
              <a:rPr kumimoji="0" lang="en-US" altLang="en-US" sz="2200" b="1" i="0" u="none" strike="noStrike" cap="none" normalizeH="0" baseline="0" dirty="0">
                <a:ln>
                  <a:noFill/>
                </a:ln>
                <a:solidFill>
                  <a:schemeClr val="tx1"/>
                </a:solidFill>
                <a:effectLst/>
                <a:latin typeface="Arial" panose="020B0604020202020204" pitchFamily="34" charset="0"/>
              </a:rPr>
              <a:t> </a:t>
            </a:r>
            <a:r>
              <a:rPr kumimoji="0" lang="en-US" altLang="en-US" sz="2200" b="1" i="0" u="none" strike="noStrike" cap="none" normalizeH="0" baseline="0" dirty="0" err="1">
                <a:ln>
                  <a:noFill/>
                </a:ln>
                <a:solidFill>
                  <a:schemeClr val="tx1"/>
                </a:solidFill>
                <a:effectLst/>
                <a:latin typeface="Arial" panose="020B0604020202020204" pitchFamily="34" charset="0"/>
              </a:rPr>
              <a:t>различных</a:t>
            </a:r>
            <a:r>
              <a:rPr kumimoji="0" lang="en-US" altLang="en-US" sz="2200" b="1" i="0" u="none" strike="noStrike" cap="none" normalizeH="0" baseline="0" dirty="0">
                <a:ln>
                  <a:noFill/>
                </a:ln>
                <a:solidFill>
                  <a:schemeClr val="tx1"/>
                </a:solidFill>
                <a:effectLst/>
                <a:latin typeface="Arial" panose="020B0604020202020204" pitchFamily="34" charset="0"/>
              </a:rPr>
              <a:t> </a:t>
            </a:r>
            <a:r>
              <a:rPr kumimoji="0" lang="en-US" altLang="en-US" sz="2200" b="1" i="0" u="none" strike="noStrike" cap="none" normalizeH="0" baseline="0" dirty="0" err="1">
                <a:ln>
                  <a:noFill/>
                </a:ln>
                <a:solidFill>
                  <a:schemeClr val="tx1"/>
                </a:solidFill>
                <a:effectLst/>
                <a:latin typeface="Arial" panose="020B0604020202020204" pitchFamily="34" charset="0"/>
              </a:rPr>
              <a:t>методов</a:t>
            </a: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err="1">
                <a:ln>
                  <a:noFill/>
                </a:ln>
                <a:solidFill>
                  <a:schemeClr val="tx1"/>
                </a:solidFill>
                <a:effectLst/>
                <a:latin typeface="Arial" panose="020B0604020202020204" pitchFamily="34" charset="0"/>
              </a:rPr>
              <a:t>Помимо</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Unicode MS"/>
              </a:rPr>
              <a:t>GET</a:t>
            </a:r>
            <a:r>
              <a:rPr kumimoji="0" lang="en-US" altLang="en-US" sz="2200" b="0" i="0" u="none" strike="noStrike" cap="none" normalizeH="0" baseline="0" dirty="0">
                <a:ln>
                  <a:noFill/>
                </a:ln>
                <a:solidFill>
                  <a:schemeClr val="tx1"/>
                </a:solidFill>
                <a:effectLst/>
              </a:rPr>
              <a:t> и </a:t>
            </a:r>
            <a:r>
              <a:rPr kumimoji="0" lang="en-US" altLang="en-US" sz="2200" b="0" i="0" u="none" strike="noStrike" cap="none" normalizeH="0" baseline="0" dirty="0">
                <a:ln>
                  <a:noFill/>
                </a:ln>
                <a:solidFill>
                  <a:schemeClr val="tx1"/>
                </a:solidFill>
                <a:effectLst/>
                <a:latin typeface="Arial Unicode MS"/>
              </a:rPr>
              <a:t>HEAD</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уже</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были</a:t>
            </a:r>
            <a:r>
              <a:rPr kumimoji="0" lang="en-US" altLang="en-US" sz="2200" b="0" i="0" u="none" strike="noStrike" cap="none" normalizeH="0" baseline="0" dirty="0">
                <a:ln>
                  <a:noFill/>
                </a:ln>
                <a:solidFill>
                  <a:schemeClr val="tx1"/>
                </a:solidFill>
                <a:effectLst/>
              </a:rPr>
              <a:t> в HTTP/1.0), </a:t>
            </a:r>
            <a:r>
              <a:rPr kumimoji="0" lang="en-US" altLang="en-US" sz="2200" b="0" i="0" u="none" strike="noStrike" cap="none" normalizeH="0" baseline="0" dirty="0" err="1">
                <a:ln>
                  <a:noFill/>
                </a:ln>
                <a:solidFill>
                  <a:schemeClr val="tx1"/>
                </a:solidFill>
                <a:effectLst/>
              </a:rPr>
              <a:t>добавились</a:t>
            </a:r>
            <a:r>
              <a:rPr kumimoji="0" lang="en-US" altLang="en-US" sz="2200" b="0" i="0" u="none" strike="noStrike" cap="none" normalizeH="0" baseline="0" dirty="0">
                <a:ln>
                  <a:noFill/>
                </a:ln>
                <a:solidFill>
                  <a:schemeClr val="tx1"/>
                </a:solidFill>
                <a:effectLst/>
              </a:rPr>
              <a:t>:</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Unicode MS"/>
              </a:rPr>
              <a:t>POST</a:t>
            </a:r>
            <a:r>
              <a:rPr kumimoji="0" lang="en-US" altLang="en-US" sz="2200" b="0" i="0" u="none" strike="noStrike" cap="none" normalizeH="0" baseline="0" dirty="0">
                <a:ln>
                  <a:noFill/>
                </a:ln>
                <a:solidFill>
                  <a:schemeClr val="tx1"/>
                </a:solidFill>
                <a:effectLst/>
              </a:rPr>
              <a:t> – </a:t>
            </a:r>
            <a:r>
              <a:rPr kumimoji="0" lang="en-US" altLang="en-US" sz="2200" b="0" i="0" u="none" strike="noStrike" cap="none" normalizeH="0" baseline="0" dirty="0" err="1">
                <a:ln>
                  <a:noFill/>
                </a:ln>
                <a:solidFill>
                  <a:schemeClr val="tx1"/>
                </a:solidFill>
                <a:effectLst/>
              </a:rPr>
              <a:t>отправка</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данных</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на</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сервер</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Unicode MS"/>
              </a:rPr>
              <a:t>PUT</a:t>
            </a:r>
            <a:r>
              <a:rPr kumimoji="0" lang="en-US" altLang="en-US" sz="2200" b="0" i="0" u="none" strike="noStrike" cap="none" normalizeH="0" baseline="0" dirty="0">
                <a:ln>
                  <a:noFill/>
                </a:ln>
                <a:solidFill>
                  <a:schemeClr val="tx1"/>
                </a:solidFill>
                <a:effectLst/>
              </a:rPr>
              <a:t> – </a:t>
            </a:r>
            <a:r>
              <a:rPr kumimoji="0" lang="en-US" altLang="en-US" sz="2200" b="0" i="0" u="none" strike="noStrike" cap="none" normalizeH="0" baseline="0" dirty="0" err="1">
                <a:ln>
                  <a:noFill/>
                </a:ln>
                <a:solidFill>
                  <a:schemeClr val="tx1"/>
                </a:solidFill>
                <a:effectLst/>
              </a:rPr>
              <a:t>замена</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ресурса</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Unicode MS"/>
              </a:rPr>
              <a:t>DELETE</a:t>
            </a:r>
            <a:r>
              <a:rPr kumimoji="0" lang="en-US" altLang="en-US" sz="2200" b="0" i="0" u="none" strike="noStrike" cap="none" normalizeH="0" baseline="0" dirty="0">
                <a:ln>
                  <a:noFill/>
                </a:ln>
                <a:solidFill>
                  <a:schemeClr val="tx1"/>
                </a:solidFill>
                <a:effectLst/>
              </a:rPr>
              <a:t> – </a:t>
            </a:r>
            <a:r>
              <a:rPr kumimoji="0" lang="en-US" altLang="en-US" sz="2200" b="0" i="0" u="none" strike="noStrike" cap="none" normalizeH="0" baseline="0" dirty="0" err="1">
                <a:ln>
                  <a:noFill/>
                </a:ln>
                <a:solidFill>
                  <a:schemeClr val="tx1"/>
                </a:solidFill>
                <a:effectLst/>
              </a:rPr>
              <a:t>удаление</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Unicode MS"/>
              </a:rPr>
              <a:t>OPTIONS</a:t>
            </a:r>
            <a:r>
              <a:rPr kumimoji="0" lang="en-US" altLang="en-US" sz="2200" b="0" i="0" u="none" strike="noStrike" cap="none" normalizeH="0" baseline="0" dirty="0">
                <a:ln>
                  <a:noFill/>
                </a:ln>
                <a:solidFill>
                  <a:schemeClr val="tx1"/>
                </a:solidFill>
                <a:effectLst/>
              </a:rPr>
              <a:t> – </a:t>
            </a:r>
            <a:r>
              <a:rPr kumimoji="0" lang="en-US" altLang="en-US" sz="2200" b="0" i="0" u="none" strike="noStrike" cap="none" normalizeH="0" baseline="0" dirty="0" err="1">
                <a:ln>
                  <a:noFill/>
                </a:ln>
                <a:solidFill>
                  <a:schemeClr val="tx1"/>
                </a:solidFill>
                <a:effectLst/>
              </a:rPr>
              <a:t>получение</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информации</a:t>
            </a:r>
            <a:r>
              <a:rPr kumimoji="0" lang="en-US" altLang="en-US" sz="2200" b="0" i="0" u="none" strike="noStrike" cap="none" normalizeH="0" baseline="0" dirty="0">
                <a:ln>
                  <a:noFill/>
                </a:ln>
                <a:solidFill>
                  <a:schemeClr val="tx1"/>
                </a:solidFill>
                <a:effectLst/>
              </a:rPr>
              <a:t> о </a:t>
            </a:r>
            <a:r>
              <a:rPr kumimoji="0" lang="en-US" altLang="en-US" sz="2200" b="0" i="0" u="none" strike="noStrike" cap="none" normalizeH="0" baseline="0" dirty="0" err="1">
                <a:ln>
                  <a:noFill/>
                </a:ln>
                <a:solidFill>
                  <a:schemeClr val="tx1"/>
                </a:solidFill>
                <a:effectLst/>
              </a:rPr>
              <a:t>возможностях</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сервера</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Unicode MS"/>
              </a:rPr>
              <a:t>TRACE</a:t>
            </a:r>
            <a:r>
              <a:rPr kumimoji="0" lang="en-US" altLang="en-US" sz="2200" b="0" i="0" u="none" strike="noStrike" cap="none" normalizeH="0" baseline="0" dirty="0">
                <a:ln>
                  <a:noFill/>
                </a:ln>
                <a:solidFill>
                  <a:schemeClr val="tx1"/>
                </a:solidFill>
                <a:effectLst/>
              </a:rPr>
              <a:t> – </a:t>
            </a:r>
            <a:r>
              <a:rPr kumimoji="0" lang="en-US" altLang="en-US" sz="2200" b="0" i="0" u="none" strike="noStrike" cap="none" normalizeH="0" baseline="0" dirty="0" err="1">
                <a:ln>
                  <a:noFill/>
                </a:ln>
                <a:solidFill>
                  <a:schemeClr val="tx1"/>
                </a:solidFill>
                <a:effectLst/>
              </a:rPr>
              <a:t>диагностика</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Unicode MS"/>
              </a:rPr>
              <a:t>CONNECT</a:t>
            </a:r>
            <a:r>
              <a:rPr kumimoji="0" lang="en-US" altLang="en-US" sz="2200" b="0" i="0" u="none" strike="noStrike" cap="none" normalizeH="0" baseline="0" dirty="0">
                <a:ln>
                  <a:noFill/>
                </a:ln>
                <a:solidFill>
                  <a:schemeClr val="tx1"/>
                </a:solidFill>
                <a:effectLst/>
              </a:rPr>
              <a:t> – </a:t>
            </a:r>
            <a:r>
              <a:rPr kumimoji="0" lang="en-US" altLang="en-US" sz="2200" b="0" i="0" u="none" strike="noStrike" cap="none" normalizeH="0" baseline="0" dirty="0" err="1">
                <a:ln>
                  <a:noFill/>
                </a:ln>
                <a:solidFill>
                  <a:schemeClr val="tx1"/>
                </a:solidFill>
                <a:effectLst/>
              </a:rPr>
              <a:t>для</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прокси</a:t>
            </a:r>
            <a:r>
              <a:rPr kumimoji="0" lang="en-US" altLang="en-US" sz="2200" b="0" i="0" u="none" strike="noStrike" cap="none" normalizeH="0" baseline="0" dirty="0">
                <a:ln>
                  <a:noFill/>
                </a:ln>
                <a:solidFill>
                  <a:schemeClr val="tx1"/>
                </a:solidFill>
                <a:effectLst/>
              </a:rPr>
              <a:t> и </a:t>
            </a:r>
            <a:r>
              <a:rPr kumimoji="0" lang="en-US" altLang="en-US" sz="2200" b="0" i="0" u="none" strike="noStrike" cap="none" normalizeH="0" baseline="0" dirty="0" err="1">
                <a:ln>
                  <a:noFill/>
                </a:ln>
                <a:solidFill>
                  <a:schemeClr val="tx1"/>
                </a:solidFill>
                <a:effectLst/>
              </a:rPr>
              <a:t>туннелей</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используется</a:t>
            </a:r>
            <a:r>
              <a:rPr kumimoji="0" lang="en-US" altLang="en-US" sz="2200" b="0" i="0" u="none" strike="noStrike" cap="none" normalizeH="0" baseline="0" dirty="0">
                <a:ln>
                  <a:noFill/>
                </a:ln>
                <a:solidFill>
                  <a:schemeClr val="tx1"/>
                </a:solidFill>
                <a:effectLst/>
              </a:rPr>
              <a:t> в HTTPS)</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a:ln>
                  <a:noFill/>
                </a:ln>
                <a:solidFill>
                  <a:schemeClr val="tx1"/>
                </a:solidFill>
                <a:effectLst/>
                <a:latin typeface="Arial" panose="020B0604020202020204" pitchFamily="34" charset="0"/>
              </a:rPr>
              <a:t>5. </a:t>
            </a:r>
            <a:r>
              <a:rPr kumimoji="0" lang="en-US" altLang="en-US" sz="2200" b="1" i="0" u="none" strike="noStrike" cap="none" normalizeH="0" baseline="0" dirty="0" err="1">
                <a:ln>
                  <a:noFill/>
                </a:ln>
                <a:solidFill>
                  <a:schemeClr val="tx1"/>
                </a:solidFill>
                <a:effectLst/>
                <a:latin typeface="Arial" panose="020B0604020202020204" pitchFamily="34" charset="0"/>
              </a:rPr>
              <a:t>Кэширование</a:t>
            </a:r>
            <a:r>
              <a:rPr kumimoji="0" lang="en-US" altLang="en-US" sz="2200" b="1" i="0" u="none" strike="noStrike" cap="none" normalizeH="0" baseline="0" dirty="0">
                <a:ln>
                  <a:noFill/>
                </a:ln>
                <a:solidFill>
                  <a:schemeClr val="tx1"/>
                </a:solidFill>
                <a:effectLst/>
                <a:latin typeface="Arial" panose="020B0604020202020204" pitchFamily="34" charset="0"/>
              </a:rPr>
              <a:t> и </a:t>
            </a:r>
            <a:r>
              <a:rPr kumimoji="0" lang="en-US" altLang="en-US" sz="2200" b="1" i="0" u="none" strike="noStrike" cap="none" normalizeH="0" baseline="0" dirty="0" err="1">
                <a:ln>
                  <a:noFill/>
                </a:ln>
                <a:solidFill>
                  <a:schemeClr val="tx1"/>
                </a:solidFill>
                <a:effectLst/>
                <a:latin typeface="Arial" panose="020B0604020202020204" pitchFamily="34" charset="0"/>
              </a:rPr>
              <a:t>управление</a:t>
            </a:r>
            <a:r>
              <a:rPr kumimoji="0" lang="en-US" altLang="en-US" sz="2200" b="1" i="0" u="none" strike="noStrike" cap="none" normalizeH="0" baseline="0" dirty="0">
                <a:ln>
                  <a:noFill/>
                </a:ln>
                <a:solidFill>
                  <a:schemeClr val="tx1"/>
                </a:solidFill>
                <a:effectLst/>
                <a:latin typeface="Arial" panose="020B0604020202020204" pitchFamily="34" charset="0"/>
              </a:rPr>
              <a:t> </a:t>
            </a:r>
            <a:r>
              <a:rPr kumimoji="0" lang="en-US" altLang="en-US" sz="2200" b="1" i="0" u="none" strike="noStrike" cap="none" normalizeH="0" baseline="0" dirty="0" err="1">
                <a:ln>
                  <a:noFill/>
                </a:ln>
                <a:solidFill>
                  <a:schemeClr val="tx1"/>
                </a:solidFill>
                <a:effectLst/>
                <a:latin typeface="Arial" panose="020B0604020202020204" pitchFamily="34" charset="0"/>
              </a:rPr>
              <a:t>свежестью</a:t>
            </a: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err="1">
                <a:ln>
                  <a:noFill/>
                </a:ln>
                <a:solidFill>
                  <a:schemeClr val="tx1"/>
                </a:solidFill>
                <a:effectLst/>
                <a:latin typeface="Arial" panose="020B0604020202020204" pitchFamily="34" charset="0"/>
              </a:rPr>
              <a:t>Введены</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мощные</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механизмы</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управления</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кэшем</a:t>
            </a:r>
            <a:r>
              <a:rPr kumimoji="0" lang="en-US" altLang="en-US" sz="22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Unicode MS"/>
              </a:rPr>
              <a:t>Cache-Control</a:t>
            </a:r>
            <a:r>
              <a:rPr kumimoji="0" lang="en-US" altLang="en-US" sz="2200" b="0" i="0" u="none" strike="noStrike" cap="none" normalizeH="0" baseline="0" dirty="0">
                <a:ln>
                  <a:noFill/>
                </a:ln>
                <a:solidFill>
                  <a:schemeClr val="tx1"/>
                </a:solidFill>
                <a:effectLst/>
              </a:rPr>
              <a:t> (max-age, no-cache, must-revalidate и </a:t>
            </a:r>
            <a:r>
              <a:rPr kumimoji="0" lang="en-US" altLang="en-US" sz="2200" b="0" i="0" u="none" strike="noStrike" cap="none" normalizeH="0" baseline="0" dirty="0" err="1">
                <a:ln>
                  <a:noFill/>
                </a:ln>
                <a:solidFill>
                  <a:schemeClr val="tx1"/>
                </a:solidFill>
                <a:effectLst/>
              </a:rPr>
              <a:t>др</a:t>
            </a:r>
            <a:r>
              <a:rPr kumimoji="0" lang="en-US" altLang="en-US" sz="2200" b="0" i="0" u="none" strike="noStrike" cap="none" normalizeH="0" baseline="0" dirty="0">
                <a:ln>
                  <a:noFill/>
                </a:ln>
                <a:solidFill>
                  <a:schemeClr val="tx1"/>
                </a:solidFill>
                <a:effectLst/>
              </a:rPr>
              <a:t>.)</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err="1">
                <a:ln>
                  <a:noFill/>
                </a:ln>
                <a:solidFill>
                  <a:schemeClr val="tx1"/>
                </a:solidFill>
                <a:effectLst/>
                <a:latin typeface="Arial Unicode MS"/>
              </a:rPr>
              <a:t>ETag</a:t>
            </a:r>
            <a:r>
              <a:rPr kumimoji="0" lang="en-US" altLang="en-US" sz="2200" b="0" i="0" u="none" strike="noStrike" cap="none" normalizeH="0" baseline="0" dirty="0">
                <a:ln>
                  <a:noFill/>
                </a:ln>
                <a:solidFill>
                  <a:schemeClr val="tx1"/>
                </a:solidFill>
                <a:effectLst/>
              </a:rPr>
              <a:t> – </a:t>
            </a:r>
            <a:r>
              <a:rPr kumimoji="0" lang="en-US" altLang="en-US" sz="2200" b="0" i="0" u="none" strike="noStrike" cap="none" normalizeH="0" baseline="0" dirty="0" err="1">
                <a:ln>
                  <a:noFill/>
                </a:ln>
                <a:solidFill>
                  <a:schemeClr val="tx1"/>
                </a:solidFill>
                <a:effectLst/>
              </a:rPr>
              <a:t>уникальный</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идентификатор</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версии</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ресурса</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Arial Unicode MS"/>
              </a:rPr>
              <a:t>Last-Modified</a:t>
            </a:r>
            <a:r>
              <a:rPr kumimoji="0" lang="en-US" altLang="en-US" sz="2200" b="0" i="0" u="none" strike="noStrike" cap="none" normalizeH="0" baseline="0" dirty="0">
                <a:ln>
                  <a:noFill/>
                </a:ln>
                <a:solidFill>
                  <a:schemeClr val="tx1"/>
                </a:solidFill>
                <a:effectLst/>
              </a:rPr>
              <a:t> – </a:t>
            </a:r>
            <a:r>
              <a:rPr kumimoji="0" lang="en-US" altLang="en-US" sz="2200" b="0" i="0" u="none" strike="noStrike" cap="none" normalizeH="0" baseline="0" dirty="0" err="1">
                <a:ln>
                  <a:noFill/>
                </a:ln>
                <a:solidFill>
                  <a:schemeClr val="tx1"/>
                </a:solidFill>
                <a:effectLst/>
              </a:rPr>
              <a:t>дата</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последнего</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изменения</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err="1">
                <a:ln>
                  <a:noFill/>
                </a:ln>
                <a:solidFill>
                  <a:schemeClr val="tx1"/>
                </a:solidFill>
                <a:effectLst/>
                <a:latin typeface="Arial" panose="020B0604020202020204" pitchFamily="34" charset="0"/>
              </a:rPr>
              <a:t>Позволяют</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эффективно</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снижать</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нагрузку</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на</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сервер</a:t>
            </a:r>
            <a:r>
              <a:rPr kumimoji="0" lang="en-US" altLang="en-US" sz="2200" b="0" i="0" u="none" strike="noStrike" cap="none" normalizeH="0" baseline="0" dirty="0">
                <a:ln>
                  <a:noFill/>
                </a:ln>
                <a:solidFill>
                  <a:schemeClr val="tx1"/>
                </a:solidFill>
                <a:effectLst/>
                <a:latin typeface="Arial" panose="020B0604020202020204" pitchFamily="34" charset="0"/>
              </a:rPr>
              <a:t> и </a:t>
            </a:r>
            <a:r>
              <a:rPr kumimoji="0" lang="en-US" altLang="en-US" sz="2200" b="0" i="0" u="none" strike="noStrike" cap="none" normalizeH="0" baseline="0" dirty="0" err="1">
                <a:ln>
                  <a:noFill/>
                </a:ln>
                <a:solidFill>
                  <a:schemeClr val="tx1"/>
                </a:solidFill>
                <a:effectLst/>
                <a:latin typeface="Arial" panose="020B0604020202020204" pitchFamily="34" charset="0"/>
              </a:rPr>
              <a:t>ускорять</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загрузку</a:t>
            </a:r>
            <a:r>
              <a:rPr kumimoji="0" lang="en-US" altLang="en-US" sz="2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04846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B9AD23-68B9-4A21-9118-EAD2139E8B7B}"/>
              </a:ext>
            </a:extLst>
          </p:cNvPr>
          <p:cNvSpPr>
            <a:spLocks noChangeArrowheads="1"/>
          </p:cNvSpPr>
          <p:nvPr/>
        </p:nvSpPr>
        <p:spPr bwMode="auto">
          <a:xfrm>
            <a:off x="190501" y="379466"/>
            <a:ext cx="121539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6. Chunked Transfer Encoding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Сервер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может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передавать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данные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частями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чанками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зная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общий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размер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заранее</a:t>
            </a:r>
            <a:r>
              <a:rPr kumimoji="0" lang="en-US" altLang="en-US" sz="2000" b="0" i="0" u="none" strike="noStrike" cap="none" normalizeH="0" baseline="0" dirty="0">
                <a:ln>
                  <a:noFill/>
                </a:ln>
                <a:solidFill>
                  <a:schemeClr val="tx1"/>
                </a:solidFill>
                <a:effectLst/>
                <a:latin typeface="Arial" panose="020B0604020202020204" pitchFamily="34" charset="0"/>
              </a:rPr>
              <a: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Это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необходимо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для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динамического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контента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генерации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отчётов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лету</a:t>
            </a:r>
            <a:r>
              <a:rPr kumimoji="0" lang="en-US" altLang="en-US" sz="2000" b="0" i="0" u="none" strike="noStrike" cap="none" normalizeH="0" baseline="0" dirty="0">
                <a:ln>
                  <a:noFill/>
                </a:ln>
                <a:solidFill>
                  <a:schemeClr val="tx1"/>
                </a:solidFill>
                <a:effectLst/>
                <a:latin typeface="Arial" panose="020B0604020202020204" pitchFamily="34" charset="0"/>
              </a:rPr>
              <a: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Заголовок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Content-Length</a:t>
            </a:r>
            <a:r>
              <a:rPr kumimoji="0" lang="en-US" altLang="en-US" sz="2000" b="0" i="0" u="none" strike="noStrike" cap="none" normalizeH="0" baseline="0" dirty="0">
                <a:ln>
                  <a:noFill/>
                </a:ln>
                <a:solidFill>
                  <a:schemeClr val="tx1"/>
                </a:solidFill>
                <a:effectLst/>
              </a:rPr>
              <a:t> в </a:t>
            </a:r>
            <a:r>
              <a:rPr kumimoji="0" lang="en-US" altLang="en-US" sz="2000" b="0" i="0" u="none" strike="noStrike" cap="none" normalizeH="0" baseline="0" dirty="0" err="1">
                <a:ln>
                  <a:noFill/>
                </a:ln>
                <a:solidFill>
                  <a:schemeClr val="tx1"/>
                </a:solidFill>
                <a:effectLst/>
              </a:rPr>
              <a:t>таких</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случаях</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не</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используется</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7. </a:t>
            </a:r>
            <a:r>
              <a:rPr kumimoji="0" lang="en-US" altLang="en-US" sz="2000" b="1" i="0" u="none" strike="noStrike" cap="none" normalizeH="0" baseline="0" dirty="0" err="1">
                <a:ln>
                  <a:noFill/>
                </a:ln>
                <a:solidFill>
                  <a:schemeClr val="tx1"/>
                </a:solidFill>
                <a:effectLst/>
                <a:latin typeface="Arial" panose="020B0604020202020204" pitchFamily="34" charset="0"/>
              </a:rPr>
              <a:t>Согласование</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содержимого</a:t>
            </a:r>
            <a:r>
              <a:rPr kumimoji="0" lang="en-US" altLang="en-US" sz="2000" b="1" i="0" u="none" strike="noStrike" cap="none" normalizeH="0" baseline="0" dirty="0">
                <a:ln>
                  <a:noFill/>
                </a:ln>
                <a:solidFill>
                  <a:schemeClr val="tx1"/>
                </a:solidFill>
                <a:effectLst/>
                <a:latin typeface="Arial" panose="020B0604020202020204" pitchFamily="34" charset="0"/>
              </a:rPr>
              <a:t> (Content Negotiation)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Клиент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может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сообщить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серверу</a:t>
            </a:r>
            <a:r>
              <a:rPr kumimoji="0" lang="en-US" altLang="en-US" sz="2000" b="0" i="0" u="none" strike="noStrike" cap="none" normalizeH="0" baseline="0" dirty="0">
                <a:ln>
                  <a:noFill/>
                </a:ln>
                <a:solidFill>
                  <a:schemeClr val="tx1"/>
                </a:solidFill>
                <a:effectLst/>
                <a:latin typeface="Arial" panose="020B0604020202020204" pitchFamily="34" charset="0"/>
              </a:rPr>
              <a:t> о </a:t>
            </a:r>
            <a:r>
              <a:rPr kumimoji="0" lang="en-US" altLang="en-US" sz="2000" b="0" i="0" u="none" strike="noStrike" cap="none" normalizeH="0" baseline="0" dirty="0" err="1">
                <a:ln>
                  <a:noFill/>
                </a:ln>
                <a:solidFill>
                  <a:schemeClr val="tx1"/>
                </a:solidFill>
                <a:effectLst/>
                <a:latin typeface="Arial" panose="020B0604020202020204" pitchFamily="34" charset="0"/>
              </a:rPr>
              <a:t>своих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предпочтениях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через</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заголовки</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Unicode MS"/>
              </a:rPr>
              <a:t>Accept</a:t>
            </a:r>
            <a:r>
              <a:rPr kumimoji="0" lang="en-US" altLang="en-US" sz="2000" b="0" i="0" u="none" strike="noStrike" cap="none" normalizeH="0" baseline="0" dirty="0">
                <a:ln>
                  <a:noFill/>
                </a:ln>
                <a:solidFill>
                  <a:schemeClr val="tx1"/>
                </a:solidFill>
                <a:effectLst/>
              </a:rPr>
              <a:t> – </a:t>
            </a:r>
            <a:r>
              <a:rPr kumimoji="0" lang="en-US" altLang="en-US" sz="2000" b="0" i="0" u="none" strike="noStrike" cap="none" normalizeH="0" baseline="0" dirty="0" err="1">
                <a:ln>
                  <a:noFill/>
                </a:ln>
                <a:solidFill>
                  <a:schemeClr val="tx1"/>
                </a:solidFill>
                <a:effectLst/>
              </a:rPr>
              <a:t>какие</a:t>
            </a:r>
            <a:r>
              <a:rPr kumimoji="0" lang="en-US" altLang="en-US" sz="2000" b="0" i="0" u="none" strike="noStrike" cap="none" normalizeH="0" baseline="0" dirty="0">
                <a:ln>
                  <a:noFill/>
                </a:ln>
                <a:solidFill>
                  <a:schemeClr val="tx1"/>
                </a:solidFill>
                <a:effectLst/>
              </a:rPr>
              <a:t> MIME-</a:t>
            </a:r>
            <a:r>
              <a:rPr kumimoji="0" lang="en-US" altLang="en-US" sz="2000" b="0" i="0" u="none" strike="noStrike" cap="none" normalizeH="0" baseline="0" dirty="0" err="1">
                <a:ln>
                  <a:noFill/>
                </a:ln>
                <a:solidFill>
                  <a:schemeClr val="tx1"/>
                </a:solidFill>
                <a:effectLst/>
              </a:rPr>
              <a:t>типы</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понимает</a:t>
            </a:r>
            <a:r>
              <a:rPr kumimoji="0" lang="en-US" altLang="en-US" sz="2000" b="0" i="0" u="none" strike="noStrike" cap="none" normalizeH="0" baseline="0" dirty="0">
                <a:ln>
                  <a:noFill/>
                </a:ln>
                <a:solidFill>
                  <a:schemeClr val="tx1"/>
                </a:solidFill>
                <a:effectLst/>
              </a:rPr>
              <a:t> (text/html, application/json…)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Unicode MS"/>
              </a:rPr>
              <a:t>Accept-Language</a:t>
            </a:r>
            <a:r>
              <a:rPr kumimoji="0" lang="en-US" altLang="en-US" sz="2000" b="0" i="0" u="none" strike="noStrike" cap="none" normalizeH="0" baseline="0" dirty="0">
                <a:ln>
                  <a:noFill/>
                </a:ln>
                <a:solidFill>
                  <a:schemeClr val="tx1"/>
                </a:solidFill>
                <a:effectLst/>
              </a:rPr>
              <a:t> – </a:t>
            </a:r>
            <a:r>
              <a:rPr kumimoji="0" lang="en-US" altLang="en-US" sz="2000" b="0" i="0" u="none" strike="noStrike" cap="none" normalizeH="0" baseline="0" dirty="0" err="1">
                <a:ln>
                  <a:noFill/>
                </a:ln>
                <a:solidFill>
                  <a:schemeClr val="tx1"/>
                </a:solidFill>
                <a:effectLst/>
              </a:rPr>
              <a:t>языки</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Unicode MS"/>
              </a:rPr>
              <a:t>Accept-Encoding</a:t>
            </a:r>
            <a:r>
              <a:rPr kumimoji="0" lang="en-US" altLang="en-US" sz="2000" b="0" i="0" u="none" strike="noStrike" cap="none" normalizeH="0" baseline="0" dirty="0">
                <a:ln>
                  <a:noFill/>
                </a:ln>
                <a:solidFill>
                  <a:schemeClr val="tx1"/>
                </a:solidFill>
                <a:effectLst/>
              </a:rPr>
              <a:t> – </a:t>
            </a:r>
            <a:r>
              <a:rPr kumimoji="0" lang="en-US" altLang="en-US" sz="2000" b="0" i="0" u="none" strike="noStrike" cap="none" normalizeH="0" baseline="0" dirty="0" err="1">
                <a:ln>
                  <a:noFill/>
                </a:ln>
                <a:solidFill>
                  <a:schemeClr val="tx1"/>
                </a:solidFill>
                <a:effectLst/>
              </a:rPr>
              <a:t>поддерживаемые</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сжатия</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gzip</a:t>
            </a:r>
            <a:r>
              <a:rPr kumimoji="0" lang="en-US" altLang="en-US" sz="2000" b="0" i="0" u="none" strike="noStrike" cap="none" normalizeH="0" baseline="0" dirty="0">
                <a:ln>
                  <a:noFill/>
                </a:ln>
                <a:solidFill>
                  <a:schemeClr val="tx1"/>
                </a:solidFill>
                <a:effectLst/>
              </a:rPr>
              <a:t>, deflate)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Unicode MS"/>
              </a:rPr>
              <a:t>Accept-Charset</a:t>
            </a:r>
            <a:r>
              <a:rPr kumimoji="0" lang="en-US" altLang="en-US" sz="2000" b="0" i="0" u="none" strike="noStrike" cap="none" normalizeH="0" baseline="0" dirty="0">
                <a:ln>
                  <a:noFill/>
                </a:ln>
                <a:solidFill>
                  <a:schemeClr val="tx1"/>
                </a:solidFill>
                <a:effectLst/>
              </a:rPr>
              <a:t> – </a:t>
            </a:r>
            <a:r>
              <a:rPr kumimoji="0" lang="en-US" altLang="en-US" sz="2000" b="0" i="0" u="none" strike="noStrike" cap="none" normalizeH="0" baseline="0" dirty="0" err="1">
                <a:ln>
                  <a:noFill/>
                </a:ln>
                <a:solidFill>
                  <a:schemeClr val="tx1"/>
                </a:solidFill>
                <a:effectLst/>
              </a:rPr>
              <a:t>кодировки</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8. </a:t>
            </a:r>
            <a:r>
              <a:rPr kumimoji="0" lang="en-US" altLang="en-US" sz="2000" b="1" i="0" u="none" strike="noStrike" cap="none" normalizeH="0" baseline="0" dirty="0" err="1">
                <a:ln>
                  <a:noFill/>
                </a:ln>
                <a:solidFill>
                  <a:schemeClr val="tx1"/>
                </a:solidFill>
                <a:effectLst/>
                <a:latin typeface="Arial" panose="020B0604020202020204" pitchFamily="34" charset="0"/>
              </a:rPr>
              <a:t>Частичная</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загрузка</a:t>
            </a:r>
            <a:r>
              <a:rPr kumimoji="0" lang="en-US" altLang="en-US" sz="2000" b="1" i="0" u="none" strike="noStrike" cap="none" normalizeH="0" baseline="0" dirty="0">
                <a:ln>
                  <a:noFill/>
                </a:ln>
                <a:solidFill>
                  <a:schemeClr val="tx1"/>
                </a:solidFill>
                <a:effectLst/>
                <a:latin typeface="Arial" panose="020B0604020202020204" pitchFamily="34" charset="0"/>
              </a:rPr>
              <a:t> (Range Requests)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Заголовок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Range</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позволяет</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запросить</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только</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часть</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ресурса</a:t>
            </a:r>
            <a:r>
              <a:rPr kumimoji="0" lang="en-US" altLang="en-US" sz="20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a:t>
            </a:r>
            <a:r>
              <a:rPr kumimoji="0" lang="en-US" altLang="en-US" sz="2000" b="0" i="0" u="none" strike="noStrike" cap="none" normalizeH="0" baseline="0" dirty="0" err="1">
                <a:ln>
                  <a:noFill/>
                </a:ln>
                <a:solidFill>
                  <a:schemeClr val="tx1"/>
                </a:solidFill>
                <a:effectLst/>
              </a:rPr>
              <a:t>например</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возобновить</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загрузку</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файла</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или</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запросить</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определённый</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фрагмент</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видео</a:t>
            </a:r>
            <a:r>
              <a:rPr kumimoji="0" lang="en-US" altLang="en-US" sz="2000" b="0" i="0" u="none" strike="noStrike" cap="none" normalizeH="0" baseline="0" dirty="0">
                <a:ln>
                  <a:noFill/>
                </a:ln>
                <a:solidFill>
                  <a:schemeClr val="tx1"/>
                </a:solidFill>
                <a:effectLst/>
              </a:rPr>
              <a:t>).</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Сервер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отвечает</a:t>
            </a:r>
            <a:r>
              <a:rPr kumimoji="0" lang="en-US" altLang="en-US" sz="2000" b="0" i="0" u="none" strike="noStrike" cap="none" normalizeH="0" baseline="0" dirty="0">
                <a:ln>
                  <a:noFill/>
                </a:ln>
                <a:solidFill>
                  <a:schemeClr val="tx1"/>
                </a:solidFill>
                <a:effectLst/>
                <a:latin typeface="Arial" panose="020B0604020202020204" pitchFamily="34" charset="0"/>
              </a:rPr>
              <a:t> с </a:t>
            </a:r>
            <a:r>
              <a:rPr kumimoji="0" lang="en-US" altLang="en-US" sz="2000" b="0" i="0" u="none" strike="noStrike" cap="none" normalizeH="0" baseline="0" dirty="0" err="1">
                <a:ln>
                  <a:noFill/>
                </a:ln>
                <a:solidFill>
                  <a:schemeClr val="tx1"/>
                </a:solidFill>
                <a:effectLst/>
                <a:latin typeface="Arial" panose="020B0604020202020204" pitchFamily="34" charset="0"/>
              </a:rPr>
              <a:t>кодом</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206 Partial Content</a:t>
            </a:r>
            <a:r>
              <a:rPr kumimoji="0" lang="en-US" altLang="en-US" sz="2000" b="0" i="0" u="none" strike="noStrike" cap="none" normalizeH="0" baseline="0" dirty="0">
                <a:ln>
                  <a:noFill/>
                </a:ln>
                <a:solidFill>
                  <a:schemeClr val="tx1"/>
                </a:solidFill>
                <a:effectLst/>
              </a:rPr>
              <a:t> и </a:t>
            </a:r>
            <a:r>
              <a:rPr kumimoji="0" lang="en-US" altLang="en-US" sz="2000" b="0" i="0" u="none" strike="noStrike" cap="none" normalizeH="0" baseline="0" dirty="0" err="1">
                <a:ln>
                  <a:noFill/>
                </a:ln>
                <a:solidFill>
                  <a:schemeClr val="tx1"/>
                </a:solidFill>
                <a:effectLst/>
              </a:rPr>
              <a:t>заголовком</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Content-Range</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9. </a:t>
            </a:r>
            <a:r>
              <a:rPr kumimoji="0" lang="en-US" altLang="en-US" sz="2000" b="1" i="0" u="none" strike="noStrike" cap="none" normalizeH="0" baseline="0" dirty="0" err="1">
                <a:ln>
                  <a:noFill/>
                </a:ln>
                <a:solidFill>
                  <a:schemeClr val="tx1"/>
                </a:solidFill>
                <a:effectLst/>
                <a:latin typeface="Arial" panose="020B0604020202020204" pitchFamily="34" charset="0"/>
              </a:rPr>
              <a:t>Улучшенная</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аутентификация</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Появился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механизм</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Digest Authentication</a:t>
            </a:r>
            <a:r>
              <a:rPr kumimoji="0" lang="en-US" altLang="en-US" sz="2000" b="0" i="0" u="none" strike="noStrike" cap="none" normalizeH="0" baseline="0" dirty="0">
                <a:ln>
                  <a:noFill/>
                </a:ln>
                <a:solidFill>
                  <a:schemeClr val="tx1"/>
                </a:solidFill>
                <a:effectLst/>
                <a:latin typeface="Arial" panose="020B0604020202020204" pitchFamily="34" charset="0"/>
              </a:rPr>
              <a:t> (RFC 2617) </a:t>
            </a:r>
            <a:r>
              <a:rPr kumimoji="0" lang="en-US" altLang="en-US" sz="2000" b="0" i="0" u="none" strike="noStrike" cap="none" normalizeH="0" baseline="0" dirty="0" err="1">
                <a:ln>
                  <a:noFill/>
                </a:ln>
                <a:solidFill>
                  <a:schemeClr val="tx1"/>
                </a:solidFill>
                <a:effectLst/>
                <a:latin typeface="Arial" panose="020B0604020202020204" pitchFamily="34" charset="0"/>
              </a:rPr>
              <a:t>как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более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безопасная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альтернатива</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Basic Authentication.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Также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впоследствии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внедрялись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другие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схемы</a:t>
            </a:r>
            <a:r>
              <a:rPr kumimoji="0" lang="en-US" altLang="en-US" sz="2000" b="0" i="0" u="none" strike="noStrike" cap="none" normalizeH="0" baseline="0" dirty="0">
                <a:ln>
                  <a:noFill/>
                </a:ln>
                <a:solidFill>
                  <a:schemeClr val="tx1"/>
                </a:solidFill>
                <a:effectLst/>
                <a:latin typeface="Arial" panose="020B0604020202020204" pitchFamily="34" charset="0"/>
              </a:rPr>
              <a:t> (Bearer, Negotiate и </a:t>
            </a:r>
            <a:r>
              <a:rPr kumimoji="0" lang="en-US" altLang="en-US" sz="2000" b="0" i="0" u="none" strike="noStrike" cap="none" normalizeH="0" baseline="0" dirty="0" err="1">
                <a:ln>
                  <a:noFill/>
                </a:ln>
                <a:solidFill>
                  <a:schemeClr val="tx1"/>
                </a:solidFill>
                <a:effectLst/>
                <a:latin typeface="Arial" panose="020B0604020202020204" pitchFamily="34" charset="0"/>
              </a:rPr>
              <a:t>т.д</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они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поверх</a:t>
            </a:r>
            <a:r>
              <a:rPr kumimoji="0" lang="en-US" altLang="en-US" sz="2000" b="0" i="0" u="none" strike="noStrike" cap="none" normalizeH="0" baseline="0" dirty="0">
                <a:ln>
                  <a:noFill/>
                </a:ln>
                <a:solidFill>
                  <a:schemeClr val="tx1"/>
                </a:solidFill>
                <a:effectLst/>
                <a:latin typeface="Arial" panose="020B0604020202020204" pitchFamily="34" charset="0"/>
              </a:rPr>
              <a:t> HTTP.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0646935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B159F230-38CE-4A9F-89FF-9F8F2C682AB1}"/>
              </a:ext>
            </a:extLst>
          </p:cNvPr>
          <p:cNvPicPr>
            <a:picLocks noChangeAspect="1"/>
          </p:cNvPicPr>
          <p:nvPr/>
        </p:nvPicPr>
        <p:blipFill>
          <a:blip r:embed="rId2"/>
          <a:stretch>
            <a:fillRect/>
          </a:stretch>
        </p:blipFill>
        <p:spPr>
          <a:xfrm>
            <a:off x="952053" y="428215"/>
            <a:ext cx="6801297" cy="6234523"/>
          </a:xfrm>
          <a:prstGeom prst="rect">
            <a:avLst/>
          </a:prstGeom>
        </p:spPr>
      </p:pic>
    </p:spTree>
    <p:extLst>
      <p:ext uri="{BB962C8B-B14F-4D97-AF65-F5344CB8AC3E}">
        <p14:creationId xmlns:p14="http://schemas.microsoft.com/office/powerpoint/2010/main" val="176047806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071EF256-9751-45D4-9CD7-C7EF74F0B947}"/>
              </a:ext>
            </a:extLst>
          </p:cNvPr>
          <p:cNvPicPr>
            <a:picLocks noChangeAspect="1"/>
          </p:cNvPicPr>
          <p:nvPr/>
        </p:nvPicPr>
        <p:blipFill>
          <a:blip r:embed="rId2"/>
          <a:stretch>
            <a:fillRect/>
          </a:stretch>
        </p:blipFill>
        <p:spPr>
          <a:xfrm>
            <a:off x="1352096" y="618776"/>
            <a:ext cx="7674223" cy="5896324"/>
          </a:xfrm>
          <a:prstGeom prst="rect">
            <a:avLst/>
          </a:prstGeom>
        </p:spPr>
      </p:pic>
    </p:spTree>
    <p:extLst>
      <p:ext uri="{BB962C8B-B14F-4D97-AF65-F5344CB8AC3E}">
        <p14:creationId xmlns:p14="http://schemas.microsoft.com/office/powerpoint/2010/main" val="38856783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5BD42-7B9C-4AF6-B57F-722602146B8D}"/>
              </a:ext>
            </a:extLst>
          </p:cNvPr>
          <p:cNvSpPr>
            <a:spLocks noChangeArrowheads="1"/>
          </p:cNvSpPr>
          <p:nvPr/>
        </p:nvSpPr>
        <p:spPr bwMode="auto">
          <a:xfrm>
            <a:off x="161925" y="4426188"/>
            <a:ext cx="106203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Коды</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состояния</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расширение</a:t>
            </a:r>
            <a:r>
              <a:rPr kumimoji="0" lang="en-US" altLang="en-US"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В HTTP/1.1 </a:t>
            </a:r>
            <a:r>
              <a:rPr kumimoji="0" lang="en-US" altLang="en-US" b="0" i="0" u="none" strike="noStrike" cap="none" normalizeH="0" baseline="0" dirty="0" err="1">
                <a:ln>
                  <a:noFill/>
                </a:ln>
                <a:solidFill>
                  <a:schemeClr val="tx1"/>
                </a:solidFill>
                <a:effectLst/>
                <a:latin typeface="Arial" panose="020B0604020202020204" pitchFamily="34" charset="0"/>
              </a:rPr>
              <a:t>стандартизированы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многие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коды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которые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используем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сейчас</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1xx</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информационные</a:t>
            </a:r>
            <a:r>
              <a:rPr kumimoji="0" lang="en-US" altLang="en-US" b="0" i="0" u="none" strike="noStrike" cap="none" normalizeH="0" baseline="0" dirty="0">
                <a:ln>
                  <a:noFill/>
                </a:ln>
                <a:solidFill>
                  <a:schemeClr val="tx1"/>
                </a:solidFill>
                <a:effectLst/>
                <a:latin typeface="Arial" panose="020B0604020202020204" pitchFamily="34" charset="0"/>
              </a:rPr>
              <a:t> (100 Continue)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2xx</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успех</a:t>
            </a:r>
            <a:r>
              <a:rPr kumimoji="0" lang="en-US" altLang="en-US" b="0" i="0" u="none" strike="noStrike" cap="none" normalizeH="0" baseline="0" dirty="0">
                <a:ln>
                  <a:noFill/>
                </a:ln>
                <a:solidFill>
                  <a:schemeClr val="tx1"/>
                </a:solidFill>
                <a:effectLst/>
                <a:latin typeface="Arial" panose="020B0604020202020204" pitchFamily="34" charset="0"/>
              </a:rPr>
              <a:t> (200 OK, 201 Created, 206 Partial Content)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3xx</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перенаправления</a:t>
            </a:r>
            <a:r>
              <a:rPr kumimoji="0" lang="en-US" altLang="en-US" b="0" i="0" u="none" strike="noStrike" cap="none" normalizeH="0" baseline="0" dirty="0">
                <a:ln>
                  <a:noFill/>
                </a:ln>
                <a:solidFill>
                  <a:schemeClr val="tx1"/>
                </a:solidFill>
                <a:effectLst/>
                <a:latin typeface="Arial" panose="020B0604020202020204" pitchFamily="34" charset="0"/>
              </a:rPr>
              <a:t> (301 Moved Permanently, 304 Not Modified)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4xx</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ошибки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клиента</a:t>
            </a:r>
            <a:r>
              <a:rPr kumimoji="0" lang="en-US" altLang="en-US" b="0" i="0" u="none" strike="noStrike" cap="none" normalizeH="0" baseline="0" dirty="0">
                <a:ln>
                  <a:noFill/>
                </a:ln>
                <a:solidFill>
                  <a:schemeClr val="tx1"/>
                </a:solidFill>
                <a:effectLst/>
                <a:latin typeface="Arial" panose="020B0604020202020204" pitchFamily="34" charset="0"/>
              </a:rPr>
              <a:t> (400 Bad Request, 404 Not Found, 429 Too Many Requests)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5xx</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ошибки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сервера</a:t>
            </a:r>
            <a:r>
              <a:rPr kumimoji="0" lang="en-US" altLang="en-US" b="0" i="0" u="none" strike="noStrike" cap="none" normalizeH="0" baseline="0" dirty="0">
                <a:ln>
                  <a:noFill/>
                </a:ln>
                <a:solidFill>
                  <a:schemeClr val="tx1"/>
                </a:solidFill>
                <a:effectLst/>
                <a:latin typeface="Arial" panose="020B0604020202020204" pitchFamily="34" charset="0"/>
              </a:rPr>
              <a:t> (500 Internal Server Error, 503 Service Unavailable)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3">
            <a:extLst>
              <a:ext uri="{FF2B5EF4-FFF2-40B4-BE49-F238E27FC236}">
                <a16:creationId xmlns:a16="http://schemas.microsoft.com/office/drawing/2014/main" id="{779BFF2B-0099-407A-9244-F4ACA2492886}"/>
              </a:ext>
            </a:extLst>
          </p:cNvPr>
          <p:cNvSpPr>
            <a:spLocks noChangeArrowheads="1"/>
          </p:cNvSpPr>
          <p:nvPr/>
        </p:nvSpPr>
        <p:spPr bwMode="auto">
          <a:xfrm>
            <a:off x="161925" y="29269"/>
            <a:ext cx="1149667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Ограничения</a:t>
            </a:r>
            <a:r>
              <a:rPr kumimoji="0" lang="en-US" altLang="en-US" b="1" i="0" u="none" strike="noStrike" cap="none" normalizeH="0" baseline="0" dirty="0">
                <a:ln>
                  <a:noFill/>
                </a:ln>
                <a:solidFill>
                  <a:schemeClr val="tx1"/>
                </a:solidFill>
                <a:effectLst/>
                <a:latin typeface="Arial" panose="020B0604020202020204" pitchFamily="34" charset="0"/>
              </a:rPr>
              <a:t> HTTP/1.1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Несмотря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прогресс</a:t>
            </a:r>
            <a:r>
              <a:rPr kumimoji="0" lang="en-US" altLang="en-US" b="0" i="0" u="none" strike="noStrike" cap="none" normalizeH="0" baseline="0" dirty="0">
                <a:ln>
                  <a:noFill/>
                </a:ln>
                <a:solidFill>
                  <a:schemeClr val="tx1"/>
                </a:solidFill>
                <a:effectLst/>
                <a:latin typeface="Arial" panose="020B0604020202020204" pitchFamily="34" charset="0"/>
              </a:rPr>
              <a:t>, HTTP/1.1 </a:t>
            </a:r>
            <a:r>
              <a:rPr kumimoji="0" lang="en-US" altLang="en-US" b="0" i="0" u="none" strike="noStrike" cap="none" normalizeH="0" baseline="0" dirty="0" err="1">
                <a:ln>
                  <a:noFill/>
                </a:ln>
                <a:solidFill>
                  <a:schemeClr val="tx1"/>
                </a:solidFill>
                <a:effectLst/>
                <a:latin typeface="Arial" panose="020B0604020202020204" pitchFamily="34" charset="0"/>
              </a:rPr>
              <a:t>имеет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проблемы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которые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привели</a:t>
            </a:r>
            <a:r>
              <a:rPr kumimoji="0" lang="en-US" altLang="en-US" b="0" i="0" u="none" strike="noStrike" cap="none" normalizeH="0" baseline="0" dirty="0">
                <a:ln>
                  <a:noFill/>
                </a:ln>
                <a:solidFill>
                  <a:schemeClr val="tx1"/>
                </a:solidFill>
                <a:effectLst/>
                <a:latin typeface="Arial" panose="020B0604020202020204" pitchFamily="34" charset="0"/>
              </a:rPr>
              <a:t> к </a:t>
            </a:r>
            <a:r>
              <a:rPr kumimoji="0" lang="en-US" altLang="en-US" b="0" i="0" u="none" strike="noStrike" cap="none" normalizeH="0" baseline="0" dirty="0" err="1">
                <a:ln>
                  <a:noFill/>
                </a:ln>
                <a:solidFill>
                  <a:schemeClr val="tx1"/>
                </a:solidFill>
                <a:effectLst/>
                <a:latin typeface="Arial" panose="020B0604020202020204" pitchFamily="34" charset="0"/>
              </a:rPr>
              <a:t>созданию</a:t>
            </a:r>
            <a:r>
              <a:rPr kumimoji="0" lang="en-US" altLang="en-US" b="0" i="0" u="none" strike="noStrike" cap="none" normalizeH="0" baseline="0" dirty="0">
                <a:ln>
                  <a:noFill/>
                </a:ln>
                <a:solidFill>
                  <a:schemeClr val="tx1"/>
                </a:solidFill>
                <a:effectLst/>
                <a:latin typeface="Arial" panose="020B0604020202020204" pitchFamily="34" charset="0"/>
              </a:rPr>
              <a:t> HTTP/2 и HTTP/3:</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b="1" i="0" u="none" strike="noStrike" cap="none" normalizeH="0" baseline="0" dirty="0">
                <a:ln>
                  <a:noFill/>
                </a:ln>
                <a:solidFill>
                  <a:schemeClr val="tx1"/>
                </a:solidFill>
                <a:effectLst/>
                <a:latin typeface="Arial" panose="020B0604020202020204" pitchFamily="34" charset="0"/>
              </a:rPr>
              <a:t>Head-of-line blocking </a:t>
            </a:r>
            <a:r>
              <a:rPr kumimoji="0" lang="en-US" altLang="en-US" b="1" i="0" u="none" strike="noStrike" cap="none" normalizeH="0" baseline="0" dirty="0" err="1">
                <a:ln>
                  <a:noFill/>
                </a:ln>
                <a:solidFill>
                  <a:schemeClr val="tx1"/>
                </a:solidFill>
                <a:effectLst/>
                <a:latin typeface="Arial" panose="020B0604020202020204" pitchFamily="34" charset="0"/>
              </a:rPr>
              <a:t>на</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уровне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соединения</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Даже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использовании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конвейеризации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ответы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должны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возвращаться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порядку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Если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один</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ответ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задерживается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например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медленный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запрос</a:t>
            </a:r>
            <a:r>
              <a:rPr kumimoji="0" lang="en-US" altLang="en-US" b="0" i="0" u="none" strike="noStrike" cap="none" normalizeH="0" baseline="0" dirty="0">
                <a:ln>
                  <a:noFill/>
                </a:ln>
                <a:solidFill>
                  <a:schemeClr val="tx1"/>
                </a:solidFill>
                <a:effectLst/>
                <a:latin typeface="Arial" panose="020B0604020202020204" pitchFamily="34" charset="0"/>
              </a:rPr>
              <a:t> к БД), </a:t>
            </a:r>
            <a:r>
              <a:rPr kumimoji="0" lang="en-US" altLang="en-US" b="0" i="0" u="none" strike="noStrike" cap="none" normalizeH="0" baseline="0" dirty="0" err="1">
                <a:ln>
                  <a:noFill/>
                </a:ln>
                <a:solidFill>
                  <a:schemeClr val="tx1"/>
                </a:solidFill>
                <a:effectLst/>
                <a:latin typeface="Arial" panose="020B0604020202020204" pitchFamily="34" charset="0"/>
              </a:rPr>
              <a:t>все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последующие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ждут</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b="1" i="0" u="none" strike="noStrike" cap="none" normalizeH="0" baseline="0" dirty="0" err="1">
                <a:ln>
                  <a:noFill/>
                </a:ln>
                <a:solidFill>
                  <a:schemeClr val="tx1"/>
                </a:solidFill>
                <a:effectLst/>
                <a:latin typeface="Arial" panose="020B0604020202020204" pitchFamily="34" charset="0"/>
              </a:rPr>
              <a:t>Ограниченное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количество</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параллельных</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соединений</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Браузеры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открывают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несколько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обычно</a:t>
            </a:r>
            <a:r>
              <a:rPr kumimoji="0" lang="en-US" altLang="en-US" b="0" i="0" u="none" strike="noStrike" cap="none" normalizeH="0" baseline="0" dirty="0">
                <a:ln>
                  <a:noFill/>
                </a:ln>
                <a:solidFill>
                  <a:schemeClr val="tx1"/>
                </a:solidFill>
                <a:effectLst/>
                <a:latin typeface="Arial" panose="020B0604020202020204" pitchFamily="34" charset="0"/>
              </a:rPr>
              <a:t> 6–8) TCP-</a:t>
            </a:r>
            <a:r>
              <a:rPr kumimoji="0" lang="en-US" altLang="en-US" b="0" i="0" u="none" strike="noStrike" cap="none" normalizeH="0" baseline="0" dirty="0" err="1">
                <a:ln>
                  <a:noFill/>
                </a:ln>
                <a:solidFill>
                  <a:schemeClr val="tx1"/>
                </a:solidFill>
                <a:effectLst/>
                <a:latin typeface="Arial" panose="020B0604020202020204" pitchFamily="34" charset="0"/>
              </a:rPr>
              <a:t>соединений</a:t>
            </a:r>
            <a:r>
              <a:rPr kumimoji="0" lang="en-US" altLang="en-US" b="0" i="0" u="none" strike="noStrike" cap="none" normalizeH="0" baseline="0" dirty="0">
                <a:ln>
                  <a:noFill/>
                </a:ln>
                <a:solidFill>
                  <a:schemeClr val="tx1"/>
                </a:solidFill>
                <a:effectLst/>
                <a:latin typeface="Arial" panose="020B0604020202020204" pitchFamily="34" charset="0"/>
              </a:rPr>
              <a:t> к </a:t>
            </a:r>
            <a:r>
              <a:rPr kumimoji="0" lang="en-US" altLang="en-US" b="0" i="0" u="none" strike="noStrike" cap="none" normalizeH="0" baseline="0" dirty="0" err="1">
                <a:ln>
                  <a:noFill/>
                </a:ln>
                <a:solidFill>
                  <a:schemeClr val="tx1"/>
                </a:solidFill>
                <a:effectLst/>
                <a:latin typeface="Arial" panose="020B0604020202020204" pitchFamily="34" charset="0"/>
              </a:rPr>
              <a:t>одному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хосту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чтобы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распараллелить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загрузку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увеличивает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нагрузку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сервер</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клиент</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b="1" i="0" u="none" strike="noStrike" cap="none" normalizeH="0" baseline="0" dirty="0" err="1">
                <a:ln>
                  <a:noFill/>
                </a:ln>
                <a:solidFill>
                  <a:schemeClr val="tx1"/>
                </a:solidFill>
                <a:effectLst/>
                <a:latin typeface="Arial" panose="020B0604020202020204" pitchFamily="34" charset="0"/>
              </a:rPr>
              <a:t>Избыточность</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заголовков</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Каждый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запрос</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передаёт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почти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одинаковый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набор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заголовков</a:t>
            </a:r>
            <a:r>
              <a:rPr kumimoji="0" lang="en-US" altLang="en-US" b="0" i="0" u="none" strike="noStrike" cap="none" normalizeH="0" baseline="0" dirty="0">
                <a:ln>
                  <a:noFill/>
                </a:ln>
                <a:solidFill>
                  <a:schemeClr val="tx1"/>
                </a:solidFill>
                <a:effectLst/>
                <a:latin typeface="Arial" panose="020B0604020202020204" pitchFamily="34" charset="0"/>
              </a:rPr>
              <a:t> (Cookie, User-Agent и </a:t>
            </a:r>
            <a:r>
              <a:rPr kumimoji="0" lang="en-US" altLang="en-US" b="0" i="0" u="none" strike="noStrike" cap="none" normalizeH="0" baseline="0" dirty="0" err="1">
                <a:ln>
                  <a:noFill/>
                </a:ln>
                <a:solidFill>
                  <a:schemeClr val="tx1"/>
                </a:solidFill>
                <a:effectLst/>
                <a:latin typeface="Arial" panose="020B0604020202020204" pitchFamily="34" charset="0"/>
              </a:rPr>
              <a:t>т.д</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потребляет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трафик</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замедляет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обработку</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b="1" i="0" u="none" strike="noStrike" cap="none" normalizeH="0" baseline="0" dirty="0" err="1">
                <a:ln>
                  <a:noFill/>
                </a:ln>
                <a:solidFill>
                  <a:schemeClr val="tx1"/>
                </a:solidFill>
                <a:effectLst/>
                <a:latin typeface="Arial" panose="020B0604020202020204" pitchFamily="34" charset="0"/>
              </a:rPr>
              <a:t>Отсутствие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приоритизации</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Нет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встроенного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механизма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указать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какой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ресурс</a:t>
            </a:r>
            <a:r>
              <a:rPr kumimoji="0" lang="en-US" altLang="en-US" b="0" i="0" u="none" strike="noStrike" cap="none" normalizeH="0" baseline="0" dirty="0">
                <a:ln>
                  <a:noFill/>
                </a:ln>
                <a:solidFill>
                  <a:schemeClr val="tx1"/>
                </a:solidFill>
                <a:effectLst/>
                <a:latin typeface="Arial" panose="020B0604020202020204" pitchFamily="34" charset="0"/>
              </a:rPr>
              <a:t> (CSS, JS, </a:t>
            </a:r>
            <a:r>
              <a:rPr kumimoji="0" lang="en-US" altLang="en-US" b="0" i="0" u="none" strike="noStrike" cap="none" normalizeH="0" baseline="0" dirty="0" err="1">
                <a:ln>
                  <a:noFill/>
                </a:ln>
                <a:solidFill>
                  <a:schemeClr val="tx1"/>
                </a:solidFill>
                <a:effectLst/>
                <a:latin typeface="Arial" panose="020B0604020202020204" pitchFamily="34" charset="0"/>
              </a:rPr>
              <a:t>картинка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загружать</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первую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очередь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Разработчикам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приходится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применять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хаки</a:t>
            </a:r>
            <a:r>
              <a:rPr kumimoji="0" lang="en-US" altLang="en-US" b="0" i="0" u="none" strike="noStrike" cap="none" normalizeH="0" baseline="0" dirty="0">
                <a:ln>
                  <a:noFill/>
                </a:ln>
                <a:solidFill>
                  <a:schemeClr val="tx1"/>
                </a:solidFill>
                <a:effectLst/>
                <a:latin typeface="Arial" panose="020B0604020202020204" pitchFamily="34" charset="0"/>
              </a:rPr>
              <a:t> (inline critical CSS, </a:t>
            </a:r>
            <a:r>
              <a:rPr kumimoji="0" lang="en-US" altLang="en-US" b="0" i="0" u="none" strike="noStrike" cap="none" normalizeH="0" baseline="0" dirty="0" err="1">
                <a:ln>
                  <a:noFill/>
                </a:ln>
                <a:solidFill>
                  <a:schemeClr val="tx1"/>
                </a:solidFill>
                <a:effectLst/>
                <a:latin typeface="Arial" panose="020B0604020202020204" pitchFamily="34" charset="0"/>
              </a:rPr>
              <a:t>сприты</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b="1" i="0" u="none" strike="noStrike" cap="none" normalizeH="0" baseline="0" dirty="0" err="1">
                <a:ln>
                  <a:noFill/>
                </a:ln>
                <a:solidFill>
                  <a:schemeClr val="tx1"/>
                </a:solidFill>
                <a:effectLst/>
                <a:latin typeface="Arial" panose="020B0604020202020204" pitchFamily="34" charset="0"/>
              </a:rPr>
              <a:t>Только</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текстовый</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протокол</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Парсинг</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заголовков</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строки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медленнее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чем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бинарный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формат</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3555533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A11C6D-CD44-4E0B-A134-448C0AD9BF68}"/>
              </a:ext>
            </a:extLst>
          </p:cNvPr>
          <p:cNvSpPr txBox="1"/>
          <p:nvPr/>
        </p:nvSpPr>
        <p:spPr>
          <a:xfrm>
            <a:off x="571499" y="140464"/>
            <a:ext cx="11306175" cy="1754326"/>
          </a:xfrm>
          <a:prstGeom prst="rect">
            <a:avLst/>
          </a:prstGeom>
          <a:noFill/>
        </p:spPr>
        <p:txBody>
          <a:bodyPr wrap="square">
            <a:spAutoFit/>
          </a:bodyPr>
          <a:lstStyle/>
          <a:p>
            <a:r>
              <a:rPr lang="ru-RU" b="1" dirty="0"/>
              <a:t>Где HTTP/1.1 используется сегодня</a:t>
            </a:r>
          </a:p>
          <a:p>
            <a:pPr>
              <a:buFont typeface="Arial" panose="020B0604020202020204" pitchFamily="34" charset="0"/>
              <a:buChar char="•"/>
            </a:pPr>
            <a:r>
              <a:rPr lang="ru-RU" b="1" dirty="0"/>
              <a:t>Веб-серверы</a:t>
            </a:r>
            <a:r>
              <a:rPr lang="ru-RU" dirty="0"/>
              <a:t> – многие по умолчанию поддерживают HTTP/1.1 и HTTP/2 параллельно.</a:t>
            </a:r>
          </a:p>
          <a:p>
            <a:pPr>
              <a:buFont typeface="Arial" panose="020B0604020202020204" pitchFamily="34" charset="0"/>
              <a:buChar char="•"/>
            </a:pPr>
            <a:r>
              <a:rPr lang="ru-RU" b="1" dirty="0"/>
              <a:t>API</a:t>
            </a:r>
            <a:r>
              <a:rPr lang="ru-RU" dirty="0"/>
              <a:t> – </a:t>
            </a:r>
            <a:r>
              <a:rPr lang="ru-RU" dirty="0" err="1"/>
              <a:t>RESTful</a:t>
            </a:r>
            <a:r>
              <a:rPr lang="ru-RU" dirty="0"/>
              <a:t> API часто работают поверх HTTP/1.1 (особенно публичные).</a:t>
            </a:r>
          </a:p>
          <a:p>
            <a:pPr>
              <a:buFont typeface="Arial" panose="020B0604020202020204" pitchFamily="34" charset="0"/>
              <a:buChar char="•"/>
            </a:pPr>
            <a:r>
              <a:rPr lang="ru-RU" b="1" dirty="0"/>
              <a:t>Прокси и кэширующие серверы</a:t>
            </a:r>
            <a:r>
              <a:rPr lang="ru-RU" dirty="0"/>
              <a:t> – HTTP/1.1 остаётся универсальным языком для промежуточных узлов.</a:t>
            </a:r>
          </a:p>
          <a:p>
            <a:pPr>
              <a:buFont typeface="Arial" panose="020B0604020202020204" pitchFamily="34" charset="0"/>
              <a:buChar char="•"/>
            </a:pPr>
            <a:r>
              <a:rPr lang="ru-RU" b="1" dirty="0"/>
              <a:t>Старые клиенты</a:t>
            </a:r>
            <a:r>
              <a:rPr lang="ru-RU" dirty="0"/>
              <a:t> – некоторые библиотеки, встроенные устройства или корпоративные системы могут поддерживать только HTTP/1.1.</a:t>
            </a:r>
          </a:p>
        </p:txBody>
      </p:sp>
      <p:pic>
        <p:nvPicPr>
          <p:cNvPr id="5" name="Рисунок 4">
            <a:extLst>
              <a:ext uri="{FF2B5EF4-FFF2-40B4-BE49-F238E27FC236}">
                <a16:creationId xmlns:a16="http://schemas.microsoft.com/office/drawing/2014/main" id="{17D8C081-55DB-4789-BB49-B4D653AD1DB7}"/>
              </a:ext>
            </a:extLst>
          </p:cNvPr>
          <p:cNvPicPr>
            <a:picLocks noChangeAspect="1"/>
          </p:cNvPicPr>
          <p:nvPr/>
        </p:nvPicPr>
        <p:blipFill>
          <a:blip r:embed="rId2"/>
          <a:stretch>
            <a:fillRect/>
          </a:stretch>
        </p:blipFill>
        <p:spPr>
          <a:xfrm>
            <a:off x="1109005" y="2028507"/>
            <a:ext cx="9421540" cy="4553585"/>
          </a:xfrm>
          <a:prstGeom prst="rect">
            <a:avLst/>
          </a:prstGeom>
        </p:spPr>
      </p:pic>
    </p:spTree>
    <p:extLst>
      <p:ext uri="{BB962C8B-B14F-4D97-AF65-F5344CB8AC3E}">
        <p14:creationId xmlns:p14="http://schemas.microsoft.com/office/powerpoint/2010/main" val="98057557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2987F1-CC5A-4BB1-B0CA-0EF268C4FEA2}"/>
              </a:ext>
            </a:extLst>
          </p:cNvPr>
          <p:cNvSpPr>
            <a:spLocks noChangeArrowheads="1"/>
          </p:cNvSpPr>
          <p:nvPr/>
        </p:nvSpPr>
        <p:spPr bwMode="auto">
          <a:xfrm>
            <a:off x="361950" y="38100"/>
            <a:ext cx="114681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HTTP 2.0</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1. </a:t>
            </a:r>
            <a:r>
              <a:rPr kumimoji="0" lang="en-US" altLang="en-US" sz="2000" b="1" i="0" u="none" strike="noStrike" cap="none" normalizeH="0" baseline="0" dirty="0" err="1">
                <a:ln>
                  <a:noFill/>
                </a:ln>
                <a:solidFill>
                  <a:schemeClr val="tx1"/>
                </a:solidFill>
                <a:effectLst/>
                <a:latin typeface="Arial" panose="020B0604020202020204" pitchFamily="34" charset="0"/>
              </a:rPr>
              <a:t>Бинарный</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протокол</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вместо</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текстового</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В HTTP/1.1 </a:t>
            </a:r>
            <a:r>
              <a:rPr kumimoji="0" lang="en-US" altLang="en-US" sz="2000" b="0" i="0" u="none" strike="noStrike" cap="none" normalizeH="0" baseline="0" dirty="0" err="1">
                <a:ln>
                  <a:noFill/>
                </a:ln>
                <a:solidFill>
                  <a:schemeClr val="tx1"/>
                </a:solidFill>
                <a:effectLst/>
                <a:latin typeface="Arial" panose="020B0604020202020204" pitchFamily="34" charset="0"/>
              </a:rPr>
              <a:t>запросы</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ответы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передавались</a:t>
            </a:r>
            <a:r>
              <a:rPr kumimoji="0" lang="en-US" altLang="en-US" sz="2000" b="0" i="0" u="none" strike="noStrike" cap="none" normalizeH="0" baseline="0" dirty="0">
                <a:ln>
                  <a:noFill/>
                </a:ln>
                <a:solidFill>
                  <a:schemeClr val="tx1"/>
                </a:solidFill>
                <a:effectLst/>
                <a:latin typeface="Arial" panose="020B0604020202020204" pitchFamily="34" charset="0"/>
              </a:rPr>
              <a:t> в </a:t>
            </a:r>
            <a:r>
              <a:rPr kumimoji="0" lang="en-US" altLang="en-US" sz="2000" b="0" i="0" u="none" strike="noStrike" cap="none" normalizeH="0" baseline="0" dirty="0" err="1">
                <a:ln>
                  <a:noFill/>
                </a:ln>
                <a:solidFill>
                  <a:schemeClr val="tx1"/>
                </a:solidFill>
                <a:effectLst/>
                <a:latin typeface="Arial" panose="020B0604020202020204" pitchFamily="34" charset="0"/>
              </a:rPr>
              <a:t>текстовом</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виде</a:t>
            </a:r>
            <a:r>
              <a:rPr kumimoji="0" lang="en-US" altLang="en-US" sz="2000" b="0" i="0" u="none" strike="noStrike" cap="none" normalizeH="0" baseline="0" dirty="0">
                <a:ln>
                  <a:noFill/>
                </a:ln>
                <a:solidFill>
                  <a:schemeClr val="tx1"/>
                </a:solidFill>
                <a:effectLst/>
                <a:latin typeface="Arial" panose="020B0604020202020204" pitchFamily="34" charset="0"/>
              </a:rPr>
              <a:t> (ASCII). HTTP/2 </a:t>
            </a:r>
            <a:r>
              <a:rPr kumimoji="0" lang="en-US" altLang="en-US" sz="2000" b="0" i="0" u="none" strike="noStrike" cap="none" normalizeH="0" baseline="0" dirty="0" err="1">
                <a:ln>
                  <a:noFill/>
                </a:ln>
                <a:solidFill>
                  <a:schemeClr val="tx1"/>
                </a:solidFill>
                <a:effectLst/>
                <a:latin typeface="Arial" panose="020B0604020202020204" pitchFamily="34" charset="0"/>
              </a:rPr>
              <a:t>использует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бинарный</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формат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фреймов</a:t>
            </a:r>
            <a:r>
              <a:rPr kumimoji="0" lang="en-US" altLang="en-US" sz="2000" b="0" i="0" u="none" strike="noStrike" cap="none" normalizeH="0" baseline="0" dirty="0">
                <a:ln>
                  <a:noFill/>
                </a:ln>
                <a:solidFill>
                  <a:schemeClr val="tx1"/>
                </a:solidFill>
                <a:effectLst/>
                <a:latin typeface="Arial" panose="020B0604020202020204" pitchFamily="34" charset="0"/>
              </a:rPr>
              <a:t> (frames). </a:t>
            </a:r>
            <a:r>
              <a:rPr kumimoji="0" lang="en-US" altLang="en-US" sz="2000" b="0" i="0" u="none" strike="noStrike" cap="none" normalizeH="0" baseline="0" dirty="0" err="1">
                <a:ln>
                  <a:noFill/>
                </a:ln>
                <a:solidFill>
                  <a:schemeClr val="tx1"/>
                </a:solidFill>
                <a:effectLst/>
                <a:latin typeface="Arial" panose="020B0604020202020204" pitchFamily="34" charset="0"/>
              </a:rPr>
              <a:t>Это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упрощает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парсинг</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уменьшает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вероятность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ошибок</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позволяет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более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эффективно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использовать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соединение</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
        <p:nvSpPr>
          <p:cNvPr id="4" name="Rectangle 3">
            <a:extLst>
              <a:ext uri="{FF2B5EF4-FFF2-40B4-BE49-F238E27FC236}">
                <a16:creationId xmlns:a16="http://schemas.microsoft.com/office/drawing/2014/main" id="{DD734797-C0EA-4DCF-9112-03E537044AF2}"/>
              </a:ext>
            </a:extLst>
          </p:cNvPr>
          <p:cNvSpPr>
            <a:spLocks noChangeArrowheads="1"/>
          </p:cNvSpPr>
          <p:nvPr/>
        </p:nvSpPr>
        <p:spPr bwMode="auto">
          <a:xfrm>
            <a:off x="447674" y="1932641"/>
            <a:ext cx="10229850" cy="2385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2. </a:t>
            </a:r>
            <a:r>
              <a:rPr kumimoji="0" lang="en-US" altLang="en-US" sz="2000" b="1" i="0" u="none" strike="noStrike" cap="none" normalizeH="0" baseline="0" dirty="0" err="1">
                <a:ln>
                  <a:noFill/>
                </a:ln>
                <a:solidFill>
                  <a:schemeClr val="tx1"/>
                </a:solidFill>
                <a:effectLst/>
                <a:latin typeface="Arial" panose="020B0604020202020204" pitchFamily="34" charset="0"/>
              </a:rPr>
              <a:t>Мультиплексирование</a:t>
            </a:r>
            <a:r>
              <a:rPr kumimoji="0" lang="en-US" altLang="en-US" sz="2000" b="1" i="0" u="none" strike="noStrike" cap="none" normalizeH="0" baseline="0" dirty="0">
                <a:ln>
                  <a:noFill/>
                </a:ln>
                <a:solidFill>
                  <a:schemeClr val="tx1"/>
                </a:solidFill>
                <a:effectLst/>
                <a:latin typeface="Arial" panose="020B0604020202020204" pitchFamily="34" charset="0"/>
              </a:rPr>
              <a:t> (Multiplexing)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В HTTP/1.1 </a:t>
            </a:r>
            <a:r>
              <a:rPr kumimoji="0" lang="en-US" altLang="en-US" sz="2000" b="0" i="0" u="none" strike="noStrike" cap="none" normalizeH="0" baseline="0" dirty="0" err="1">
                <a:ln>
                  <a:noFill/>
                </a:ln>
                <a:solidFill>
                  <a:schemeClr val="tx1"/>
                </a:solidFill>
                <a:effectLst/>
                <a:latin typeface="Arial" panose="020B0604020202020204" pitchFamily="34" charset="0"/>
              </a:rPr>
              <a:t>для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параллельной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загрузки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ресурсов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приходилось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открывать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несколько</a:t>
            </a:r>
            <a:r>
              <a:rPr kumimoji="0" lang="en-US" altLang="en-US" sz="2000" b="0" i="0" u="none" strike="noStrike" cap="none" normalizeH="0" baseline="0" dirty="0">
                <a:ln>
                  <a:noFill/>
                </a:ln>
                <a:solidFill>
                  <a:schemeClr val="tx1"/>
                </a:solidFill>
                <a:effectLst/>
                <a:latin typeface="Arial" panose="020B0604020202020204" pitchFamily="34" charset="0"/>
              </a:rPr>
              <a:t> TCP-</a:t>
            </a:r>
            <a:r>
              <a:rPr kumimoji="0" lang="en-US" altLang="en-US" sz="2000" b="0" i="0" u="none" strike="noStrike" cap="none" normalizeH="0" baseline="0" dirty="0" err="1">
                <a:ln>
                  <a:noFill/>
                </a:ln>
                <a:solidFill>
                  <a:schemeClr val="tx1"/>
                </a:solidFill>
                <a:effectLst/>
                <a:latin typeface="Arial" panose="020B0604020202020204" pitchFamily="34" charset="0"/>
              </a:rPr>
              <a:t>соединений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обычно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до</a:t>
            </a:r>
            <a:r>
              <a:rPr kumimoji="0" lang="en-US" altLang="en-US" sz="2000" b="0" i="0" u="none" strike="noStrike" cap="none" normalizeH="0" baseline="0" dirty="0">
                <a:ln>
                  <a:noFill/>
                </a:ln>
                <a:solidFill>
                  <a:schemeClr val="tx1"/>
                </a:solidFill>
                <a:effectLst/>
                <a:latin typeface="Arial" panose="020B0604020202020204" pitchFamily="34" charset="0"/>
              </a:rPr>
              <a:t> 6–8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домен</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Это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порождало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проблему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head‑of‑line blocking</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уровне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запросов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один</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медленный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запрос</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блокировал</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очередь</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HTTP/2 </a:t>
            </a:r>
            <a:r>
              <a:rPr kumimoji="0" lang="en-US" altLang="en-US" sz="2000" b="0" i="0" u="none" strike="noStrike" cap="none" normalizeH="0" baseline="0" dirty="0" err="1">
                <a:ln>
                  <a:noFill/>
                </a:ln>
                <a:solidFill>
                  <a:schemeClr val="tx1"/>
                </a:solidFill>
                <a:effectLst/>
                <a:latin typeface="Arial" panose="020B0604020202020204" pitchFamily="34" charset="0"/>
              </a:rPr>
              <a:t>позволяет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передавать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множество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потоков</a:t>
            </a:r>
            <a:r>
              <a:rPr kumimoji="0" lang="en-US" altLang="en-US" sz="2000" b="1" i="0" u="none" strike="noStrike" cap="none" normalizeH="0" baseline="0" dirty="0">
                <a:ln>
                  <a:noFill/>
                </a:ln>
                <a:solidFill>
                  <a:schemeClr val="tx1"/>
                </a:solidFill>
                <a:effectLst/>
                <a:latin typeface="Arial" panose="020B0604020202020204" pitchFamily="34" charset="0"/>
              </a:rPr>
              <a:t> (streams)</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одновременно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через</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одно</a:t>
            </a:r>
            <a:r>
              <a:rPr kumimoji="0" lang="en-US" altLang="en-US" sz="2000" b="0" i="0" u="none" strike="noStrike" cap="none" normalizeH="0" baseline="0" dirty="0">
                <a:ln>
                  <a:noFill/>
                </a:ln>
                <a:solidFill>
                  <a:schemeClr val="tx1"/>
                </a:solidFill>
                <a:effectLst/>
                <a:latin typeface="Arial" panose="020B0604020202020204" pitchFamily="34" charset="0"/>
              </a:rPr>
              <a:t> TCP-</a:t>
            </a:r>
            <a:r>
              <a:rPr kumimoji="0" lang="en-US" altLang="en-US" sz="2000" b="0" i="0" u="none" strike="noStrike" cap="none" normalizeH="0" baseline="0" dirty="0" err="1">
                <a:ln>
                  <a:noFill/>
                </a:ln>
                <a:solidFill>
                  <a:schemeClr val="tx1"/>
                </a:solidFill>
                <a:effectLst/>
                <a:latin typeface="Arial" panose="020B0604020202020204" pitchFamily="34" charset="0"/>
              </a:rPr>
              <a:t>соединение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мультиплексируются</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данные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из</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разных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могут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перемежаться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Блокировка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уровне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запросов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исчезает</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
        <p:nvSpPr>
          <p:cNvPr id="6" name="TextBox 5">
            <a:extLst>
              <a:ext uri="{FF2B5EF4-FFF2-40B4-BE49-F238E27FC236}">
                <a16:creationId xmlns:a16="http://schemas.microsoft.com/office/drawing/2014/main" id="{937E55D9-AAC2-4A8F-AD7B-D308BA9D1055}"/>
              </a:ext>
            </a:extLst>
          </p:cNvPr>
          <p:cNvSpPr txBox="1"/>
          <p:nvPr/>
        </p:nvSpPr>
        <p:spPr>
          <a:xfrm>
            <a:off x="447674" y="4600995"/>
            <a:ext cx="10925175" cy="1938992"/>
          </a:xfrm>
          <a:prstGeom prst="rect">
            <a:avLst/>
          </a:prstGeom>
          <a:noFill/>
        </p:spPr>
        <p:txBody>
          <a:bodyPr wrap="square">
            <a:spAutoFit/>
          </a:bodyPr>
          <a:lstStyle/>
          <a:p>
            <a:r>
              <a:rPr lang="ru-RU" sz="2000" b="1" dirty="0"/>
              <a:t>3. Сжатие заголовков (HPACK)</a:t>
            </a:r>
          </a:p>
          <a:p>
            <a:r>
              <a:rPr lang="ru-RU" sz="2000" dirty="0"/>
              <a:t>Заголовки HTTP в HTTP/1.1 передавались без сжатия, что приводило к большому избыточному трафику (особенно с учётом </a:t>
            </a:r>
            <a:r>
              <a:rPr lang="ru-RU" sz="2000" dirty="0" err="1"/>
              <a:t>кук</a:t>
            </a:r>
            <a:r>
              <a:rPr lang="ru-RU" sz="2000" dirty="0"/>
              <a:t> и </a:t>
            </a:r>
            <a:r>
              <a:rPr lang="ru-RU" sz="2000" dirty="0" err="1"/>
              <a:t>user-agent</a:t>
            </a:r>
            <a:r>
              <a:rPr lang="ru-RU" sz="2000" dirty="0"/>
              <a:t>). В HTTP/2 используется алгоритм </a:t>
            </a:r>
            <a:r>
              <a:rPr lang="ru-RU" sz="2000" b="1" dirty="0"/>
              <a:t>HPACK</a:t>
            </a:r>
            <a:r>
              <a:rPr lang="ru-RU" sz="2000" dirty="0"/>
              <a:t>, который:</a:t>
            </a:r>
          </a:p>
          <a:p>
            <a:pPr>
              <a:buFont typeface="Arial" panose="020B0604020202020204" pitchFamily="34" charset="0"/>
              <a:buChar char="•"/>
            </a:pPr>
            <a:r>
              <a:rPr lang="ru-RU" sz="2000" dirty="0"/>
              <a:t>сжимает заголовки,</a:t>
            </a:r>
          </a:p>
          <a:p>
            <a:pPr>
              <a:buFont typeface="Arial" panose="020B0604020202020204" pitchFamily="34" charset="0"/>
              <a:buChar char="•"/>
            </a:pPr>
            <a:r>
              <a:rPr lang="ru-RU" sz="2000" dirty="0"/>
              <a:t>избегает уязвимостей CRIME (в отличие от более раннего сжатия SPDY),</a:t>
            </a:r>
          </a:p>
          <a:p>
            <a:pPr>
              <a:buFont typeface="Arial" panose="020B0604020202020204" pitchFamily="34" charset="0"/>
              <a:buChar char="•"/>
            </a:pPr>
            <a:r>
              <a:rPr lang="ru-RU" sz="2000" dirty="0"/>
              <a:t>поддерживает динамическое обновление таблиц заголовков на стороне клиента и сервера.</a:t>
            </a:r>
          </a:p>
        </p:txBody>
      </p:sp>
    </p:spTree>
    <p:extLst>
      <p:ext uri="{BB962C8B-B14F-4D97-AF65-F5344CB8AC3E}">
        <p14:creationId xmlns:p14="http://schemas.microsoft.com/office/powerpoint/2010/main" val="46680564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52C2E2-0BD2-472E-B37C-D8C1F247DCC3}"/>
              </a:ext>
            </a:extLst>
          </p:cNvPr>
          <p:cNvSpPr>
            <a:spLocks noChangeArrowheads="1"/>
          </p:cNvSpPr>
          <p:nvPr/>
        </p:nvSpPr>
        <p:spPr bwMode="auto">
          <a:xfrm>
            <a:off x="266700" y="56287"/>
            <a:ext cx="11125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4. Server Push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Сервер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может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отправить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клиенту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ресурсы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которые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ещё</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явно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запросил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вероятно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запросит</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ближайшее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время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например</a:t>
            </a:r>
            <a:r>
              <a:rPr kumimoji="0" lang="en-US" altLang="en-US" b="0" i="0" u="none" strike="noStrike" cap="none" normalizeH="0" baseline="0" dirty="0">
                <a:ln>
                  <a:noFill/>
                </a:ln>
                <a:solidFill>
                  <a:schemeClr val="tx1"/>
                </a:solidFill>
                <a:effectLst/>
                <a:latin typeface="Arial" panose="020B0604020202020204" pitchFamily="34" charset="0"/>
              </a:rPr>
              <a:t>, CSS, JS, </a:t>
            </a:r>
            <a:r>
              <a:rPr kumimoji="0" lang="en-US" altLang="en-US" b="0" i="0" u="none" strike="noStrike" cap="none" normalizeH="0" baseline="0" dirty="0" err="1">
                <a:ln>
                  <a:noFill/>
                </a:ln>
                <a:solidFill>
                  <a:schemeClr val="tx1"/>
                </a:solidFill>
                <a:effectLst/>
                <a:latin typeface="Arial" panose="020B0604020202020204" pitchFamily="34" charset="0"/>
              </a:rPr>
              <a:t>изображения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позволяет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сократить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количество</a:t>
            </a:r>
            <a:r>
              <a:rPr kumimoji="0" lang="en-US" altLang="en-US" b="0" i="0" u="none" strike="noStrike" cap="none" normalizeH="0" baseline="0" dirty="0">
                <a:ln>
                  <a:noFill/>
                </a:ln>
                <a:solidFill>
                  <a:schemeClr val="tx1"/>
                </a:solidFill>
                <a:effectLst/>
                <a:latin typeface="Arial" panose="020B0604020202020204" pitchFamily="34" charset="0"/>
              </a:rPr>
              <a:t> (RTT)</a:t>
            </a:r>
            <a:r>
              <a:rPr kumimoji="0" lang="ru-RU" altLang="en-US" b="0" i="0" u="none" strike="noStrike" cap="none" normalizeH="0" baseline="0" dirty="0">
                <a:ln>
                  <a:noFill/>
                </a:ln>
                <a:solidFill>
                  <a:schemeClr val="tx1"/>
                </a:solidFill>
                <a:effectLst/>
                <a:latin typeface="Arial" panose="020B0604020202020204" pitchFamily="34" charset="0"/>
              </a:rPr>
              <a:t> </a:t>
            </a:r>
            <a:r>
              <a:rPr lang="ru-RU" dirty="0"/>
              <a:t>«время приема-передачи» (</a:t>
            </a:r>
            <a:r>
              <a:rPr lang="ru-RU" b="1" dirty="0" err="1"/>
              <a:t>Round</a:t>
            </a:r>
            <a:r>
              <a:rPr lang="ru-RU" dirty="0"/>
              <a:t> </a:t>
            </a:r>
            <a:r>
              <a:rPr lang="ru-RU" b="1" dirty="0" err="1"/>
              <a:t>Trip</a:t>
            </a:r>
            <a:r>
              <a:rPr lang="ru-RU" dirty="0"/>
              <a:t> </a:t>
            </a:r>
            <a:r>
              <a:rPr lang="ru-RU" b="1" dirty="0" err="1"/>
              <a:t>Time</a:t>
            </a:r>
            <a:r>
              <a:rPr lang="ru-RU" dirty="0"/>
              <a:t>, </a:t>
            </a:r>
            <a:r>
              <a:rPr lang="ru-RU" b="1" dirty="0"/>
              <a:t>RTT</a:t>
            </a:r>
            <a:r>
              <a:rPr lang="ru-RU" dirty="0"/>
              <a:t>)</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ускорить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загрузку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страницы</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практике</a:t>
            </a:r>
            <a:r>
              <a:rPr kumimoji="0" lang="en-US" altLang="en-US" b="0" i="0" u="none" strike="noStrike" cap="none" normalizeH="0" baseline="0" dirty="0">
                <a:ln>
                  <a:noFill/>
                </a:ln>
                <a:solidFill>
                  <a:schemeClr val="tx1"/>
                </a:solidFill>
                <a:effectLst/>
                <a:latin typeface="Arial" panose="020B0604020202020204" pitchFamily="34" charset="0"/>
              </a:rPr>
              <a:t> server push </a:t>
            </a:r>
            <a:r>
              <a:rPr kumimoji="0" lang="en-US" altLang="en-US" b="0" i="0" u="none" strike="noStrike" cap="none" normalizeH="0" baseline="0" dirty="0" err="1">
                <a:ln>
                  <a:noFill/>
                </a:ln>
                <a:solidFill>
                  <a:schemeClr val="tx1"/>
                </a:solidFill>
                <a:effectLst/>
                <a:latin typeface="Arial" panose="020B0604020202020204" pitchFamily="34" charset="0"/>
              </a:rPr>
              <a:t>оказался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сложным</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эффективном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использовании</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часто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заменяется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более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предсказуемыми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методами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например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preload</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103 Early Hints</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62B7F9D3-3E1C-4047-A95D-BF4A9B5773D1}"/>
              </a:ext>
            </a:extLst>
          </p:cNvPr>
          <p:cNvSpPr txBox="1"/>
          <p:nvPr/>
        </p:nvSpPr>
        <p:spPr>
          <a:xfrm>
            <a:off x="390524" y="2066061"/>
            <a:ext cx="11001375" cy="1200329"/>
          </a:xfrm>
          <a:prstGeom prst="rect">
            <a:avLst/>
          </a:prstGeom>
          <a:noFill/>
        </p:spPr>
        <p:txBody>
          <a:bodyPr wrap="square">
            <a:spAutoFit/>
          </a:bodyPr>
          <a:lstStyle/>
          <a:p>
            <a:r>
              <a:rPr lang="ru-RU" b="1" dirty="0"/>
              <a:t>5. </a:t>
            </a:r>
            <a:r>
              <a:rPr lang="ru-RU" b="1" dirty="0" err="1"/>
              <a:t>Приоритизация</a:t>
            </a:r>
            <a:r>
              <a:rPr lang="ru-RU" b="1" dirty="0"/>
              <a:t> потоков</a:t>
            </a:r>
          </a:p>
          <a:p>
            <a:r>
              <a:rPr lang="ru-RU" dirty="0"/>
              <a:t>Клиент может указывать приоритеты для каждого потока (зависимости и веса). Браузер может сначала загружать критические ресурсы (CSS, шрифты), а менее важные (аналитика, изображения ниже сгиба) передавать с более низким приоритетом.</a:t>
            </a:r>
          </a:p>
        </p:txBody>
      </p:sp>
      <p:sp>
        <p:nvSpPr>
          <p:cNvPr id="6" name="TextBox 5">
            <a:extLst>
              <a:ext uri="{FF2B5EF4-FFF2-40B4-BE49-F238E27FC236}">
                <a16:creationId xmlns:a16="http://schemas.microsoft.com/office/drawing/2014/main" id="{B313D7C6-C66A-4566-90BB-C45478EBFE61}"/>
              </a:ext>
            </a:extLst>
          </p:cNvPr>
          <p:cNvSpPr txBox="1"/>
          <p:nvPr/>
        </p:nvSpPr>
        <p:spPr>
          <a:xfrm>
            <a:off x="571499" y="3675787"/>
            <a:ext cx="10887075" cy="1200329"/>
          </a:xfrm>
          <a:prstGeom prst="rect">
            <a:avLst/>
          </a:prstGeom>
          <a:noFill/>
        </p:spPr>
        <p:txBody>
          <a:bodyPr wrap="square">
            <a:spAutoFit/>
          </a:bodyPr>
          <a:lstStyle/>
          <a:p>
            <a:r>
              <a:rPr lang="ru-RU" b="1" dirty="0"/>
              <a:t>6. Обязательное шифрование (</a:t>
            </a:r>
            <a:r>
              <a:rPr lang="ru-RU" b="1" dirty="0" err="1"/>
              <a:t>de</a:t>
            </a:r>
            <a:r>
              <a:rPr lang="ru-RU" b="1" dirty="0"/>
              <a:t> </a:t>
            </a:r>
            <a:r>
              <a:rPr lang="ru-RU" b="1" dirty="0" err="1"/>
              <a:t>facto</a:t>
            </a:r>
            <a:r>
              <a:rPr lang="ru-RU" b="1" dirty="0"/>
              <a:t>)</a:t>
            </a:r>
          </a:p>
          <a:p>
            <a:r>
              <a:rPr lang="ru-RU" dirty="0"/>
              <a:t>Спецификация HTTP/2 не требует TLS, однако все современные браузеры (</a:t>
            </a:r>
            <a:r>
              <a:rPr lang="ru-RU" dirty="0" err="1"/>
              <a:t>Chrome</a:t>
            </a:r>
            <a:r>
              <a:rPr lang="ru-RU" dirty="0"/>
              <a:t>, </a:t>
            </a:r>
            <a:r>
              <a:rPr lang="ru-RU" dirty="0" err="1"/>
              <a:t>Firefox</a:t>
            </a:r>
            <a:r>
              <a:rPr lang="ru-RU" dirty="0"/>
              <a:t>, </a:t>
            </a:r>
            <a:r>
              <a:rPr lang="ru-RU" dirty="0" err="1"/>
              <a:t>Safari</a:t>
            </a:r>
            <a:r>
              <a:rPr lang="ru-RU" dirty="0"/>
              <a:t>, </a:t>
            </a:r>
            <a:r>
              <a:rPr lang="ru-RU" dirty="0" err="1"/>
              <a:t>Edge</a:t>
            </a:r>
            <a:r>
              <a:rPr lang="ru-RU" dirty="0"/>
              <a:t>) поддерживают HTTP/2 </a:t>
            </a:r>
            <a:r>
              <a:rPr lang="ru-RU" b="1" dirty="0"/>
              <a:t>только поверх HTTPS</a:t>
            </a:r>
            <a:r>
              <a:rPr lang="ru-RU" dirty="0"/>
              <a:t>. Поэтому в реальном мире HTTP/2 практически всегда работает через TLS.</a:t>
            </a:r>
          </a:p>
        </p:txBody>
      </p:sp>
    </p:spTree>
    <p:extLst>
      <p:ext uri="{BB962C8B-B14F-4D97-AF65-F5344CB8AC3E}">
        <p14:creationId xmlns:p14="http://schemas.microsoft.com/office/powerpoint/2010/main" val="39442789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F4271479-D363-4293-964A-AF5E292E74D9}"/>
              </a:ext>
            </a:extLst>
          </p:cNvPr>
          <p:cNvPicPr>
            <a:picLocks noChangeAspect="1"/>
          </p:cNvPicPr>
          <p:nvPr/>
        </p:nvPicPr>
        <p:blipFill>
          <a:blip r:embed="rId2"/>
          <a:stretch>
            <a:fillRect/>
          </a:stretch>
        </p:blipFill>
        <p:spPr>
          <a:xfrm>
            <a:off x="775631" y="628313"/>
            <a:ext cx="10312222" cy="5286712"/>
          </a:xfrm>
          <a:prstGeom prst="rect">
            <a:avLst/>
          </a:prstGeom>
        </p:spPr>
      </p:pic>
    </p:spTree>
    <p:extLst>
      <p:ext uri="{BB962C8B-B14F-4D97-AF65-F5344CB8AC3E}">
        <p14:creationId xmlns:p14="http://schemas.microsoft.com/office/powerpoint/2010/main" val="38067670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C790B0-DD16-47EA-B664-FF4E4DEC4915}"/>
              </a:ext>
            </a:extLst>
          </p:cNvPr>
          <p:cNvSpPr txBox="1"/>
          <p:nvPr/>
        </p:nvSpPr>
        <p:spPr>
          <a:xfrm>
            <a:off x="447674" y="263515"/>
            <a:ext cx="11306175" cy="2031325"/>
          </a:xfrm>
          <a:prstGeom prst="rect">
            <a:avLst/>
          </a:prstGeom>
          <a:noFill/>
        </p:spPr>
        <p:txBody>
          <a:bodyPr wrap="square">
            <a:spAutoFit/>
          </a:bodyPr>
          <a:lstStyle/>
          <a:p>
            <a:r>
              <a:rPr lang="ru-RU" b="1" dirty="0"/>
              <a:t>Влияние на веб-оптимизацию</a:t>
            </a:r>
          </a:p>
          <a:p>
            <a:r>
              <a:rPr lang="ru-RU" dirty="0"/>
              <a:t>С приходом HTTP/2 многие приёмы оптимизации для HTTP/1.1 стали менее актуальны или даже вредны:</a:t>
            </a:r>
          </a:p>
          <a:p>
            <a:pPr>
              <a:buFont typeface="Arial" panose="020B0604020202020204" pitchFamily="34" charset="0"/>
              <a:buChar char="•"/>
            </a:pPr>
            <a:r>
              <a:rPr lang="ru-RU" b="1" dirty="0"/>
              <a:t>Конкатенация файлов</a:t>
            </a:r>
            <a:r>
              <a:rPr lang="ru-RU" dirty="0"/>
              <a:t> (объединение CSS/JS) может ухудшать кэширование.</a:t>
            </a:r>
          </a:p>
          <a:p>
            <a:pPr>
              <a:buFont typeface="Arial" panose="020B0604020202020204" pitchFamily="34" charset="0"/>
              <a:buChar char="•"/>
            </a:pPr>
            <a:r>
              <a:rPr lang="ru-RU" b="1" dirty="0" err="1"/>
              <a:t>Spriting</a:t>
            </a:r>
            <a:r>
              <a:rPr lang="ru-RU" dirty="0"/>
              <a:t> (сборка иконок в один спрайт) теряет смысл — мультиплексирование позволяет эффективно загружать множество мелких изображений.</a:t>
            </a:r>
          </a:p>
          <a:p>
            <a:pPr>
              <a:buFont typeface="Arial" panose="020B0604020202020204" pitchFamily="34" charset="0"/>
              <a:buChar char="•"/>
            </a:pPr>
            <a:r>
              <a:rPr lang="ru-RU" b="1" dirty="0" err="1"/>
              <a:t>Domain</a:t>
            </a:r>
            <a:r>
              <a:rPr lang="ru-RU" b="1" dirty="0"/>
              <a:t> </a:t>
            </a:r>
            <a:r>
              <a:rPr lang="ru-RU" b="1" dirty="0" err="1"/>
              <a:t>sharding</a:t>
            </a:r>
            <a:r>
              <a:rPr lang="ru-RU" dirty="0"/>
              <a:t> (разнесение ресурсов по разным доменам для увеличения числа параллельных соединений) больше не нужен и даже вредит из-за дополнительных TLS‑рукопожатий.</a:t>
            </a:r>
          </a:p>
        </p:txBody>
      </p:sp>
      <p:sp>
        <p:nvSpPr>
          <p:cNvPr id="4" name="Rectangle 1">
            <a:extLst>
              <a:ext uri="{FF2B5EF4-FFF2-40B4-BE49-F238E27FC236}">
                <a16:creationId xmlns:a16="http://schemas.microsoft.com/office/drawing/2014/main" id="{552FB9EA-F958-495D-A877-DD7FF1EF5271}"/>
              </a:ext>
            </a:extLst>
          </p:cNvPr>
          <p:cNvSpPr>
            <a:spLocks noChangeArrowheads="1"/>
          </p:cNvSpPr>
          <p:nvPr/>
        </p:nvSpPr>
        <p:spPr bwMode="auto">
          <a:xfrm>
            <a:off x="619125" y="2407801"/>
            <a:ext cx="9982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Как</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включить</a:t>
            </a:r>
            <a:r>
              <a:rPr kumimoji="0" lang="en-US" altLang="en-US" b="1" i="0" u="none" strike="noStrike" cap="none" normalizeH="0" baseline="0" dirty="0">
                <a:ln>
                  <a:noFill/>
                </a:ln>
                <a:solidFill>
                  <a:schemeClr val="tx1"/>
                </a:solidFill>
                <a:effectLst/>
                <a:latin typeface="Arial" panose="020B0604020202020204" pitchFamily="34" charset="0"/>
              </a:rPr>
              <a:t> HTTP/2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Nginx</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начиная</a:t>
            </a:r>
            <a:r>
              <a:rPr kumimoji="0" lang="en-US" altLang="en-US" b="0" i="0" u="none" strike="noStrike" cap="none" normalizeH="0" baseline="0" dirty="0">
                <a:ln>
                  <a:noFill/>
                </a:ln>
                <a:solidFill>
                  <a:schemeClr val="tx1"/>
                </a:solidFill>
                <a:effectLst/>
                <a:latin typeface="Arial" panose="020B0604020202020204" pitchFamily="34" charset="0"/>
              </a:rPr>
              <a:t> с </a:t>
            </a:r>
            <a:r>
              <a:rPr kumimoji="0" lang="en-US" altLang="en-US" b="0" i="0" u="none" strike="noStrike" cap="none" normalizeH="0" baseline="0" dirty="0" err="1">
                <a:ln>
                  <a:noFill/>
                </a:ln>
                <a:solidFill>
                  <a:schemeClr val="tx1"/>
                </a:solidFill>
                <a:effectLst/>
                <a:latin typeface="Arial" panose="020B0604020202020204" pitchFamily="34" charset="0"/>
              </a:rPr>
              <a:t>версии</a:t>
            </a:r>
            <a:r>
              <a:rPr kumimoji="0" lang="en-US" altLang="en-US" b="0" i="0" u="none" strike="noStrike" cap="none" normalizeH="0" baseline="0" dirty="0">
                <a:ln>
                  <a:noFill/>
                </a:ln>
                <a:solidFill>
                  <a:schemeClr val="tx1"/>
                </a:solidFill>
                <a:effectLst/>
                <a:latin typeface="Arial" panose="020B0604020202020204" pitchFamily="34" charset="0"/>
              </a:rPr>
              <a:t> 1.9.5, </a:t>
            </a:r>
            <a:r>
              <a:rPr kumimoji="0" lang="en-US" altLang="en-US" b="0" i="0" u="none" strike="noStrike" cap="none" normalizeH="0" baseline="0" dirty="0" err="1">
                <a:ln>
                  <a:noFill/>
                </a:ln>
                <a:solidFill>
                  <a:schemeClr val="tx1"/>
                </a:solidFill>
                <a:effectLst/>
                <a:latin typeface="Arial" panose="020B0604020202020204" pitchFamily="34" charset="0"/>
              </a:rPr>
              <a:t>достаточно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добавить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http2</a:t>
            </a:r>
            <a:r>
              <a:rPr kumimoji="0" lang="en-US" altLang="en-US" b="0" i="0" u="none" strike="noStrike" cap="none" normalizeH="0" baseline="0" dirty="0">
                <a:ln>
                  <a:noFill/>
                </a:ln>
                <a:solidFill>
                  <a:schemeClr val="tx1"/>
                </a:solidFill>
                <a:effectLst/>
              </a:rPr>
              <a:t> в </a:t>
            </a:r>
            <a:r>
              <a:rPr kumimoji="0" lang="en-US" altLang="en-US" b="0" i="0" u="none" strike="noStrike" cap="none" normalizeH="0" baseline="0" dirty="0" err="1">
                <a:ln>
                  <a:noFill/>
                </a:ln>
                <a:solidFill>
                  <a:schemeClr val="tx1"/>
                </a:solidFill>
                <a:effectLst/>
              </a:rPr>
              <a:t>директиву</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listen</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Apache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модуль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mod_http2</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CDN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большинство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современных</a:t>
            </a:r>
            <a:r>
              <a:rPr kumimoji="0" lang="en-US" altLang="en-US" b="0" i="0" u="none" strike="noStrike" cap="none" normalizeH="0" baseline="0" dirty="0">
                <a:ln>
                  <a:noFill/>
                </a:ln>
                <a:solidFill>
                  <a:schemeClr val="tx1"/>
                </a:solidFill>
                <a:effectLst/>
                <a:latin typeface="Arial" panose="020B0604020202020204" pitchFamily="34" charset="0"/>
              </a:rPr>
              <a:t> CDN (Cloudflare, Fastly и </a:t>
            </a:r>
            <a:r>
              <a:rPr kumimoji="0" lang="en-US" altLang="en-US" b="0" i="0" u="none" strike="noStrike" cap="none" normalizeH="0" baseline="0" dirty="0" err="1">
                <a:ln>
                  <a:noFill/>
                </a:ln>
                <a:solidFill>
                  <a:schemeClr val="tx1"/>
                </a:solidFill>
                <a:effectLst/>
                <a:latin typeface="Arial" panose="020B0604020202020204" pitchFamily="34" charset="0"/>
              </a:rPr>
              <a:t>др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включают</a:t>
            </a:r>
            <a:r>
              <a:rPr kumimoji="0" lang="en-US" altLang="en-US" b="0" i="0" u="none" strike="noStrike" cap="none" normalizeH="0" baseline="0" dirty="0">
                <a:ln>
                  <a:noFill/>
                </a:ln>
                <a:solidFill>
                  <a:schemeClr val="tx1"/>
                </a:solidFill>
                <a:effectLst/>
                <a:latin typeface="Arial" panose="020B0604020202020204" pitchFamily="34" charset="0"/>
              </a:rPr>
              <a:t> HTTP/2 </a:t>
            </a:r>
            <a:r>
              <a:rPr kumimoji="0" lang="en-US" altLang="en-US" b="0" i="0" u="none" strike="noStrike" cap="none" normalizeH="0" baseline="0" dirty="0" err="1">
                <a:ln>
                  <a:noFill/>
                </a:ln>
                <a:solidFill>
                  <a:schemeClr val="tx1"/>
                </a:solidFill>
                <a:effectLst/>
                <a:latin typeface="Arial" panose="020B0604020202020204" pitchFamily="34" charset="0"/>
              </a:rPr>
              <a:t>по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умолчанию</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8D18A03E-3D2C-474C-9C5B-06C841D4D63B}"/>
              </a:ext>
            </a:extLst>
          </p:cNvPr>
          <p:cNvSpPr txBox="1"/>
          <p:nvPr/>
        </p:nvSpPr>
        <p:spPr>
          <a:xfrm>
            <a:off x="619125" y="4042886"/>
            <a:ext cx="10458450" cy="923330"/>
          </a:xfrm>
          <a:prstGeom prst="rect">
            <a:avLst/>
          </a:prstGeom>
          <a:noFill/>
        </p:spPr>
        <p:txBody>
          <a:bodyPr wrap="square">
            <a:spAutoFit/>
          </a:bodyPr>
          <a:lstStyle/>
          <a:p>
            <a:r>
              <a:rPr lang="ru-RU" b="1" dirty="0"/>
              <a:t>Ограничения</a:t>
            </a:r>
          </a:p>
          <a:p>
            <a:pPr>
              <a:buFont typeface="Arial" panose="020B0604020202020204" pitchFamily="34" charset="0"/>
              <a:buChar char="•"/>
            </a:pPr>
            <a:r>
              <a:rPr lang="ru-RU" b="1" dirty="0" err="1"/>
              <a:t>Head‑of‑line</a:t>
            </a:r>
            <a:r>
              <a:rPr lang="ru-RU" b="1" dirty="0"/>
              <a:t> </a:t>
            </a:r>
            <a:r>
              <a:rPr lang="ru-RU" b="1" dirty="0" err="1"/>
              <a:t>blocking</a:t>
            </a:r>
            <a:r>
              <a:rPr lang="ru-RU" b="1" dirty="0"/>
              <a:t> на уровне TCP</a:t>
            </a:r>
            <a:r>
              <a:rPr lang="ru-RU" dirty="0"/>
              <a:t> остаётся, так как HTTP/2 всё ещё использует одно TCP‑соединение. Потеря пакета задерживает все потоки. Эту проблему решает </a:t>
            </a:r>
            <a:r>
              <a:rPr lang="ru-RU" b="1" dirty="0"/>
              <a:t>HTTP/3</a:t>
            </a:r>
            <a:r>
              <a:rPr lang="ru-RU" dirty="0"/>
              <a:t>, работающий поверх QUIC (UDP).</a:t>
            </a:r>
          </a:p>
        </p:txBody>
      </p:sp>
    </p:spTree>
    <p:extLst>
      <p:ext uri="{BB962C8B-B14F-4D97-AF65-F5344CB8AC3E}">
        <p14:creationId xmlns:p14="http://schemas.microsoft.com/office/powerpoint/2010/main" val="160625069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52CCECF-158C-432C-B09F-C6FACD604869}"/>
              </a:ext>
            </a:extLst>
          </p:cNvPr>
          <p:cNvSpPr txBox="1"/>
          <p:nvPr/>
        </p:nvSpPr>
        <p:spPr>
          <a:xfrm>
            <a:off x="657225" y="520184"/>
            <a:ext cx="11087100" cy="1200329"/>
          </a:xfrm>
          <a:prstGeom prst="rect">
            <a:avLst/>
          </a:prstGeom>
          <a:noFill/>
        </p:spPr>
        <p:txBody>
          <a:bodyPr wrap="square">
            <a:spAutoFit/>
          </a:bodyPr>
          <a:lstStyle/>
          <a:p>
            <a:r>
              <a:rPr kumimoji="0" lang="en-US" altLang="en-US" sz="1800" b="1" i="0" u="none" strike="noStrike" cap="none" normalizeH="0" baseline="0" dirty="0" err="1">
                <a:ln>
                  <a:noFill/>
                </a:ln>
                <a:solidFill>
                  <a:schemeClr val="tx1"/>
                </a:solidFill>
                <a:effectLst/>
                <a:latin typeface="Arial" panose="020B0604020202020204" pitchFamily="34" charset="0"/>
              </a:rPr>
              <a:t>Бинарный</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протокол</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вместо</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текстового</a:t>
            </a:r>
            <a:r>
              <a:rPr kumimoji="0" lang="ru-RU" altLang="en-US" sz="1800" b="1" i="0" u="none" strike="noStrike" cap="none" normalizeH="0" baseline="0" dirty="0">
                <a:ln>
                  <a:noFill/>
                </a:ln>
                <a:solidFill>
                  <a:schemeClr val="tx1"/>
                </a:solidFill>
                <a:effectLst/>
                <a:latin typeface="Arial" panose="020B0604020202020204" pitchFamily="34" charset="0"/>
              </a:rPr>
              <a:t> </a:t>
            </a:r>
            <a:r>
              <a:rPr lang="ru-RU" dirty="0"/>
              <a:t>HTTP/2 — это обновление протокола HTTP, которое было стандартизировано в 2015 году (RFC 7540). Одним из ключевых изменений стал переход с текстового формата сообщений (как в HTTP/1.x) на </a:t>
            </a:r>
            <a:r>
              <a:rPr lang="ru-RU" b="1" dirty="0"/>
              <a:t>бинарный протокол</a:t>
            </a:r>
            <a:r>
              <a:rPr lang="ru-RU" dirty="0"/>
              <a:t>. Это не просто косметическое изменение, а фундаментальная перестройка работы протокола, давшая множество преимуществ.</a:t>
            </a:r>
            <a:endParaRPr lang="en-US" dirty="0"/>
          </a:p>
        </p:txBody>
      </p:sp>
      <p:sp>
        <p:nvSpPr>
          <p:cNvPr id="5" name="TextBox 4">
            <a:extLst>
              <a:ext uri="{FF2B5EF4-FFF2-40B4-BE49-F238E27FC236}">
                <a16:creationId xmlns:a16="http://schemas.microsoft.com/office/drawing/2014/main" id="{3AE8B7E0-E38C-4850-A5AE-FC1FE29ECDB4}"/>
              </a:ext>
            </a:extLst>
          </p:cNvPr>
          <p:cNvSpPr txBox="1"/>
          <p:nvPr/>
        </p:nvSpPr>
        <p:spPr>
          <a:xfrm>
            <a:off x="657224" y="1862435"/>
            <a:ext cx="10887075" cy="646331"/>
          </a:xfrm>
          <a:prstGeom prst="rect">
            <a:avLst/>
          </a:prstGeom>
          <a:noFill/>
        </p:spPr>
        <p:txBody>
          <a:bodyPr wrap="square">
            <a:spAutoFit/>
          </a:bodyPr>
          <a:lstStyle/>
          <a:p>
            <a:r>
              <a:rPr lang="ru-RU" b="1" dirty="0"/>
              <a:t>Почему HTTP/1.x был текстовым?</a:t>
            </a:r>
          </a:p>
          <a:p>
            <a:r>
              <a:rPr lang="ru-RU" dirty="0"/>
              <a:t>В HTTP/1.1 запросы и ответы передаются в виде обычного текста (ASCII). Например:</a:t>
            </a:r>
          </a:p>
        </p:txBody>
      </p:sp>
      <p:pic>
        <p:nvPicPr>
          <p:cNvPr id="7" name="Рисунок 6">
            <a:extLst>
              <a:ext uri="{FF2B5EF4-FFF2-40B4-BE49-F238E27FC236}">
                <a16:creationId xmlns:a16="http://schemas.microsoft.com/office/drawing/2014/main" id="{86EC8609-96D8-4664-81C9-68EB47CA569D}"/>
              </a:ext>
            </a:extLst>
          </p:cNvPr>
          <p:cNvPicPr>
            <a:picLocks noChangeAspect="1"/>
          </p:cNvPicPr>
          <p:nvPr/>
        </p:nvPicPr>
        <p:blipFill>
          <a:blip r:embed="rId2"/>
          <a:stretch>
            <a:fillRect/>
          </a:stretch>
        </p:blipFill>
        <p:spPr>
          <a:xfrm>
            <a:off x="952256" y="2776464"/>
            <a:ext cx="3343519" cy="1014018"/>
          </a:xfrm>
          <a:prstGeom prst="rect">
            <a:avLst/>
          </a:prstGeom>
        </p:spPr>
      </p:pic>
      <p:sp>
        <p:nvSpPr>
          <p:cNvPr id="9" name="TextBox 8">
            <a:extLst>
              <a:ext uri="{FF2B5EF4-FFF2-40B4-BE49-F238E27FC236}">
                <a16:creationId xmlns:a16="http://schemas.microsoft.com/office/drawing/2014/main" id="{E2112359-4C87-472F-9667-B9D794EC5207}"/>
              </a:ext>
            </a:extLst>
          </p:cNvPr>
          <p:cNvSpPr txBox="1"/>
          <p:nvPr/>
        </p:nvSpPr>
        <p:spPr>
          <a:xfrm>
            <a:off x="214312" y="3949690"/>
            <a:ext cx="10887075" cy="2031325"/>
          </a:xfrm>
          <a:prstGeom prst="rect">
            <a:avLst/>
          </a:prstGeom>
          <a:noFill/>
        </p:spPr>
        <p:txBody>
          <a:bodyPr wrap="square">
            <a:spAutoFit/>
          </a:bodyPr>
          <a:lstStyle/>
          <a:p>
            <a:r>
              <a:rPr lang="ru-RU" dirty="0"/>
              <a:t>Такая форма удобна для отладки и человеческого чтения, но имеет серьёзные недостатки:</a:t>
            </a:r>
          </a:p>
          <a:p>
            <a:pPr>
              <a:buFont typeface="Arial" panose="020B0604020202020204" pitchFamily="34" charset="0"/>
              <a:buChar char="•"/>
            </a:pPr>
            <a:r>
              <a:rPr lang="ru-RU" b="1" dirty="0"/>
              <a:t>Неэффективность </a:t>
            </a:r>
            <a:r>
              <a:rPr lang="ru-RU" b="1" dirty="0" err="1"/>
              <a:t>парсинга</a:t>
            </a:r>
            <a:r>
              <a:rPr lang="ru-RU" dirty="0"/>
              <a:t> — каждый символ нужно разбирать, искать разделители (пробелы, переводы строк).</a:t>
            </a:r>
          </a:p>
          <a:p>
            <a:pPr>
              <a:buFont typeface="Arial" panose="020B0604020202020204" pitchFamily="34" charset="0"/>
              <a:buChar char="•"/>
            </a:pPr>
            <a:r>
              <a:rPr lang="ru-RU" b="1" dirty="0"/>
              <a:t>Отсутствие строгой структуры</a:t>
            </a:r>
            <a:r>
              <a:rPr lang="ru-RU" dirty="0"/>
              <a:t> — возможны вариации в форматировании, что усложняет реализацию.</a:t>
            </a:r>
          </a:p>
          <a:p>
            <a:pPr>
              <a:buFont typeface="Arial" panose="020B0604020202020204" pitchFamily="34" charset="0"/>
              <a:buChar char="•"/>
            </a:pPr>
            <a:r>
              <a:rPr lang="ru-RU" b="1" dirty="0"/>
              <a:t>Ограничения на параллельную передачу</a:t>
            </a:r>
            <a:r>
              <a:rPr lang="ru-RU" dirty="0"/>
              <a:t> — текстовая природа не позволяет легко делить один поток на независимые сообщения, что привело к таким «костылям», как конвейеризация (</a:t>
            </a:r>
            <a:r>
              <a:rPr lang="ru-RU" dirty="0" err="1"/>
              <a:t>pipelining</a:t>
            </a:r>
            <a:r>
              <a:rPr lang="ru-RU" dirty="0"/>
              <a:t>), которая так и не была широко внедрена из-за проблем с блокировкой (</a:t>
            </a:r>
            <a:r>
              <a:rPr lang="ru-RU" dirty="0" err="1"/>
              <a:t>head-of-line</a:t>
            </a:r>
            <a:r>
              <a:rPr lang="ru-RU" dirty="0"/>
              <a:t> </a:t>
            </a:r>
            <a:r>
              <a:rPr lang="ru-RU" dirty="0" err="1"/>
              <a:t>blocking</a:t>
            </a:r>
            <a:r>
              <a:rPr lang="ru-RU" dirty="0"/>
              <a:t>).</a:t>
            </a:r>
          </a:p>
        </p:txBody>
      </p:sp>
    </p:spTree>
    <p:extLst>
      <p:ext uri="{BB962C8B-B14F-4D97-AF65-F5344CB8AC3E}">
        <p14:creationId xmlns:p14="http://schemas.microsoft.com/office/powerpoint/2010/main" val="167972899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4234EC2-4642-4B83-82E1-7A665D24B5AA}"/>
              </a:ext>
            </a:extLst>
          </p:cNvPr>
          <p:cNvSpPr>
            <a:spLocks noChangeArrowheads="1"/>
          </p:cNvSpPr>
          <p:nvPr/>
        </p:nvSpPr>
        <p:spPr bwMode="auto">
          <a:xfrm>
            <a:off x="523875" y="518578"/>
            <a:ext cx="1114425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err="1"/>
              <a:t>Бинарный</a:t>
            </a:r>
            <a:r>
              <a:rPr lang="en-US" altLang="en-US" b="1" dirty="0"/>
              <a:t> </a:t>
            </a:r>
            <a:r>
              <a:rPr lang="en-US" altLang="en-US" b="1" dirty="0" err="1"/>
              <a:t>протокол</a:t>
            </a:r>
            <a:r>
              <a:rPr lang="en-US" altLang="en-US" b="1" dirty="0"/>
              <a:t> в HTTP/2</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HTTP/2 </a:t>
            </a:r>
            <a:r>
              <a:rPr lang="en-US" altLang="en-US" dirty="0" err="1"/>
              <a:t>заменяет</a:t>
            </a:r>
            <a:r>
              <a:rPr lang="en-US" altLang="en-US" dirty="0"/>
              <a:t> </a:t>
            </a:r>
            <a:r>
              <a:rPr lang="en-US" altLang="en-US" dirty="0" err="1"/>
              <a:t>текстовые</a:t>
            </a:r>
            <a:r>
              <a:rPr lang="en-US" altLang="en-US" dirty="0"/>
              <a:t> </a:t>
            </a:r>
            <a:r>
              <a:rPr lang="en-US" altLang="en-US" dirty="0" err="1"/>
              <a:t>строки</a:t>
            </a:r>
            <a:r>
              <a:rPr lang="en-US" altLang="en-US" dirty="0"/>
              <a:t> </a:t>
            </a:r>
            <a:r>
              <a:rPr lang="en-US" altLang="en-US" dirty="0" err="1"/>
              <a:t>на</a:t>
            </a:r>
            <a:r>
              <a:rPr lang="en-US" altLang="en-US" dirty="0"/>
              <a:t> </a:t>
            </a:r>
            <a:r>
              <a:rPr lang="en-US" altLang="en-US" dirty="0" err="1"/>
              <a:t>бинарные</a:t>
            </a:r>
            <a:r>
              <a:rPr lang="en-US" altLang="en-US" dirty="0"/>
              <a:t> </a:t>
            </a:r>
            <a:r>
              <a:rPr lang="en-US" altLang="en-US" dirty="0" err="1"/>
              <a:t>кадры</a:t>
            </a:r>
            <a:r>
              <a:rPr lang="en-US" altLang="en-US" dirty="0"/>
              <a:t> (frames). </a:t>
            </a:r>
            <a:r>
              <a:rPr lang="en-US" altLang="en-US" dirty="0" err="1"/>
              <a:t>Вся</a:t>
            </a:r>
            <a:r>
              <a:rPr lang="en-US" altLang="en-US" dirty="0"/>
              <a:t> </a:t>
            </a:r>
            <a:r>
              <a:rPr lang="en-US" altLang="en-US" dirty="0" err="1"/>
              <a:t>логика</a:t>
            </a:r>
            <a:r>
              <a:rPr lang="en-US" altLang="en-US" dirty="0"/>
              <a:t> </a:t>
            </a:r>
            <a:r>
              <a:rPr lang="en-US" altLang="en-US" dirty="0" err="1"/>
              <a:t>протокола</a:t>
            </a:r>
            <a:r>
              <a:rPr lang="en-US" altLang="en-US" dirty="0"/>
              <a:t> </a:t>
            </a:r>
            <a:r>
              <a:rPr lang="en-US" altLang="en-US" dirty="0" err="1"/>
              <a:t>строится</a:t>
            </a:r>
            <a:r>
              <a:rPr lang="en-US" altLang="en-US" dirty="0"/>
              <a:t> </a:t>
            </a:r>
            <a:r>
              <a:rPr lang="en-US" altLang="en-US" dirty="0" err="1"/>
              <a:t>на</a:t>
            </a:r>
            <a:r>
              <a:rPr lang="en-US" altLang="en-US" dirty="0"/>
              <a:t> </a:t>
            </a:r>
            <a:r>
              <a:rPr lang="en-US" altLang="en-US" dirty="0" err="1"/>
              <a:t>обмене</a:t>
            </a:r>
            <a:r>
              <a:rPr lang="en-US" altLang="en-US" dirty="0"/>
              <a:t> </a:t>
            </a:r>
            <a:r>
              <a:rPr lang="en-US" altLang="en-US" dirty="0" err="1"/>
              <a:t>этими</a:t>
            </a:r>
            <a:r>
              <a:rPr lang="en-US" altLang="en-US" dirty="0"/>
              <a:t> </a:t>
            </a:r>
            <a:r>
              <a:rPr lang="en-US" altLang="en-US" dirty="0" err="1"/>
              <a:t>кадрами</a:t>
            </a:r>
            <a:r>
              <a:rPr lang="en-US" altLang="en-US" dirty="0"/>
              <a:t>, </a:t>
            </a:r>
            <a:r>
              <a:rPr lang="en-US" altLang="en-US" dirty="0" err="1"/>
              <a:t>которые</a:t>
            </a:r>
            <a:r>
              <a:rPr lang="en-US" altLang="en-US" dirty="0"/>
              <a:t> </a:t>
            </a:r>
            <a:r>
              <a:rPr lang="en-US" altLang="en-US" dirty="0" err="1"/>
              <a:t>имеют</a:t>
            </a:r>
            <a:r>
              <a:rPr lang="en-US" altLang="en-US" dirty="0"/>
              <a:t> </a:t>
            </a:r>
            <a:r>
              <a:rPr lang="en-US" altLang="en-US" dirty="0" err="1"/>
              <a:t>чёткую</a:t>
            </a:r>
            <a:r>
              <a:rPr lang="en-US" altLang="en-US" dirty="0"/>
              <a:t> </a:t>
            </a:r>
            <a:r>
              <a:rPr lang="en-US" altLang="en-US" dirty="0" err="1"/>
              <a:t>структуру</a:t>
            </a:r>
            <a:r>
              <a:rPr lang="en-US" altLang="en-US" dirty="0"/>
              <a:t>: </a:t>
            </a:r>
            <a:r>
              <a:rPr lang="en-US" altLang="en-US" dirty="0" err="1"/>
              <a:t>длина</a:t>
            </a:r>
            <a:r>
              <a:rPr lang="en-US" altLang="en-US" dirty="0"/>
              <a:t>, </a:t>
            </a:r>
            <a:r>
              <a:rPr lang="en-US" altLang="en-US" dirty="0" err="1"/>
              <a:t>тип</a:t>
            </a:r>
            <a:r>
              <a:rPr lang="en-US" altLang="en-US" dirty="0"/>
              <a:t>, </a:t>
            </a:r>
            <a:r>
              <a:rPr lang="en-US" altLang="en-US" dirty="0" err="1"/>
              <a:t>флаги</a:t>
            </a:r>
            <a:r>
              <a:rPr lang="en-US" altLang="en-US" dirty="0"/>
              <a:t>, </a:t>
            </a:r>
            <a:r>
              <a:rPr lang="en-US" altLang="en-US" dirty="0" err="1"/>
              <a:t>идентификатор</a:t>
            </a:r>
            <a:r>
              <a:rPr lang="en-US" altLang="en-US" dirty="0"/>
              <a:t> </a:t>
            </a:r>
            <a:r>
              <a:rPr lang="en-US" altLang="en-US" dirty="0" err="1"/>
              <a:t>потока</a:t>
            </a:r>
            <a:r>
              <a:rPr lang="en-US" altLang="en-US" dirty="0"/>
              <a:t> и </a:t>
            </a:r>
            <a:r>
              <a:rPr lang="en-US" altLang="en-US" dirty="0" err="1"/>
              <a:t>полезная</a:t>
            </a:r>
            <a:r>
              <a:rPr lang="en-US" altLang="en-US" dirty="0"/>
              <a:t> </a:t>
            </a:r>
            <a:r>
              <a:rPr lang="en-US" altLang="en-US" dirty="0" err="1"/>
              <a:t>нагрузка</a:t>
            </a:r>
            <a:r>
              <a:rPr lang="en-US" altLang="en-US"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t>Основные</a:t>
            </a:r>
            <a:r>
              <a:rPr lang="en-US" altLang="en-US" dirty="0"/>
              <a:t> </a:t>
            </a:r>
            <a:r>
              <a:rPr lang="en-US" altLang="en-US" dirty="0" err="1"/>
              <a:t>элементы</a:t>
            </a:r>
            <a:endParaRPr lang="ru-RU"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dirty="0" err="1"/>
              <a:t>Потоки</a:t>
            </a:r>
            <a:r>
              <a:rPr lang="en-US" altLang="en-US" dirty="0"/>
              <a:t> (streams)</a:t>
            </a:r>
            <a:br>
              <a:rPr lang="en-US" altLang="en-US" dirty="0"/>
            </a:br>
            <a:r>
              <a:rPr lang="en-US" altLang="en-US" dirty="0" err="1"/>
              <a:t>Каждое</a:t>
            </a:r>
            <a:r>
              <a:rPr lang="en-US" altLang="en-US" dirty="0"/>
              <a:t> </a:t>
            </a:r>
            <a:r>
              <a:rPr lang="en-US" altLang="en-US" dirty="0" err="1"/>
              <a:t>логическое</a:t>
            </a:r>
            <a:r>
              <a:rPr lang="en-US" altLang="en-US" dirty="0"/>
              <a:t> </a:t>
            </a:r>
            <a:r>
              <a:rPr lang="en-US" altLang="en-US" dirty="0" err="1"/>
              <a:t>соединение</a:t>
            </a:r>
            <a:r>
              <a:rPr lang="en-US" altLang="en-US" dirty="0"/>
              <a:t> (TCP-</a:t>
            </a:r>
            <a:r>
              <a:rPr lang="en-US" altLang="en-US" dirty="0" err="1"/>
              <a:t>сокет</a:t>
            </a:r>
            <a:r>
              <a:rPr lang="en-US" altLang="en-US" dirty="0"/>
              <a:t>) </a:t>
            </a:r>
            <a:r>
              <a:rPr lang="en-US" altLang="en-US" dirty="0" err="1"/>
              <a:t>может</a:t>
            </a:r>
            <a:r>
              <a:rPr lang="en-US" altLang="en-US" dirty="0"/>
              <a:t> </a:t>
            </a:r>
            <a:r>
              <a:rPr lang="en-US" altLang="en-US" dirty="0" err="1"/>
              <a:t>содержать</a:t>
            </a:r>
            <a:r>
              <a:rPr lang="en-US" altLang="en-US" dirty="0"/>
              <a:t> </a:t>
            </a:r>
            <a:r>
              <a:rPr lang="en-US" altLang="en-US" dirty="0" err="1"/>
              <a:t>множество</a:t>
            </a:r>
            <a:r>
              <a:rPr lang="en-US" altLang="en-US" dirty="0"/>
              <a:t> </a:t>
            </a:r>
            <a:r>
              <a:rPr lang="en-US" altLang="en-US" dirty="0" err="1"/>
              <a:t>мультиплексированных</a:t>
            </a:r>
            <a:r>
              <a:rPr lang="en-US" altLang="en-US" dirty="0"/>
              <a:t> </a:t>
            </a:r>
            <a:r>
              <a:rPr lang="en-US" altLang="en-US" dirty="0" err="1"/>
              <a:t>потоков</a:t>
            </a:r>
            <a:r>
              <a:rPr lang="en-US" altLang="en-US" dirty="0"/>
              <a:t>. </a:t>
            </a:r>
            <a:r>
              <a:rPr lang="en-US" altLang="en-US" dirty="0" err="1"/>
              <a:t>Каждый</a:t>
            </a:r>
            <a:r>
              <a:rPr lang="en-US" altLang="en-US" dirty="0"/>
              <a:t> </a:t>
            </a:r>
            <a:r>
              <a:rPr lang="en-US" altLang="en-US" dirty="0" err="1"/>
              <a:t>поток</a:t>
            </a:r>
            <a:r>
              <a:rPr lang="en-US" altLang="en-US" dirty="0"/>
              <a:t> — </a:t>
            </a:r>
            <a:r>
              <a:rPr lang="en-US" altLang="en-US" dirty="0" err="1"/>
              <a:t>это</a:t>
            </a:r>
            <a:r>
              <a:rPr lang="en-US" altLang="en-US" dirty="0"/>
              <a:t> </a:t>
            </a:r>
            <a:r>
              <a:rPr lang="en-US" altLang="en-US" dirty="0" err="1"/>
              <a:t>независимая</a:t>
            </a:r>
            <a:r>
              <a:rPr lang="en-US" altLang="en-US" dirty="0"/>
              <a:t> </a:t>
            </a:r>
            <a:r>
              <a:rPr lang="en-US" altLang="en-US" dirty="0" err="1"/>
              <a:t>двунаправленная</a:t>
            </a:r>
            <a:r>
              <a:rPr lang="en-US" altLang="en-US" dirty="0"/>
              <a:t> </a:t>
            </a:r>
            <a:r>
              <a:rPr lang="en-US" altLang="en-US" dirty="0" err="1"/>
              <a:t>последовательность</a:t>
            </a:r>
            <a:r>
              <a:rPr lang="en-US" altLang="en-US" dirty="0"/>
              <a:t> </a:t>
            </a:r>
            <a:r>
              <a:rPr lang="en-US" altLang="en-US" dirty="0" err="1"/>
              <a:t>кадров</a:t>
            </a:r>
            <a:r>
              <a:rPr lang="en-US" altLang="en-US" dirty="0"/>
              <a:t>, </a:t>
            </a:r>
            <a:r>
              <a:rPr lang="en-US" altLang="en-US" dirty="0" err="1"/>
              <a:t>соответствующая</a:t>
            </a:r>
            <a:r>
              <a:rPr lang="en-US" altLang="en-US" dirty="0"/>
              <a:t> </a:t>
            </a:r>
            <a:r>
              <a:rPr lang="en-US" altLang="en-US" dirty="0" err="1"/>
              <a:t>одному</a:t>
            </a:r>
            <a:r>
              <a:rPr lang="en-US" altLang="en-US" dirty="0"/>
              <a:t> </a:t>
            </a:r>
            <a:r>
              <a:rPr lang="en-US" altLang="en-US" dirty="0" err="1"/>
              <a:t>запросу-ответу</a:t>
            </a:r>
            <a:r>
              <a:rPr lang="en-US" altLang="en-US" dirty="0"/>
              <a:t>.</a:t>
            </a:r>
            <a:endParaRPr lang="ru-RU" altLang="en-US" dirty="0"/>
          </a:p>
          <a:p>
            <a:pPr marL="0" marR="0" lvl="0" indent="0" algn="l" defTabSz="914400" rtl="0" eaLnBrk="0" fontAlgn="base" latinLnBrk="0" hangingPunct="0">
              <a:lnSpc>
                <a:spcPct val="100000"/>
              </a:lnSpc>
              <a:spcBef>
                <a:spcPct val="0"/>
              </a:spcBef>
              <a:spcAft>
                <a:spcPct val="0"/>
              </a:spcAft>
              <a:buClrTx/>
              <a:buSzTx/>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n-US" altLang="en-US" dirty="0" err="1"/>
              <a:t>Кадры</a:t>
            </a:r>
            <a:r>
              <a:rPr lang="en-US" altLang="en-US" dirty="0"/>
              <a:t> (frames)</a:t>
            </a:r>
            <a:br>
              <a:rPr lang="en-US" altLang="en-US" dirty="0"/>
            </a:br>
            <a:r>
              <a:rPr lang="en-US" altLang="en-US" dirty="0" err="1"/>
              <a:t>Самые</a:t>
            </a:r>
            <a:r>
              <a:rPr lang="en-US" altLang="en-US" dirty="0"/>
              <a:t> </a:t>
            </a:r>
            <a:r>
              <a:rPr lang="en-US" altLang="en-US" dirty="0" err="1"/>
              <a:t>распространённые</a:t>
            </a:r>
            <a:r>
              <a:rPr lang="en-US" altLang="en-US" dirty="0"/>
              <a:t> </a:t>
            </a:r>
            <a:r>
              <a:rPr lang="en-US" altLang="en-US" dirty="0" err="1"/>
              <a:t>типы</a:t>
            </a:r>
            <a:r>
              <a:rPr lang="en-US" altLang="en-US" dirty="0"/>
              <a:t> </a:t>
            </a:r>
            <a:r>
              <a:rPr lang="en-US" altLang="en-US" dirty="0" err="1"/>
              <a:t>кадров</a:t>
            </a:r>
            <a:r>
              <a:rPr lang="en-US" altLang="en-US" dirty="0"/>
              <a:t>:</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dirty="0"/>
              <a:t>HEADERS — </a:t>
            </a:r>
            <a:r>
              <a:rPr lang="en-US" altLang="en-US" dirty="0" err="1"/>
              <a:t>содержит</a:t>
            </a:r>
            <a:r>
              <a:rPr lang="en-US" altLang="en-US" dirty="0"/>
              <a:t> </a:t>
            </a:r>
            <a:r>
              <a:rPr lang="en-US" altLang="en-US" dirty="0" err="1"/>
              <a:t>заголовки</a:t>
            </a:r>
            <a:r>
              <a:rPr lang="en-US" altLang="en-US" dirty="0"/>
              <a:t> </a:t>
            </a:r>
            <a:r>
              <a:rPr lang="en-US" altLang="en-US" dirty="0" err="1"/>
              <a:t>запроса</a:t>
            </a:r>
            <a:r>
              <a:rPr lang="en-US" altLang="en-US" dirty="0"/>
              <a:t>/</a:t>
            </a:r>
            <a:r>
              <a:rPr lang="en-US" altLang="en-US" dirty="0" err="1"/>
              <a:t>ответа</a:t>
            </a:r>
            <a:r>
              <a:rPr lang="en-US" altLang="en-US" dirty="0"/>
              <a:t> (</a:t>
            </a:r>
            <a:r>
              <a:rPr lang="en-US" altLang="en-US" dirty="0" err="1"/>
              <a:t>сжатые</a:t>
            </a:r>
            <a:r>
              <a:rPr lang="en-US" altLang="en-US" dirty="0"/>
              <a:t> с </a:t>
            </a:r>
            <a:r>
              <a:rPr lang="en-US" altLang="en-US" dirty="0" err="1"/>
              <a:t>помощью</a:t>
            </a:r>
            <a:r>
              <a:rPr lang="en-US" altLang="en-US" dirty="0"/>
              <a:t> HPACK).</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dirty="0"/>
              <a:t>DATA — </a:t>
            </a:r>
            <a:r>
              <a:rPr lang="en-US" altLang="en-US" dirty="0" err="1"/>
              <a:t>передаёт</a:t>
            </a:r>
            <a:r>
              <a:rPr lang="en-US" altLang="en-US" dirty="0"/>
              <a:t> </a:t>
            </a:r>
            <a:r>
              <a:rPr lang="en-US" altLang="en-US" dirty="0" err="1"/>
              <a:t>тело</a:t>
            </a:r>
            <a:r>
              <a:rPr lang="en-US" altLang="en-US" dirty="0"/>
              <a:t> </a:t>
            </a:r>
            <a:r>
              <a:rPr lang="en-US" altLang="en-US" dirty="0" err="1"/>
              <a:t>сообщения</a:t>
            </a:r>
            <a:r>
              <a:rPr lang="en-US" altLang="en-US" dirty="0"/>
              <a:t> (</a:t>
            </a:r>
            <a:r>
              <a:rPr lang="en-US" altLang="en-US" dirty="0" err="1"/>
              <a:t>например</a:t>
            </a:r>
            <a:r>
              <a:rPr lang="en-US" altLang="en-US" dirty="0"/>
              <a:t>, HTML, JSON).</a:t>
            </a:r>
          </a:p>
          <a:p>
            <a:pPr marL="457200" marR="0" lvl="1" indent="0" algn="l" defTabSz="914400" rtl="0" eaLnBrk="0" fontAlgn="base" latinLnBrk="0" hangingPunct="0">
              <a:lnSpc>
                <a:spcPct val="100000"/>
              </a:lnSpc>
              <a:spcBef>
                <a:spcPct val="0"/>
              </a:spcBef>
              <a:spcAft>
                <a:spcPct val="0"/>
              </a:spcAft>
              <a:buClrTx/>
              <a:buSzTx/>
              <a:buFontTx/>
              <a:buChar char="•"/>
              <a:tabLst/>
            </a:pPr>
            <a:r>
              <a:rPr lang="en-US" altLang="en-US" dirty="0"/>
              <a:t>SETTINGS, PING, WINDOW_UPDATE — </a:t>
            </a:r>
            <a:r>
              <a:rPr lang="en-US" altLang="en-US" dirty="0" err="1"/>
              <a:t>служебные</a:t>
            </a:r>
            <a:r>
              <a:rPr lang="en-US" altLang="en-US" dirty="0"/>
              <a:t> </a:t>
            </a:r>
            <a:r>
              <a:rPr lang="en-US" altLang="en-US" dirty="0" err="1"/>
              <a:t>кадры</a:t>
            </a:r>
            <a:r>
              <a:rPr lang="en-US" altLang="en-US" dirty="0"/>
              <a:t> </a:t>
            </a:r>
            <a:r>
              <a:rPr lang="en-US" altLang="en-US" dirty="0" err="1"/>
              <a:t>для</a:t>
            </a:r>
            <a:r>
              <a:rPr lang="en-US" altLang="en-US" dirty="0"/>
              <a:t> </a:t>
            </a:r>
            <a:r>
              <a:rPr lang="en-US" altLang="en-US" dirty="0" err="1"/>
              <a:t>управления</a:t>
            </a:r>
            <a:r>
              <a:rPr lang="en-US" altLang="en-US" dirty="0"/>
              <a:t> </a:t>
            </a:r>
            <a:r>
              <a:rPr lang="en-US" altLang="en-US" dirty="0" err="1"/>
              <a:t>соединением</a:t>
            </a:r>
            <a:r>
              <a:rPr lang="en-US" altLang="en-US" dirty="0"/>
              <a:t> и </a:t>
            </a:r>
            <a:r>
              <a:rPr lang="en-US" altLang="en-US" dirty="0" err="1"/>
              <a:t>контролем</a:t>
            </a:r>
            <a:r>
              <a:rPr lang="en-US" altLang="en-US" dirty="0"/>
              <a:t> </a:t>
            </a:r>
            <a:r>
              <a:rPr lang="en-US" altLang="en-US" dirty="0" err="1"/>
              <a:t>потока</a:t>
            </a:r>
            <a:r>
              <a:rPr lang="en-US" altLang="en-US" dirty="0"/>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665749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A5798CAC-C1CB-482A-B812-91E5AEAE0B02}"/>
              </a:ext>
            </a:extLst>
          </p:cNvPr>
          <p:cNvSpPr>
            <a:spLocks noChangeArrowheads="1"/>
          </p:cNvSpPr>
          <p:nvPr/>
        </p:nvSpPr>
        <p:spPr bwMode="auto">
          <a:xfrm>
            <a:off x="352425" y="197732"/>
            <a:ext cx="11487150"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t>Преимущества</a:t>
            </a:r>
            <a:r>
              <a:rPr lang="en-US" altLang="en-US" dirty="0"/>
              <a:t> </a:t>
            </a:r>
            <a:r>
              <a:rPr lang="en-US" altLang="en-US" dirty="0" err="1"/>
              <a:t>бинарного</a:t>
            </a:r>
            <a:r>
              <a:rPr lang="en-US" altLang="en-US" dirty="0"/>
              <a:t> </a:t>
            </a:r>
            <a:r>
              <a:rPr lang="en-US" altLang="en-US" dirty="0" err="1"/>
              <a:t>подхода</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1. </a:t>
            </a:r>
            <a:r>
              <a:rPr lang="en-US" altLang="en-US" b="1" dirty="0" err="1"/>
              <a:t>Простота</a:t>
            </a:r>
            <a:r>
              <a:rPr lang="en-US" altLang="en-US" b="1" dirty="0"/>
              <a:t> и </a:t>
            </a:r>
            <a:r>
              <a:rPr lang="en-US" altLang="en-US" b="1" dirty="0" err="1"/>
              <a:t>надёжность</a:t>
            </a:r>
            <a:r>
              <a:rPr lang="en-US" altLang="en-US" b="1" dirty="0"/>
              <a:t> </a:t>
            </a:r>
            <a:r>
              <a:rPr lang="en-US" altLang="en-US" b="1" dirty="0" err="1"/>
              <a:t>парсинга</a:t>
            </a:r>
            <a:endParaRPr lang="en-US" altLang="en-US" b="1"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t>Бинарные</a:t>
            </a:r>
            <a:r>
              <a:rPr lang="en-US" altLang="en-US" dirty="0"/>
              <a:t> </a:t>
            </a:r>
            <a:r>
              <a:rPr lang="en-US" altLang="en-US" dirty="0" err="1"/>
              <a:t>кадры</a:t>
            </a:r>
            <a:r>
              <a:rPr lang="en-US" altLang="en-US" dirty="0"/>
              <a:t> </a:t>
            </a:r>
            <a:r>
              <a:rPr lang="en-US" altLang="en-US" dirty="0" err="1"/>
              <a:t>имеют</a:t>
            </a:r>
            <a:r>
              <a:rPr lang="en-US" altLang="en-US" dirty="0"/>
              <a:t> </a:t>
            </a:r>
            <a:r>
              <a:rPr lang="en-US" altLang="en-US" dirty="0" err="1"/>
              <a:t>фиксированные</a:t>
            </a:r>
            <a:r>
              <a:rPr lang="en-US" altLang="en-US" dirty="0"/>
              <a:t> </a:t>
            </a:r>
            <a:r>
              <a:rPr lang="en-US" altLang="en-US" dirty="0" err="1"/>
              <a:t>поля</a:t>
            </a:r>
            <a:r>
              <a:rPr lang="en-US" altLang="en-US" dirty="0"/>
              <a:t>, </a:t>
            </a:r>
            <a:r>
              <a:rPr lang="en-US" altLang="en-US" dirty="0" err="1"/>
              <a:t>что</a:t>
            </a:r>
            <a:r>
              <a:rPr lang="en-US" altLang="en-US" dirty="0"/>
              <a:t> </a:t>
            </a:r>
            <a:r>
              <a:rPr lang="en-US" altLang="en-US" dirty="0" err="1"/>
              <a:t>позволяет</a:t>
            </a:r>
            <a:r>
              <a:rPr lang="en-US" altLang="en-US" dirty="0"/>
              <a:t> </a:t>
            </a:r>
            <a:r>
              <a:rPr lang="en-US" altLang="en-US" dirty="0" err="1"/>
              <a:t>реализовать</a:t>
            </a:r>
            <a:r>
              <a:rPr lang="en-US" altLang="en-US" dirty="0"/>
              <a:t> </a:t>
            </a:r>
            <a:r>
              <a:rPr lang="en-US" altLang="en-US" dirty="0" err="1"/>
              <a:t>парсер</a:t>
            </a:r>
            <a:r>
              <a:rPr lang="en-US" altLang="en-US" dirty="0"/>
              <a:t> </a:t>
            </a:r>
            <a:r>
              <a:rPr lang="en-US" altLang="en-US" dirty="0" err="1"/>
              <a:t>на</a:t>
            </a:r>
            <a:r>
              <a:rPr lang="en-US" altLang="en-US" dirty="0"/>
              <a:t> </a:t>
            </a:r>
            <a:r>
              <a:rPr lang="en-US" altLang="en-US" dirty="0" err="1"/>
              <a:t>низком</a:t>
            </a:r>
            <a:r>
              <a:rPr lang="en-US" altLang="en-US" dirty="0"/>
              <a:t> </a:t>
            </a:r>
            <a:r>
              <a:rPr lang="en-US" altLang="en-US" dirty="0" err="1"/>
              <a:t>уровне</a:t>
            </a:r>
            <a:r>
              <a:rPr lang="en-US" altLang="en-US" dirty="0"/>
              <a:t>, </a:t>
            </a:r>
            <a:r>
              <a:rPr lang="en-US" altLang="en-US" dirty="0" err="1"/>
              <a:t>без</a:t>
            </a:r>
            <a:r>
              <a:rPr lang="en-US" altLang="en-US" dirty="0"/>
              <a:t> </a:t>
            </a:r>
            <a:r>
              <a:rPr lang="en-US" altLang="en-US" dirty="0" err="1"/>
              <a:t>необходимости</a:t>
            </a:r>
            <a:r>
              <a:rPr lang="en-US" altLang="en-US" dirty="0"/>
              <a:t> </a:t>
            </a:r>
            <a:r>
              <a:rPr lang="en-US" altLang="en-US" dirty="0" err="1"/>
              <a:t>анализировать</a:t>
            </a:r>
            <a:r>
              <a:rPr lang="en-US" altLang="en-US" dirty="0"/>
              <a:t> </a:t>
            </a:r>
            <a:r>
              <a:rPr lang="en-US" altLang="en-US" dirty="0" err="1"/>
              <a:t>строки</a:t>
            </a:r>
            <a:r>
              <a:rPr lang="en-US" altLang="en-US" dirty="0"/>
              <a:t>. </a:t>
            </a:r>
            <a:r>
              <a:rPr lang="en-US" altLang="en-US" dirty="0" err="1"/>
              <a:t>Это</a:t>
            </a:r>
            <a:r>
              <a:rPr lang="en-US" altLang="en-US" dirty="0"/>
              <a:t> </a:t>
            </a:r>
            <a:r>
              <a:rPr lang="en-US" altLang="en-US" dirty="0" err="1"/>
              <a:t>уменьшает</a:t>
            </a:r>
            <a:r>
              <a:rPr lang="en-US" altLang="en-US" dirty="0"/>
              <a:t> </a:t>
            </a:r>
            <a:r>
              <a:rPr lang="en-US" altLang="en-US" dirty="0" err="1"/>
              <a:t>вероятность</a:t>
            </a:r>
            <a:r>
              <a:rPr lang="en-US" altLang="en-US" dirty="0"/>
              <a:t> </a:t>
            </a:r>
            <a:r>
              <a:rPr lang="en-US" altLang="en-US" dirty="0" err="1"/>
              <a:t>ошибок</a:t>
            </a:r>
            <a:r>
              <a:rPr lang="en-US" altLang="en-US" dirty="0"/>
              <a:t> и </a:t>
            </a:r>
            <a:r>
              <a:rPr lang="en-US" altLang="en-US" dirty="0" err="1"/>
              <a:t>повышает</a:t>
            </a:r>
            <a:r>
              <a:rPr lang="en-US" altLang="en-US" dirty="0"/>
              <a:t> </a:t>
            </a:r>
            <a:r>
              <a:rPr lang="en-US" altLang="en-US" dirty="0" err="1"/>
              <a:t>производительность</a:t>
            </a:r>
            <a:r>
              <a:rPr lang="en-US" altLang="en-US"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2. </a:t>
            </a:r>
            <a:r>
              <a:rPr lang="en-US" altLang="en-US" b="1" dirty="0" err="1"/>
              <a:t>Мультиплексирование</a:t>
            </a:r>
            <a:endParaRPr lang="en-US" altLang="en-US" b="1"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t>Благодаря</a:t>
            </a:r>
            <a:r>
              <a:rPr lang="en-US" altLang="en-US" dirty="0"/>
              <a:t> </a:t>
            </a:r>
            <a:r>
              <a:rPr lang="en-US" altLang="en-US" dirty="0" err="1"/>
              <a:t>идентификатору</a:t>
            </a:r>
            <a:r>
              <a:rPr lang="en-US" altLang="en-US" dirty="0"/>
              <a:t> </a:t>
            </a:r>
            <a:r>
              <a:rPr lang="en-US" altLang="en-US" dirty="0" err="1"/>
              <a:t>потока</a:t>
            </a:r>
            <a:r>
              <a:rPr lang="en-US" altLang="en-US" dirty="0"/>
              <a:t> в </a:t>
            </a:r>
            <a:r>
              <a:rPr lang="en-US" altLang="en-US" dirty="0" err="1"/>
              <a:t>каждом</a:t>
            </a:r>
            <a:r>
              <a:rPr lang="en-US" altLang="en-US" dirty="0"/>
              <a:t> </a:t>
            </a:r>
            <a:r>
              <a:rPr lang="en-US" altLang="en-US" dirty="0" err="1"/>
              <a:t>кадре</a:t>
            </a:r>
            <a:r>
              <a:rPr lang="en-US" altLang="en-US" dirty="0"/>
              <a:t>, </a:t>
            </a:r>
            <a:r>
              <a:rPr lang="en-US" altLang="en-US" dirty="0" err="1"/>
              <a:t>множество</a:t>
            </a:r>
            <a:r>
              <a:rPr lang="en-US" altLang="en-US" dirty="0"/>
              <a:t> </a:t>
            </a:r>
            <a:r>
              <a:rPr lang="en-US" altLang="en-US" dirty="0" err="1"/>
              <a:t>запросов</a:t>
            </a:r>
            <a:r>
              <a:rPr lang="en-US" altLang="en-US" dirty="0"/>
              <a:t> </a:t>
            </a:r>
            <a:r>
              <a:rPr lang="en-US" altLang="en-US" dirty="0" err="1"/>
              <a:t>может</a:t>
            </a:r>
            <a:r>
              <a:rPr lang="en-US" altLang="en-US" dirty="0"/>
              <a:t> </a:t>
            </a:r>
            <a:r>
              <a:rPr lang="en-US" altLang="en-US" dirty="0" err="1"/>
              <a:t>передаваться</a:t>
            </a:r>
            <a:r>
              <a:rPr lang="en-US" altLang="en-US" dirty="0"/>
              <a:t> </a:t>
            </a:r>
            <a:r>
              <a:rPr lang="en-US" altLang="en-US" dirty="0" err="1"/>
              <a:t>параллельно</a:t>
            </a:r>
            <a:r>
              <a:rPr lang="en-US" altLang="en-US" dirty="0"/>
              <a:t> </a:t>
            </a:r>
            <a:r>
              <a:rPr lang="en-US" altLang="en-US" dirty="0" err="1"/>
              <a:t>по</a:t>
            </a:r>
            <a:r>
              <a:rPr lang="en-US" altLang="en-US" dirty="0"/>
              <a:t> </a:t>
            </a:r>
            <a:r>
              <a:rPr lang="en-US" altLang="en-US" dirty="0" err="1"/>
              <a:t>одному</a:t>
            </a:r>
            <a:r>
              <a:rPr lang="en-US" altLang="en-US" dirty="0"/>
              <a:t> TCP-</a:t>
            </a:r>
            <a:r>
              <a:rPr lang="en-US" altLang="en-US" dirty="0" err="1"/>
              <a:t>соединению</a:t>
            </a:r>
            <a:r>
              <a:rPr lang="en-US" altLang="en-US" dirty="0"/>
              <a:t>. </a:t>
            </a:r>
            <a:r>
              <a:rPr lang="en-US" altLang="en-US" dirty="0" err="1"/>
              <a:t>Кадры</a:t>
            </a:r>
            <a:r>
              <a:rPr lang="en-US" altLang="en-US" dirty="0"/>
              <a:t> </a:t>
            </a:r>
            <a:r>
              <a:rPr lang="en-US" altLang="en-US" dirty="0" err="1"/>
              <a:t>разных</a:t>
            </a:r>
            <a:r>
              <a:rPr lang="en-US" altLang="en-US" dirty="0"/>
              <a:t> </a:t>
            </a:r>
            <a:r>
              <a:rPr lang="en-US" altLang="en-US" dirty="0" err="1"/>
              <a:t>потоков</a:t>
            </a:r>
            <a:r>
              <a:rPr lang="en-US" altLang="en-US" dirty="0"/>
              <a:t> </a:t>
            </a:r>
            <a:r>
              <a:rPr lang="en-US" altLang="en-US" dirty="0" err="1"/>
              <a:t>перемешиваются</a:t>
            </a:r>
            <a:r>
              <a:rPr lang="en-US" altLang="en-US" dirty="0"/>
              <a:t> в </a:t>
            </a:r>
            <a:r>
              <a:rPr lang="en-US" altLang="en-US" dirty="0" err="1"/>
              <a:t>общем</a:t>
            </a:r>
            <a:r>
              <a:rPr lang="en-US" altLang="en-US" dirty="0"/>
              <a:t> </a:t>
            </a:r>
            <a:r>
              <a:rPr lang="en-US" altLang="en-US" dirty="0" err="1"/>
              <a:t>канале</a:t>
            </a:r>
            <a:r>
              <a:rPr lang="en-US" altLang="en-US" dirty="0"/>
              <a:t>. </a:t>
            </a:r>
            <a:r>
              <a:rPr lang="en-US" altLang="en-US" dirty="0" err="1"/>
              <a:t>Это</a:t>
            </a:r>
            <a:r>
              <a:rPr lang="en-US" altLang="en-US" dirty="0"/>
              <a:t> </a:t>
            </a:r>
            <a:r>
              <a:rPr lang="en-US" altLang="en-US" dirty="0" err="1"/>
              <a:t>решает</a:t>
            </a:r>
            <a:r>
              <a:rPr lang="en-US" altLang="en-US" dirty="0"/>
              <a:t> </a:t>
            </a:r>
            <a:r>
              <a:rPr lang="en-US" altLang="en-US" dirty="0" err="1"/>
              <a:t>проблему</a:t>
            </a:r>
            <a:r>
              <a:rPr lang="en-US" altLang="en-US" dirty="0"/>
              <a:t> head-of-line blocking </a:t>
            </a:r>
            <a:r>
              <a:rPr lang="en-US" altLang="en-US" dirty="0" err="1"/>
              <a:t>на</a:t>
            </a:r>
            <a:r>
              <a:rPr lang="en-US" altLang="en-US" dirty="0"/>
              <a:t> </a:t>
            </a:r>
            <a:r>
              <a:rPr lang="en-US" altLang="en-US" dirty="0" err="1"/>
              <a:t>уровне</a:t>
            </a:r>
            <a:r>
              <a:rPr lang="en-US" altLang="en-US" dirty="0"/>
              <a:t> </a:t>
            </a:r>
            <a:r>
              <a:rPr lang="en-US" altLang="en-US" dirty="0" err="1"/>
              <a:t>приложения</a:t>
            </a:r>
            <a:r>
              <a:rPr lang="en-US" altLang="en-US" dirty="0"/>
              <a:t> (</a:t>
            </a:r>
            <a:r>
              <a:rPr lang="en-US" altLang="en-US" dirty="0" err="1"/>
              <a:t>но</a:t>
            </a:r>
            <a:r>
              <a:rPr lang="en-US" altLang="en-US" dirty="0"/>
              <a:t> </a:t>
            </a:r>
            <a:r>
              <a:rPr lang="en-US" altLang="en-US" dirty="0" err="1"/>
              <a:t>не</a:t>
            </a:r>
            <a:r>
              <a:rPr lang="en-US" altLang="en-US" dirty="0"/>
              <a:t> </a:t>
            </a:r>
            <a:r>
              <a:rPr lang="en-US" altLang="en-US" dirty="0" err="1"/>
              <a:t>на</a:t>
            </a:r>
            <a:r>
              <a:rPr lang="en-US" altLang="en-US" dirty="0"/>
              <a:t> </a:t>
            </a:r>
            <a:r>
              <a:rPr lang="en-US" altLang="en-US" dirty="0" err="1"/>
              <a:t>уровне</a:t>
            </a:r>
            <a:r>
              <a:rPr lang="en-US" altLang="en-US" dirty="0"/>
              <a:t> TCP, </a:t>
            </a:r>
            <a:r>
              <a:rPr lang="en-US" altLang="en-US" dirty="0" err="1"/>
              <a:t>что</a:t>
            </a:r>
            <a:r>
              <a:rPr lang="en-US" altLang="en-US" dirty="0"/>
              <a:t> </a:t>
            </a:r>
            <a:r>
              <a:rPr lang="en-US" altLang="en-US" dirty="0" err="1"/>
              <a:t>решается</a:t>
            </a:r>
            <a:r>
              <a:rPr lang="en-US" altLang="en-US" dirty="0"/>
              <a:t> в HTTP/3 с QUIC).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3. </a:t>
            </a:r>
            <a:r>
              <a:rPr lang="en-US" altLang="en-US" b="1" dirty="0" err="1"/>
              <a:t>Сжатие</a:t>
            </a:r>
            <a:r>
              <a:rPr lang="en-US" altLang="en-US" b="1" dirty="0"/>
              <a:t> </a:t>
            </a:r>
            <a:r>
              <a:rPr lang="en-US" altLang="en-US" b="1" dirty="0" err="1"/>
              <a:t>заголовков</a:t>
            </a:r>
            <a:r>
              <a:rPr lang="en-US" altLang="en-US" b="1" dirty="0"/>
              <a:t> (HPACK)</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В </a:t>
            </a:r>
            <a:r>
              <a:rPr lang="en-US" altLang="en-US" dirty="0" err="1"/>
              <a:t>текстовом</a:t>
            </a:r>
            <a:r>
              <a:rPr lang="en-US" altLang="en-US" dirty="0"/>
              <a:t> HTTP/1.1 </a:t>
            </a:r>
            <a:r>
              <a:rPr lang="en-US" altLang="en-US" dirty="0" err="1"/>
              <a:t>заголовки</a:t>
            </a:r>
            <a:r>
              <a:rPr lang="en-US" altLang="en-US" dirty="0"/>
              <a:t> </a:t>
            </a:r>
            <a:r>
              <a:rPr lang="en-US" altLang="en-US" dirty="0" err="1"/>
              <a:t>передавались</a:t>
            </a:r>
            <a:r>
              <a:rPr lang="en-US" altLang="en-US" dirty="0"/>
              <a:t> </a:t>
            </a:r>
            <a:r>
              <a:rPr lang="en-US" altLang="en-US" dirty="0" err="1"/>
              <a:t>каждый</a:t>
            </a:r>
            <a:r>
              <a:rPr lang="en-US" altLang="en-US" dirty="0"/>
              <a:t> </a:t>
            </a:r>
            <a:r>
              <a:rPr lang="en-US" altLang="en-US" dirty="0" err="1"/>
              <a:t>раз</a:t>
            </a:r>
            <a:r>
              <a:rPr lang="en-US" altLang="en-US" dirty="0"/>
              <a:t> </a:t>
            </a:r>
            <a:r>
              <a:rPr lang="en-US" altLang="en-US" dirty="0" err="1"/>
              <a:t>полностью</a:t>
            </a:r>
            <a:r>
              <a:rPr lang="en-US" altLang="en-US" dirty="0"/>
              <a:t>, </a:t>
            </a:r>
            <a:r>
              <a:rPr lang="en-US" altLang="en-US" dirty="0" err="1"/>
              <a:t>что</a:t>
            </a:r>
            <a:r>
              <a:rPr lang="en-US" altLang="en-US" dirty="0"/>
              <a:t> </a:t>
            </a:r>
            <a:r>
              <a:rPr lang="en-US" altLang="en-US" dirty="0" err="1"/>
              <a:t>приводило</a:t>
            </a:r>
            <a:r>
              <a:rPr lang="en-US" altLang="en-US" dirty="0"/>
              <a:t> к </a:t>
            </a:r>
            <a:r>
              <a:rPr lang="en-US" altLang="en-US" dirty="0" err="1"/>
              <a:t>дублированию</a:t>
            </a:r>
            <a:r>
              <a:rPr lang="en-US" altLang="en-US" dirty="0"/>
              <a:t> (</a:t>
            </a:r>
            <a:r>
              <a:rPr lang="en-US" altLang="en-US" dirty="0" err="1"/>
              <a:t>например</a:t>
            </a:r>
            <a:r>
              <a:rPr lang="en-US" altLang="en-US" dirty="0"/>
              <a:t>, </a:t>
            </a:r>
            <a:r>
              <a:rPr lang="en-US" altLang="en-US" dirty="0" err="1"/>
              <a:t>повторяющиеся</a:t>
            </a:r>
            <a:r>
              <a:rPr lang="en-US" altLang="en-US" dirty="0"/>
              <a:t> Cookies </a:t>
            </a:r>
            <a:r>
              <a:rPr lang="en-US" altLang="en-US" dirty="0" err="1"/>
              <a:t>или</a:t>
            </a:r>
            <a:r>
              <a:rPr lang="en-US" altLang="en-US" dirty="0"/>
              <a:t> User-Agent). В HTTP/2 </a:t>
            </a:r>
            <a:r>
              <a:rPr lang="en-US" altLang="en-US" dirty="0" err="1"/>
              <a:t>бинарный</a:t>
            </a:r>
            <a:r>
              <a:rPr lang="en-US" altLang="en-US" dirty="0"/>
              <a:t> </a:t>
            </a:r>
            <a:r>
              <a:rPr lang="en-US" altLang="en-US" dirty="0" err="1"/>
              <a:t>формат</a:t>
            </a:r>
            <a:r>
              <a:rPr lang="en-US" altLang="en-US" dirty="0"/>
              <a:t> в </a:t>
            </a:r>
            <a:r>
              <a:rPr lang="en-US" altLang="en-US" dirty="0" err="1"/>
              <a:t>сочетании</a:t>
            </a:r>
            <a:r>
              <a:rPr lang="en-US" altLang="en-US" dirty="0"/>
              <a:t> с </a:t>
            </a:r>
            <a:r>
              <a:rPr lang="en-US" altLang="en-US" dirty="0" err="1"/>
              <a:t>алгоритмом</a:t>
            </a:r>
            <a:r>
              <a:rPr lang="en-US" altLang="en-US" dirty="0"/>
              <a:t> HPACK </a:t>
            </a:r>
            <a:r>
              <a:rPr lang="en-US" altLang="en-US" dirty="0" err="1"/>
              <a:t>позволяет</a:t>
            </a:r>
            <a:r>
              <a:rPr lang="en-US" altLang="en-US" dirty="0"/>
              <a:t> </a:t>
            </a:r>
            <a:r>
              <a:rPr lang="en-US" altLang="en-US" dirty="0" err="1"/>
              <a:t>эффективно</a:t>
            </a:r>
            <a:r>
              <a:rPr lang="en-US" altLang="en-US" dirty="0"/>
              <a:t> </a:t>
            </a:r>
            <a:r>
              <a:rPr lang="en-US" altLang="en-US" dirty="0" err="1"/>
              <a:t>сжимать</a:t>
            </a:r>
            <a:r>
              <a:rPr lang="en-US" altLang="en-US" dirty="0"/>
              <a:t> </a:t>
            </a:r>
            <a:r>
              <a:rPr lang="en-US" altLang="en-US" dirty="0" err="1"/>
              <a:t>заголовки</a:t>
            </a:r>
            <a:r>
              <a:rPr lang="en-US" altLang="en-US" dirty="0"/>
              <a:t>: </a:t>
            </a:r>
            <a:r>
              <a:rPr lang="en-US" altLang="en-US" dirty="0" err="1"/>
              <a:t>часто</a:t>
            </a:r>
            <a:r>
              <a:rPr lang="en-US" altLang="en-US" dirty="0"/>
              <a:t> </a:t>
            </a:r>
            <a:r>
              <a:rPr lang="en-US" altLang="en-US" dirty="0" err="1"/>
              <a:t>повторяющиеся</a:t>
            </a:r>
            <a:r>
              <a:rPr lang="en-US" altLang="en-US" dirty="0"/>
              <a:t> </a:t>
            </a:r>
            <a:r>
              <a:rPr lang="en-US" altLang="en-US" dirty="0" err="1"/>
              <a:t>поля</a:t>
            </a:r>
            <a:r>
              <a:rPr lang="en-US" altLang="en-US" dirty="0"/>
              <a:t> </a:t>
            </a:r>
            <a:r>
              <a:rPr lang="en-US" altLang="en-US" dirty="0" err="1"/>
              <a:t>передаются</a:t>
            </a:r>
            <a:r>
              <a:rPr lang="en-US" altLang="en-US" dirty="0"/>
              <a:t> </a:t>
            </a:r>
            <a:r>
              <a:rPr lang="en-US" altLang="en-US" dirty="0" err="1"/>
              <a:t>один</a:t>
            </a:r>
            <a:r>
              <a:rPr lang="en-US" altLang="en-US" dirty="0"/>
              <a:t> </a:t>
            </a:r>
            <a:r>
              <a:rPr lang="en-US" altLang="en-US" dirty="0" err="1"/>
              <a:t>раз</a:t>
            </a:r>
            <a:r>
              <a:rPr lang="en-US" altLang="en-US" dirty="0"/>
              <a:t>, </a:t>
            </a:r>
            <a:r>
              <a:rPr lang="en-US" altLang="en-US" dirty="0" err="1"/>
              <a:t>остальные</a:t>
            </a:r>
            <a:r>
              <a:rPr lang="en-US" altLang="en-US" dirty="0"/>
              <a:t> — с </a:t>
            </a:r>
            <a:r>
              <a:rPr lang="en-US" altLang="en-US" dirty="0" err="1"/>
              <a:t>использованием</a:t>
            </a:r>
            <a:r>
              <a:rPr lang="en-US" altLang="en-US" dirty="0"/>
              <a:t> </a:t>
            </a:r>
            <a:r>
              <a:rPr lang="en-US" altLang="en-US" dirty="0" err="1"/>
              <a:t>кодирования</a:t>
            </a:r>
            <a:r>
              <a:rPr lang="en-US" altLang="en-US" dirty="0"/>
              <a:t> </a:t>
            </a:r>
            <a:r>
              <a:rPr lang="en-US" altLang="en-US" dirty="0" err="1"/>
              <a:t>Хаффмана</a:t>
            </a:r>
            <a:r>
              <a:rPr lang="en-US" altLang="en-US" dirty="0"/>
              <a:t> и </a:t>
            </a:r>
            <a:r>
              <a:rPr lang="en-US" altLang="en-US" dirty="0" err="1"/>
              <a:t>динамической</a:t>
            </a:r>
            <a:r>
              <a:rPr lang="en-US" altLang="en-US" dirty="0"/>
              <a:t> </a:t>
            </a:r>
            <a:r>
              <a:rPr lang="en-US" altLang="en-US" dirty="0" err="1"/>
              <a:t>таблицы</a:t>
            </a:r>
            <a:r>
              <a:rPr lang="en-US" altLang="en-US"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4. </a:t>
            </a:r>
            <a:r>
              <a:rPr lang="en-US" altLang="en-US" b="1" dirty="0" err="1"/>
              <a:t>Приоритизация</a:t>
            </a:r>
            <a:r>
              <a:rPr lang="en-US" altLang="en-US" b="1" dirty="0"/>
              <a:t> </a:t>
            </a:r>
            <a:r>
              <a:rPr lang="en-US" altLang="en-US" b="1" dirty="0" err="1"/>
              <a:t>потоков</a:t>
            </a:r>
            <a:endParaRPr lang="en-US" altLang="en-US" b="1"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С </a:t>
            </a:r>
            <a:r>
              <a:rPr lang="en-US" altLang="en-US" dirty="0" err="1"/>
              <a:t>помощью</a:t>
            </a:r>
            <a:r>
              <a:rPr lang="en-US" altLang="en-US" dirty="0"/>
              <a:t> </a:t>
            </a:r>
            <a:r>
              <a:rPr lang="en-US" altLang="en-US" dirty="0" err="1"/>
              <a:t>специальных</a:t>
            </a:r>
            <a:r>
              <a:rPr lang="en-US" altLang="en-US" dirty="0"/>
              <a:t> </a:t>
            </a:r>
            <a:r>
              <a:rPr lang="en-US" altLang="en-US" dirty="0" err="1"/>
              <a:t>кадров</a:t>
            </a:r>
            <a:r>
              <a:rPr lang="en-US" altLang="en-US" dirty="0"/>
              <a:t> (PRIORITY) </a:t>
            </a:r>
            <a:r>
              <a:rPr lang="en-US" altLang="en-US" dirty="0" err="1"/>
              <a:t>можно</a:t>
            </a:r>
            <a:r>
              <a:rPr lang="en-US" altLang="en-US" dirty="0"/>
              <a:t> </a:t>
            </a:r>
            <a:r>
              <a:rPr lang="en-US" altLang="en-US" dirty="0" err="1"/>
              <a:t>управлять</a:t>
            </a:r>
            <a:r>
              <a:rPr lang="en-US" altLang="en-US" dirty="0"/>
              <a:t> </a:t>
            </a:r>
            <a:r>
              <a:rPr lang="en-US" altLang="en-US" dirty="0" err="1"/>
              <a:t>важностью</a:t>
            </a:r>
            <a:r>
              <a:rPr lang="en-US" altLang="en-US" dirty="0"/>
              <a:t> </a:t>
            </a:r>
            <a:r>
              <a:rPr lang="en-US" altLang="en-US" dirty="0" err="1"/>
              <a:t>разных</a:t>
            </a:r>
            <a:r>
              <a:rPr lang="en-US" altLang="en-US" dirty="0"/>
              <a:t> </a:t>
            </a:r>
            <a:r>
              <a:rPr lang="en-US" altLang="en-US" dirty="0" err="1"/>
              <a:t>потоков</a:t>
            </a:r>
            <a:r>
              <a:rPr lang="en-US" altLang="en-US" dirty="0"/>
              <a:t>, </a:t>
            </a:r>
            <a:r>
              <a:rPr lang="en-US" altLang="en-US" dirty="0" err="1"/>
              <a:t>что</a:t>
            </a:r>
            <a:r>
              <a:rPr lang="en-US" altLang="en-US" dirty="0"/>
              <a:t> </a:t>
            </a:r>
            <a:r>
              <a:rPr lang="en-US" altLang="en-US" dirty="0" err="1"/>
              <a:t>позволяет</a:t>
            </a:r>
            <a:r>
              <a:rPr lang="en-US" altLang="en-US" dirty="0"/>
              <a:t> </a:t>
            </a:r>
            <a:r>
              <a:rPr lang="en-US" altLang="en-US" dirty="0" err="1"/>
              <a:t>браузеру</a:t>
            </a:r>
            <a:r>
              <a:rPr lang="en-US" altLang="en-US" dirty="0"/>
              <a:t> </a:t>
            </a:r>
            <a:r>
              <a:rPr lang="en-US" altLang="en-US" dirty="0" err="1"/>
              <a:t>сначала</a:t>
            </a:r>
            <a:r>
              <a:rPr lang="en-US" altLang="en-US" dirty="0"/>
              <a:t> </a:t>
            </a:r>
            <a:r>
              <a:rPr lang="en-US" altLang="en-US" dirty="0" err="1"/>
              <a:t>загружать</a:t>
            </a:r>
            <a:r>
              <a:rPr lang="en-US" altLang="en-US" dirty="0"/>
              <a:t> </a:t>
            </a:r>
            <a:r>
              <a:rPr lang="en-US" altLang="en-US" dirty="0" err="1"/>
              <a:t>критический</a:t>
            </a:r>
            <a:r>
              <a:rPr lang="en-US" altLang="en-US" dirty="0"/>
              <a:t> </a:t>
            </a:r>
            <a:r>
              <a:rPr lang="en-US" altLang="en-US" dirty="0" err="1"/>
              <a:t>контент</a:t>
            </a:r>
            <a:r>
              <a:rPr lang="en-US" altLang="en-US" dirty="0"/>
              <a:t> (</a:t>
            </a:r>
            <a:r>
              <a:rPr lang="en-US" altLang="en-US" dirty="0" err="1"/>
              <a:t>например</a:t>
            </a:r>
            <a:r>
              <a:rPr lang="en-US" altLang="en-US" dirty="0"/>
              <a:t>, CSS) и </a:t>
            </a:r>
            <a:r>
              <a:rPr lang="en-US" altLang="en-US" dirty="0" err="1"/>
              <a:t>откладывать</a:t>
            </a:r>
            <a:r>
              <a:rPr lang="en-US" altLang="en-US" dirty="0"/>
              <a:t> </a:t>
            </a:r>
            <a:r>
              <a:rPr lang="en-US" altLang="en-US" dirty="0" err="1"/>
              <a:t>менее</a:t>
            </a:r>
            <a:r>
              <a:rPr lang="en-US" altLang="en-US" dirty="0"/>
              <a:t> </a:t>
            </a:r>
            <a:r>
              <a:rPr lang="en-US" altLang="en-US" dirty="0" err="1"/>
              <a:t>важный</a:t>
            </a:r>
            <a:r>
              <a:rPr lang="en-US" altLang="en-US" dirty="0"/>
              <a:t> (</a:t>
            </a:r>
            <a:r>
              <a:rPr lang="en-US" altLang="en-US" dirty="0" err="1"/>
              <a:t>например</a:t>
            </a:r>
            <a:r>
              <a:rPr lang="en-US" altLang="en-US" dirty="0"/>
              <a:t>, </a:t>
            </a:r>
            <a:r>
              <a:rPr lang="en-US" altLang="en-US" dirty="0" err="1"/>
              <a:t>изображения</a:t>
            </a:r>
            <a:r>
              <a:rPr lang="en-US" altLang="en-US"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5. </a:t>
            </a:r>
            <a:r>
              <a:rPr lang="en-US" altLang="en-US" b="1" dirty="0"/>
              <a:t>Server Push</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t>Бинарный</a:t>
            </a:r>
            <a:r>
              <a:rPr lang="en-US" altLang="en-US" dirty="0"/>
              <a:t> </a:t>
            </a:r>
            <a:r>
              <a:rPr lang="en-US" altLang="en-US" dirty="0" err="1"/>
              <a:t>протокол</a:t>
            </a:r>
            <a:r>
              <a:rPr lang="en-US" altLang="en-US" dirty="0"/>
              <a:t> </a:t>
            </a:r>
            <a:r>
              <a:rPr lang="en-US" altLang="en-US" dirty="0" err="1"/>
              <a:t>позволяет</a:t>
            </a:r>
            <a:r>
              <a:rPr lang="en-US" altLang="en-US" dirty="0"/>
              <a:t> </a:t>
            </a:r>
            <a:r>
              <a:rPr lang="en-US" altLang="en-US" dirty="0" err="1"/>
              <a:t>серверу</a:t>
            </a:r>
            <a:r>
              <a:rPr lang="en-US" altLang="en-US" dirty="0"/>
              <a:t> </a:t>
            </a:r>
            <a:r>
              <a:rPr lang="en-US" altLang="en-US" dirty="0" err="1"/>
              <a:t>отправлять</a:t>
            </a:r>
            <a:r>
              <a:rPr lang="en-US" altLang="en-US" dirty="0"/>
              <a:t> </a:t>
            </a:r>
            <a:r>
              <a:rPr lang="en-US" altLang="en-US" dirty="0" err="1"/>
              <a:t>ресурсы</a:t>
            </a:r>
            <a:r>
              <a:rPr lang="en-US" altLang="en-US" dirty="0"/>
              <a:t> </a:t>
            </a:r>
            <a:r>
              <a:rPr lang="en-US" altLang="en-US" dirty="0" err="1"/>
              <a:t>проактивно</a:t>
            </a:r>
            <a:r>
              <a:rPr lang="en-US" altLang="en-US" dirty="0"/>
              <a:t>, </a:t>
            </a:r>
            <a:r>
              <a:rPr lang="en-US" altLang="en-US" dirty="0" err="1"/>
              <a:t>инициируя</a:t>
            </a:r>
            <a:r>
              <a:rPr lang="en-US" altLang="en-US" dirty="0"/>
              <a:t> </a:t>
            </a:r>
            <a:r>
              <a:rPr lang="en-US" altLang="en-US" dirty="0" err="1"/>
              <a:t>новые</a:t>
            </a:r>
            <a:r>
              <a:rPr lang="en-US" altLang="en-US" dirty="0"/>
              <a:t> </a:t>
            </a:r>
            <a:r>
              <a:rPr lang="en-US" altLang="en-US" dirty="0" err="1"/>
              <a:t>потоки</a:t>
            </a:r>
            <a:r>
              <a:rPr lang="en-US" altLang="en-US" dirty="0"/>
              <a:t> </a:t>
            </a:r>
            <a:r>
              <a:rPr lang="en-US" altLang="en-US" dirty="0" err="1"/>
              <a:t>без</a:t>
            </a:r>
            <a:r>
              <a:rPr lang="en-US" altLang="en-US" dirty="0"/>
              <a:t> </a:t>
            </a:r>
            <a:r>
              <a:rPr lang="en-US" altLang="en-US" dirty="0" err="1"/>
              <a:t>явного</a:t>
            </a:r>
            <a:r>
              <a:rPr lang="en-US" altLang="en-US" dirty="0"/>
              <a:t> </a:t>
            </a:r>
            <a:r>
              <a:rPr lang="en-US" altLang="en-US" dirty="0" err="1"/>
              <a:t>запроса</a:t>
            </a:r>
            <a:r>
              <a:rPr lang="en-US" altLang="en-US" dirty="0"/>
              <a:t> </a:t>
            </a:r>
            <a:r>
              <a:rPr lang="en-US" altLang="en-US" dirty="0" err="1"/>
              <a:t>от</a:t>
            </a:r>
            <a:r>
              <a:rPr lang="en-US" altLang="en-US" dirty="0"/>
              <a:t> </a:t>
            </a:r>
            <a:r>
              <a:rPr lang="en-US" altLang="en-US" dirty="0" err="1"/>
              <a:t>клиента</a:t>
            </a:r>
            <a:r>
              <a:rPr lang="en-US" altLang="en-US" dirty="0"/>
              <a:t>. </a:t>
            </a:r>
            <a:r>
              <a:rPr lang="en-US" altLang="en-US" dirty="0" err="1"/>
              <a:t>Это</a:t>
            </a:r>
            <a:r>
              <a:rPr lang="en-US" altLang="en-US" dirty="0"/>
              <a:t> </a:t>
            </a:r>
            <a:r>
              <a:rPr lang="en-US" altLang="en-US" dirty="0" err="1"/>
              <a:t>снижает</a:t>
            </a:r>
            <a:r>
              <a:rPr lang="en-US" altLang="en-US" dirty="0"/>
              <a:t> </a:t>
            </a:r>
            <a:r>
              <a:rPr lang="en-US" altLang="en-US" dirty="0" err="1"/>
              <a:t>задержки</a:t>
            </a:r>
            <a:r>
              <a:rPr lang="en-US" altLang="en-US" dirty="0"/>
              <a:t> </a:t>
            </a:r>
            <a:r>
              <a:rPr lang="en-US" altLang="en-US" dirty="0" err="1"/>
              <a:t>при</a:t>
            </a:r>
            <a:r>
              <a:rPr lang="en-US" altLang="en-US" dirty="0"/>
              <a:t> </a:t>
            </a:r>
            <a:r>
              <a:rPr lang="en-US" altLang="en-US" dirty="0" err="1"/>
              <a:t>загрузке</a:t>
            </a:r>
            <a:r>
              <a:rPr lang="en-US" altLang="en-US" dirty="0"/>
              <a:t> </a:t>
            </a:r>
            <a:r>
              <a:rPr lang="en-US" altLang="en-US" dirty="0" err="1"/>
              <a:t>сложных</a:t>
            </a:r>
            <a:r>
              <a:rPr lang="en-US" altLang="en-US" dirty="0"/>
              <a:t> </a:t>
            </a:r>
            <a:r>
              <a:rPr lang="en-US" altLang="en-US" dirty="0" err="1"/>
              <a:t>страниц</a:t>
            </a:r>
            <a:r>
              <a:rPr lang="en-US" altLang="en-US"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6. </a:t>
            </a:r>
            <a:r>
              <a:rPr lang="en-US" altLang="en-US" b="1" dirty="0" err="1"/>
              <a:t>Экономия</a:t>
            </a:r>
            <a:r>
              <a:rPr lang="en-US" altLang="en-US" b="1" dirty="0"/>
              <a:t> </a:t>
            </a:r>
            <a:r>
              <a:rPr lang="en-US" altLang="en-US" b="1" dirty="0" err="1"/>
              <a:t>ресурсов</a:t>
            </a:r>
            <a:endParaRPr lang="en-US" altLang="en-US" b="1"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t>Одно</a:t>
            </a:r>
            <a:r>
              <a:rPr lang="en-US" altLang="en-US" dirty="0"/>
              <a:t> TCP-</a:t>
            </a:r>
            <a:r>
              <a:rPr lang="en-US" altLang="en-US" dirty="0" err="1"/>
              <a:t>соединение</a:t>
            </a:r>
            <a:r>
              <a:rPr lang="en-US" altLang="en-US" dirty="0"/>
              <a:t> </a:t>
            </a:r>
            <a:r>
              <a:rPr lang="en-US" altLang="en-US" dirty="0" err="1"/>
              <a:t>вместо</a:t>
            </a:r>
            <a:r>
              <a:rPr lang="en-US" altLang="en-US" dirty="0"/>
              <a:t> </a:t>
            </a:r>
            <a:r>
              <a:rPr lang="en-US" altLang="en-US" dirty="0" err="1"/>
              <a:t>множества</a:t>
            </a:r>
            <a:r>
              <a:rPr lang="en-US" altLang="en-US" dirty="0"/>
              <a:t> </a:t>
            </a:r>
            <a:r>
              <a:rPr lang="en-US" altLang="en-US" dirty="0" err="1"/>
              <a:t>параллельных</a:t>
            </a:r>
            <a:r>
              <a:rPr lang="en-US" altLang="en-US" dirty="0"/>
              <a:t> (</a:t>
            </a:r>
            <a:r>
              <a:rPr lang="en-US" altLang="en-US" dirty="0" err="1"/>
              <a:t>как</a:t>
            </a:r>
            <a:r>
              <a:rPr lang="en-US" altLang="en-US" dirty="0"/>
              <a:t> в HTTP/1.1 с domain </a:t>
            </a:r>
            <a:r>
              <a:rPr lang="en-US" altLang="en-US" dirty="0" err="1"/>
              <a:t>sharding</a:t>
            </a:r>
            <a:r>
              <a:rPr lang="en-US" altLang="en-US" dirty="0"/>
              <a:t>) </a:t>
            </a:r>
            <a:r>
              <a:rPr lang="en-US" altLang="en-US" dirty="0" err="1"/>
              <a:t>уменьшает</a:t>
            </a:r>
            <a:r>
              <a:rPr lang="en-US" altLang="en-US" dirty="0"/>
              <a:t> </a:t>
            </a:r>
            <a:r>
              <a:rPr lang="en-US" altLang="en-US" dirty="0" err="1"/>
              <a:t>накладные</a:t>
            </a:r>
            <a:r>
              <a:rPr lang="en-US" altLang="en-US" dirty="0"/>
              <a:t> </a:t>
            </a:r>
            <a:r>
              <a:rPr lang="en-US" altLang="en-US" dirty="0" err="1"/>
              <a:t>расходы</a:t>
            </a:r>
            <a:r>
              <a:rPr lang="en-US" altLang="en-US" dirty="0"/>
              <a:t> </a:t>
            </a:r>
            <a:r>
              <a:rPr lang="en-US" altLang="en-US" dirty="0" err="1"/>
              <a:t>на</a:t>
            </a:r>
            <a:r>
              <a:rPr lang="en-US" altLang="en-US" dirty="0"/>
              <a:t> </a:t>
            </a:r>
            <a:r>
              <a:rPr lang="en-US" altLang="en-US" dirty="0" err="1"/>
              <a:t>установку</a:t>
            </a:r>
            <a:r>
              <a:rPr lang="en-US" altLang="en-US" dirty="0"/>
              <a:t> </a:t>
            </a:r>
            <a:r>
              <a:rPr lang="en-US" altLang="en-US" dirty="0" err="1"/>
              <a:t>соединений</a:t>
            </a:r>
            <a:r>
              <a:rPr lang="en-US" altLang="en-US" dirty="0"/>
              <a:t> (TCP handshake, TLS handshake) и </a:t>
            </a:r>
            <a:r>
              <a:rPr lang="en-US" altLang="en-US" dirty="0" err="1"/>
              <a:t>снижает</a:t>
            </a:r>
            <a:r>
              <a:rPr lang="en-US" altLang="en-US" dirty="0"/>
              <a:t> </a:t>
            </a:r>
            <a:r>
              <a:rPr lang="en-US" altLang="en-US" dirty="0" err="1"/>
              <a:t>нагрузку</a:t>
            </a:r>
            <a:r>
              <a:rPr lang="en-US" altLang="en-US" dirty="0"/>
              <a:t> </a:t>
            </a:r>
            <a:r>
              <a:rPr lang="en-US" altLang="en-US" dirty="0" err="1"/>
              <a:t>на</a:t>
            </a:r>
            <a:r>
              <a:rPr lang="en-US" altLang="en-US" dirty="0"/>
              <a:t> </a:t>
            </a:r>
            <a:r>
              <a:rPr lang="en-US" altLang="en-US" dirty="0" err="1"/>
              <a:t>сеть</a:t>
            </a:r>
            <a:r>
              <a:rPr lang="en-US" altLang="en-US" dirty="0"/>
              <a:t>.</a:t>
            </a:r>
          </a:p>
        </p:txBody>
      </p:sp>
    </p:spTree>
    <p:extLst>
      <p:ext uri="{BB962C8B-B14F-4D97-AF65-F5344CB8AC3E}">
        <p14:creationId xmlns:p14="http://schemas.microsoft.com/office/powerpoint/2010/main" val="7077065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829D76-D237-4462-B4D7-C7569E1BFAE7}"/>
              </a:ext>
            </a:extLst>
          </p:cNvPr>
          <p:cNvSpPr txBox="1"/>
          <p:nvPr/>
        </p:nvSpPr>
        <p:spPr>
          <a:xfrm>
            <a:off x="647700" y="253484"/>
            <a:ext cx="609600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Мультиплексирование</a:t>
            </a:r>
            <a:r>
              <a:rPr kumimoji="0" lang="en-US" altLang="en-US" sz="1800" b="1" i="0" u="none" strike="noStrike" cap="none" normalizeH="0" baseline="0" dirty="0">
                <a:ln>
                  <a:noFill/>
                </a:ln>
                <a:solidFill>
                  <a:schemeClr val="tx1"/>
                </a:solidFill>
                <a:effectLst/>
                <a:latin typeface="Arial" panose="020B0604020202020204" pitchFamily="34" charset="0"/>
              </a:rPr>
              <a:t> (Multiplexing)</a:t>
            </a:r>
          </a:p>
        </p:txBody>
      </p:sp>
      <p:sp>
        <p:nvSpPr>
          <p:cNvPr id="2" name="Rectangle 1">
            <a:extLst>
              <a:ext uri="{FF2B5EF4-FFF2-40B4-BE49-F238E27FC236}">
                <a16:creationId xmlns:a16="http://schemas.microsoft.com/office/drawing/2014/main" id="{3D103CE9-8B82-489D-B9BD-D3B4E59AF853}"/>
              </a:ext>
            </a:extLst>
          </p:cNvPr>
          <p:cNvSpPr>
            <a:spLocks noChangeArrowheads="1"/>
          </p:cNvSpPr>
          <p:nvPr/>
        </p:nvSpPr>
        <p:spPr bwMode="auto">
          <a:xfrm>
            <a:off x="457200" y="942185"/>
            <a:ext cx="11439525"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Мультиплексирование</a:t>
            </a:r>
            <a:r>
              <a:rPr kumimoji="0" lang="en-US" altLang="en-US" sz="2000" b="1" i="0" u="none" strike="noStrike" cap="none" normalizeH="0" baseline="0" dirty="0">
                <a:ln>
                  <a:noFill/>
                </a:ln>
                <a:solidFill>
                  <a:schemeClr val="tx1"/>
                </a:solidFill>
                <a:effectLst/>
                <a:latin typeface="Arial" panose="020B0604020202020204" pitchFamily="34" charset="0"/>
              </a:rPr>
              <a:t> в HTTP/2</a:t>
            </a:r>
            <a:r>
              <a:rPr kumimoji="0" lang="en-US" altLang="en-US" sz="2000" b="0" i="0" u="none" strike="noStrike" cap="none" normalizeH="0" baseline="0" dirty="0">
                <a:ln>
                  <a:noFill/>
                </a:ln>
                <a:solidFill>
                  <a:schemeClr val="tx1"/>
                </a:solidFill>
                <a:effectLst/>
                <a:latin typeface="Arial" panose="020B0604020202020204" pitchFamily="34" charset="0"/>
              </a:rPr>
              <a:t> — </a:t>
            </a:r>
            <a:r>
              <a:rPr kumimoji="0" lang="en-US" altLang="en-US" sz="2000" b="0" i="0" u="none" strike="noStrike" cap="none" normalizeH="0" baseline="0" dirty="0" err="1">
                <a:ln>
                  <a:noFill/>
                </a:ln>
                <a:solidFill>
                  <a:schemeClr val="tx1"/>
                </a:solidFill>
                <a:effectLst/>
                <a:latin typeface="Arial" panose="020B0604020202020204" pitchFamily="34" charset="0"/>
              </a:rPr>
              <a:t>это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возможность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одновременно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передавать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несколько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независимых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запросов</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ответов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одному</a:t>
            </a:r>
            <a:r>
              <a:rPr kumimoji="0" lang="en-US" altLang="en-US" sz="2000" b="0" i="0" u="none" strike="noStrike" cap="none" normalizeH="0" baseline="0" dirty="0">
                <a:ln>
                  <a:noFill/>
                </a:ln>
                <a:solidFill>
                  <a:schemeClr val="tx1"/>
                </a:solidFill>
                <a:effectLst/>
                <a:latin typeface="Arial" panose="020B0604020202020204" pitchFamily="34" charset="0"/>
              </a:rPr>
              <a:t> TCP-</a:t>
            </a:r>
            <a:r>
              <a:rPr kumimoji="0" lang="en-US" altLang="en-US" sz="2000" b="0" i="0" u="none" strike="noStrike" cap="none" normalizeH="0" baseline="0" dirty="0" err="1">
                <a:ln>
                  <a:noFill/>
                </a:ln>
                <a:solidFill>
                  <a:schemeClr val="tx1"/>
                </a:solidFill>
                <a:effectLst/>
                <a:latin typeface="Arial" panose="020B0604020202020204" pitchFamily="34" charset="0"/>
              </a:rPr>
              <a:t>соединению</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перемешивая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фрагменты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кадры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друг</a:t>
            </a:r>
            <a:r>
              <a:rPr kumimoji="0" lang="en-US" altLang="en-US" sz="2000" b="0" i="0" u="none" strike="noStrike" cap="none" normalizeH="0" baseline="0" dirty="0">
                <a:ln>
                  <a:noFill/>
                </a:ln>
                <a:solidFill>
                  <a:schemeClr val="tx1"/>
                </a:solidFill>
                <a:effectLst/>
                <a:latin typeface="Arial" panose="020B0604020202020204" pitchFamily="34" charset="0"/>
              </a:rPr>
              <a:t> с </a:t>
            </a:r>
            <a:r>
              <a:rPr kumimoji="0" lang="en-US" altLang="en-US" sz="2000" b="0" i="0" u="none" strike="noStrike" cap="none" normalizeH="0" baseline="0" dirty="0" err="1">
                <a:ln>
                  <a:noFill/>
                </a:ln>
                <a:solidFill>
                  <a:schemeClr val="tx1"/>
                </a:solidFill>
                <a:effectLst/>
                <a:latin typeface="Arial" panose="020B0604020202020204" pitchFamily="34" charset="0"/>
              </a:rPr>
              <a:t>другом</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Это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одно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из</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ключевых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улучшений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протокола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ставшее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возможным</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благодаря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переходу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бинарный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формат</a:t>
            </a:r>
            <a:r>
              <a:rPr kumimoji="0" lang="en-US" altLang="en-US" sz="2000" b="0" i="0" u="none" strike="noStrike" cap="none" normalizeH="0" baseline="0" dirty="0">
                <a:ln>
                  <a:noFill/>
                </a:ln>
                <a:solidFill>
                  <a:schemeClr val="tx1"/>
                </a:solidFill>
                <a:effectLst/>
                <a:latin typeface="Arial" panose="020B0604020202020204" pitchFamily="34" charset="0"/>
              </a:rPr>
              <a:t>.</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dirty="0">
              <a:latin typeface="Arial" panose="020B0604020202020204" pitchFamily="34" charset="0"/>
            </a:endParaRPr>
          </a:p>
          <a:p>
            <a:pPr eaLnBrk="0" fontAlgn="base" hangingPunct="0">
              <a:spcBef>
                <a:spcPct val="0"/>
              </a:spcBef>
              <a:spcAft>
                <a:spcPct val="0"/>
              </a:spcAft>
            </a:pPr>
            <a:r>
              <a:rPr lang="en-US" altLang="en-US" sz="2000" b="1" dirty="0" err="1"/>
              <a:t>Как</a:t>
            </a:r>
            <a:r>
              <a:rPr lang="en-US" altLang="en-US" sz="2000" b="1" dirty="0"/>
              <a:t> </a:t>
            </a:r>
            <a:r>
              <a:rPr lang="en-US" altLang="en-US" sz="2000" b="1" dirty="0" err="1"/>
              <a:t>это</a:t>
            </a:r>
            <a:r>
              <a:rPr lang="en-US" altLang="en-US" sz="2000" b="1" dirty="0"/>
              <a:t> </a:t>
            </a:r>
            <a:r>
              <a:rPr lang="en-US" altLang="en-US" sz="2000" b="1" dirty="0" err="1"/>
              <a:t>работает</a:t>
            </a:r>
            <a:endParaRPr lang="en-US" altLang="en-US" sz="2000" b="1" dirty="0"/>
          </a:p>
          <a:p>
            <a:pPr eaLnBrk="0" fontAlgn="base" hangingPunct="0">
              <a:spcBef>
                <a:spcPct val="0"/>
              </a:spcBef>
              <a:spcAft>
                <a:spcPct val="0"/>
              </a:spcAft>
            </a:pPr>
            <a:r>
              <a:rPr lang="en-US" altLang="en-US" sz="2000" dirty="0"/>
              <a:t>В HTTP/2 </a:t>
            </a:r>
            <a:r>
              <a:rPr lang="en-US" altLang="en-US" sz="2000" dirty="0" err="1"/>
              <a:t>данные</a:t>
            </a:r>
            <a:r>
              <a:rPr lang="en-US" altLang="en-US" sz="2000" dirty="0"/>
              <a:t> </a:t>
            </a:r>
            <a:r>
              <a:rPr lang="en-US" altLang="en-US" sz="2000" dirty="0" err="1"/>
              <a:t>разбиваются</a:t>
            </a:r>
            <a:r>
              <a:rPr lang="en-US" altLang="en-US" sz="2000" dirty="0"/>
              <a:t> </a:t>
            </a:r>
            <a:r>
              <a:rPr lang="en-US" altLang="en-US" sz="2000" dirty="0" err="1"/>
              <a:t>на</a:t>
            </a:r>
            <a:r>
              <a:rPr lang="en-US" altLang="en-US" sz="2000" dirty="0"/>
              <a:t> </a:t>
            </a:r>
            <a:r>
              <a:rPr lang="en-US" altLang="en-US" sz="2000" dirty="0" err="1"/>
              <a:t>бинарные</a:t>
            </a:r>
            <a:r>
              <a:rPr lang="en-US" altLang="en-US" sz="2000" dirty="0"/>
              <a:t> </a:t>
            </a:r>
            <a:r>
              <a:rPr lang="en-US" altLang="en-US" sz="2000" dirty="0" err="1"/>
              <a:t>кадры</a:t>
            </a:r>
            <a:r>
              <a:rPr lang="en-US" altLang="en-US" sz="2000" dirty="0"/>
              <a:t> (frames). </a:t>
            </a:r>
            <a:r>
              <a:rPr lang="en-US" altLang="en-US" sz="2000" dirty="0" err="1"/>
              <a:t>Каждый</a:t>
            </a:r>
            <a:r>
              <a:rPr lang="en-US" altLang="en-US" sz="2000" dirty="0"/>
              <a:t> </a:t>
            </a:r>
            <a:r>
              <a:rPr lang="en-US" altLang="en-US" sz="2000" dirty="0" err="1"/>
              <a:t>кадр</a:t>
            </a:r>
            <a:r>
              <a:rPr lang="en-US" altLang="en-US" sz="2000" dirty="0"/>
              <a:t> </a:t>
            </a:r>
            <a:r>
              <a:rPr lang="en-US" altLang="en-US" sz="2000" dirty="0" err="1"/>
              <a:t>относится</a:t>
            </a:r>
            <a:r>
              <a:rPr lang="en-US" altLang="en-US" sz="2000" dirty="0"/>
              <a:t> к </a:t>
            </a:r>
            <a:r>
              <a:rPr lang="en-US" altLang="en-US" sz="2000" dirty="0" err="1"/>
              <a:t>определённому</a:t>
            </a:r>
            <a:r>
              <a:rPr lang="en-US" altLang="en-US" sz="2000" dirty="0"/>
              <a:t> </a:t>
            </a:r>
            <a:r>
              <a:rPr lang="en-US" altLang="en-US" sz="2000" dirty="0" err="1"/>
              <a:t>потоку</a:t>
            </a:r>
            <a:r>
              <a:rPr lang="en-US" altLang="en-US" sz="2000" dirty="0"/>
              <a:t> (stream) — </a:t>
            </a:r>
            <a:r>
              <a:rPr lang="en-US" altLang="en-US" sz="2000" dirty="0" err="1"/>
              <a:t>логическому</a:t>
            </a:r>
            <a:r>
              <a:rPr lang="en-US" altLang="en-US" sz="2000" dirty="0"/>
              <a:t> </a:t>
            </a:r>
            <a:r>
              <a:rPr lang="en-US" altLang="en-US" sz="2000" dirty="0" err="1"/>
              <a:t>каналу</a:t>
            </a:r>
            <a:r>
              <a:rPr lang="en-US" altLang="en-US" sz="2000" dirty="0"/>
              <a:t> </a:t>
            </a:r>
            <a:r>
              <a:rPr lang="en-US" altLang="en-US" sz="2000" dirty="0" err="1"/>
              <a:t>внутри</a:t>
            </a:r>
            <a:r>
              <a:rPr lang="en-US" altLang="en-US" sz="2000" dirty="0"/>
              <a:t> </a:t>
            </a:r>
            <a:r>
              <a:rPr lang="en-US" altLang="en-US" sz="2000" dirty="0" err="1"/>
              <a:t>одного</a:t>
            </a:r>
            <a:r>
              <a:rPr lang="en-US" altLang="en-US" sz="2000" dirty="0"/>
              <a:t> TCP-</a:t>
            </a:r>
            <a:r>
              <a:rPr lang="en-US" altLang="en-US" sz="2000" dirty="0" err="1"/>
              <a:t>соединения</a:t>
            </a:r>
            <a:r>
              <a:rPr lang="en-US" altLang="en-US" sz="2000" dirty="0"/>
              <a:t>. </a:t>
            </a:r>
            <a:r>
              <a:rPr lang="en-US" altLang="en-US" sz="2000" dirty="0" err="1"/>
              <a:t>Поток</a:t>
            </a:r>
            <a:r>
              <a:rPr lang="en-US" altLang="en-US" sz="2000" dirty="0"/>
              <a:t> </a:t>
            </a:r>
            <a:r>
              <a:rPr lang="en-US" altLang="en-US" sz="2000" dirty="0" err="1"/>
              <a:t>идентифицируется</a:t>
            </a:r>
            <a:r>
              <a:rPr lang="en-US" altLang="en-US" sz="2000" dirty="0"/>
              <a:t> </a:t>
            </a:r>
            <a:r>
              <a:rPr lang="en-US" altLang="en-US" sz="2000" dirty="0" err="1"/>
              <a:t>числом</a:t>
            </a:r>
            <a:r>
              <a:rPr lang="en-US" altLang="en-US" sz="2000" dirty="0"/>
              <a:t> (stream ID), </a:t>
            </a:r>
            <a:r>
              <a:rPr lang="en-US" altLang="en-US" sz="2000" dirty="0" err="1"/>
              <a:t>которое</a:t>
            </a:r>
            <a:r>
              <a:rPr lang="en-US" altLang="en-US" sz="2000" dirty="0"/>
              <a:t> </a:t>
            </a:r>
            <a:r>
              <a:rPr lang="en-US" altLang="en-US" sz="2000" dirty="0" err="1"/>
              <a:t>указывается</a:t>
            </a:r>
            <a:r>
              <a:rPr lang="en-US" altLang="en-US" sz="2000" dirty="0"/>
              <a:t> в </a:t>
            </a:r>
            <a:r>
              <a:rPr lang="en-US" altLang="en-US" sz="2000" dirty="0" err="1"/>
              <a:t>заголовке</a:t>
            </a:r>
            <a:r>
              <a:rPr lang="en-US" altLang="en-US" sz="2000" dirty="0"/>
              <a:t> </a:t>
            </a:r>
            <a:r>
              <a:rPr lang="en-US" altLang="en-US" sz="2000" dirty="0" err="1"/>
              <a:t>каждого</a:t>
            </a:r>
            <a:r>
              <a:rPr lang="en-US" altLang="en-US" sz="2000" dirty="0"/>
              <a:t> </a:t>
            </a:r>
            <a:r>
              <a:rPr lang="en-US" altLang="en-US" sz="2000" dirty="0" err="1"/>
              <a:t>кадра</a:t>
            </a:r>
            <a:r>
              <a:rPr lang="en-US" altLang="en-US" sz="2000" dirty="0"/>
              <a:t>.</a:t>
            </a:r>
          </a:p>
          <a:p>
            <a:pPr eaLnBrk="0" fontAlgn="base" hangingPunct="0">
              <a:spcBef>
                <a:spcPct val="0"/>
              </a:spcBef>
              <a:spcAft>
                <a:spcPct val="0"/>
              </a:spcAft>
            </a:pPr>
            <a:r>
              <a:rPr lang="en-US" altLang="en-US" sz="2000" dirty="0" err="1"/>
              <a:t>Клиент</a:t>
            </a:r>
            <a:r>
              <a:rPr lang="en-US" altLang="en-US" sz="2000" dirty="0"/>
              <a:t> </a:t>
            </a:r>
            <a:r>
              <a:rPr lang="en-US" altLang="en-US" sz="2000" dirty="0" err="1"/>
              <a:t>инициирует</a:t>
            </a:r>
            <a:r>
              <a:rPr lang="en-US" altLang="en-US" sz="2000" dirty="0"/>
              <a:t> </a:t>
            </a:r>
            <a:r>
              <a:rPr lang="en-US" altLang="en-US" sz="2000" dirty="0" err="1"/>
              <a:t>поток</a:t>
            </a:r>
            <a:r>
              <a:rPr lang="en-US" altLang="en-US" sz="2000" dirty="0"/>
              <a:t>, </a:t>
            </a:r>
            <a:r>
              <a:rPr lang="en-US" altLang="en-US" sz="2000" dirty="0" err="1"/>
              <a:t>отправляя</a:t>
            </a:r>
            <a:r>
              <a:rPr lang="en-US" altLang="en-US" sz="2000" dirty="0"/>
              <a:t> </a:t>
            </a:r>
            <a:r>
              <a:rPr lang="en-US" altLang="en-US" sz="2000" dirty="0" err="1"/>
              <a:t>кадр</a:t>
            </a:r>
            <a:r>
              <a:rPr lang="en-US" altLang="en-US" sz="2000" dirty="0"/>
              <a:t> HEADERS с </a:t>
            </a:r>
            <a:r>
              <a:rPr lang="en-US" altLang="en-US" sz="2000" dirty="0" err="1"/>
              <a:t>новым</a:t>
            </a:r>
            <a:r>
              <a:rPr lang="en-US" altLang="en-US" sz="2000" dirty="0"/>
              <a:t> ID (</a:t>
            </a:r>
            <a:r>
              <a:rPr lang="en-US" altLang="en-US" sz="2000" dirty="0" err="1"/>
              <a:t>обычно</a:t>
            </a:r>
            <a:r>
              <a:rPr lang="en-US" altLang="en-US" sz="2000" dirty="0"/>
              <a:t> </a:t>
            </a:r>
            <a:r>
              <a:rPr lang="en-US" altLang="en-US" sz="2000" dirty="0" err="1"/>
              <a:t>нечётные</a:t>
            </a:r>
            <a:r>
              <a:rPr lang="en-US" altLang="en-US" sz="2000" dirty="0"/>
              <a:t> </a:t>
            </a:r>
            <a:r>
              <a:rPr lang="en-US" altLang="en-US" sz="2000" dirty="0" err="1"/>
              <a:t>для</a:t>
            </a:r>
            <a:r>
              <a:rPr lang="en-US" altLang="en-US" sz="2000" dirty="0"/>
              <a:t> </a:t>
            </a:r>
            <a:r>
              <a:rPr lang="en-US" altLang="en-US" sz="2000" dirty="0" err="1"/>
              <a:t>клиента</a:t>
            </a:r>
            <a:r>
              <a:rPr lang="en-US" altLang="en-US" sz="2000" dirty="0"/>
              <a:t>, </a:t>
            </a:r>
            <a:r>
              <a:rPr lang="en-US" altLang="en-US" sz="2000" dirty="0" err="1"/>
              <a:t>чётные</a:t>
            </a:r>
            <a:r>
              <a:rPr lang="en-US" altLang="en-US" sz="2000" dirty="0"/>
              <a:t> </a:t>
            </a:r>
            <a:r>
              <a:rPr lang="en-US" altLang="en-US" sz="2000" dirty="0" err="1"/>
              <a:t>для</a:t>
            </a:r>
            <a:r>
              <a:rPr lang="en-US" altLang="en-US" sz="2000" dirty="0"/>
              <a:t> </a:t>
            </a:r>
            <a:r>
              <a:rPr lang="en-US" altLang="en-US" sz="2000" dirty="0" err="1"/>
              <a:t>сервера</a:t>
            </a:r>
            <a:r>
              <a:rPr lang="en-US" altLang="en-US" sz="2000" dirty="0"/>
              <a:t>).</a:t>
            </a:r>
            <a:endParaRPr lang="ru-RU" altLang="en-US" sz="2000" dirty="0"/>
          </a:p>
          <a:p>
            <a:pPr eaLnBrk="0" fontAlgn="base" hangingPunct="0">
              <a:spcBef>
                <a:spcPct val="0"/>
              </a:spcBef>
              <a:spcAft>
                <a:spcPct val="0"/>
              </a:spcAft>
            </a:pPr>
            <a:endParaRPr lang="en-US" altLang="en-US" sz="2000" dirty="0"/>
          </a:p>
          <a:p>
            <a:pPr eaLnBrk="0" fontAlgn="base" hangingPunct="0">
              <a:spcBef>
                <a:spcPct val="0"/>
              </a:spcBef>
              <a:spcAft>
                <a:spcPct val="0"/>
              </a:spcAft>
            </a:pPr>
            <a:r>
              <a:rPr lang="en-US" altLang="en-US" sz="2000" dirty="0"/>
              <a:t>В </a:t>
            </a:r>
            <a:r>
              <a:rPr lang="en-US" altLang="en-US" sz="2000" dirty="0" err="1"/>
              <a:t>рамках</a:t>
            </a:r>
            <a:r>
              <a:rPr lang="en-US" altLang="en-US" sz="2000" dirty="0"/>
              <a:t> </a:t>
            </a:r>
            <a:r>
              <a:rPr lang="en-US" altLang="en-US" sz="2000" dirty="0" err="1"/>
              <a:t>потока</a:t>
            </a:r>
            <a:r>
              <a:rPr lang="en-US" altLang="en-US" sz="2000" dirty="0"/>
              <a:t> </a:t>
            </a:r>
            <a:r>
              <a:rPr lang="en-US" altLang="en-US" sz="2000" dirty="0" err="1"/>
              <a:t>могут</a:t>
            </a:r>
            <a:r>
              <a:rPr lang="en-US" altLang="en-US" sz="2000" dirty="0"/>
              <a:t> </a:t>
            </a:r>
            <a:r>
              <a:rPr lang="en-US" altLang="en-US" sz="2000" dirty="0" err="1"/>
              <a:t>следовать</a:t>
            </a:r>
            <a:r>
              <a:rPr lang="en-US" altLang="en-US" sz="2000" dirty="0"/>
              <a:t> </a:t>
            </a:r>
            <a:r>
              <a:rPr lang="en-US" altLang="en-US" sz="2000" dirty="0" err="1"/>
              <a:t>кадры</a:t>
            </a:r>
            <a:r>
              <a:rPr lang="en-US" altLang="en-US" sz="2000" dirty="0"/>
              <a:t> DATA (</a:t>
            </a:r>
            <a:r>
              <a:rPr lang="en-US" altLang="en-US" sz="2000" dirty="0" err="1"/>
              <a:t>тело</a:t>
            </a:r>
            <a:r>
              <a:rPr lang="en-US" altLang="en-US" sz="2000" dirty="0"/>
              <a:t> </a:t>
            </a:r>
            <a:r>
              <a:rPr lang="en-US" altLang="en-US" sz="2000" dirty="0" err="1"/>
              <a:t>запроса</a:t>
            </a:r>
            <a:r>
              <a:rPr lang="en-US" altLang="en-US" sz="2000" dirty="0"/>
              <a:t>/</a:t>
            </a:r>
            <a:r>
              <a:rPr lang="en-US" altLang="en-US" sz="2000" dirty="0" err="1"/>
              <a:t>ответа</a:t>
            </a:r>
            <a:r>
              <a:rPr lang="en-US" altLang="en-US" sz="2000" dirty="0"/>
              <a:t>) и </a:t>
            </a:r>
            <a:r>
              <a:rPr lang="en-US" altLang="en-US" sz="2000" dirty="0" err="1"/>
              <a:t>другие</a:t>
            </a:r>
            <a:r>
              <a:rPr lang="en-US" altLang="en-US" sz="2000" dirty="0"/>
              <a:t> </a:t>
            </a:r>
            <a:r>
              <a:rPr lang="en-US" altLang="en-US" sz="2000" dirty="0" err="1"/>
              <a:t>служебные</a:t>
            </a:r>
            <a:r>
              <a:rPr lang="en-US" altLang="en-US" sz="2000" dirty="0"/>
              <a:t> </a:t>
            </a:r>
            <a:r>
              <a:rPr lang="en-US" altLang="en-US" sz="2000" dirty="0" err="1"/>
              <a:t>кадры</a:t>
            </a:r>
            <a:r>
              <a:rPr lang="en-US" altLang="en-US" sz="2000" dirty="0"/>
              <a:t>.</a:t>
            </a:r>
          </a:p>
          <a:p>
            <a:pPr eaLnBrk="0" fontAlgn="base" hangingPunct="0">
              <a:spcBef>
                <a:spcPct val="0"/>
              </a:spcBef>
              <a:spcAft>
                <a:spcPct val="0"/>
              </a:spcAft>
            </a:pPr>
            <a:r>
              <a:rPr lang="en-US" altLang="en-US" sz="2000" dirty="0" err="1"/>
              <a:t>Кадры</a:t>
            </a:r>
            <a:r>
              <a:rPr lang="en-US" altLang="en-US" sz="2000" dirty="0"/>
              <a:t> </a:t>
            </a:r>
            <a:r>
              <a:rPr lang="en-US" altLang="en-US" sz="2000" dirty="0" err="1"/>
              <a:t>разных</a:t>
            </a:r>
            <a:r>
              <a:rPr lang="en-US" altLang="en-US" sz="2000" dirty="0"/>
              <a:t> </a:t>
            </a:r>
            <a:r>
              <a:rPr lang="en-US" altLang="en-US" sz="2000" dirty="0" err="1"/>
              <a:t>потоков</a:t>
            </a:r>
            <a:r>
              <a:rPr lang="en-US" altLang="en-US" sz="2000" dirty="0"/>
              <a:t> </a:t>
            </a:r>
            <a:r>
              <a:rPr lang="en-US" altLang="en-US" sz="2000" dirty="0" err="1"/>
              <a:t>перемешиваются</a:t>
            </a:r>
            <a:r>
              <a:rPr lang="en-US" altLang="en-US" sz="2000" dirty="0"/>
              <a:t> в </a:t>
            </a:r>
            <a:r>
              <a:rPr lang="en-US" altLang="en-US" sz="2000" dirty="0" err="1"/>
              <a:t>общем</a:t>
            </a:r>
            <a:r>
              <a:rPr lang="en-US" altLang="en-US" sz="2000" dirty="0"/>
              <a:t> </a:t>
            </a:r>
            <a:r>
              <a:rPr lang="en-US" altLang="en-US" sz="2000" dirty="0" err="1"/>
              <a:t>канале</a:t>
            </a:r>
            <a:r>
              <a:rPr lang="en-US" altLang="en-US" sz="2000" dirty="0"/>
              <a:t>: </a:t>
            </a:r>
            <a:r>
              <a:rPr lang="en-US" altLang="en-US" sz="2000" dirty="0" err="1"/>
              <a:t>сначала</a:t>
            </a:r>
            <a:r>
              <a:rPr lang="en-US" altLang="en-US" sz="2000" dirty="0"/>
              <a:t> </a:t>
            </a:r>
            <a:r>
              <a:rPr lang="en-US" altLang="en-US" sz="2000" dirty="0" err="1"/>
              <a:t>может</a:t>
            </a:r>
            <a:r>
              <a:rPr lang="en-US" altLang="en-US" sz="2000" dirty="0"/>
              <a:t> </a:t>
            </a:r>
            <a:r>
              <a:rPr lang="en-US" altLang="en-US" sz="2000" dirty="0" err="1"/>
              <a:t>передаться</a:t>
            </a:r>
            <a:r>
              <a:rPr lang="en-US" altLang="en-US" sz="2000" dirty="0"/>
              <a:t> </a:t>
            </a:r>
            <a:r>
              <a:rPr lang="en-US" altLang="en-US" sz="2000" dirty="0" err="1"/>
              <a:t>часть</a:t>
            </a:r>
            <a:r>
              <a:rPr lang="en-US" altLang="en-US" sz="2000" dirty="0"/>
              <a:t> </a:t>
            </a:r>
            <a:r>
              <a:rPr lang="en-US" altLang="en-US" sz="2000" dirty="0" err="1"/>
              <a:t>потока</a:t>
            </a:r>
            <a:r>
              <a:rPr lang="en-US" altLang="en-US" sz="2000" dirty="0"/>
              <a:t> 1, </a:t>
            </a:r>
            <a:r>
              <a:rPr lang="en-US" altLang="en-US" sz="2000" dirty="0" err="1"/>
              <a:t>затем</a:t>
            </a:r>
            <a:r>
              <a:rPr lang="en-US" altLang="en-US" sz="2000" dirty="0"/>
              <a:t> </a:t>
            </a:r>
            <a:r>
              <a:rPr lang="en-US" altLang="en-US" sz="2000" dirty="0" err="1"/>
              <a:t>кадр</a:t>
            </a:r>
            <a:r>
              <a:rPr lang="en-US" altLang="en-US" sz="2000" dirty="0"/>
              <a:t> </a:t>
            </a:r>
            <a:r>
              <a:rPr lang="en-US" altLang="en-US" sz="2000" dirty="0" err="1"/>
              <a:t>потока</a:t>
            </a:r>
            <a:r>
              <a:rPr lang="en-US" altLang="en-US" sz="2000" dirty="0"/>
              <a:t> 3, </a:t>
            </a:r>
            <a:r>
              <a:rPr lang="en-US" altLang="en-US" sz="2000" dirty="0" err="1"/>
              <a:t>потом</a:t>
            </a:r>
            <a:r>
              <a:rPr lang="en-US" altLang="en-US" sz="2000" dirty="0"/>
              <a:t> </a:t>
            </a:r>
            <a:r>
              <a:rPr lang="en-US" altLang="en-US" sz="2000" dirty="0" err="1"/>
              <a:t>продолжение</a:t>
            </a:r>
            <a:r>
              <a:rPr lang="en-US" altLang="en-US" sz="2000" dirty="0"/>
              <a:t> </a:t>
            </a:r>
            <a:r>
              <a:rPr lang="en-US" altLang="en-US" sz="2000" dirty="0" err="1"/>
              <a:t>потока</a:t>
            </a:r>
            <a:r>
              <a:rPr lang="en-US" altLang="en-US" sz="2000" dirty="0"/>
              <a:t> 1 и </a:t>
            </a:r>
            <a:r>
              <a:rPr lang="en-US" altLang="en-US" sz="2000" dirty="0" err="1"/>
              <a:t>т.д</a:t>
            </a:r>
            <a:r>
              <a:rPr lang="en-US" altLang="en-US" sz="2000" dirty="0"/>
              <a:t>.</a:t>
            </a:r>
          </a:p>
          <a:p>
            <a:pPr eaLnBrk="0" fontAlgn="base" hangingPunct="0">
              <a:spcBef>
                <a:spcPct val="0"/>
              </a:spcBef>
              <a:spcAft>
                <a:spcPct val="0"/>
              </a:spcAft>
            </a:pPr>
            <a:r>
              <a:rPr lang="en-US" altLang="en-US" sz="2000" dirty="0" err="1"/>
              <a:t>Получатель</a:t>
            </a:r>
            <a:r>
              <a:rPr lang="en-US" altLang="en-US" sz="2000" dirty="0"/>
              <a:t>, </a:t>
            </a:r>
            <a:r>
              <a:rPr lang="en-US" altLang="en-US" sz="2000" dirty="0" err="1"/>
              <a:t>читая</a:t>
            </a:r>
            <a:r>
              <a:rPr lang="en-US" altLang="en-US" sz="2000" dirty="0"/>
              <a:t> </a:t>
            </a:r>
            <a:r>
              <a:rPr lang="en-US" altLang="en-US" sz="2000" dirty="0" err="1"/>
              <a:t>кадры</a:t>
            </a:r>
            <a:r>
              <a:rPr lang="en-US" altLang="en-US" sz="2000" dirty="0"/>
              <a:t>, </a:t>
            </a:r>
            <a:r>
              <a:rPr lang="en-US" altLang="en-US" sz="2000" dirty="0" err="1"/>
              <a:t>использует</a:t>
            </a:r>
            <a:r>
              <a:rPr lang="en-US" altLang="en-US" sz="2000" dirty="0"/>
              <a:t> stream ID </a:t>
            </a:r>
            <a:r>
              <a:rPr lang="en-US" altLang="en-US" sz="2000" dirty="0" err="1"/>
              <a:t>для</a:t>
            </a:r>
            <a:r>
              <a:rPr lang="en-US" altLang="en-US" sz="2000" dirty="0"/>
              <a:t> </a:t>
            </a:r>
            <a:r>
              <a:rPr lang="en-US" altLang="en-US" sz="2000" dirty="0" err="1"/>
              <a:t>сборки</a:t>
            </a:r>
            <a:r>
              <a:rPr lang="en-US" altLang="en-US" sz="2000" dirty="0"/>
              <a:t> </a:t>
            </a:r>
            <a:r>
              <a:rPr lang="en-US" altLang="en-US" sz="2000" dirty="0" err="1"/>
              <a:t>полных</a:t>
            </a:r>
            <a:r>
              <a:rPr lang="en-US" altLang="en-US" sz="2000" dirty="0"/>
              <a:t> </a:t>
            </a:r>
            <a:r>
              <a:rPr lang="en-US" altLang="en-US" sz="2000" dirty="0" err="1"/>
              <a:t>сообщений</a:t>
            </a:r>
            <a:r>
              <a:rPr lang="en-US" altLang="en-US" sz="2000" dirty="0"/>
              <a:t>.</a:t>
            </a:r>
          </a:p>
        </p:txBody>
      </p:sp>
    </p:spTree>
    <p:extLst>
      <p:ext uri="{BB962C8B-B14F-4D97-AF65-F5344CB8AC3E}">
        <p14:creationId xmlns:p14="http://schemas.microsoft.com/office/powerpoint/2010/main" val="5931316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7DB70F-2BFE-4F77-9A5C-2716B4B77941}"/>
              </a:ext>
            </a:extLst>
          </p:cNvPr>
          <p:cNvSpPr txBox="1"/>
          <p:nvPr/>
        </p:nvSpPr>
        <p:spPr>
          <a:xfrm>
            <a:off x="561975" y="194519"/>
            <a:ext cx="11430000" cy="3416320"/>
          </a:xfrm>
          <a:prstGeom prst="rect">
            <a:avLst/>
          </a:prstGeom>
          <a:noFill/>
        </p:spPr>
        <p:txBody>
          <a:bodyPr wrap="square">
            <a:spAutoFit/>
          </a:bodyPr>
          <a:lstStyle/>
          <a:p>
            <a:r>
              <a:rPr lang="ru-RU" b="1" dirty="0"/>
              <a:t>Сравнение с HTTP/1.1</a:t>
            </a:r>
          </a:p>
          <a:p>
            <a:r>
              <a:rPr lang="ru-RU" dirty="0"/>
              <a:t>В HTTP/1.1 все сообщения передаются последовательно в одном соединении. Чтобы ускорить загрузку, браузеры вынуждены открывать </a:t>
            </a:r>
            <a:r>
              <a:rPr lang="ru-RU" b="1" dirty="0"/>
              <a:t>множество параллельных TCP-соединений</a:t>
            </a:r>
            <a:r>
              <a:rPr lang="ru-RU" dirty="0"/>
              <a:t> (обычно 6–8 на домен). Это порождало проблемы:</a:t>
            </a:r>
          </a:p>
          <a:p>
            <a:pPr>
              <a:buFont typeface="Arial" panose="020B0604020202020204" pitchFamily="34" charset="0"/>
              <a:buChar char="•"/>
            </a:pPr>
            <a:r>
              <a:rPr lang="ru-RU" b="1" dirty="0" err="1"/>
              <a:t>Head‑of‑line</a:t>
            </a:r>
            <a:r>
              <a:rPr lang="ru-RU" b="1" dirty="0"/>
              <a:t> </a:t>
            </a:r>
            <a:r>
              <a:rPr lang="ru-RU" b="1" dirty="0" err="1"/>
              <a:t>blocking</a:t>
            </a:r>
            <a:r>
              <a:rPr lang="ru-RU" b="1" dirty="0"/>
              <a:t> на уровне приложения</a:t>
            </a:r>
            <a:r>
              <a:rPr lang="ru-RU" dirty="0"/>
              <a:t>: один медленный ответ блокировал очередь за ним (конвейеризация не решила проблему).</a:t>
            </a:r>
          </a:p>
          <a:p>
            <a:pPr>
              <a:buFont typeface="Arial" panose="020B0604020202020204" pitchFamily="34" charset="0"/>
              <a:buChar char="•"/>
            </a:pPr>
            <a:r>
              <a:rPr lang="ru-RU" b="1" dirty="0"/>
              <a:t>Избыточные накладные расходы</a:t>
            </a:r>
            <a:r>
              <a:rPr lang="ru-RU" dirty="0"/>
              <a:t>: каждое новое соединение требует TCP </a:t>
            </a:r>
            <a:r>
              <a:rPr lang="ru-RU" dirty="0" err="1"/>
              <a:t>handshake</a:t>
            </a:r>
            <a:r>
              <a:rPr lang="ru-RU" dirty="0"/>
              <a:t>, а если используется TLS — ещё и дополнительных обменов.</a:t>
            </a:r>
          </a:p>
          <a:p>
            <a:pPr>
              <a:buFont typeface="Arial" panose="020B0604020202020204" pitchFamily="34" charset="0"/>
              <a:buChar char="•"/>
            </a:pPr>
            <a:r>
              <a:rPr lang="ru-RU" b="1" dirty="0" err="1"/>
              <a:t>Domain</a:t>
            </a:r>
            <a:r>
              <a:rPr lang="ru-RU" b="1" dirty="0"/>
              <a:t> </a:t>
            </a:r>
            <a:r>
              <a:rPr lang="ru-RU" b="1" dirty="0" err="1"/>
              <a:t>sharding</a:t>
            </a:r>
            <a:r>
              <a:rPr lang="ru-RU" dirty="0"/>
              <a:t>: искусственное разбиение ресурсов по разным доменам для обхода ограничений браузера, что усложняло разработку.</a:t>
            </a:r>
          </a:p>
          <a:p>
            <a:r>
              <a:rPr lang="ru-RU" dirty="0"/>
              <a:t>HTTP/2 снимает эти ограничения: </a:t>
            </a:r>
            <a:r>
              <a:rPr lang="ru-RU" b="1" dirty="0"/>
              <a:t>одно соединение</a:t>
            </a:r>
            <a:r>
              <a:rPr lang="ru-RU" dirty="0"/>
              <a:t> может обслуживать сотни параллельных потоков, экономя ресурсы и снижая задержки.</a:t>
            </a:r>
          </a:p>
        </p:txBody>
      </p:sp>
    </p:spTree>
    <p:extLst>
      <p:ext uri="{BB962C8B-B14F-4D97-AF65-F5344CB8AC3E}">
        <p14:creationId xmlns:p14="http://schemas.microsoft.com/office/powerpoint/2010/main" val="15923137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88511C-2CBE-4619-8B07-41D055FA90CB}"/>
              </a:ext>
            </a:extLst>
          </p:cNvPr>
          <p:cNvSpPr>
            <a:spLocks noChangeArrowheads="1"/>
          </p:cNvSpPr>
          <p:nvPr/>
        </p:nvSpPr>
        <p:spPr bwMode="auto">
          <a:xfrm>
            <a:off x="409575" y="646956"/>
            <a:ext cx="1137285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Domain </a:t>
            </a:r>
            <a:r>
              <a:rPr kumimoji="0" lang="en-US" altLang="en-US" b="1" i="0" u="none" strike="noStrike" cap="none" normalizeH="0" baseline="0" dirty="0" err="1">
                <a:ln>
                  <a:noFill/>
                </a:ln>
                <a:solidFill>
                  <a:schemeClr val="tx1"/>
                </a:solidFill>
                <a:effectLst/>
                <a:latin typeface="Arial" panose="020B0604020202020204" pitchFamily="34" charset="0"/>
              </a:rPr>
              <a:t>sharding</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шардинг</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доменов</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техника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оптимизации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веб-производительности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которая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использовалась</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эпоху</a:t>
            </a:r>
            <a:r>
              <a:rPr kumimoji="0" lang="en-US" altLang="en-US" b="0" i="0" u="none" strike="noStrike" cap="none" normalizeH="0" baseline="0" dirty="0">
                <a:ln>
                  <a:noFill/>
                </a:ln>
                <a:solidFill>
                  <a:schemeClr val="tx1"/>
                </a:solidFill>
                <a:effectLst/>
                <a:latin typeface="Arial" panose="020B0604020202020204" pitchFamily="34" charset="0"/>
              </a:rPr>
              <a:t> HTTP/1.1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ускорения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загрузки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веб-страниц</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Вот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простое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объяснение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такое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зачем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нужно</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почему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сейчас</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практики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чаще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всего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отказываются</a:t>
            </a:r>
            <a:r>
              <a:rPr kumimoji="0" lang="en-US" altLang="en-US" b="0" i="0" u="none" strike="noStrike" cap="none" normalizeH="0" baseline="0" dirty="0">
                <a:ln>
                  <a:noFill/>
                </a:ln>
                <a:solidFill>
                  <a:schemeClr val="tx1"/>
                </a:solidFill>
                <a:effectLst/>
                <a:latin typeface="Arial" panose="020B0604020202020204" pitchFamily="34" charset="0"/>
              </a:rPr>
              <a:t>.</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1. В </a:t>
            </a:r>
            <a:r>
              <a:rPr kumimoji="0" lang="en-US" altLang="en-US" b="1" i="0" u="none" strike="noStrike" cap="none" normalizeH="0" baseline="0" dirty="0" err="1">
                <a:ln>
                  <a:noFill/>
                </a:ln>
                <a:solidFill>
                  <a:schemeClr val="tx1"/>
                </a:solidFill>
                <a:effectLst/>
                <a:latin typeface="Arial" panose="020B0604020202020204" pitchFamily="34" charset="0"/>
              </a:rPr>
              <a:t>чем</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суть</a:t>
            </a:r>
            <a:r>
              <a:rPr kumimoji="0" lang="en-US" altLang="en-US"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Старые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браузеры</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сам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протокол</a:t>
            </a:r>
            <a:r>
              <a:rPr kumimoji="0" lang="en-US" altLang="en-US" b="0" i="0" u="none" strike="noStrike" cap="none" normalizeH="0" baseline="0" dirty="0">
                <a:ln>
                  <a:noFill/>
                </a:ln>
                <a:solidFill>
                  <a:schemeClr val="tx1"/>
                </a:solidFill>
                <a:effectLst/>
                <a:latin typeface="Arial" panose="020B0604020202020204" pitchFamily="34" charset="0"/>
              </a:rPr>
              <a:t> HTTP/1.1) </a:t>
            </a:r>
            <a:r>
              <a:rPr kumimoji="0" lang="en-US" altLang="en-US" b="0" i="0" u="none" strike="noStrike" cap="none" normalizeH="0" baseline="0" dirty="0" err="1">
                <a:ln>
                  <a:noFill/>
                </a:ln>
                <a:solidFill>
                  <a:schemeClr val="tx1"/>
                </a:solidFill>
                <a:effectLst/>
                <a:latin typeface="Arial" panose="020B0604020202020204" pitchFamily="34" charset="0"/>
              </a:rPr>
              <a:t>имели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жесткое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ограничение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количество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одновременных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соединений</a:t>
            </a:r>
            <a:r>
              <a:rPr kumimoji="0" lang="en-US" altLang="en-US" b="0" i="0" u="none" strike="noStrike" cap="none" normalizeH="0" baseline="0" dirty="0">
                <a:ln>
                  <a:noFill/>
                </a:ln>
                <a:solidFill>
                  <a:schemeClr val="tx1"/>
                </a:solidFill>
                <a:effectLst/>
                <a:latin typeface="Arial" panose="020B0604020202020204" pitchFamily="34" charset="0"/>
              </a:rPr>
              <a:t> к </a:t>
            </a:r>
            <a:r>
              <a:rPr kumimoji="0" lang="en-US" altLang="en-US" b="0" i="0" u="none" strike="noStrike" cap="none" normalizeH="0" baseline="0" dirty="0" err="1">
                <a:ln>
                  <a:noFill/>
                </a:ln>
                <a:solidFill>
                  <a:schemeClr val="tx1"/>
                </a:solidFill>
                <a:effectLst/>
                <a:latin typeface="Arial" panose="020B0604020202020204" pitchFamily="34" charset="0"/>
              </a:rPr>
              <a:t>одному</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тому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же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домену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Обычно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число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составляло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6–8 </a:t>
            </a:r>
            <a:r>
              <a:rPr kumimoji="0" lang="en-US" altLang="en-US" b="1" i="0" u="none" strike="noStrike" cap="none" normalizeH="0" baseline="0" dirty="0" err="1">
                <a:ln>
                  <a:noFill/>
                </a:ln>
                <a:solidFill>
                  <a:schemeClr val="tx1"/>
                </a:solidFill>
                <a:effectLst/>
                <a:latin typeface="Arial" panose="020B0604020202020204" pitchFamily="34" charset="0"/>
              </a:rPr>
              <a:t>соединений</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Если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ваша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страница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запрашивала</a:t>
            </a:r>
            <a:r>
              <a:rPr kumimoji="0" lang="en-US" altLang="en-US" b="0" i="0" u="none" strike="noStrike" cap="none" normalizeH="0" baseline="0" dirty="0">
                <a:ln>
                  <a:noFill/>
                </a:ln>
                <a:solidFill>
                  <a:schemeClr val="tx1"/>
                </a:solidFill>
                <a:effectLst/>
                <a:latin typeface="Arial" panose="020B0604020202020204" pitchFamily="34" charset="0"/>
              </a:rPr>
              <a:t> с </a:t>
            </a:r>
            <a:r>
              <a:rPr kumimoji="0" lang="en-US" altLang="en-US" b="0" i="0" u="none" strike="noStrike" cap="none" normalizeH="0" baseline="0" dirty="0" err="1">
                <a:ln>
                  <a:noFill/>
                </a:ln>
                <a:solidFill>
                  <a:schemeClr val="tx1"/>
                </a:solidFill>
                <a:effectLst/>
                <a:latin typeface="Arial" panose="020B0604020202020204" pitchFamily="34" charset="0"/>
              </a:rPr>
              <a:t>сервера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site.com</a:t>
            </a:r>
            <a:r>
              <a:rPr kumimoji="0" lang="en-US" altLang="en-US" b="0" i="0" u="none" strike="noStrike" cap="none" normalizeH="0" baseline="0" dirty="0">
                <a:ln>
                  <a:noFill/>
                </a:ln>
                <a:solidFill>
                  <a:schemeClr val="tx1"/>
                </a:solidFill>
                <a:effectLst/>
              </a:rPr>
              <a:t> 100 </a:t>
            </a:r>
            <a:r>
              <a:rPr kumimoji="0" lang="en-US" altLang="en-US" b="0" i="0" u="none" strike="noStrike" cap="none" normalizeH="0" baseline="0" dirty="0" err="1">
                <a:ln>
                  <a:noFill/>
                </a:ln>
                <a:solidFill>
                  <a:schemeClr val="tx1"/>
                </a:solidFill>
                <a:effectLst/>
              </a:rPr>
              <a:t>изображений</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браузер</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скачивал</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их</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по</a:t>
            </a:r>
            <a:r>
              <a:rPr kumimoji="0" lang="en-US" altLang="en-US" b="0" i="0" u="none" strike="noStrike" cap="none" normalizeH="0" baseline="0" dirty="0">
                <a:ln>
                  <a:noFill/>
                </a:ln>
                <a:solidFill>
                  <a:schemeClr val="tx1"/>
                </a:solidFill>
                <a:effectLst/>
              </a:rPr>
              <a:t> 6 </a:t>
            </a:r>
            <a:r>
              <a:rPr kumimoji="0" lang="en-US" altLang="en-US" b="0" i="0" u="none" strike="noStrike" cap="none" normalizeH="0" baseline="0" dirty="0" err="1">
                <a:ln>
                  <a:noFill/>
                </a:ln>
                <a:solidFill>
                  <a:schemeClr val="tx1"/>
                </a:solidFill>
                <a:effectLst/>
              </a:rPr>
              <a:t>штук</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одновременно</a:t>
            </a:r>
            <a:r>
              <a:rPr kumimoji="0" lang="en-US" altLang="en-US" b="0" i="0" u="none" strike="noStrike" cap="none" normalizeH="0" baseline="0" dirty="0">
                <a:ln>
                  <a:noFill/>
                </a:ln>
                <a:solidFill>
                  <a:schemeClr val="tx1"/>
                </a:solidFill>
                <a:effectLst/>
              </a:rPr>
              <a:t>, а </a:t>
            </a:r>
            <a:r>
              <a:rPr kumimoji="0" lang="en-US" altLang="en-US" b="0" i="0" u="none" strike="noStrike" cap="none" normalizeH="0" baseline="0" dirty="0" err="1">
                <a:ln>
                  <a:noFill/>
                </a:ln>
                <a:solidFill>
                  <a:schemeClr val="tx1"/>
                </a:solidFill>
                <a:effectLst/>
              </a:rPr>
              <a:t>остальные</a:t>
            </a:r>
            <a:r>
              <a:rPr kumimoji="0" lang="en-US" altLang="en-US" b="0" i="0" u="none" strike="noStrike" cap="none" normalizeH="0" baseline="0" dirty="0">
                <a:ln>
                  <a:noFill/>
                </a:ln>
                <a:solidFill>
                  <a:schemeClr val="tx1"/>
                </a:solidFill>
                <a:effectLst/>
              </a:rPr>
              <a:t> 94 </a:t>
            </a:r>
            <a:r>
              <a:rPr kumimoji="0" lang="en-US" altLang="en-US" b="0" i="0" u="none" strike="noStrike" cap="none" normalizeH="0" baseline="0" dirty="0" err="1">
                <a:ln>
                  <a:noFill/>
                </a:ln>
                <a:solidFill>
                  <a:schemeClr val="tx1"/>
                </a:solidFill>
                <a:effectLst/>
              </a:rPr>
              <a:t>стояли</a:t>
            </a:r>
            <a:r>
              <a:rPr kumimoji="0" lang="en-US" altLang="en-US" b="0" i="0" u="none" strike="noStrike" cap="none" normalizeH="0" baseline="0" dirty="0">
                <a:ln>
                  <a:noFill/>
                </a:ln>
                <a:solidFill>
                  <a:schemeClr val="tx1"/>
                </a:solidFill>
                <a:effectLst/>
              </a:rPr>
              <a:t> в </a:t>
            </a:r>
            <a:r>
              <a:rPr kumimoji="0" lang="en-US" altLang="en-US" b="0" i="0" u="none" strike="noStrike" cap="none" normalizeH="0" baseline="0" dirty="0" err="1">
                <a:ln>
                  <a:noFill/>
                </a:ln>
                <a:solidFill>
                  <a:schemeClr val="tx1"/>
                </a:solidFill>
                <a:effectLst/>
              </a:rPr>
              <a:t>очереди</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Domain </a:t>
            </a:r>
            <a:r>
              <a:rPr kumimoji="0" lang="en-US" altLang="en-US" b="1" i="0" u="none" strike="noStrike" cap="none" normalizeH="0" baseline="0" dirty="0" err="1">
                <a:ln>
                  <a:noFill/>
                </a:ln>
                <a:solidFill>
                  <a:schemeClr val="tx1"/>
                </a:solidFill>
                <a:effectLst/>
                <a:latin typeface="Arial" panose="020B0604020202020204" pitchFamily="34" charset="0"/>
              </a:rPr>
              <a:t>sharding</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решает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проблему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путем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создания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поддоменов</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site.com</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static1.site.com</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static2.site.com</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Unicode MS"/>
              </a:rPr>
              <a:t>static3.site.com</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Все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поддомены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физически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ведут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один</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тот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же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сервер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один</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тот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же</a:t>
            </a:r>
            <a:r>
              <a:rPr kumimoji="0" lang="en-US" altLang="en-US" b="0" i="0" u="none" strike="noStrike" cap="none" normalizeH="0" baseline="0" dirty="0">
                <a:ln>
                  <a:noFill/>
                </a:ln>
                <a:solidFill>
                  <a:schemeClr val="tx1"/>
                </a:solidFill>
                <a:effectLst/>
                <a:latin typeface="Arial" panose="020B0604020202020204" pitchFamily="34" charset="0"/>
              </a:rPr>
              <a:t> CDN), </a:t>
            </a:r>
            <a:r>
              <a:rPr kumimoji="0" lang="en-US" altLang="en-US" b="0" i="0" u="none" strike="noStrike" cap="none" normalizeH="0" baseline="0" dirty="0" err="1">
                <a:ln>
                  <a:noFill/>
                </a:ln>
                <a:solidFill>
                  <a:schemeClr val="tx1"/>
                </a:solidFill>
                <a:effectLst/>
                <a:latin typeface="Arial" panose="020B0604020202020204" pitchFamily="34" charset="0"/>
              </a:rPr>
              <a:t>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браузер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воспринимает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разные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воронки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Вместо</a:t>
            </a:r>
            <a:r>
              <a:rPr kumimoji="0" lang="en-US" altLang="en-US" b="0" i="0" u="none" strike="noStrike" cap="none" normalizeH="0" baseline="0" dirty="0">
                <a:ln>
                  <a:noFill/>
                </a:ln>
                <a:solidFill>
                  <a:schemeClr val="tx1"/>
                </a:solidFill>
                <a:effectLst/>
                <a:latin typeface="Arial" panose="020B0604020202020204" pitchFamily="34" charset="0"/>
              </a:rPr>
              <a:t> 6 </a:t>
            </a:r>
            <a:r>
              <a:rPr kumimoji="0" lang="en-US" altLang="en-US" b="0" i="0" u="none" strike="noStrike" cap="none" normalizeH="0" baseline="0" dirty="0" err="1">
                <a:ln>
                  <a:noFill/>
                </a:ln>
                <a:solidFill>
                  <a:schemeClr val="tx1"/>
                </a:solidFill>
                <a:effectLst/>
                <a:latin typeface="Arial" panose="020B0604020202020204" pitchFamily="34" charset="0"/>
              </a:rPr>
              <a:t>параллельных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загрузок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браузер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открывал</a:t>
            </a:r>
            <a:r>
              <a:rPr kumimoji="0" lang="en-US" altLang="en-US" b="0" i="0" u="none" strike="noStrike" cap="none" normalizeH="0" baseline="0" dirty="0">
                <a:ln>
                  <a:noFill/>
                </a:ln>
                <a:solidFill>
                  <a:schemeClr val="tx1"/>
                </a:solidFill>
                <a:effectLst/>
                <a:latin typeface="Arial" panose="020B0604020202020204" pitchFamily="34" charset="0"/>
              </a:rPr>
              <a:t> 6 </a:t>
            </a:r>
            <a:r>
              <a:rPr kumimoji="0" lang="en-US" altLang="en-US" b="0" i="0" u="none" strike="noStrike" cap="none" normalizeH="0" baseline="0" dirty="0" err="1">
                <a:ln>
                  <a:noFill/>
                </a:ln>
                <a:solidFill>
                  <a:schemeClr val="tx1"/>
                </a:solidFill>
                <a:effectLst/>
                <a:latin typeface="Arial" panose="020B0604020202020204" pitchFamily="34" charset="0"/>
              </a:rPr>
              <a:t>соединений</a:t>
            </a:r>
            <a:r>
              <a:rPr kumimoji="0" lang="en-US" altLang="en-US" b="0" i="0" u="none" strike="noStrike" cap="none" normalizeH="0" baseline="0" dirty="0">
                <a:ln>
                  <a:noFill/>
                </a:ln>
                <a:solidFill>
                  <a:schemeClr val="tx1"/>
                </a:solidFill>
                <a:effectLst/>
                <a:latin typeface="Arial" panose="020B0604020202020204" pitchFamily="34" charset="0"/>
              </a:rPr>
              <a:t> к </a:t>
            </a:r>
            <a:r>
              <a:rPr kumimoji="0" lang="en-US" altLang="en-US" b="0" i="1" u="none" strike="noStrike" cap="none" normalizeH="0" baseline="0" dirty="0" err="1">
                <a:ln>
                  <a:noFill/>
                </a:ln>
                <a:solidFill>
                  <a:schemeClr val="tx1"/>
                </a:solidFill>
                <a:effectLst/>
                <a:latin typeface="Arial" panose="020B0604020202020204" pitchFamily="34" charset="0"/>
              </a:rPr>
              <a:t>каждому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поддомену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получая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возможность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скачивать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например</a:t>
            </a:r>
            <a:r>
              <a:rPr kumimoji="0" lang="en-US" altLang="en-US" b="0" i="0" u="none" strike="noStrike" cap="none" normalizeH="0" baseline="0" dirty="0">
                <a:ln>
                  <a:noFill/>
                </a:ln>
                <a:solidFill>
                  <a:schemeClr val="tx1"/>
                </a:solidFill>
                <a:effectLst/>
                <a:latin typeface="Arial" panose="020B0604020202020204" pitchFamily="34" charset="0"/>
              </a:rPr>
              <a:t>, 24–30 </a:t>
            </a:r>
            <a:r>
              <a:rPr kumimoji="0" lang="en-US" altLang="en-US" b="0" i="0" u="none" strike="noStrike" cap="none" normalizeH="0" baseline="0" dirty="0" err="1">
                <a:ln>
                  <a:noFill/>
                </a:ln>
                <a:solidFill>
                  <a:schemeClr val="tx1"/>
                </a:solidFill>
                <a:effectLst/>
                <a:latin typeface="Arial" panose="020B0604020202020204" pitchFamily="34" charset="0"/>
              </a:rPr>
              <a:t>файлов</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одновременно</a:t>
            </a:r>
            <a:r>
              <a:rPr kumimoji="0" lang="en-US" altLang="en-US"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19859333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AEF9B38-71A1-49D2-A5AE-BBC2681E7773}"/>
              </a:ext>
            </a:extLst>
          </p:cNvPr>
          <p:cNvSpPr txBox="1"/>
          <p:nvPr/>
        </p:nvSpPr>
        <p:spPr>
          <a:xfrm>
            <a:off x="371475" y="135820"/>
            <a:ext cx="11106150" cy="4247317"/>
          </a:xfrm>
          <a:prstGeom prst="rect">
            <a:avLst/>
          </a:prstGeom>
          <a:noFill/>
        </p:spPr>
        <p:txBody>
          <a:bodyPr wrap="square">
            <a:spAutoFit/>
          </a:bodyPr>
          <a:lstStyle/>
          <a:p>
            <a:r>
              <a:rPr lang="ru-RU" b="1" dirty="0"/>
              <a:t>2. Зачем это делали?</a:t>
            </a:r>
          </a:p>
          <a:p>
            <a:pPr>
              <a:buFont typeface="Arial" panose="020B0604020202020204" pitchFamily="34" charset="0"/>
              <a:buChar char="•"/>
            </a:pPr>
            <a:r>
              <a:rPr lang="ru-RU" b="1" dirty="0"/>
              <a:t>Обход лимитов браузера:</a:t>
            </a:r>
            <a:r>
              <a:rPr lang="ru-RU" dirty="0"/>
              <a:t> Чтобы увеличить параллелизм загрузки ресурсов (JS, CSS, изображений).</a:t>
            </a:r>
          </a:p>
          <a:p>
            <a:pPr>
              <a:buFont typeface="Arial" panose="020B0604020202020204" pitchFamily="34" charset="0"/>
              <a:buChar char="•"/>
            </a:pPr>
            <a:r>
              <a:rPr lang="ru-RU" b="1" dirty="0"/>
              <a:t>Изоляция </a:t>
            </a:r>
            <a:r>
              <a:rPr lang="ru-RU" b="1" dirty="0" err="1"/>
              <a:t>куки</a:t>
            </a:r>
            <a:r>
              <a:rPr lang="ru-RU" b="1" dirty="0"/>
              <a:t> (</a:t>
            </a:r>
            <a:r>
              <a:rPr lang="ru-RU" b="1" dirty="0" err="1"/>
              <a:t>Cookies</a:t>
            </a:r>
            <a:r>
              <a:rPr lang="ru-RU" b="1" dirty="0"/>
              <a:t>):</a:t>
            </a:r>
            <a:r>
              <a:rPr lang="ru-RU" dirty="0"/>
              <a:t> Часто статический контент (картинки) раздавали с </a:t>
            </a:r>
            <a:r>
              <a:rPr lang="ru-RU" dirty="0" err="1"/>
              <a:t>безкуки</a:t>
            </a:r>
            <a:r>
              <a:rPr lang="ru-RU" dirty="0"/>
              <a:t>-доменов (</a:t>
            </a:r>
            <a:r>
              <a:rPr lang="ru-RU" dirty="0" err="1"/>
              <a:t>cookie-free</a:t>
            </a:r>
            <a:r>
              <a:rPr lang="ru-RU" dirty="0"/>
              <a:t> </a:t>
            </a:r>
            <a:r>
              <a:rPr lang="ru-RU" dirty="0" err="1"/>
              <a:t>domains</a:t>
            </a:r>
            <a:r>
              <a:rPr lang="ru-RU" dirty="0"/>
              <a:t>). При каждом HTTP-запросе браузер отправляет </a:t>
            </a:r>
            <a:r>
              <a:rPr lang="ru-RU" dirty="0" err="1"/>
              <a:t>куки</a:t>
            </a:r>
            <a:r>
              <a:rPr lang="ru-RU" dirty="0"/>
              <a:t>. Если у вас огромные </a:t>
            </a:r>
            <a:r>
              <a:rPr lang="ru-RU" dirty="0" err="1"/>
              <a:t>куки</a:t>
            </a:r>
            <a:r>
              <a:rPr lang="ru-RU" dirty="0"/>
              <a:t> (например, 500 КБ), а на странице 100 картинок, это мегабайты лишнего трафика. </a:t>
            </a:r>
            <a:r>
              <a:rPr lang="ru-RU" dirty="0" err="1"/>
              <a:t>Шардинг</a:t>
            </a:r>
            <a:r>
              <a:rPr lang="ru-RU" dirty="0"/>
              <a:t> позволял раздавать «тяжелый» контент через домены, где </a:t>
            </a:r>
            <a:r>
              <a:rPr lang="ru-RU" dirty="0" err="1"/>
              <a:t>куки</a:t>
            </a:r>
            <a:r>
              <a:rPr lang="ru-RU" dirty="0"/>
              <a:t> были отключены, экономя трафик и ускоряя загрузку.</a:t>
            </a:r>
          </a:p>
          <a:p>
            <a:r>
              <a:rPr lang="ru-RU" b="1" dirty="0"/>
              <a:t>3. Почему сейчас это считается плохой практикой?</a:t>
            </a:r>
          </a:p>
          <a:p>
            <a:r>
              <a:rPr lang="ru-RU" dirty="0"/>
              <a:t>С приходом </a:t>
            </a:r>
            <a:r>
              <a:rPr lang="ru-RU" b="1" dirty="0"/>
              <a:t>HTTP/2</a:t>
            </a:r>
            <a:r>
              <a:rPr lang="ru-RU" dirty="0"/>
              <a:t> (и тем более HTTP/3) ситуация кардинально изменилась.</a:t>
            </a:r>
          </a:p>
          <a:p>
            <a:endParaRPr lang="ru-RU" dirty="0"/>
          </a:p>
          <a:p>
            <a:pPr>
              <a:buFont typeface="Arial" panose="020B0604020202020204" pitchFamily="34" charset="0"/>
              <a:buChar char="•"/>
            </a:pPr>
            <a:r>
              <a:rPr lang="ru-RU" b="1" dirty="0"/>
              <a:t>Мультиплексирование:</a:t>
            </a:r>
            <a:r>
              <a:rPr lang="ru-RU" dirty="0"/>
              <a:t> HTTP/2 позволяет передавать множество файлов одновременно через </a:t>
            </a:r>
            <a:r>
              <a:rPr lang="ru-RU" b="1" dirty="0"/>
              <a:t>одно</a:t>
            </a:r>
            <a:r>
              <a:rPr lang="ru-RU" dirty="0"/>
              <a:t> TCP-соединение. Ограничение в 6 соединений исчезло.</a:t>
            </a:r>
          </a:p>
          <a:p>
            <a:pPr>
              <a:buFont typeface="Arial" panose="020B0604020202020204" pitchFamily="34" charset="0"/>
              <a:buChar char="•"/>
            </a:pPr>
            <a:endParaRPr lang="ru-RU" dirty="0"/>
          </a:p>
          <a:p>
            <a:pPr>
              <a:buFont typeface="Arial" panose="020B0604020202020204" pitchFamily="34" charset="0"/>
              <a:buChar char="•"/>
            </a:pPr>
            <a:r>
              <a:rPr lang="ru-RU" b="1" dirty="0" err="1"/>
              <a:t>Оверхеды</a:t>
            </a:r>
            <a:r>
              <a:rPr lang="ru-RU" b="1" dirty="0"/>
              <a:t>:</a:t>
            </a:r>
            <a:r>
              <a:rPr lang="ru-RU" dirty="0"/>
              <a:t> В HTTP/2 установка отдельного соединения для каждого </a:t>
            </a:r>
            <a:r>
              <a:rPr lang="ru-RU" dirty="0" err="1"/>
              <a:t>поддомена</a:t>
            </a:r>
            <a:r>
              <a:rPr lang="ru-RU" dirty="0"/>
              <a:t> (</a:t>
            </a:r>
            <a:r>
              <a:rPr lang="ru-RU" dirty="0" err="1"/>
              <a:t>shard</a:t>
            </a:r>
            <a:r>
              <a:rPr lang="ru-RU" dirty="0"/>
              <a:t>) создает дополнительные накладные расходы (CPU, память, сложность TLS-рукопожатий) и может даже </a:t>
            </a:r>
            <a:r>
              <a:rPr lang="ru-RU" i="1" dirty="0"/>
              <a:t>замедлить</a:t>
            </a:r>
            <a:r>
              <a:rPr lang="ru-RU" dirty="0"/>
              <a:t> загрузку по сравнению с использованием одного домена.</a:t>
            </a:r>
          </a:p>
        </p:txBody>
      </p:sp>
      <p:sp>
        <p:nvSpPr>
          <p:cNvPr id="4" name="Rectangle 1">
            <a:extLst>
              <a:ext uri="{FF2B5EF4-FFF2-40B4-BE49-F238E27FC236}">
                <a16:creationId xmlns:a16="http://schemas.microsoft.com/office/drawing/2014/main" id="{DF6BA4B1-6252-4C53-A358-5E93F6ECB623}"/>
              </a:ext>
            </a:extLst>
          </p:cNvPr>
          <p:cNvSpPr>
            <a:spLocks noChangeArrowheads="1"/>
          </p:cNvSpPr>
          <p:nvPr/>
        </p:nvSpPr>
        <p:spPr bwMode="auto">
          <a:xfrm>
            <a:off x="371475" y="4272677"/>
            <a:ext cx="1175385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Domain </a:t>
            </a:r>
            <a:r>
              <a:rPr kumimoji="0" lang="en-US" altLang="en-US" sz="1800" b="1" i="0" u="none" strike="noStrike" cap="none" normalizeH="0" baseline="0" dirty="0" err="1">
                <a:ln>
                  <a:noFill/>
                </a:ln>
                <a:solidFill>
                  <a:schemeClr val="tx1"/>
                </a:solidFill>
                <a:effectLst/>
                <a:latin typeface="Arial" panose="020B0604020202020204" pitchFamily="34" charset="0"/>
              </a:rPr>
              <a:t>sharding</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err="1">
                <a:ln>
                  <a:noFill/>
                </a:ln>
                <a:solidFill>
                  <a:schemeClr val="tx1"/>
                </a:solidFill>
                <a:effectLst/>
                <a:latin typeface="Arial" panose="020B0604020202020204" pitchFamily="34" charset="0"/>
              </a:rPr>
              <a:t>это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костыль</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для</a:t>
            </a:r>
            <a:r>
              <a:rPr kumimoji="0" lang="en-US" altLang="en-US" sz="1800" b="0" i="0" u="none" strike="noStrike" cap="none" normalizeH="0" baseline="0" dirty="0">
                <a:ln>
                  <a:noFill/>
                </a:ln>
                <a:solidFill>
                  <a:schemeClr val="tx1"/>
                </a:solidFill>
                <a:effectLst/>
                <a:latin typeface="Arial" panose="020B0604020202020204" pitchFamily="34" charset="0"/>
              </a:rPr>
              <a:t> HTTP/1.1.</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Если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вы</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видите</a:t>
            </a:r>
            <a:r>
              <a:rPr kumimoji="0" lang="en-US" altLang="en-US" sz="1800" b="0" i="0" u="none" strike="noStrike" cap="none" normalizeH="0" baseline="0" dirty="0">
                <a:ln>
                  <a:noFill/>
                </a:ln>
                <a:solidFill>
                  <a:schemeClr val="tx1"/>
                </a:solidFill>
                <a:effectLst/>
                <a:latin typeface="Arial" panose="020B0604020202020204" pitchFamily="34" charset="0"/>
              </a:rPr>
              <a:t> в </a:t>
            </a:r>
            <a:r>
              <a:rPr kumimoji="0" lang="en-US" altLang="en-US" sz="1800" b="0" i="0" u="none" strike="noStrike" cap="none" normalizeH="0" baseline="0" dirty="0" err="1">
                <a:ln>
                  <a:noFill/>
                </a:ln>
                <a:solidFill>
                  <a:schemeClr val="tx1"/>
                </a:solidFill>
                <a:effectLst/>
                <a:latin typeface="Arial" panose="020B0604020202020204" pitchFamily="34" charset="0"/>
              </a:rPr>
              <a:t>старых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проектах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или</a:t>
            </a:r>
            <a:r>
              <a:rPr kumimoji="0" lang="en-US" altLang="en-US" sz="1800" b="0" i="0" u="none" strike="noStrike" cap="none" normalizeH="0" baseline="0" dirty="0">
                <a:ln>
                  <a:noFill/>
                </a:ln>
                <a:solidFill>
                  <a:schemeClr val="tx1"/>
                </a:solidFill>
                <a:effectLst/>
                <a:latin typeface="Arial" panose="020B0604020202020204" pitchFamily="34" charset="0"/>
              </a:rPr>
              <a:t> в CMS, </a:t>
            </a:r>
            <a:r>
              <a:rPr kumimoji="0" lang="en-US" altLang="en-US" sz="1800" b="0" i="0" u="none" strike="noStrike" cap="none" normalizeH="0" baseline="0" dirty="0" err="1">
                <a:ln>
                  <a:noFill/>
                </a:ln>
                <a:solidFill>
                  <a:schemeClr val="tx1"/>
                </a:solidFill>
                <a:effectLst/>
                <a:latin typeface="Arial" panose="020B0604020202020204" pitchFamily="34" charset="0"/>
              </a:rPr>
              <a:t>которые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обновлялись</a:t>
            </a:r>
            <a:r>
              <a:rPr kumimoji="0" lang="en-US" altLang="en-US" sz="1800" b="0" i="0" u="none" strike="noStrike" cap="none" normalizeH="0" baseline="0" dirty="0">
                <a:ln>
                  <a:noFill/>
                </a:ln>
                <a:solidFill>
                  <a:schemeClr val="tx1"/>
                </a:solidFill>
                <a:effectLst/>
                <a:latin typeface="Arial" panose="020B0604020202020204" pitchFamily="34" charset="0"/>
              </a:rPr>
              <a:t> 10 </a:t>
            </a:r>
            <a:r>
              <a:rPr kumimoji="0" lang="en-US" altLang="en-US" sz="1800" b="0" i="0" u="none" strike="noStrike" cap="none" normalizeH="0" baseline="0" dirty="0" err="1">
                <a:ln>
                  <a:noFill/>
                </a:ln>
                <a:solidFill>
                  <a:schemeClr val="tx1"/>
                </a:solidFill>
                <a:effectLst/>
                <a:latin typeface="Arial" panose="020B0604020202020204" pitchFamily="34" charset="0"/>
              </a:rPr>
              <a:t>лет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раздачу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статики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через</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домены</a:t>
            </a:r>
            <a:r>
              <a:rPr kumimoji="0" lang="en-US" altLang="en-US" sz="1800" b="0" i="0" u="none" strike="noStrike" cap="none" normalizeH="0" baseline="0" dirty="0">
                <a:ln>
                  <a:noFill/>
                </a:ln>
                <a:solidFill>
                  <a:schemeClr val="tx1"/>
                </a:solidFill>
                <a:effectLst/>
                <a:latin typeface="Arial" panose="020B0604020202020204" pitchFamily="34" charset="0"/>
              </a:rPr>
              <a:t> вроде </a:t>
            </a:r>
            <a:r>
              <a:rPr kumimoji="0" lang="en-US" altLang="en-US" b="0" i="0" u="none" strike="noStrike" cap="none" normalizeH="0" baseline="0" dirty="0">
                <a:ln>
                  <a:noFill/>
                </a:ln>
                <a:solidFill>
                  <a:schemeClr val="tx1"/>
                </a:solidFill>
                <a:effectLst/>
                <a:latin typeface="Arial Unicode MS"/>
              </a:rPr>
              <a:t>cdn1.example.com</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cdn2.example.com</a:t>
            </a:r>
            <a:r>
              <a:rPr kumimoji="0" lang="en-US" altLang="en-US" b="0" i="0" u="none" strike="noStrike" cap="none" normalizeH="0" baseline="0" dirty="0">
                <a:ln>
                  <a:noFill/>
                </a:ln>
                <a:solidFill>
                  <a:schemeClr val="tx1"/>
                </a:solidFill>
                <a:effectLst/>
              </a:rPr>
              <a:t> — </a:t>
            </a:r>
            <a:r>
              <a:rPr kumimoji="0" lang="en-US" altLang="en-US" b="0" i="0" u="none" strike="noStrike" cap="none" normalizeH="0" baseline="0" dirty="0" err="1">
                <a:ln>
                  <a:noFill/>
                </a:ln>
                <a:solidFill>
                  <a:schemeClr val="tx1"/>
                </a:solidFill>
                <a:effectLst/>
              </a:rPr>
              <a:t>это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оно</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Сегодня</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Для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новых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проектов</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использовать</a:t>
            </a:r>
            <a:r>
              <a:rPr kumimoji="0" lang="en-US" altLang="en-US" sz="1800" b="0" i="0" u="none" strike="noStrike" cap="none" normalizeH="0" baseline="0" dirty="0">
                <a:ln>
                  <a:noFill/>
                </a:ln>
                <a:solidFill>
                  <a:schemeClr val="tx1"/>
                </a:solidFill>
                <a:effectLst/>
                <a:latin typeface="Arial" panose="020B0604020202020204" pitchFamily="34" charset="0"/>
              </a:rPr>
              <a:t> domain </a:t>
            </a:r>
            <a:r>
              <a:rPr kumimoji="0" lang="en-US" altLang="en-US" sz="1800" b="0" i="0" u="none" strike="noStrike" cap="none" normalizeH="0" baseline="0" dirty="0" err="1">
                <a:ln>
                  <a:noFill/>
                </a:ln>
                <a:solidFill>
                  <a:schemeClr val="tx1"/>
                </a:solidFill>
                <a:effectLst/>
                <a:latin typeface="Arial" panose="020B0604020202020204" pitchFamily="34" charset="0"/>
              </a:rPr>
              <a:t>sharding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не</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нужно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если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только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вы</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вынуждены</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работать</a:t>
            </a:r>
            <a:r>
              <a:rPr kumimoji="0" lang="en-US" altLang="en-US" sz="1800" b="0" i="0" u="none" strike="noStrike" cap="none" normalizeH="0" baseline="0" dirty="0">
                <a:ln>
                  <a:noFill/>
                </a:ln>
                <a:solidFill>
                  <a:schemeClr val="tx1"/>
                </a:solidFill>
                <a:effectLst/>
                <a:latin typeface="Arial" panose="020B0604020202020204" pitchFamily="34" charset="0"/>
              </a:rPr>
              <a:t> в </a:t>
            </a:r>
            <a:r>
              <a:rPr kumimoji="0" lang="en-US" altLang="en-US" sz="1800" b="0" i="0" u="none" strike="noStrike" cap="none" normalizeH="0" baseline="0" dirty="0" err="1">
                <a:ln>
                  <a:noFill/>
                </a:ln>
                <a:solidFill>
                  <a:schemeClr val="tx1"/>
                </a:solidFill>
                <a:effectLst/>
                <a:latin typeface="Arial" panose="020B0604020202020204" pitchFamily="34" charset="0"/>
              </a:rPr>
              <a:t>окружении</a:t>
            </a:r>
            <a:r>
              <a:rPr kumimoji="0" lang="en-US" altLang="en-US" sz="1800" b="0" i="0" u="none" strike="noStrike" cap="none" normalizeH="0" baseline="0" dirty="0">
                <a:ln>
                  <a:noFill/>
                </a:ln>
                <a:solidFill>
                  <a:schemeClr val="tx1"/>
                </a:solidFill>
                <a:effectLst/>
                <a:latin typeface="Arial" panose="020B0604020202020204" pitchFamily="34" charset="0"/>
              </a:rPr>
              <a:t> с HTTP/1.1 </a:t>
            </a:r>
            <a:r>
              <a:rPr kumimoji="0" lang="en-US" altLang="en-US" sz="1800" b="0" i="0" u="none" strike="noStrike" cap="none" normalizeH="0" baseline="0" dirty="0" err="1">
                <a:ln>
                  <a:noFill/>
                </a:ln>
                <a:solidFill>
                  <a:schemeClr val="tx1"/>
                </a:solidFill>
                <a:effectLst/>
                <a:latin typeface="Arial" panose="020B0604020202020204" pitchFamily="34" charset="0"/>
              </a:rPr>
              <a:t>без</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возможности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перехода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на</a:t>
            </a:r>
            <a:r>
              <a:rPr kumimoji="0" lang="en-US" altLang="en-US" sz="1800" b="0" i="0" u="none" strike="noStrike" cap="none" normalizeH="0" baseline="0" dirty="0">
                <a:ln>
                  <a:noFill/>
                </a:ln>
                <a:solidFill>
                  <a:schemeClr val="tx1"/>
                </a:solidFill>
                <a:effectLst/>
                <a:latin typeface="Arial" panose="020B0604020202020204" pitchFamily="34" charset="0"/>
              </a:rPr>
              <a:t> HTTP/2).</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В HTTP/2 </a:t>
            </a:r>
            <a:r>
              <a:rPr kumimoji="0" lang="en-US" altLang="en-US" sz="1800" b="0" i="0" u="none" strike="noStrike" cap="none" normalizeH="0" baseline="0" dirty="0" err="1">
                <a:ln>
                  <a:noFill/>
                </a:ln>
                <a:solidFill>
                  <a:schemeClr val="tx1"/>
                </a:solidFill>
                <a:effectLst/>
                <a:latin typeface="Arial" panose="020B0604020202020204" pitchFamily="34" charset="0"/>
              </a:rPr>
              <a:t>лучше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использовать</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один</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домен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для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ресурсов</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или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один</a:t>
            </a:r>
            <a:r>
              <a:rPr kumimoji="0" lang="en-US" altLang="en-US" sz="1800" b="0" i="0" u="none" strike="noStrike" cap="none" normalizeH="0" baseline="0" dirty="0">
                <a:ln>
                  <a:noFill/>
                </a:ln>
                <a:solidFill>
                  <a:schemeClr val="tx1"/>
                </a:solidFill>
                <a:effectLst/>
                <a:latin typeface="Arial" panose="020B0604020202020204" pitchFamily="34" charset="0"/>
              </a:rPr>
              <a:t> CDN), </a:t>
            </a:r>
            <a:r>
              <a:rPr kumimoji="0" lang="en-US" altLang="en-US" sz="1800" b="0" i="0" u="none" strike="noStrike" cap="none" normalizeH="0" baseline="0" dirty="0" err="1">
                <a:ln>
                  <a:noFill/>
                </a:ln>
                <a:solidFill>
                  <a:schemeClr val="tx1"/>
                </a:solidFill>
                <a:effectLst/>
                <a:latin typeface="Arial" panose="020B0604020202020204" pitchFamily="34" charset="0"/>
              </a:rPr>
              <a:t>так</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как</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это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позволяет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браузеру</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более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эффективно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управлять</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приоритизацией</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загрузки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ресурсов</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0220080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5F5829-E308-4FF2-989B-3A8BD0ECFDF1}"/>
              </a:ext>
            </a:extLst>
          </p:cNvPr>
          <p:cNvSpPr>
            <a:spLocks noChangeArrowheads="1"/>
          </p:cNvSpPr>
          <p:nvPr/>
        </p:nvSpPr>
        <p:spPr bwMode="auto">
          <a:xfrm>
            <a:off x="409575" y="-56077"/>
            <a:ext cx="11001375"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Преимущества</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мультиплексирования</a:t>
            </a:r>
            <a:endParaRPr kumimoji="0" lang="ru-RU"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err="1">
                <a:ln>
                  <a:noFill/>
                </a:ln>
                <a:solidFill>
                  <a:schemeClr val="tx1"/>
                </a:solidFill>
                <a:effectLst/>
                <a:latin typeface="Arial" panose="020B0604020202020204" pitchFamily="34" charset="0"/>
              </a:rPr>
              <a:t>Устранение</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головной</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блокировки</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на</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уровне</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приложения</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Ответы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ждут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друг</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друга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если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один</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задерживается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сервер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долго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генерирует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большой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ответ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остальные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продолжают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передаваться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без</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задержек</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err="1">
                <a:ln>
                  <a:noFill/>
                </a:ln>
                <a:solidFill>
                  <a:schemeClr val="tx1"/>
                </a:solidFill>
                <a:effectLst/>
                <a:latin typeface="Arial" panose="020B0604020202020204" pitchFamily="34" charset="0"/>
              </a:rPr>
              <a:t>Эффективное</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использование</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пропускной</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способности</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Отпадает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необходимость</a:t>
            </a:r>
            <a:r>
              <a:rPr kumimoji="0" lang="en-US" altLang="en-US" sz="2000" b="0" i="0" u="none" strike="noStrike" cap="none" normalizeH="0" baseline="0" dirty="0">
                <a:ln>
                  <a:noFill/>
                </a:ln>
                <a:solidFill>
                  <a:schemeClr val="tx1"/>
                </a:solidFill>
                <a:effectLst/>
                <a:latin typeface="Arial" panose="020B0604020202020204" pitchFamily="34" charset="0"/>
              </a:rPr>
              <a:t> в </a:t>
            </a:r>
            <a:r>
              <a:rPr kumimoji="0" lang="en-US" altLang="en-US" sz="2000" b="0" i="0" u="none" strike="noStrike" cap="none" normalizeH="0" baseline="0" dirty="0" err="1">
                <a:ln>
                  <a:noFill/>
                </a:ln>
                <a:solidFill>
                  <a:schemeClr val="tx1"/>
                </a:solidFill>
                <a:effectLst/>
                <a:latin typeface="Arial" panose="020B0604020202020204" pitchFamily="34" charset="0"/>
              </a:rPr>
              <a:t>нескольких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параллельных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соединениях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снижает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нагрузку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сеть</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сервер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Соединение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всегда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используется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максимально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полно</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err="1">
                <a:ln>
                  <a:noFill/>
                </a:ln>
                <a:solidFill>
                  <a:schemeClr val="tx1"/>
                </a:solidFill>
                <a:effectLst/>
                <a:latin typeface="Arial" panose="020B0604020202020204" pitchFamily="34" charset="0"/>
              </a:rPr>
              <a:t>Приоритизация</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Клиент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может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указать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важность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потоков</a:t>
            </a:r>
            <a:r>
              <a:rPr kumimoji="0" lang="en-US" altLang="en-US" sz="2000" b="0" i="0" u="none" strike="noStrike" cap="none" normalizeH="0" baseline="0" dirty="0">
                <a:ln>
                  <a:noFill/>
                </a:ln>
                <a:solidFill>
                  <a:schemeClr val="tx1"/>
                </a:solidFill>
                <a:effectLst/>
                <a:latin typeface="Arial" panose="020B0604020202020204" pitchFamily="34" charset="0"/>
              </a:rPr>
              <a:t> (с </a:t>
            </a:r>
            <a:r>
              <a:rPr kumimoji="0" lang="en-US" altLang="en-US" sz="2000" b="0" i="0" u="none" strike="noStrike" cap="none" normalizeH="0" baseline="0" dirty="0" err="1">
                <a:ln>
                  <a:noFill/>
                </a:ln>
                <a:solidFill>
                  <a:schemeClr val="tx1"/>
                </a:solidFill>
                <a:effectLst/>
                <a:latin typeface="Arial" panose="020B0604020202020204" pitchFamily="34" charset="0"/>
              </a:rPr>
              <a:t>помощью</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кадров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PRIORITY</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или</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весов</a:t>
            </a:r>
            <a:r>
              <a:rPr kumimoji="0" lang="en-US" altLang="en-US" sz="2000" b="0" i="0" u="none" strike="noStrike" cap="none" normalizeH="0" baseline="0" dirty="0">
                <a:ln>
                  <a:noFill/>
                </a:ln>
                <a:solidFill>
                  <a:schemeClr val="tx1"/>
                </a:solidFill>
                <a:effectLst/>
              </a:rPr>
              <a:t> в </a:t>
            </a:r>
            <a:r>
              <a:rPr kumimoji="0" lang="en-US" altLang="en-US" sz="2000" b="0" i="0" u="none" strike="noStrike" cap="none" normalizeH="0" baseline="0" dirty="0">
                <a:ln>
                  <a:noFill/>
                </a:ln>
                <a:solidFill>
                  <a:schemeClr val="tx1"/>
                </a:solidFill>
                <a:effectLst/>
                <a:latin typeface="Arial Unicode MS"/>
              </a:rPr>
              <a:t>HEADERS</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Браузер</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может</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сначала</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загружать</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критические</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ресурсы</a:t>
            </a:r>
            <a:r>
              <a:rPr kumimoji="0" lang="en-US" altLang="en-US" sz="2000" b="0" i="0" u="none" strike="noStrike" cap="none" normalizeH="0" baseline="0" dirty="0">
                <a:ln>
                  <a:noFill/>
                </a:ln>
                <a:solidFill>
                  <a:schemeClr val="tx1"/>
                </a:solidFill>
                <a:effectLst/>
              </a:rPr>
              <a:t> (CSS, </a:t>
            </a:r>
            <a:r>
              <a:rPr kumimoji="0" lang="en-US" altLang="en-US" sz="2000" b="0" i="0" u="none" strike="noStrike" cap="none" normalizeH="0" baseline="0" dirty="0" err="1">
                <a:ln>
                  <a:noFill/>
                </a:ln>
                <a:solidFill>
                  <a:schemeClr val="tx1"/>
                </a:solidFill>
                <a:effectLst/>
              </a:rPr>
              <a:t>шрифты</a:t>
            </a:r>
            <a:r>
              <a:rPr kumimoji="0" lang="en-US" altLang="en-US" sz="2000" b="0" i="0" u="none" strike="noStrike" cap="none" normalizeH="0" baseline="0" dirty="0">
                <a:ln>
                  <a:noFill/>
                </a:ln>
                <a:solidFill>
                  <a:schemeClr val="tx1"/>
                </a:solidFill>
                <a:effectLst/>
              </a:rPr>
              <a:t>) и </a:t>
            </a:r>
            <a:r>
              <a:rPr kumimoji="0" lang="en-US" altLang="en-US" sz="2000" b="0" i="0" u="none" strike="noStrike" cap="none" normalizeH="0" baseline="0" dirty="0" err="1">
                <a:ln>
                  <a:noFill/>
                </a:ln>
                <a:solidFill>
                  <a:schemeClr val="tx1"/>
                </a:solidFill>
                <a:effectLst/>
              </a:rPr>
              <a:t>откладывать</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изображения</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или</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аналитику</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1" i="0" u="none" strike="noStrike" cap="none" normalizeH="0" baseline="0" dirty="0" err="1">
                <a:ln>
                  <a:noFill/>
                </a:ln>
                <a:solidFill>
                  <a:schemeClr val="tx1"/>
                </a:solidFill>
                <a:effectLst/>
                <a:latin typeface="Arial" panose="020B0604020202020204" pitchFamily="34" charset="0"/>
              </a:rPr>
              <a:t>Управление</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потоком</a:t>
            </a:r>
            <a:r>
              <a:rPr kumimoji="0" lang="en-US" altLang="en-US" sz="2000" b="1" i="0" u="none" strike="noStrike" cap="none" normalizeH="0" baseline="0" dirty="0">
                <a:ln>
                  <a:noFill/>
                </a:ln>
                <a:solidFill>
                  <a:schemeClr val="tx1"/>
                </a:solidFill>
                <a:effectLst/>
                <a:latin typeface="Arial" panose="020B0604020202020204" pitchFamily="34" charset="0"/>
              </a:rPr>
              <a:t> (flow control)</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Каждый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само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соединение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имеют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свои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окна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управления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потоком</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аналог</a:t>
            </a:r>
            <a:r>
              <a:rPr kumimoji="0" lang="en-US" altLang="en-US" sz="2000" b="0" i="0" u="none" strike="noStrike" cap="none" normalizeH="0" baseline="0" dirty="0">
                <a:ln>
                  <a:noFill/>
                </a:ln>
                <a:solidFill>
                  <a:schemeClr val="tx1"/>
                </a:solidFill>
                <a:effectLst/>
                <a:latin typeface="Arial" panose="020B0604020202020204" pitchFamily="34" charset="0"/>
              </a:rPr>
              <a:t> TCP, </a:t>
            </a:r>
            <a:r>
              <a:rPr kumimoji="0" lang="en-US" altLang="en-US" sz="2000" b="0" i="0" u="none" strike="noStrike" cap="none" normalizeH="0" baseline="0" dirty="0" err="1">
                <a:ln>
                  <a:noFill/>
                </a:ln>
                <a:solidFill>
                  <a:schemeClr val="tx1"/>
                </a:solidFill>
                <a:effectLst/>
                <a:latin typeface="Arial" panose="020B0604020202020204" pitchFamily="34" charset="0"/>
              </a:rPr>
              <a:t>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уровне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приложения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Это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позволяет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избежать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ситуации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когда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один</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быстрый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забивает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всё</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соединение</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5464303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C9FE73E-C320-429C-A5B0-43BEA8F48B8F}"/>
              </a:ext>
            </a:extLst>
          </p:cNvPr>
          <p:cNvSpPr txBox="1"/>
          <p:nvPr/>
        </p:nvSpPr>
        <p:spPr>
          <a:xfrm>
            <a:off x="438150" y="400972"/>
            <a:ext cx="11353799" cy="4801314"/>
          </a:xfrm>
          <a:prstGeom prst="rect">
            <a:avLst/>
          </a:prstGeom>
          <a:noFill/>
        </p:spPr>
        <p:txBody>
          <a:bodyPr wrap="square">
            <a:spAutoFit/>
          </a:bodyPr>
          <a:lstStyle/>
          <a:p>
            <a:r>
              <a:rPr lang="ru-RU" b="1" dirty="0"/>
              <a:t>Ограничение: головная блокировка на уровне TCP</a:t>
            </a:r>
          </a:p>
          <a:p>
            <a:r>
              <a:rPr lang="ru-RU" dirty="0"/>
              <a:t>Хотя мультиплексирование решает проблему на уровне приложения, под ним всё ещё лежит </a:t>
            </a:r>
            <a:r>
              <a:rPr lang="ru-RU" b="1" dirty="0"/>
              <a:t>TCP</a:t>
            </a:r>
            <a:r>
              <a:rPr lang="ru-RU" dirty="0"/>
              <a:t>, который гарантирует последовательную доставку пакетов. Если один пакет будет потерян, весь TCP‑поток (а значит, и все потоки HTTP/2) остановится до его повторной передачи. Это называется </a:t>
            </a:r>
            <a:r>
              <a:rPr lang="ru-RU" b="1" dirty="0"/>
              <a:t>TCP </a:t>
            </a:r>
            <a:r>
              <a:rPr lang="ru-RU" b="1" dirty="0" err="1"/>
              <a:t>head‑of‑line</a:t>
            </a:r>
            <a:r>
              <a:rPr lang="ru-RU" b="1" dirty="0"/>
              <a:t> </a:t>
            </a:r>
            <a:r>
              <a:rPr lang="ru-RU" b="1" dirty="0" err="1"/>
              <a:t>blocking</a:t>
            </a:r>
            <a:r>
              <a:rPr lang="ru-RU" dirty="0"/>
              <a:t>.</a:t>
            </a:r>
          </a:p>
          <a:p>
            <a:r>
              <a:rPr lang="ru-RU" dirty="0"/>
              <a:t>Именно для устранения этого ограничения был разработан </a:t>
            </a:r>
            <a:r>
              <a:rPr lang="ru-RU" b="1" dirty="0"/>
              <a:t>HTTP/3</a:t>
            </a:r>
            <a:r>
              <a:rPr lang="ru-RU" dirty="0"/>
              <a:t>, работающий поверх </a:t>
            </a:r>
            <a:r>
              <a:rPr lang="ru-RU" b="1" dirty="0"/>
              <a:t>QUIC</a:t>
            </a:r>
            <a:r>
              <a:rPr lang="ru-RU" dirty="0"/>
              <a:t> (UDP), где каждый поток обрабатывается независимо.</a:t>
            </a:r>
          </a:p>
          <a:p>
            <a:r>
              <a:rPr lang="ru-RU" b="1" dirty="0"/>
              <a:t>Пример из жизни</a:t>
            </a:r>
          </a:p>
          <a:p>
            <a:r>
              <a:rPr lang="ru-RU" dirty="0"/>
              <a:t>Представьте, что браузер загружает страницу:</a:t>
            </a:r>
          </a:p>
          <a:p>
            <a:pPr>
              <a:buFont typeface="Arial" panose="020B0604020202020204" pitchFamily="34" charset="0"/>
              <a:buChar char="•"/>
            </a:pPr>
            <a:r>
              <a:rPr lang="ru-RU" dirty="0"/>
              <a:t>Поток 1: HTML</a:t>
            </a:r>
          </a:p>
          <a:p>
            <a:pPr>
              <a:buFont typeface="Arial" panose="020B0604020202020204" pitchFamily="34" charset="0"/>
              <a:buChar char="•"/>
            </a:pPr>
            <a:r>
              <a:rPr lang="ru-RU" dirty="0"/>
              <a:t>Поток 2: CSS</a:t>
            </a:r>
          </a:p>
          <a:p>
            <a:pPr>
              <a:buFont typeface="Arial" panose="020B0604020202020204" pitchFamily="34" charset="0"/>
              <a:buChar char="•"/>
            </a:pPr>
            <a:r>
              <a:rPr lang="ru-RU" dirty="0"/>
              <a:t>Поток 3: большое изображение</a:t>
            </a:r>
          </a:p>
          <a:p>
            <a:pPr>
              <a:buFont typeface="Arial" panose="020B0604020202020204" pitchFamily="34" charset="0"/>
              <a:buChar char="•"/>
            </a:pPr>
            <a:r>
              <a:rPr lang="ru-RU" dirty="0"/>
              <a:t>Поток 4: </a:t>
            </a:r>
            <a:r>
              <a:rPr lang="ru-RU" dirty="0" err="1"/>
              <a:t>JavaScript</a:t>
            </a:r>
            <a:endParaRPr lang="ru-RU" dirty="0"/>
          </a:p>
          <a:p>
            <a:r>
              <a:rPr lang="ru-RU" dirty="0"/>
              <a:t>В HTTP/1.1 браузеру пришлось бы либо открыть 4 соединения (если домен позволяет), либо ждать, пока загрузится HTML, затем CSS, затем JS, затем изображение — или использовать сложную эвристику.</a:t>
            </a:r>
          </a:p>
          <a:p>
            <a:r>
              <a:rPr lang="ru-RU" dirty="0"/>
              <a:t>В HTTP/2 браузер отправляет все четыре запроса мгновенно. Сервер начинает передачу, и кадры CSS могут «обогнать» кадры изображения, потому что CSS имеет более высокий приоритет. Браузер получает CSS раньше и может начать рендеринг, не дожидаясь завершения загрузки тяжёлого изображения.</a:t>
            </a:r>
          </a:p>
        </p:txBody>
      </p:sp>
      <p:sp>
        <p:nvSpPr>
          <p:cNvPr id="5" name="TextBox 4">
            <a:extLst>
              <a:ext uri="{FF2B5EF4-FFF2-40B4-BE49-F238E27FC236}">
                <a16:creationId xmlns:a16="http://schemas.microsoft.com/office/drawing/2014/main" id="{BD20D692-B1F4-482E-97D6-FB3799FE7645}"/>
              </a:ext>
            </a:extLst>
          </p:cNvPr>
          <p:cNvSpPr txBox="1"/>
          <p:nvPr/>
        </p:nvSpPr>
        <p:spPr>
          <a:xfrm>
            <a:off x="438150" y="5256699"/>
            <a:ext cx="11696700" cy="1200329"/>
          </a:xfrm>
          <a:prstGeom prst="rect">
            <a:avLst/>
          </a:prstGeom>
          <a:noFill/>
        </p:spPr>
        <p:txBody>
          <a:bodyPr wrap="square">
            <a:spAutoFit/>
          </a:bodyPr>
          <a:lstStyle/>
          <a:p>
            <a:r>
              <a:rPr lang="ru-RU" dirty="0">
                <a:effectLst/>
              </a:rPr>
              <a:t>Мультиплексирование в HTTP/2 — это не просто «улучшение производительности», а смена парадигмы передачи данных в вебе. Оно позволило отказаться от множества костылей (</a:t>
            </a:r>
            <a:r>
              <a:rPr lang="ru-RU" dirty="0" err="1">
                <a:effectLst/>
              </a:rPr>
              <a:t>domain</a:t>
            </a:r>
            <a:r>
              <a:rPr lang="ru-RU" dirty="0">
                <a:effectLst/>
              </a:rPr>
              <a:t> </a:t>
            </a:r>
            <a:r>
              <a:rPr lang="ru-RU" dirty="0" err="1">
                <a:effectLst/>
              </a:rPr>
              <a:t>sharding</a:t>
            </a:r>
            <a:r>
              <a:rPr lang="ru-RU" dirty="0">
                <a:effectLst/>
              </a:rPr>
              <a:t>, объединение файлов, встраивание ресурсов), упростило разработку и сделало загрузку страниц значительно быстрее, особенно на мобильных устройствах и в сетях с высокой задержкой.</a:t>
            </a:r>
          </a:p>
        </p:txBody>
      </p:sp>
    </p:spTree>
    <p:extLst>
      <p:ext uri="{BB962C8B-B14F-4D97-AF65-F5344CB8AC3E}">
        <p14:creationId xmlns:p14="http://schemas.microsoft.com/office/powerpoint/2010/main" val="8904419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DE4169-FB9E-428F-AED8-C8AB5806B6A5}"/>
              </a:ext>
            </a:extLst>
          </p:cNvPr>
          <p:cNvSpPr txBox="1"/>
          <p:nvPr/>
        </p:nvSpPr>
        <p:spPr>
          <a:xfrm>
            <a:off x="790575" y="405884"/>
            <a:ext cx="6096000" cy="369332"/>
          </a:xfrm>
          <a:prstGeom prst="rect">
            <a:avLst/>
          </a:prstGeom>
          <a:noFill/>
        </p:spPr>
        <p:txBody>
          <a:bodyPr wrap="square">
            <a:spAutoFit/>
          </a:bodyPr>
          <a:lstStyle/>
          <a:p>
            <a:r>
              <a:rPr lang="ru-RU" sz="1800" b="1" dirty="0"/>
              <a:t>Сжатие заголовков (HPACK)</a:t>
            </a:r>
          </a:p>
        </p:txBody>
      </p:sp>
      <p:sp>
        <p:nvSpPr>
          <p:cNvPr id="2" name="Rectangle 1">
            <a:extLst>
              <a:ext uri="{FF2B5EF4-FFF2-40B4-BE49-F238E27FC236}">
                <a16:creationId xmlns:a16="http://schemas.microsoft.com/office/drawing/2014/main" id="{9ECF5739-8B55-484A-9A14-DBD9D3AC6B61}"/>
              </a:ext>
            </a:extLst>
          </p:cNvPr>
          <p:cNvSpPr>
            <a:spLocks noChangeArrowheads="1"/>
          </p:cNvSpPr>
          <p:nvPr/>
        </p:nvSpPr>
        <p:spPr bwMode="auto">
          <a:xfrm>
            <a:off x="381000" y="809536"/>
            <a:ext cx="10515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HPACK </a:t>
            </a:r>
            <a:r>
              <a:rPr lang="en-US" altLang="en-US" dirty="0"/>
              <a:t>— </a:t>
            </a:r>
            <a:r>
              <a:rPr lang="en-US" altLang="en-US" dirty="0" err="1"/>
              <a:t>это</a:t>
            </a:r>
            <a:r>
              <a:rPr lang="en-US" altLang="en-US" dirty="0"/>
              <a:t> </a:t>
            </a:r>
            <a:r>
              <a:rPr lang="en-US" altLang="en-US" dirty="0" err="1"/>
              <a:t>механизм</a:t>
            </a:r>
            <a:r>
              <a:rPr lang="en-US" altLang="en-US" dirty="0"/>
              <a:t> </a:t>
            </a:r>
            <a:r>
              <a:rPr lang="en-US" altLang="en-US" dirty="0" err="1"/>
              <a:t>сжатия</a:t>
            </a:r>
            <a:r>
              <a:rPr lang="en-US" altLang="en-US" dirty="0"/>
              <a:t> </a:t>
            </a:r>
            <a:r>
              <a:rPr lang="en-US" altLang="en-US" dirty="0" err="1"/>
              <a:t>заголовков</a:t>
            </a:r>
            <a:r>
              <a:rPr lang="en-US" altLang="en-US" dirty="0"/>
              <a:t> в HTTP/2, </a:t>
            </a:r>
            <a:r>
              <a:rPr lang="en-US" altLang="en-US" dirty="0" err="1"/>
              <a:t>разработанный</a:t>
            </a:r>
            <a:r>
              <a:rPr lang="en-US" altLang="en-US" dirty="0"/>
              <a:t> </a:t>
            </a:r>
            <a:r>
              <a:rPr lang="en-US" altLang="en-US" dirty="0" err="1"/>
              <a:t>специально</a:t>
            </a:r>
            <a:r>
              <a:rPr lang="en-US" altLang="en-US" dirty="0"/>
              <a:t> </a:t>
            </a:r>
            <a:r>
              <a:rPr lang="en-US" altLang="en-US" dirty="0" err="1"/>
              <a:t>для</a:t>
            </a:r>
            <a:r>
              <a:rPr lang="en-US" altLang="en-US" dirty="0"/>
              <a:t> </a:t>
            </a:r>
            <a:r>
              <a:rPr lang="en-US" altLang="en-US" dirty="0" err="1"/>
              <a:t>эффективной</a:t>
            </a:r>
            <a:r>
              <a:rPr lang="en-US" altLang="en-US" dirty="0"/>
              <a:t> </a:t>
            </a:r>
            <a:r>
              <a:rPr lang="en-US" altLang="en-US" dirty="0" err="1"/>
              <a:t>передачи</a:t>
            </a:r>
            <a:r>
              <a:rPr lang="en-US" altLang="en-US" dirty="0"/>
              <a:t> </a:t>
            </a:r>
            <a:r>
              <a:rPr lang="en-US" altLang="en-US" dirty="0" err="1"/>
              <a:t>полей</a:t>
            </a:r>
            <a:r>
              <a:rPr lang="en-US" altLang="en-US" dirty="0"/>
              <a:t> </a:t>
            </a:r>
            <a:r>
              <a:rPr lang="en-US" altLang="en-US" dirty="0" err="1"/>
              <a:t>заголовков</a:t>
            </a:r>
            <a:r>
              <a:rPr lang="en-US" altLang="en-US" dirty="0"/>
              <a:t> (</a:t>
            </a:r>
            <a:r>
              <a:rPr lang="en-US" altLang="en-US" dirty="0" err="1"/>
              <a:t>таких</a:t>
            </a:r>
            <a:r>
              <a:rPr lang="en-US" altLang="en-US" dirty="0"/>
              <a:t> </a:t>
            </a:r>
            <a:r>
              <a:rPr lang="en-US" altLang="en-US" dirty="0" err="1"/>
              <a:t>как</a:t>
            </a:r>
            <a:r>
              <a:rPr lang="en-US" altLang="en-US" dirty="0"/>
              <a:t> :method, :path, cookie, user-agent и </a:t>
            </a:r>
            <a:r>
              <a:rPr lang="en-US" altLang="en-US" dirty="0" err="1"/>
              <a:t>т.д</a:t>
            </a:r>
            <a:r>
              <a:rPr lang="en-US" altLang="en-US"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t>Он</a:t>
            </a:r>
            <a:r>
              <a:rPr lang="en-US" altLang="en-US" dirty="0"/>
              <a:t> </a:t>
            </a:r>
            <a:r>
              <a:rPr lang="en-US" altLang="en-US" dirty="0" err="1"/>
              <a:t>был</a:t>
            </a:r>
            <a:r>
              <a:rPr lang="en-US" altLang="en-US" dirty="0"/>
              <a:t> </a:t>
            </a:r>
            <a:r>
              <a:rPr lang="en-US" altLang="en-US" dirty="0" err="1"/>
              <a:t>введён</a:t>
            </a:r>
            <a:r>
              <a:rPr lang="en-US" altLang="en-US" dirty="0"/>
              <a:t>, </a:t>
            </a:r>
            <a:r>
              <a:rPr lang="en-US" altLang="en-US" dirty="0" err="1"/>
              <a:t>чтобы</a:t>
            </a:r>
            <a:r>
              <a:rPr lang="en-US" altLang="en-US" dirty="0"/>
              <a:t> </a:t>
            </a:r>
            <a:r>
              <a:rPr lang="en-US" altLang="en-US" dirty="0" err="1"/>
              <a:t>решить</a:t>
            </a:r>
            <a:r>
              <a:rPr lang="en-US" altLang="en-US" dirty="0"/>
              <a:t> </a:t>
            </a:r>
            <a:r>
              <a:rPr lang="en-US" altLang="en-US" dirty="0" err="1"/>
              <a:t>проблему</a:t>
            </a:r>
            <a:r>
              <a:rPr lang="en-US" altLang="en-US" dirty="0"/>
              <a:t> </a:t>
            </a:r>
            <a:r>
              <a:rPr lang="en-US" altLang="en-US" dirty="0" err="1"/>
              <a:t>избыточности</a:t>
            </a:r>
            <a:r>
              <a:rPr lang="en-US" altLang="en-US" dirty="0"/>
              <a:t> </a:t>
            </a:r>
            <a:r>
              <a:rPr lang="en-US" altLang="en-US" dirty="0" err="1"/>
              <a:t>заголовков</a:t>
            </a:r>
            <a:r>
              <a:rPr lang="en-US" altLang="en-US" dirty="0"/>
              <a:t> в HTTP/1.1, </a:t>
            </a:r>
            <a:r>
              <a:rPr lang="en-US" altLang="en-US" dirty="0" err="1"/>
              <a:t>которая</a:t>
            </a:r>
            <a:r>
              <a:rPr lang="en-US" altLang="en-US" dirty="0"/>
              <a:t> </a:t>
            </a:r>
            <a:r>
              <a:rPr lang="en-US" altLang="en-US" dirty="0" err="1"/>
              <a:t>приводила</a:t>
            </a:r>
            <a:r>
              <a:rPr lang="en-US" altLang="en-US" dirty="0"/>
              <a:t> к </a:t>
            </a:r>
            <a:r>
              <a:rPr lang="en-US" altLang="en-US" dirty="0" err="1"/>
              <a:t>значительным</a:t>
            </a:r>
            <a:r>
              <a:rPr lang="en-US" altLang="en-US" dirty="0"/>
              <a:t> </a:t>
            </a:r>
            <a:r>
              <a:rPr lang="en-US" altLang="en-US" dirty="0" err="1"/>
              <a:t>накладным</a:t>
            </a:r>
            <a:r>
              <a:rPr lang="en-US" altLang="en-US" dirty="0"/>
              <a:t> </a:t>
            </a:r>
            <a:r>
              <a:rPr lang="en-US" altLang="en-US" dirty="0" err="1"/>
              <a:t>расходам</a:t>
            </a:r>
            <a:r>
              <a:rPr lang="en-US" altLang="en-US" dirty="0"/>
              <a:t>, </a:t>
            </a:r>
            <a:r>
              <a:rPr lang="en-US" altLang="en-US" dirty="0" err="1"/>
              <a:t>особенно</a:t>
            </a:r>
            <a:r>
              <a:rPr lang="en-US" altLang="en-US" dirty="0"/>
              <a:t> </a:t>
            </a:r>
            <a:r>
              <a:rPr lang="en-US" altLang="en-US" dirty="0" err="1"/>
              <a:t>при</a:t>
            </a:r>
            <a:r>
              <a:rPr lang="en-US" altLang="en-US" dirty="0"/>
              <a:t> </a:t>
            </a:r>
            <a:r>
              <a:rPr lang="en-US" altLang="en-US" dirty="0" err="1"/>
              <a:t>передаче</a:t>
            </a:r>
            <a:r>
              <a:rPr lang="en-US" altLang="en-US" dirty="0"/>
              <a:t> </a:t>
            </a:r>
            <a:r>
              <a:rPr lang="en-US" altLang="en-US" dirty="0" err="1"/>
              <a:t>множества</a:t>
            </a:r>
            <a:r>
              <a:rPr lang="en-US" altLang="en-US" dirty="0"/>
              <a:t> </a:t>
            </a:r>
            <a:r>
              <a:rPr lang="en-US" altLang="en-US" dirty="0" err="1"/>
              <a:t>мелких</a:t>
            </a:r>
            <a:r>
              <a:rPr lang="en-US" altLang="en-US" dirty="0"/>
              <a:t> </a:t>
            </a:r>
            <a:r>
              <a:rPr lang="en-US" altLang="en-US" dirty="0" err="1"/>
              <a:t>ресурсов</a:t>
            </a:r>
            <a:r>
              <a:rPr lang="en-US" altLang="en-US" dirty="0"/>
              <a:t>. </a:t>
            </a:r>
          </a:p>
        </p:txBody>
      </p:sp>
      <p:sp>
        <p:nvSpPr>
          <p:cNvPr id="5" name="TextBox 4">
            <a:extLst>
              <a:ext uri="{FF2B5EF4-FFF2-40B4-BE49-F238E27FC236}">
                <a16:creationId xmlns:a16="http://schemas.microsoft.com/office/drawing/2014/main" id="{0E5D2949-F69E-498D-997A-2FD7D50E1A85}"/>
              </a:ext>
            </a:extLst>
          </p:cNvPr>
          <p:cNvSpPr txBox="1"/>
          <p:nvPr/>
        </p:nvSpPr>
        <p:spPr>
          <a:xfrm>
            <a:off x="514349" y="2129135"/>
            <a:ext cx="10848975" cy="646331"/>
          </a:xfrm>
          <a:prstGeom prst="rect">
            <a:avLst/>
          </a:prstGeom>
          <a:noFill/>
        </p:spPr>
        <p:txBody>
          <a:bodyPr wrap="square">
            <a:spAutoFit/>
          </a:bodyPr>
          <a:lstStyle/>
          <a:p>
            <a:r>
              <a:rPr lang="ru-RU" b="1" dirty="0"/>
              <a:t>Проблема: заголовки в HTTP/1.1</a:t>
            </a:r>
          </a:p>
          <a:p>
            <a:r>
              <a:rPr lang="ru-RU" dirty="0"/>
              <a:t>В HTTP/1.1 каждый запрос и ответ содержат полный набор заголовков в текстовом виде. Например</a:t>
            </a:r>
          </a:p>
        </p:txBody>
      </p:sp>
      <p:pic>
        <p:nvPicPr>
          <p:cNvPr id="7" name="Рисунок 6">
            <a:extLst>
              <a:ext uri="{FF2B5EF4-FFF2-40B4-BE49-F238E27FC236}">
                <a16:creationId xmlns:a16="http://schemas.microsoft.com/office/drawing/2014/main" id="{01286CA2-5D33-4634-B3DC-11341BF1EA50}"/>
              </a:ext>
            </a:extLst>
          </p:cNvPr>
          <p:cNvPicPr>
            <a:picLocks noChangeAspect="1"/>
          </p:cNvPicPr>
          <p:nvPr/>
        </p:nvPicPr>
        <p:blipFill>
          <a:blip r:embed="rId2"/>
          <a:stretch>
            <a:fillRect/>
          </a:stretch>
        </p:blipFill>
        <p:spPr>
          <a:xfrm>
            <a:off x="904702" y="3024098"/>
            <a:ext cx="2476846" cy="1286054"/>
          </a:xfrm>
          <a:prstGeom prst="rect">
            <a:avLst/>
          </a:prstGeom>
        </p:spPr>
      </p:pic>
      <p:sp>
        <p:nvSpPr>
          <p:cNvPr id="9" name="TextBox 8">
            <a:extLst>
              <a:ext uri="{FF2B5EF4-FFF2-40B4-BE49-F238E27FC236}">
                <a16:creationId xmlns:a16="http://schemas.microsoft.com/office/drawing/2014/main" id="{E5334168-C0B0-4936-B787-34BBA29FC33E}"/>
              </a:ext>
            </a:extLst>
          </p:cNvPr>
          <p:cNvSpPr txBox="1"/>
          <p:nvPr/>
        </p:nvSpPr>
        <p:spPr>
          <a:xfrm>
            <a:off x="581023" y="4449366"/>
            <a:ext cx="10715625" cy="2308324"/>
          </a:xfrm>
          <a:prstGeom prst="rect">
            <a:avLst/>
          </a:prstGeom>
          <a:noFill/>
        </p:spPr>
        <p:txBody>
          <a:bodyPr wrap="square">
            <a:spAutoFit/>
          </a:bodyPr>
          <a:lstStyle/>
          <a:p>
            <a:r>
              <a:rPr lang="ru-RU" dirty="0"/>
              <a:t>Эти заголовки могут занимать сотни байт, а иногда и килобайты (особенно при наличии больших </a:t>
            </a:r>
            <a:r>
              <a:rPr lang="ru-RU" dirty="0" err="1"/>
              <a:t>Cookie</a:t>
            </a:r>
            <a:r>
              <a:rPr lang="ru-RU" dirty="0"/>
              <a:t>). При загрузке сложной страницы браузер отправляет десятки запросов, и одни и те же заголовки повторяются практически без изменений. В HTTP/1.1 это приводило к:</a:t>
            </a:r>
          </a:p>
          <a:p>
            <a:pPr>
              <a:buFont typeface="Arial" panose="020B0604020202020204" pitchFamily="34" charset="0"/>
              <a:buChar char="•"/>
            </a:pPr>
            <a:r>
              <a:rPr lang="ru-RU" b="1" dirty="0"/>
              <a:t>Избыточному расходу трафика</a:t>
            </a:r>
            <a:r>
              <a:rPr lang="ru-RU" dirty="0"/>
              <a:t> — заголовки могли составлять до 40–50% от объёма данных.</a:t>
            </a:r>
          </a:p>
          <a:p>
            <a:pPr>
              <a:buFont typeface="Arial" panose="020B0604020202020204" pitchFamily="34" charset="0"/>
              <a:buChar char="•"/>
            </a:pPr>
            <a:r>
              <a:rPr lang="ru-RU" b="1" dirty="0"/>
              <a:t>Задержкам</a:t>
            </a:r>
            <a:r>
              <a:rPr lang="ru-RU" dirty="0"/>
              <a:t> — передача большого объёма повторяющихся данных перед каждым телом ответа увеличивала время загрузки, особенно на мобильных сетях.</a:t>
            </a:r>
          </a:p>
          <a:p>
            <a:pPr>
              <a:buFont typeface="Arial" panose="020B0604020202020204" pitchFamily="34" charset="0"/>
              <a:buChar char="•"/>
            </a:pPr>
            <a:r>
              <a:rPr lang="ru-RU" b="1" dirty="0"/>
              <a:t>Ограничениям мультиплексирования</a:t>
            </a:r>
            <a:r>
              <a:rPr lang="ru-RU" dirty="0"/>
              <a:t> — текстовый формат не позволял эффективно сжимать заголовки в рамках одного соединения.</a:t>
            </a:r>
          </a:p>
        </p:txBody>
      </p:sp>
    </p:spTree>
    <p:extLst>
      <p:ext uri="{BB962C8B-B14F-4D97-AF65-F5344CB8AC3E}">
        <p14:creationId xmlns:p14="http://schemas.microsoft.com/office/powerpoint/2010/main" val="22765308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7A5E7A-D333-4704-BA0A-2D36124A9CC4}"/>
              </a:ext>
            </a:extLst>
          </p:cNvPr>
          <p:cNvSpPr>
            <a:spLocks noChangeArrowheads="1"/>
          </p:cNvSpPr>
          <p:nvPr/>
        </p:nvSpPr>
        <p:spPr bwMode="auto">
          <a:xfrm rot="10800000" flipV="1">
            <a:off x="485775" y="555159"/>
            <a:ext cx="1089660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Как</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работает</a:t>
            </a:r>
            <a:r>
              <a:rPr kumimoji="0" lang="en-US" altLang="en-US" sz="2000" b="1" i="0" u="none" strike="noStrike" cap="none" normalizeH="0" baseline="0" dirty="0">
                <a:ln>
                  <a:noFill/>
                </a:ln>
                <a:solidFill>
                  <a:schemeClr val="tx1"/>
                </a:solidFill>
                <a:effectLst/>
                <a:latin typeface="Arial" panose="020B0604020202020204" pitchFamily="34" charset="0"/>
              </a:rPr>
              <a:t> HPACK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HPACK — </a:t>
            </a:r>
            <a:r>
              <a:rPr kumimoji="0" lang="en-US" altLang="en-US" sz="2000" b="0" i="0" u="none" strike="noStrike" cap="none" normalizeH="0" baseline="0" dirty="0" err="1">
                <a:ln>
                  <a:noFill/>
                </a:ln>
                <a:solidFill>
                  <a:schemeClr val="tx1"/>
                </a:solidFill>
                <a:effectLst/>
                <a:latin typeface="Arial" panose="020B0604020202020204" pitchFamily="34" charset="0"/>
              </a:rPr>
              <a:t>это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бинарный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формат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сжатия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который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использует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три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ключевых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механизма</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err="1">
                <a:ln>
                  <a:noFill/>
                </a:ln>
                <a:solidFill>
                  <a:schemeClr val="tx1"/>
                </a:solidFill>
                <a:effectLst/>
                <a:latin typeface="Arial" panose="020B0604020202020204" pitchFamily="34" charset="0"/>
              </a:rPr>
              <a:t>Статическая</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таблица</a:t>
            </a:r>
            <a:r>
              <a:rPr kumimoji="0" lang="en-US" altLang="en-US" sz="2000" b="0" i="0" u="none" strike="noStrike" cap="none" normalizeH="0" baseline="0" dirty="0">
                <a:ln>
                  <a:noFill/>
                </a:ln>
                <a:solidFill>
                  <a:schemeClr val="tx1"/>
                </a:solidFill>
                <a:effectLst/>
                <a:latin typeface="Arial" panose="020B0604020202020204" pitchFamily="34" charset="0"/>
              </a:rPr>
              <a:t> (static table)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Заранее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определённый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список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из</a:t>
            </a:r>
            <a:r>
              <a:rPr kumimoji="0" lang="en-US" altLang="en-US" sz="2000" b="0" i="0" u="none" strike="noStrike" cap="none" normalizeH="0" baseline="0" dirty="0">
                <a:ln>
                  <a:noFill/>
                </a:ln>
                <a:solidFill>
                  <a:schemeClr val="tx1"/>
                </a:solidFill>
                <a:effectLst/>
                <a:latin typeface="Arial" panose="020B0604020202020204" pitchFamily="34" charset="0"/>
              </a:rPr>
              <a:t> 61 </a:t>
            </a:r>
            <a:r>
              <a:rPr kumimoji="0" lang="en-US" altLang="en-US" sz="2000" b="0" i="0" u="none" strike="noStrike" cap="none" normalizeH="0" baseline="0" dirty="0" err="1">
                <a:ln>
                  <a:noFill/>
                </a:ln>
                <a:solidFill>
                  <a:schemeClr val="tx1"/>
                </a:solidFill>
                <a:effectLst/>
                <a:latin typeface="Arial" panose="020B0604020202020204" pitchFamily="34" charset="0"/>
              </a:rPr>
              <a:t>наиболее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распространённого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заголовка</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их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типичных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значений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:method: GET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user-agent: </a:t>
            </a:r>
            <a:r>
              <a:rPr kumimoji="0" lang="en-US" altLang="en-US" sz="2000" b="0" i="0" u="none" strike="noStrike" cap="none" normalizeH="0" baseline="0" dirty="0">
                <a:ln>
                  <a:noFill/>
                </a:ln>
                <a:solidFill>
                  <a:schemeClr val="tx1"/>
                </a:solidFill>
                <a:effectLst/>
              </a:rPr>
              <a:t>и </a:t>
            </a:r>
            <a:r>
              <a:rPr kumimoji="0" lang="en-US" altLang="en-US" sz="2000" b="0" i="0" u="none" strike="noStrike" cap="none" normalizeH="0" baseline="0" dirty="0" err="1">
                <a:ln>
                  <a:noFill/>
                </a:ln>
                <a:solidFill>
                  <a:schemeClr val="tx1"/>
                </a:solidFill>
                <a:effectLst/>
              </a:rPr>
              <a:t>т.д</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Каждая</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запись</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имеет</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индекс</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Если</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заголовок</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совпадает</a:t>
            </a:r>
            <a:r>
              <a:rPr kumimoji="0" lang="en-US" altLang="en-US" sz="2000" b="0" i="0" u="none" strike="noStrike" cap="none" normalizeH="0" baseline="0" dirty="0">
                <a:ln>
                  <a:noFill/>
                </a:ln>
                <a:solidFill>
                  <a:schemeClr val="tx1"/>
                </a:solidFill>
                <a:effectLst/>
              </a:rPr>
              <a:t> с </a:t>
            </a:r>
            <a:r>
              <a:rPr kumimoji="0" lang="en-US" altLang="en-US" sz="2000" b="0" i="0" u="none" strike="noStrike" cap="none" normalizeH="0" baseline="0" dirty="0" err="1">
                <a:ln>
                  <a:noFill/>
                </a:ln>
                <a:solidFill>
                  <a:schemeClr val="tx1"/>
                </a:solidFill>
                <a:effectLst/>
              </a:rPr>
              <a:t>записью</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из</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статической</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таблицы</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он</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передаётся</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как</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одно</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число</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индекс</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занимая</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всего</a:t>
            </a:r>
            <a:r>
              <a:rPr kumimoji="0" lang="en-US" altLang="en-US" sz="2000" b="0" i="0" u="none" strike="noStrike" cap="none" normalizeH="0" baseline="0" dirty="0">
                <a:ln>
                  <a:noFill/>
                </a:ln>
                <a:solidFill>
                  <a:schemeClr val="tx1"/>
                </a:solidFill>
                <a:effectLst/>
              </a:rPr>
              <a:t> 1 </a:t>
            </a:r>
            <a:r>
              <a:rPr kumimoji="0" lang="en-US" altLang="en-US" sz="2000" b="0" i="0" u="none" strike="noStrike" cap="none" normalizeH="0" baseline="0" dirty="0" err="1">
                <a:ln>
                  <a:noFill/>
                </a:ln>
                <a:solidFill>
                  <a:schemeClr val="tx1"/>
                </a:solidFill>
                <a:effectLst/>
              </a:rPr>
              <a:t>байт</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err="1">
                <a:ln>
                  <a:noFill/>
                </a:ln>
                <a:solidFill>
                  <a:schemeClr val="tx1"/>
                </a:solidFill>
                <a:effectLst/>
                <a:latin typeface="Arial" panose="020B0604020202020204" pitchFamily="34" charset="0"/>
              </a:rPr>
              <a:t>Динамическая</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таблица</a:t>
            </a:r>
            <a:r>
              <a:rPr kumimoji="0" lang="en-US" altLang="en-US" sz="2000" b="0" i="0" u="none" strike="noStrike" cap="none" normalizeH="0" baseline="0" dirty="0">
                <a:ln>
                  <a:noFill/>
                </a:ln>
                <a:solidFill>
                  <a:schemeClr val="tx1"/>
                </a:solidFill>
                <a:effectLst/>
                <a:latin typeface="Arial" panose="020B0604020202020204" pitchFamily="34" charset="0"/>
              </a:rPr>
              <a:t> (dynamic table)</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По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мере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обмена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сообщениями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клиент</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сервер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могут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добавлять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новые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пары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имя-значение</a:t>
            </a:r>
            <a:r>
              <a:rPr kumimoji="0" lang="en-US" altLang="en-US" sz="2000" b="0" i="0" u="none" strike="noStrike" cap="none" normalizeH="0" baseline="0" dirty="0">
                <a:ln>
                  <a:noFill/>
                </a:ln>
                <a:solidFill>
                  <a:schemeClr val="tx1"/>
                </a:solidFill>
                <a:effectLst/>
                <a:latin typeface="Arial" panose="020B0604020202020204" pitchFamily="34" charset="0"/>
              </a:rPr>
              <a:t>» в </a:t>
            </a:r>
            <a:r>
              <a:rPr kumimoji="0" lang="en-US" altLang="en-US" sz="2000" b="0" i="0" u="none" strike="noStrike" cap="none" normalizeH="0" baseline="0" dirty="0" err="1">
                <a:ln>
                  <a:noFill/>
                </a:ln>
                <a:solidFill>
                  <a:schemeClr val="tx1"/>
                </a:solidFill>
                <a:effectLst/>
                <a:latin typeface="Arial" panose="020B0604020202020204" pitchFamily="34" charset="0"/>
              </a:rPr>
              <a:t>динамическую</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таблицу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общую</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для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соединения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Таблица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работает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как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кэш</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если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заголовок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уже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передавался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ранее</a:t>
            </a:r>
            <a:r>
              <a:rPr kumimoji="0" lang="en-US" altLang="en-US" sz="2000" b="0" i="0" u="none" strike="noStrike" cap="none" normalizeH="0" baseline="0" dirty="0">
                <a:ln>
                  <a:noFill/>
                </a:ln>
                <a:solidFill>
                  <a:schemeClr val="tx1"/>
                </a:solidFill>
                <a:effectLst/>
                <a:latin typeface="Arial" panose="020B0604020202020204" pitchFamily="34" charset="0"/>
              </a:rPr>
              <a:t>, в </a:t>
            </a:r>
            <a:r>
              <a:rPr kumimoji="0" lang="en-US" altLang="en-US" sz="2000" b="0" i="0" u="none" strike="noStrike" cap="none" normalizeH="0" baseline="0" dirty="0" err="1">
                <a:ln>
                  <a:noFill/>
                </a:ln>
                <a:solidFill>
                  <a:schemeClr val="tx1"/>
                </a:solidFill>
                <a:effectLst/>
                <a:latin typeface="Arial" panose="020B0604020202020204" pitchFamily="34" charset="0"/>
              </a:rPr>
              <a:t>следующий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раз</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можно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отправить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только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ссылку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него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индекс</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Размер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динамической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таблицы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ограничен</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может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настраиваться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через</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кадры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SETTINGS</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err="1">
                <a:ln>
                  <a:noFill/>
                </a:ln>
                <a:solidFill>
                  <a:schemeClr val="tx1"/>
                </a:solidFill>
                <a:effectLst/>
                <a:latin typeface="Arial" panose="020B0604020202020204" pitchFamily="34" charset="0"/>
              </a:rPr>
              <a:t>Кодирование</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Хаффмана</a:t>
            </a:r>
            <a:r>
              <a:rPr kumimoji="0" lang="en-US" altLang="en-US" sz="2000" b="0" i="0" u="none" strike="noStrike" cap="none" normalizeH="0" baseline="0" dirty="0">
                <a:ln>
                  <a:noFill/>
                </a:ln>
                <a:solidFill>
                  <a:schemeClr val="tx1"/>
                </a:solidFill>
                <a:effectLst/>
                <a:latin typeface="Arial" panose="020B0604020202020204" pitchFamily="34" charset="0"/>
              </a:rPr>
              <a:t> (Huffman encoding)</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err="1">
                <a:ln>
                  <a:noFill/>
                </a:ln>
                <a:solidFill>
                  <a:schemeClr val="tx1"/>
                </a:solidFill>
                <a:effectLst/>
                <a:latin typeface="Arial" panose="020B0604020202020204" pitchFamily="34" charset="0"/>
              </a:rPr>
              <a:t>Для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тех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частей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заголовков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которые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были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найдены</a:t>
            </a:r>
            <a:r>
              <a:rPr kumimoji="0" lang="en-US" altLang="en-US" sz="2000" b="0" i="0" u="none" strike="noStrike" cap="none" normalizeH="0" baseline="0" dirty="0">
                <a:ln>
                  <a:noFill/>
                </a:ln>
                <a:solidFill>
                  <a:schemeClr val="tx1"/>
                </a:solidFill>
                <a:effectLst/>
                <a:latin typeface="Arial" panose="020B0604020202020204" pitchFamily="34" charset="0"/>
              </a:rPr>
              <a:t> в </a:t>
            </a:r>
            <a:r>
              <a:rPr kumimoji="0" lang="en-US" altLang="en-US" sz="2000" b="0" i="0" u="none" strike="noStrike" cap="none" normalizeH="0" baseline="0" dirty="0" err="1">
                <a:ln>
                  <a:noFill/>
                </a:ln>
                <a:solidFill>
                  <a:schemeClr val="tx1"/>
                </a:solidFill>
                <a:effectLst/>
                <a:latin typeface="Arial" panose="020B0604020202020204" pitchFamily="34" charset="0"/>
              </a:rPr>
              <a:t>таблицах</a:t>
            </a:r>
            <a:r>
              <a:rPr kumimoji="0" lang="en-US" altLang="en-US" sz="2000" b="0" i="0" u="none" strike="noStrike" cap="none" normalizeH="0" baseline="0" dirty="0">
                <a:ln>
                  <a:noFill/>
                </a:ln>
                <a:solidFill>
                  <a:schemeClr val="tx1"/>
                </a:solidFill>
                <a:effectLst/>
                <a:latin typeface="Arial" panose="020B0604020202020204" pitchFamily="34" charset="0"/>
              </a:rPr>
              <a:t>, HPACK </a:t>
            </a:r>
            <a:r>
              <a:rPr kumimoji="0" lang="en-US" altLang="en-US" sz="2000" b="0" i="0" u="none" strike="noStrike" cap="none" normalizeH="0" baseline="0" dirty="0" err="1">
                <a:ln>
                  <a:noFill/>
                </a:ln>
                <a:solidFill>
                  <a:schemeClr val="tx1"/>
                </a:solidFill>
                <a:effectLst/>
                <a:latin typeface="Arial" panose="020B0604020202020204" pitchFamily="34" charset="0"/>
              </a:rPr>
              <a:t>применяет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статическое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кодирование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Хаффмана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заранее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заданная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таблица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кодов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Это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позволяет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эффективно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сжимать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строки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особенно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латиницу</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цифры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без</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сложных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вычислений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лету</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934844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035B34-9418-472A-A25C-E59375CC35D5}"/>
              </a:ext>
            </a:extLst>
          </p:cNvPr>
          <p:cNvSpPr txBox="1"/>
          <p:nvPr/>
        </p:nvSpPr>
        <p:spPr>
          <a:xfrm>
            <a:off x="219074" y="192466"/>
            <a:ext cx="11744325" cy="2308324"/>
          </a:xfrm>
          <a:prstGeom prst="rect">
            <a:avLst/>
          </a:prstGeom>
          <a:noFill/>
        </p:spPr>
        <p:txBody>
          <a:bodyPr wrap="square">
            <a:spAutoFit/>
          </a:bodyPr>
          <a:lstStyle/>
          <a:p>
            <a:r>
              <a:rPr lang="ru-RU" b="1" dirty="0"/>
              <a:t>Передача заголовков в бинарном формате</a:t>
            </a:r>
          </a:p>
          <a:p>
            <a:r>
              <a:rPr lang="ru-RU" dirty="0"/>
              <a:t>Каждый заголовок (или ссылка на таблицу) упаковывается в последовательность октетов с использованием специальных кодов, указывающих:</a:t>
            </a:r>
          </a:p>
          <a:p>
            <a:pPr>
              <a:buFont typeface="Arial" panose="020B0604020202020204" pitchFamily="34" charset="0"/>
              <a:buChar char="•"/>
            </a:pPr>
            <a:r>
              <a:rPr lang="ru-RU" dirty="0"/>
              <a:t>Использовать ли статическую таблицу, динамическую таблицу или передавать литерал.</a:t>
            </a:r>
          </a:p>
          <a:p>
            <a:pPr>
              <a:buFont typeface="Arial" panose="020B0604020202020204" pitchFamily="34" charset="0"/>
              <a:buChar char="•"/>
            </a:pPr>
            <a:r>
              <a:rPr lang="ru-RU" dirty="0"/>
              <a:t>Добавлять ли эту пару в динамическую таблицу для будущих сообщений.</a:t>
            </a:r>
          </a:p>
          <a:p>
            <a:pPr>
              <a:buFont typeface="Arial" panose="020B0604020202020204" pitchFamily="34" charset="0"/>
              <a:buChar char="•"/>
            </a:pPr>
            <a:r>
              <a:rPr lang="ru-RU" dirty="0"/>
              <a:t>Применять ли к значению кодирование Хаффмана.</a:t>
            </a:r>
          </a:p>
          <a:p>
            <a:r>
              <a:rPr lang="ru-RU" b="1" dirty="0"/>
              <a:t>Пример упрощённо</a:t>
            </a:r>
          </a:p>
          <a:p>
            <a:r>
              <a:rPr lang="ru-RU" dirty="0"/>
              <a:t>Допустим, клиент отправляет запрос:</a:t>
            </a:r>
          </a:p>
        </p:txBody>
      </p:sp>
      <p:pic>
        <p:nvPicPr>
          <p:cNvPr id="5" name="Рисунок 4">
            <a:extLst>
              <a:ext uri="{FF2B5EF4-FFF2-40B4-BE49-F238E27FC236}">
                <a16:creationId xmlns:a16="http://schemas.microsoft.com/office/drawing/2014/main" id="{59694437-28D0-4117-93A5-D1C8BD45D2DE}"/>
              </a:ext>
            </a:extLst>
          </p:cNvPr>
          <p:cNvPicPr>
            <a:picLocks noChangeAspect="1"/>
          </p:cNvPicPr>
          <p:nvPr/>
        </p:nvPicPr>
        <p:blipFill>
          <a:blip r:embed="rId2"/>
          <a:stretch>
            <a:fillRect/>
          </a:stretch>
        </p:blipFill>
        <p:spPr>
          <a:xfrm>
            <a:off x="490365" y="2685973"/>
            <a:ext cx="2964869" cy="1305001"/>
          </a:xfrm>
          <a:prstGeom prst="rect">
            <a:avLst/>
          </a:prstGeom>
        </p:spPr>
      </p:pic>
      <p:pic>
        <p:nvPicPr>
          <p:cNvPr id="7" name="Рисунок 6">
            <a:extLst>
              <a:ext uri="{FF2B5EF4-FFF2-40B4-BE49-F238E27FC236}">
                <a16:creationId xmlns:a16="http://schemas.microsoft.com/office/drawing/2014/main" id="{170C93B0-CBD6-4716-93F3-4FE7539D4C3F}"/>
              </a:ext>
            </a:extLst>
          </p:cNvPr>
          <p:cNvPicPr>
            <a:picLocks noChangeAspect="1"/>
          </p:cNvPicPr>
          <p:nvPr/>
        </p:nvPicPr>
        <p:blipFill>
          <a:blip r:embed="rId3"/>
          <a:stretch>
            <a:fillRect/>
          </a:stretch>
        </p:blipFill>
        <p:spPr>
          <a:xfrm>
            <a:off x="342303" y="3893372"/>
            <a:ext cx="10373322" cy="2772162"/>
          </a:xfrm>
          <a:prstGeom prst="rect">
            <a:avLst/>
          </a:prstGeom>
        </p:spPr>
      </p:pic>
    </p:spTree>
    <p:extLst>
      <p:ext uri="{BB962C8B-B14F-4D97-AF65-F5344CB8AC3E}">
        <p14:creationId xmlns:p14="http://schemas.microsoft.com/office/powerpoint/2010/main" val="13997415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D2336A-0BEF-4948-AC25-BA3231370AD9}"/>
              </a:ext>
            </a:extLst>
          </p:cNvPr>
          <p:cNvSpPr>
            <a:spLocks noChangeArrowheads="1"/>
          </p:cNvSpPr>
          <p:nvPr/>
        </p:nvSpPr>
        <p:spPr bwMode="auto">
          <a:xfrm>
            <a:off x="138112" y="117693"/>
            <a:ext cx="11915775"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Преимущества</a:t>
            </a:r>
            <a:r>
              <a:rPr kumimoji="0" lang="en-US" altLang="en-US" b="1" i="0" u="none" strike="noStrike" cap="none" normalizeH="0" baseline="0" dirty="0">
                <a:ln>
                  <a:noFill/>
                </a:ln>
                <a:solidFill>
                  <a:schemeClr val="tx1"/>
                </a:solidFill>
                <a:effectLst/>
                <a:latin typeface="Arial" panose="020B0604020202020204" pitchFamily="34" charset="0"/>
              </a:rPr>
              <a:t> HPACK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Экономия</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трафика</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особенно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заметна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мобильных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сетях</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при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большом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количестве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запросов</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Ускорение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загрузки</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уменьшение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объёма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данных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передаваемых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начала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тела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ответа</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Безопасность</a:t>
            </a:r>
            <a:r>
              <a:rPr kumimoji="0" lang="en-US" altLang="en-US" b="0" i="0" u="none" strike="noStrike" cap="none" normalizeH="0" baseline="0" dirty="0">
                <a:ln>
                  <a:noFill/>
                </a:ln>
                <a:solidFill>
                  <a:schemeClr val="tx1"/>
                </a:solidFill>
                <a:effectLst/>
                <a:latin typeface="Arial" panose="020B0604020202020204" pitchFamily="34" charset="0"/>
              </a:rPr>
              <a:t> — HPACK </a:t>
            </a:r>
            <a:r>
              <a:rPr kumimoji="0" lang="en-US" altLang="en-US" b="0" i="0" u="none" strike="noStrike" cap="none" normalizeH="0" baseline="0" dirty="0" err="1">
                <a:ln>
                  <a:noFill/>
                </a:ln>
                <a:solidFill>
                  <a:schemeClr val="tx1"/>
                </a:solidFill>
                <a:effectLst/>
                <a:latin typeface="Arial" panose="020B0604020202020204" pitchFamily="34" charset="0"/>
              </a:rPr>
              <a:t>разработан</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так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чтобы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избежать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уязвимостей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связанных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сжатием</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отличие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более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раннего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метода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SPDY</a:t>
            </a:r>
            <a:r>
              <a:rPr kumimoji="0" lang="en-US" altLang="en-US" b="0" i="0" u="none" strike="noStrike" cap="none" normalizeH="0" baseline="0" dirty="0">
                <a:ln>
                  <a:noFill/>
                </a:ln>
                <a:solidFill>
                  <a:schemeClr val="tx1"/>
                </a:solidFill>
                <a:effectLst/>
              </a:rPr>
              <a:t> и </a:t>
            </a:r>
            <a:r>
              <a:rPr kumimoji="0" lang="en-US" altLang="en-US" b="0" i="0" u="none" strike="noStrike" cap="none" normalizeH="0" baseline="0" dirty="0" err="1">
                <a:ln>
                  <a:noFill/>
                </a:ln>
                <a:solidFill>
                  <a:schemeClr val="tx1"/>
                </a:solidFill>
                <a:effectLst/>
              </a:rPr>
              <a:t>компрессии</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gzip</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заголовков</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которые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были</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подвержены</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атакам</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типа</a:t>
            </a:r>
            <a:r>
              <a:rPr kumimoji="0" lang="en-US" altLang="en-US" b="0" i="0" u="none" strike="noStrike" cap="none" normalizeH="0" baseline="0" dirty="0">
                <a:ln>
                  <a:noFill/>
                </a:ln>
                <a:solidFill>
                  <a:schemeClr val="tx1"/>
                </a:solidFill>
                <a:effectLst/>
              </a:rPr>
              <a:t> CRIME). HPACK </a:t>
            </a:r>
            <a:r>
              <a:rPr kumimoji="0" lang="en-US" altLang="en-US" b="0" i="0" u="none" strike="noStrike" cap="none" normalizeH="0" baseline="0" dirty="0" err="1">
                <a:ln>
                  <a:noFill/>
                </a:ln>
                <a:solidFill>
                  <a:schemeClr val="tx1"/>
                </a:solidFill>
                <a:effectLst/>
              </a:rPr>
              <a:t>кодирует</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заголовки</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отдельно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от</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тела</a:t>
            </a:r>
            <a:r>
              <a:rPr kumimoji="0" lang="en-US" altLang="en-US" b="0" i="0" u="none" strike="noStrike" cap="none" normalizeH="0" baseline="0" dirty="0">
                <a:ln>
                  <a:noFill/>
                </a:ln>
                <a:solidFill>
                  <a:schemeClr val="tx1"/>
                </a:solidFill>
                <a:effectLst/>
              </a:rPr>
              <a:t> и </a:t>
            </a:r>
            <a:r>
              <a:rPr kumimoji="0" lang="en-US" altLang="en-US" b="0" i="0" u="none" strike="noStrike" cap="none" normalizeH="0" baseline="0" dirty="0" err="1">
                <a:ln>
                  <a:noFill/>
                </a:ln>
                <a:solidFill>
                  <a:schemeClr val="tx1"/>
                </a:solidFill>
                <a:effectLst/>
              </a:rPr>
              <a:t>не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позволяет</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злоумышленнику</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контролировать</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сжатый</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вывод</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так</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же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легко</a:t>
            </a:r>
            <a:r>
              <a:rPr kumimoji="0" lang="en-US" altLang="en-US" b="0" i="0" u="none" strike="noStrike" cap="none" normalizeH="0" baseline="0" dirty="0">
                <a:ln>
                  <a:noFill/>
                </a:ln>
                <a:solidFill>
                  <a:schemeClr val="tx1"/>
                </a:solidFill>
                <a:effectLst/>
              </a:rPr>
              <a:t>.</a:t>
            </a:r>
            <a:endParaRPr kumimoji="0" lang="ru-RU"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Почему</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не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использовали</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gzip</a:t>
            </a:r>
            <a:r>
              <a:rPr kumimoji="0" lang="en-US" altLang="en-US" b="1" i="0" u="none" strike="noStrike" cap="none" normalizeH="0" baseline="0" dirty="0">
                <a:ln>
                  <a:noFill/>
                </a:ln>
                <a:solidFill>
                  <a:schemeClr val="tx1"/>
                </a:solidFill>
                <a:effectLst/>
                <a:latin typeface="Arial" panose="020B0604020202020204" pitchFamily="34" charset="0"/>
              </a:rPr>
              <a:t>/Deflate?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В </a:t>
            </a:r>
            <a:r>
              <a:rPr kumimoji="0" lang="en-US" altLang="en-US" b="0" i="0" u="none" strike="noStrike" cap="none" normalizeH="0" baseline="0" dirty="0" err="1">
                <a:ln>
                  <a:noFill/>
                </a:ln>
                <a:solidFill>
                  <a:schemeClr val="tx1"/>
                </a:solidFill>
                <a:effectLst/>
                <a:latin typeface="Arial" panose="020B0604020202020204" pitchFamily="34" charset="0"/>
              </a:rPr>
              <a:t>экспериментальных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версиях</a:t>
            </a:r>
            <a:r>
              <a:rPr kumimoji="0" lang="en-US" altLang="en-US" b="0" i="0" u="none" strike="noStrike" cap="none" normalizeH="0" baseline="0" dirty="0">
                <a:ln>
                  <a:noFill/>
                </a:ln>
                <a:solidFill>
                  <a:schemeClr val="tx1"/>
                </a:solidFill>
                <a:effectLst/>
                <a:latin typeface="Arial" panose="020B0604020202020204" pitchFamily="34" charset="0"/>
              </a:rPr>
              <a:t> (SPDY)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сжатия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заголовков</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применялся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алгоритм</a:t>
            </a:r>
            <a:r>
              <a:rPr kumimoji="0" lang="en-US" altLang="en-US" b="0" i="0" u="none" strike="noStrike" cap="none" normalizeH="0" baseline="0" dirty="0">
                <a:ln>
                  <a:noFill/>
                </a:ln>
                <a:solidFill>
                  <a:schemeClr val="tx1"/>
                </a:solidFill>
                <a:effectLst/>
                <a:latin typeface="Arial" panose="020B0604020202020204" pitchFamily="34" charset="0"/>
              </a:rPr>
              <a:t> Deflate (</a:t>
            </a:r>
            <a:r>
              <a:rPr kumimoji="0" lang="en-US" altLang="en-US" b="0" i="0" u="none" strike="noStrike" cap="none" normalizeH="0" baseline="0" dirty="0" err="1">
                <a:ln>
                  <a:noFill/>
                </a:ln>
                <a:solidFill>
                  <a:schemeClr val="tx1"/>
                </a:solidFill>
                <a:effectLst/>
                <a:latin typeface="Arial" panose="020B0604020202020204" pitchFamily="34" charset="0"/>
              </a:rPr>
              <a:t>gzip</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он</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оказался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уязвим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атаки</a:t>
            </a:r>
            <a:r>
              <a:rPr kumimoji="0" lang="en-US" altLang="en-US" b="1" i="0" u="none" strike="noStrike" cap="none" normalizeH="0" baseline="0" dirty="0">
                <a:ln>
                  <a:noFill/>
                </a:ln>
                <a:solidFill>
                  <a:schemeClr val="tx1"/>
                </a:solidFill>
                <a:effectLst/>
                <a:latin typeface="Arial" panose="020B0604020202020204" pitchFamily="34" charset="0"/>
              </a:rPr>
              <a:t> CRIME</a:t>
            </a:r>
            <a:r>
              <a:rPr kumimoji="0" lang="en-US" altLang="en-US" b="0" i="0" u="none" strike="noStrike" cap="none" normalizeH="0" baseline="0" dirty="0">
                <a:ln>
                  <a:noFill/>
                </a:ln>
                <a:solidFill>
                  <a:schemeClr val="tx1"/>
                </a:solidFill>
                <a:effectLst/>
                <a:latin typeface="Arial" panose="020B0604020202020204" pitchFamily="34" charset="0"/>
              </a:rPr>
              <a:t> (Compression Ratio Info-leak Made Easy). </a:t>
            </a:r>
            <a:r>
              <a:rPr kumimoji="0" lang="en-US" altLang="en-US" b="0" i="0" u="none" strike="noStrike" cap="none" normalizeH="0" baseline="0" dirty="0" err="1">
                <a:ln>
                  <a:noFill/>
                </a:ln>
                <a:solidFill>
                  <a:schemeClr val="tx1"/>
                </a:solidFill>
                <a:effectLst/>
                <a:latin typeface="Arial" panose="020B0604020202020204" pitchFamily="34" charset="0"/>
              </a:rPr>
              <a:t>Злоумышленник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внедряя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свои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данные</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поток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мог</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анализировать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изменения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размера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сжатого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блока</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извлекать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секретные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данные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например</a:t>
            </a:r>
            <a:r>
              <a:rPr kumimoji="0" lang="en-US" altLang="en-US" b="0" i="0" u="none" strike="noStrike" cap="none" normalizeH="0" baseline="0" dirty="0">
                <a:ln>
                  <a:noFill/>
                </a:ln>
                <a:solidFill>
                  <a:schemeClr val="tx1"/>
                </a:solidFill>
                <a:effectLst/>
                <a:latin typeface="Arial" panose="020B0604020202020204" pitchFamily="34" charset="0"/>
              </a:rPr>
              <a:t>, cookie).</a:t>
            </a:r>
            <a:endParaRPr kumimoji="0" lang="ru-RU"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HPACK </a:t>
            </a:r>
            <a:r>
              <a:rPr kumimoji="0" lang="en-US" altLang="en-US" b="0" i="0" u="none" strike="noStrike" cap="none" normalizeH="0" baseline="0" dirty="0" err="1">
                <a:ln>
                  <a:noFill/>
                </a:ln>
                <a:solidFill>
                  <a:schemeClr val="tx1"/>
                </a:solidFill>
                <a:effectLst/>
                <a:latin typeface="Arial" panose="020B0604020202020204" pitchFamily="34" charset="0"/>
              </a:rPr>
              <a:t>решает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проблему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потому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что</a:t>
            </a:r>
            <a:r>
              <a:rPr kumimoji="0" lang="en-US" altLang="en-US" b="0" i="0" u="none" strike="noStrike" cap="none" normalizeH="0" baseline="0" dirty="0">
                <a:ln>
                  <a:noFill/>
                </a:ln>
                <a:solidFill>
                  <a:schemeClr val="tx1"/>
                </a:solidFill>
                <a:effectLst/>
                <a:latin typeface="Arial" panose="020B0604020202020204" pitchFamily="34" charset="0"/>
              </a:rPr>
              <a:t>:</a:t>
            </a:r>
            <a:endParaRPr kumimoji="0" lang="ru-RU"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Сжатие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выполняется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уровне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отдельных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пар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имя-значение</a:t>
            </a:r>
            <a:r>
              <a:rPr kumimoji="0" lang="en-US" altLang="en-US" b="0" i="0" u="none" strike="noStrike" cap="none" normalizeH="0" baseline="0" dirty="0">
                <a:ln>
                  <a:noFill/>
                </a:ln>
                <a:solidFill>
                  <a:schemeClr val="tx1"/>
                </a:solidFill>
                <a:effectLst/>
                <a:latin typeface="Arial" panose="020B0604020202020204" pitchFamily="34" charset="0"/>
              </a:rPr>
              <a:t>», а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всём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потоке</a:t>
            </a:r>
            <a:r>
              <a:rPr kumimoji="0" lang="en-US" altLang="en-US" b="0" i="0" u="none" strike="noStrike" cap="none" normalizeH="0" baseline="0" dirty="0">
                <a:ln>
                  <a:noFill/>
                </a:ln>
                <a:solidFill>
                  <a:schemeClr val="tx1"/>
                </a:solidFill>
                <a:effectLst/>
                <a:latin typeface="Arial" panose="020B0604020202020204" pitchFamily="34" charset="0"/>
              </a:rPr>
              <a:t>.</a:t>
            </a:r>
            <a:endParaRPr kumimoji="0" lang="ru-RU"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Динамическая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таблица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обновляется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только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основе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ранее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переданных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заголовков</a:t>
            </a:r>
            <a:r>
              <a:rPr kumimoji="0" lang="en-US" altLang="en-US" b="0" i="0" u="none" strike="noStrike" cap="none" normalizeH="0" baseline="0" dirty="0">
                <a:ln>
                  <a:noFill/>
                </a:ln>
                <a:solidFill>
                  <a:schemeClr val="tx1"/>
                </a:solidFill>
                <a:effectLst/>
                <a:latin typeface="Arial" panose="020B0604020202020204" pitchFamily="34" charset="0"/>
              </a:rPr>
              <a:t>, а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произвольных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данных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злоумышленника</a:t>
            </a:r>
            <a:r>
              <a:rPr kumimoji="0" lang="en-US" altLang="en-US" b="0" i="0" u="none" strike="noStrike" cap="none" normalizeH="0" baseline="0" dirty="0">
                <a:ln>
                  <a:noFill/>
                </a:ln>
                <a:solidFill>
                  <a:schemeClr val="tx1"/>
                </a:solidFill>
                <a:effectLst/>
                <a:latin typeface="Arial" panose="020B0604020202020204" pitchFamily="34" charset="0"/>
              </a:rPr>
              <a:t>.</a:t>
            </a:r>
            <a:endParaRPr kumimoji="0" lang="ru-RU"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Протокол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требует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чтобы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кодировщик</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декодер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поддерживали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ограничения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размер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таблицы</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позволяли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неограниченное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смешивание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данных</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6870070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031559-17B3-42EE-926E-90598D97DD48}"/>
              </a:ext>
            </a:extLst>
          </p:cNvPr>
          <p:cNvSpPr>
            <a:spLocks noChangeArrowheads="1"/>
          </p:cNvSpPr>
          <p:nvPr/>
        </p:nvSpPr>
        <p:spPr bwMode="auto">
          <a:xfrm>
            <a:off x="376237" y="700072"/>
            <a:ext cx="11339513"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Взаимодействие</a:t>
            </a:r>
            <a:r>
              <a:rPr kumimoji="0" lang="en-US" altLang="en-US" b="1" i="0" u="none" strike="noStrike" cap="none" normalizeH="0" baseline="0" dirty="0">
                <a:ln>
                  <a:noFill/>
                </a:ln>
                <a:solidFill>
                  <a:schemeClr val="tx1"/>
                </a:solidFill>
                <a:effectLst/>
                <a:latin typeface="Arial" panose="020B0604020202020204" pitchFamily="34" charset="0"/>
              </a:rPr>
              <a:t> с </a:t>
            </a:r>
            <a:r>
              <a:rPr kumimoji="0" lang="en-US" altLang="en-US" b="1" i="0" u="none" strike="noStrike" cap="none" normalizeH="0" baseline="0" dirty="0" err="1">
                <a:ln>
                  <a:noFill/>
                </a:ln>
                <a:solidFill>
                  <a:schemeClr val="tx1"/>
                </a:solidFill>
                <a:effectLst/>
                <a:latin typeface="Arial" panose="020B0604020202020204" pitchFamily="34" charset="0"/>
              </a:rPr>
              <a:t>мультиплексированием</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Arial" panose="020B0604020202020204" pitchFamily="34" charset="0"/>
              </a:rPr>
              <a:t>Важно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отметить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динамическая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таблица</a:t>
            </a:r>
            <a:r>
              <a:rPr kumimoji="0" lang="en-US" altLang="en-US" sz="2000" b="0" i="0" u="none" strike="noStrike" cap="none" normalizeH="0" baseline="0" dirty="0">
                <a:ln>
                  <a:noFill/>
                </a:ln>
                <a:solidFill>
                  <a:schemeClr val="tx1"/>
                </a:solidFill>
                <a:effectLst/>
                <a:latin typeface="Arial" panose="020B0604020202020204" pitchFamily="34" charset="0"/>
              </a:rPr>
              <a:t> HPACK </a:t>
            </a:r>
            <a:r>
              <a:rPr kumimoji="0" lang="en-US" altLang="en-US" sz="2000" b="1" i="0" u="none" strike="noStrike" cap="none" normalizeH="0" baseline="0" dirty="0" err="1">
                <a:ln>
                  <a:noFill/>
                </a:ln>
                <a:solidFill>
                  <a:schemeClr val="tx1"/>
                </a:solidFill>
                <a:effectLst/>
                <a:latin typeface="Arial" panose="020B0604020202020204" pitchFamily="34" charset="0"/>
              </a:rPr>
              <a:t>общая</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для</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всех</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потоков</a:t>
            </a:r>
            <a:r>
              <a:rPr kumimoji="0" lang="en-US" altLang="en-US" sz="2000" b="0" i="0" u="none" strike="noStrike" cap="none" normalizeH="0" baseline="0" dirty="0">
                <a:ln>
                  <a:noFill/>
                </a:ln>
                <a:solidFill>
                  <a:schemeClr val="tx1"/>
                </a:solidFill>
                <a:effectLst/>
                <a:latin typeface="Arial" panose="020B0604020202020204" pitchFamily="34" charset="0"/>
              </a:rPr>
              <a:t> в </a:t>
            </a:r>
            <a:r>
              <a:rPr kumimoji="0" lang="en-US" altLang="en-US" sz="2000" b="0" i="0" u="none" strike="noStrike" cap="none" normalizeH="0" baseline="0" dirty="0" err="1">
                <a:ln>
                  <a:noFill/>
                </a:ln>
                <a:solidFill>
                  <a:schemeClr val="tx1"/>
                </a:solidFill>
                <a:effectLst/>
                <a:latin typeface="Arial" panose="020B0604020202020204" pitchFamily="34" charset="0"/>
              </a:rPr>
              <a:t>рамках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одного</a:t>
            </a:r>
            <a:r>
              <a:rPr kumimoji="0" lang="en-US" altLang="en-US" sz="2000" b="0" i="0" u="none" strike="noStrike" cap="none" normalizeH="0" baseline="0" dirty="0">
                <a:ln>
                  <a:noFill/>
                </a:ln>
                <a:solidFill>
                  <a:schemeClr val="tx1"/>
                </a:solidFill>
                <a:effectLst/>
                <a:latin typeface="Arial" panose="020B0604020202020204" pitchFamily="34" charset="0"/>
              </a:rPr>
              <a:t> TCP-</a:t>
            </a:r>
            <a:r>
              <a:rPr kumimoji="0" lang="en-US" altLang="en-US" sz="2000" b="0" i="0" u="none" strike="noStrike" cap="none" normalizeH="0" baseline="0" dirty="0" err="1">
                <a:ln>
                  <a:noFill/>
                </a:ln>
                <a:solidFill>
                  <a:schemeClr val="tx1"/>
                </a:solidFill>
                <a:effectLst/>
                <a:latin typeface="Arial" panose="020B0604020202020204" pitchFamily="34" charset="0"/>
              </a:rPr>
              <a:t>соединения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Это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даёт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дополнительную</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выгоду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если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разных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потоках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передаются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одинаковые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заголовки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user-agent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accept-encoding</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они</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будут</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сжаты</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максимально</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эффективно</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Однако</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из-за</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этого</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возможны</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проблемы</a:t>
            </a:r>
            <a:r>
              <a:rPr kumimoji="0" lang="en-US" altLang="en-US" sz="2000" b="0" i="0" u="none" strike="noStrike" cap="none" normalizeH="0" baseline="0" dirty="0">
                <a:ln>
                  <a:noFill/>
                </a:ln>
                <a:solidFill>
                  <a:schemeClr val="tx1"/>
                </a:solidFill>
                <a:effectLst/>
              </a:rPr>
              <a:t> с «</a:t>
            </a:r>
            <a:r>
              <a:rPr kumimoji="0" lang="en-US" altLang="en-US" sz="2000" b="0" i="0" u="none" strike="noStrike" cap="none" normalizeH="0" baseline="0" dirty="0" err="1">
                <a:ln>
                  <a:noFill/>
                </a:ln>
                <a:solidFill>
                  <a:schemeClr val="tx1"/>
                </a:solidFill>
                <a:effectLst/>
              </a:rPr>
              <a:t>загрязнением</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таблицы</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разными</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значениями</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но</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алгоритм</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управления</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размером</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позволяет</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этого</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избежать</a:t>
            </a:r>
            <a:r>
              <a:rPr kumimoji="0" lang="en-US" altLang="en-US" sz="2000" b="0" i="0" u="none" strike="noStrike" cap="none" normalizeH="0" baseline="0" dirty="0">
                <a:ln>
                  <a:noFill/>
                </a:ln>
                <a:solidFill>
                  <a:schemeClr val="tx1"/>
                </a:solidFill>
                <a:effectLst/>
              </a:rPr>
              <a:t>.</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HPACK —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критически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важный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компонент</a:t>
            </a:r>
            <a:r>
              <a:rPr kumimoji="0" lang="en-US" altLang="en-US" b="0" i="0" u="none" strike="noStrike" cap="none" normalizeH="0" baseline="0" dirty="0">
                <a:ln>
                  <a:noFill/>
                </a:ln>
                <a:solidFill>
                  <a:schemeClr val="tx1"/>
                </a:solidFill>
                <a:effectLst/>
                <a:latin typeface="Arial" panose="020B0604020202020204" pitchFamily="34" charset="0"/>
              </a:rPr>
              <a:t> HTTP/2, </a:t>
            </a:r>
            <a:r>
              <a:rPr kumimoji="0" lang="en-US" altLang="en-US" b="0" i="0" u="none" strike="noStrike" cap="none" normalizeH="0" baseline="0" dirty="0" err="1">
                <a:ln>
                  <a:noFill/>
                </a:ln>
                <a:solidFill>
                  <a:schemeClr val="tx1"/>
                </a:solidFill>
                <a:effectLst/>
                <a:latin typeface="Arial" panose="020B0604020202020204" pitchFamily="34" charset="0"/>
              </a:rPr>
              <a:t>который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позволяет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радикально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сократить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накладные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расходы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заголовки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сохраняя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высокий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уровень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безопасности</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сочетании</a:t>
            </a:r>
            <a:r>
              <a:rPr kumimoji="0" lang="en-US" altLang="en-US" b="0" i="0" u="none" strike="noStrike" cap="none" normalizeH="0" baseline="0" dirty="0">
                <a:ln>
                  <a:noFill/>
                </a:ln>
                <a:solidFill>
                  <a:schemeClr val="tx1"/>
                </a:solidFill>
                <a:effectLst/>
                <a:latin typeface="Arial" panose="020B0604020202020204" pitchFamily="34" charset="0"/>
              </a:rPr>
              <a:t> с </a:t>
            </a:r>
            <a:r>
              <a:rPr kumimoji="0" lang="en-US" altLang="en-US" b="0" i="0" u="none" strike="noStrike" cap="none" normalizeH="0" baseline="0" dirty="0" err="1">
                <a:ln>
                  <a:noFill/>
                </a:ln>
                <a:solidFill>
                  <a:schemeClr val="tx1"/>
                </a:solidFill>
                <a:effectLst/>
                <a:latin typeface="Arial" panose="020B0604020202020204" pitchFamily="34" charset="0"/>
              </a:rPr>
              <a:t>мультиплексированием</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бинарным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форматом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он</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сделал</a:t>
            </a:r>
            <a:r>
              <a:rPr kumimoji="0" lang="en-US" altLang="en-US" b="0" i="0" u="none" strike="noStrike" cap="none" normalizeH="0" baseline="0" dirty="0">
                <a:ln>
                  <a:noFill/>
                </a:ln>
                <a:solidFill>
                  <a:schemeClr val="tx1"/>
                </a:solidFill>
                <a:effectLst/>
                <a:latin typeface="Arial" panose="020B0604020202020204" pitchFamily="34" charset="0"/>
              </a:rPr>
              <a:t> HTTP/2 </a:t>
            </a:r>
            <a:r>
              <a:rPr kumimoji="0" lang="en-US" altLang="en-US" b="0" i="0" u="none" strike="noStrike" cap="none" normalizeH="0" baseline="0" dirty="0" err="1">
                <a:ln>
                  <a:noFill/>
                </a:ln>
                <a:solidFill>
                  <a:schemeClr val="tx1"/>
                </a:solidFill>
                <a:effectLst/>
                <a:latin typeface="Arial" panose="020B0604020202020204" pitchFamily="34" charset="0"/>
              </a:rPr>
              <a:t>значительно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более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производительным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чем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его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предшественник</a:t>
            </a:r>
            <a:r>
              <a:rPr kumimoji="0" lang="en-US" altLang="en-US" b="0" i="0" u="none" strike="noStrike" cap="none" normalizeH="0" baseline="0" dirty="0">
                <a:ln>
                  <a:noFill/>
                </a:ln>
                <a:solidFill>
                  <a:schemeClr val="tx1"/>
                </a:solidFill>
                <a:effectLst/>
                <a:latin typeface="Arial" panose="020B0604020202020204" pitchFamily="34" charset="0"/>
              </a:rPr>
              <a:t>. В HTTP/3 (</a:t>
            </a:r>
            <a:r>
              <a:rPr kumimoji="0" lang="en-US" altLang="en-US" b="0" i="0" u="none" strike="noStrike" cap="none" normalizeH="0" baseline="0" dirty="0" err="1">
                <a:ln>
                  <a:noFill/>
                </a:ln>
                <a:solidFill>
                  <a:schemeClr val="tx1"/>
                </a:solidFill>
                <a:effectLst/>
                <a:latin typeface="Arial" panose="020B0604020202020204" pitchFamily="34" charset="0"/>
              </a:rPr>
              <a:t>поверх</a:t>
            </a:r>
            <a:r>
              <a:rPr kumimoji="0" lang="en-US" altLang="en-US" b="0" i="0" u="none" strike="noStrike" cap="none" normalizeH="0" baseline="0" dirty="0">
                <a:ln>
                  <a:noFill/>
                </a:ln>
                <a:solidFill>
                  <a:schemeClr val="tx1"/>
                </a:solidFill>
                <a:effectLst/>
                <a:latin typeface="Arial" panose="020B0604020202020204" pitchFamily="34" charset="0"/>
              </a:rPr>
              <a:t> QUIC) </a:t>
            </a:r>
            <a:r>
              <a:rPr kumimoji="0" lang="en-US" altLang="en-US" b="0" i="0" u="none" strike="noStrike" cap="none" normalizeH="0" baseline="0" dirty="0" err="1">
                <a:ln>
                  <a:noFill/>
                </a:ln>
                <a:solidFill>
                  <a:schemeClr val="tx1"/>
                </a:solidFill>
                <a:effectLst/>
                <a:latin typeface="Arial" panose="020B0604020202020204" pitchFamily="34" charset="0"/>
              </a:rPr>
              <a:t>используется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похожий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механизм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называемый</a:t>
            </a:r>
            <a:r>
              <a:rPr kumimoji="0" lang="en-US" altLang="en-US" b="0" i="0" u="none" strike="noStrike" cap="none" normalizeH="0" baseline="0" dirty="0">
                <a:ln>
                  <a:noFill/>
                </a:ln>
                <a:solidFill>
                  <a:schemeClr val="tx1"/>
                </a:solidFill>
                <a:effectLst/>
                <a:latin typeface="Arial" panose="020B0604020202020204" pitchFamily="34" charset="0"/>
              </a:rPr>
              <a:t> QPACK, </a:t>
            </a:r>
            <a:r>
              <a:rPr kumimoji="0" lang="en-US" altLang="en-US" b="0" i="0" u="none" strike="noStrike" cap="none" normalizeH="0" baseline="0" dirty="0" err="1">
                <a:ln>
                  <a:noFill/>
                </a:ln>
                <a:solidFill>
                  <a:schemeClr val="tx1"/>
                </a:solidFill>
                <a:effectLst/>
                <a:latin typeface="Arial" panose="020B0604020202020204" pitchFamily="34" charset="0"/>
              </a:rPr>
              <a:t>адаптированный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работы</a:t>
            </a:r>
            <a:r>
              <a:rPr kumimoji="0" lang="en-US" altLang="en-US" b="0" i="0" u="none" strike="noStrike" cap="none" normalizeH="0" baseline="0" dirty="0">
                <a:ln>
                  <a:noFill/>
                </a:ln>
                <a:solidFill>
                  <a:schemeClr val="tx1"/>
                </a:solidFill>
                <a:effectLst/>
                <a:latin typeface="Arial" panose="020B0604020202020204" pitchFamily="34" charset="0"/>
              </a:rPr>
              <a:t> с </a:t>
            </a:r>
            <a:r>
              <a:rPr kumimoji="0" lang="en-US" altLang="en-US" b="0" i="0" u="none" strike="noStrike" cap="none" normalizeH="0" baseline="0" dirty="0" err="1">
                <a:ln>
                  <a:noFill/>
                </a:ln>
                <a:solidFill>
                  <a:schemeClr val="tx1"/>
                </a:solidFill>
                <a:effectLst/>
                <a:latin typeface="Arial" panose="020B0604020202020204" pitchFamily="34" charset="0"/>
              </a:rPr>
              <a:t>независимыми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потоками</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отсутствием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строгой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упорядоченности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доставки</a:t>
            </a:r>
            <a:r>
              <a:rPr kumimoji="0" lang="en-US" altLang="en-US"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52968054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C030B4-304D-4EEB-9B0F-A6F9201D9867}"/>
              </a:ext>
            </a:extLst>
          </p:cNvPr>
          <p:cNvSpPr txBox="1"/>
          <p:nvPr/>
        </p:nvSpPr>
        <p:spPr>
          <a:xfrm>
            <a:off x="552450" y="443984"/>
            <a:ext cx="6096000" cy="369332"/>
          </a:xfrm>
          <a:prstGeom prst="rect">
            <a:avLst/>
          </a:prstGeom>
          <a:noFill/>
        </p:spPr>
        <p:txBody>
          <a:bodyPr wrap="square">
            <a:spAutoFit/>
          </a:bodyPr>
          <a:lstStyle/>
          <a:p>
            <a:r>
              <a:rPr kumimoji="0" lang="en-US" altLang="en-US" b="1" i="0" u="none" strike="noStrike" cap="none" normalizeH="0" baseline="0" dirty="0">
                <a:ln>
                  <a:noFill/>
                </a:ln>
                <a:solidFill>
                  <a:schemeClr val="tx1"/>
                </a:solidFill>
                <a:effectLst/>
                <a:latin typeface="Arial" panose="020B0604020202020204" pitchFamily="34" charset="0"/>
              </a:rPr>
              <a:t>Server Push</a:t>
            </a:r>
            <a:endParaRPr lang="en-US" dirty="0"/>
          </a:p>
        </p:txBody>
      </p:sp>
      <p:sp>
        <p:nvSpPr>
          <p:cNvPr id="5" name="TextBox 4">
            <a:extLst>
              <a:ext uri="{FF2B5EF4-FFF2-40B4-BE49-F238E27FC236}">
                <a16:creationId xmlns:a16="http://schemas.microsoft.com/office/drawing/2014/main" id="{D42204FB-9F5A-49B1-8F84-B18D391CD8C1}"/>
              </a:ext>
            </a:extLst>
          </p:cNvPr>
          <p:cNvSpPr txBox="1"/>
          <p:nvPr/>
        </p:nvSpPr>
        <p:spPr>
          <a:xfrm>
            <a:off x="476250" y="1027837"/>
            <a:ext cx="11449050" cy="923330"/>
          </a:xfrm>
          <a:prstGeom prst="rect">
            <a:avLst/>
          </a:prstGeom>
          <a:noFill/>
        </p:spPr>
        <p:txBody>
          <a:bodyPr wrap="square">
            <a:spAutoFit/>
          </a:bodyPr>
          <a:lstStyle/>
          <a:p>
            <a:r>
              <a:rPr lang="ru-RU" b="1" dirty="0"/>
              <a:t>PUSH_PROMISE</a:t>
            </a:r>
            <a:r>
              <a:rPr lang="ru-RU" dirty="0"/>
              <a:t> — это тип кадра (</a:t>
            </a:r>
            <a:r>
              <a:rPr lang="ru-RU" dirty="0" err="1"/>
              <a:t>frame</a:t>
            </a:r>
            <a:r>
              <a:rPr lang="ru-RU" dirty="0"/>
              <a:t>) в протоколе HTTP/2, который используется для </a:t>
            </a:r>
            <a:r>
              <a:rPr lang="ru-RU" b="1" dirty="0"/>
              <a:t>серверной рассылки (</a:t>
            </a:r>
            <a:r>
              <a:rPr lang="ru-RU" b="1" dirty="0" err="1"/>
              <a:t>server</a:t>
            </a:r>
            <a:r>
              <a:rPr lang="ru-RU" b="1" dirty="0"/>
              <a:t> </a:t>
            </a:r>
            <a:r>
              <a:rPr lang="ru-RU" b="1" dirty="0" err="1"/>
              <a:t>push</a:t>
            </a:r>
            <a:r>
              <a:rPr lang="ru-RU" b="1" dirty="0"/>
              <a:t>)</a:t>
            </a:r>
            <a:r>
              <a:rPr lang="ru-RU" dirty="0"/>
              <a:t>. Он позволяет серверу отправить клиенту обещание, что определённый ресурс (например, CSS, JS, изображение) будет отправлен в ближайшее время, ещё до того, как клиент явно запросит его.</a:t>
            </a:r>
            <a:endParaRPr lang="en-US" dirty="0"/>
          </a:p>
        </p:txBody>
      </p:sp>
      <p:sp>
        <p:nvSpPr>
          <p:cNvPr id="6" name="Rectangle 1">
            <a:extLst>
              <a:ext uri="{FF2B5EF4-FFF2-40B4-BE49-F238E27FC236}">
                <a16:creationId xmlns:a16="http://schemas.microsoft.com/office/drawing/2014/main" id="{C451EA99-F2EE-493F-BD13-A8C00378AB81}"/>
              </a:ext>
            </a:extLst>
          </p:cNvPr>
          <p:cNvSpPr>
            <a:spLocks noChangeArrowheads="1"/>
          </p:cNvSpPr>
          <p:nvPr/>
        </p:nvSpPr>
        <p:spPr bwMode="auto">
          <a:xfrm>
            <a:off x="514350" y="2178442"/>
            <a:ext cx="10820400"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Как</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это</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работает</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0" i="0" u="none" strike="noStrike" cap="none" normalizeH="0" baseline="0" dirty="0" err="1">
                <a:ln>
                  <a:noFill/>
                </a:ln>
                <a:solidFill>
                  <a:schemeClr val="tx1"/>
                </a:solidFill>
                <a:effectLst/>
                <a:latin typeface="Arial" panose="020B0604020202020204" pitchFamily="34" charset="0"/>
              </a:rPr>
              <a:t>Клиент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запрашивает</a:t>
            </a:r>
            <a:r>
              <a:rPr kumimoji="0" lang="en-US" altLang="en-US" sz="2000" b="0" i="0" u="none" strike="noStrike" cap="none" normalizeH="0" baseline="0" dirty="0">
                <a:ln>
                  <a:noFill/>
                </a:ln>
                <a:solidFill>
                  <a:schemeClr val="tx1"/>
                </a:solidFill>
                <a:effectLst/>
                <a:latin typeface="Arial" panose="020B0604020202020204" pitchFamily="34" charset="0"/>
              </a:rPr>
              <a:t> HTML-</a:t>
            </a:r>
            <a:r>
              <a:rPr kumimoji="0" lang="en-US" altLang="en-US" sz="2000" b="0" i="0" u="none" strike="noStrike" cap="none" normalizeH="0" baseline="0" dirty="0" err="1">
                <a:ln>
                  <a:noFill/>
                </a:ln>
                <a:solidFill>
                  <a:schemeClr val="tx1"/>
                </a:solidFill>
                <a:effectLst/>
                <a:latin typeface="Arial" panose="020B0604020202020204" pitchFamily="34" charset="0"/>
              </a:rPr>
              <a:t>страницу</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0" i="0" u="none" strike="noStrike" cap="none" normalizeH="0" baseline="0" dirty="0" err="1">
                <a:ln>
                  <a:noFill/>
                </a:ln>
                <a:solidFill>
                  <a:schemeClr val="tx1"/>
                </a:solidFill>
                <a:effectLst/>
                <a:latin typeface="Arial" panose="020B0604020202020204" pitchFamily="34" charset="0"/>
              </a:rPr>
              <a:t>Сервер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анализирует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ответ</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видит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для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отображения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страницы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потребуются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дополнительные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ресурсы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style.css</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0" i="0" u="none" strike="noStrike" cap="none" normalizeH="0" baseline="0" dirty="0" err="1">
                <a:ln>
                  <a:noFill/>
                </a:ln>
                <a:solidFill>
                  <a:schemeClr val="tx1"/>
                </a:solidFill>
                <a:effectLst/>
                <a:latin typeface="Arial" panose="020B0604020202020204" pitchFamily="34" charset="0"/>
              </a:rPr>
              <a:t>Вместо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того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чтобы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ждать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пока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клиент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распарсит</a:t>
            </a:r>
            <a:r>
              <a:rPr kumimoji="0" lang="en-US" altLang="en-US" sz="2000" b="0" i="0" u="none" strike="noStrike" cap="none" normalizeH="0" baseline="0" dirty="0">
                <a:ln>
                  <a:noFill/>
                </a:ln>
                <a:solidFill>
                  <a:schemeClr val="tx1"/>
                </a:solidFill>
                <a:effectLst/>
                <a:latin typeface="Arial" panose="020B0604020202020204" pitchFamily="34" charset="0"/>
              </a:rPr>
              <a:t> HTML и </a:t>
            </a:r>
            <a:r>
              <a:rPr kumimoji="0" lang="en-US" altLang="en-US" sz="2000" b="0" i="0" u="none" strike="noStrike" cap="none" normalizeH="0" baseline="0" dirty="0" err="1">
                <a:ln>
                  <a:noFill/>
                </a:ln>
                <a:solidFill>
                  <a:schemeClr val="tx1"/>
                </a:solidFill>
                <a:effectLst/>
                <a:latin typeface="Arial" panose="020B0604020202020204" pitchFamily="34" charset="0"/>
              </a:rPr>
              <a:t>сделает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отдельные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запросы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сервер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отправляет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PUSH_PROMISE</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кадр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внутри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того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же</a:t>
            </a:r>
            <a:r>
              <a:rPr kumimoji="0" lang="en-US" altLang="en-US" sz="2000" b="0" i="0" u="none" strike="noStrike" cap="none" normalizeH="0" baseline="0" dirty="0">
                <a:ln>
                  <a:noFill/>
                </a:ln>
                <a:solidFill>
                  <a:schemeClr val="tx1"/>
                </a:solidFill>
                <a:effectLst/>
                <a:latin typeface="Arial" panose="020B0604020202020204" pitchFamily="34" charset="0"/>
              </a:rPr>
              <a:t> HTTP/2-соединения.</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000" b="0" i="0" u="none" strike="noStrike" cap="none" normalizeH="0" baseline="0" dirty="0">
                <a:ln>
                  <a:noFill/>
                </a:ln>
                <a:solidFill>
                  <a:schemeClr val="tx1"/>
                </a:solidFill>
                <a:effectLst/>
                <a:latin typeface="Arial" panose="020B0604020202020204" pitchFamily="34" charset="0"/>
              </a:rPr>
              <a:t>PUSH_PROMISE </a:t>
            </a:r>
            <a:r>
              <a:rPr kumimoji="0" lang="en-US" altLang="en-US" sz="2000" b="0" i="0" u="none" strike="noStrike" cap="none" normalizeH="0" baseline="0" dirty="0" err="1">
                <a:ln>
                  <a:noFill/>
                </a:ln>
                <a:solidFill>
                  <a:schemeClr val="tx1"/>
                </a:solidFill>
                <a:effectLst/>
                <a:latin typeface="Arial" panose="020B0604020202020204" pitchFamily="34" charset="0"/>
              </a:rPr>
              <a:t>содержит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заголовки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будущего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ответа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метод</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путь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схему</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т.п</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которые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клиент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может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проверить</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Если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ресурс</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уже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есть</a:t>
            </a:r>
            <a:r>
              <a:rPr kumimoji="0" lang="en-US" altLang="en-US" sz="2000" b="0" i="0" u="none" strike="noStrike" cap="none" normalizeH="0" baseline="0" dirty="0">
                <a:ln>
                  <a:noFill/>
                </a:ln>
                <a:solidFill>
                  <a:schemeClr val="tx1"/>
                </a:solidFill>
                <a:effectLst/>
                <a:latin typeface="Arial" panose="020B0604020202020204" pitchFamily="34" charset="0"/>
              </a:rPr>
              <a:t> в </a:t>
            </a:r>
            <a:r>
              <a:rPr kumimoji="0" lang="en-US" altLang="en-US" sz="2000" b="0" i="0" u="none" strike="noStrike" cap="none" normalizeH="0" baseline="0" dirty="0" err="1">
                <a:ln>
                  <a:noFill/>
                </a:ln>
                <a:solidFill>
                  <a:schemeClr val="tx1"/>
                </a:solidFill>
                <a:effectLst/>
                <a:latin typeface="Arial" panose="020B0604020202020204" pitchFamily="34" charset="0"/>
              </a:rPr>
              <a:t>кэше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клиент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может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отклонить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обещание</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Если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ресурс</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нужен</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сервер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затем</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отправляет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обычные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кадры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HEADERS</a:t>
            </a:r>
            <a:r>
              <a:rPr kumimoji="0" lang="en-US" altLang="en-US" sz="2000" b="0" i="0" u="none" strike="noStrike" cap="none" normalizeH="0" baseline="0" dirty="0">
                <a:ln>
                  <a:noFill/>
                </a:ln>
                <a:solidFill>
                  <a:schemeClr val="tx1"/>
                </a:solidFill>
                <a:effectLst/>
              </a:rPr>
              <a:t> и </a:t>
            </a:r>
            <a:r>
              <a:rPr kumimoji="0" lang="en-US" altLang="en-US" sz="2000" b="0" i="0" u="none" strike="noStrike" cap="none" normalizeH="0" baseline="0" dirty="0">
                <a:ln>
                  <a:noFill/>
                </a:ln>
                <a:solidFill>
                  <a:schemeClr val="tx1"/>
                </a:solidFill>
                <a:effectLst/>
                <a:latin typeface="Arial Unicode MS"/>
              </a:rPr>
              <a:t>DATA</a:t>
            </a:r>
            <a:r>
              <a:rPr kumimoji="0" lang="en-US" altLang="en-US" sz="2000" b="0" i="0" u="none" strike="noStrike" cap="none" normalizeH="0" baseline="0" dirty="0">
                <a:ln>
                  <a:noFill/>
                </a:ln>
                <a:solidFill>
                  <a:schemeClr val="tx1"/>
                </a:solidFill>
                <a:effectLst/>
              </a:rPr>
              <a:t> с </a:t>
            </a:r>
            <a:r>
              <a:rPr kumimoji="0" lang="en-US" altLang="en-US" sz="2000" b="0" i="0" u="none" strike="noStrike" cap="none" normalizeH="0" baseline="0" dirty="0" err="1">
                <a:ln>
                  <a:noFill/>
                </a:ln>
                <a:solidFill>
                  <a:schemeClr val="tx1"/>
                </a:solidFill>
                <a:effectLst/>
              </a:rPr>
              <a:t>самим</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ресурсом</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86785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3074DE-54C4-4ADC-A967-B8C54940B8E3}"/>
              </a:ext>
            </a:extLst>
          </p:cNvPr>
          <p:cNvSpPr txBox="1"/>
          <p:nvPr/>
        </p:nvSpPr>
        <p:spPr>
          <a:xfrm>
            <a:off x="390525" y="688450"/>
            <a:ext cx="11239500" cy="2554545"/>
          </a:xfrm>
          <a:prstGeom prst="rect">
            <a:avLst/>
          </a:prstGeom>
          <a:noFill/>
        </p:spPr>
        <p:txBody>
          <a:bodyPr wrap="square">
            <a:spAutoFit/>
          </a:bodyPr>
          <a:lstStyle/>
          <a:p>
            <a:r>
              <a:rPr lang="ru-RU" sz="2000" b="1" dirty="0"/>
              <a:t>Зачем это нужно</a:t>
            </a:r>
          </a:p>
          <a:p>
            <a:pPr>
              <a:buFont typeface="Arial" panose="020B0604020202020204" pitchFamily="34" charset="0"/>
              <a:buChar char="•"/>
            </a:pPr>
            <a:r>
              <a:rPr lang="ru-RU" sz="2000" dirty="0"/>
              <a:t>Уменьшение задержек (RTT) за счёт устранения дополнительных циклов «запрос-ответ».</a:t>
            </a:r>
          </a:p>
          <a:p>
            <a:pPr>
              <a:buFont typeface="Arial" panose="020B0604020202020204" pitchFamily="34" charset="0"/>
              <a:buChar char="•"/>
            </a:pPr>
            <a:r>
              <a:rPr lang="ru-RU" sz="2000" dirty="0"/>
              <a:t>Повышение производительности загрузки страницы: браузер получает критические ресурсы сразу.</a:t>
            </a:r>
          </a:p>
          <a:p>
            <a:r>
              <a:rPr lang="ru-RU" sz="2000" b="1" dirty="0"/>
              <a:t>Важные особенности</a:t>
            </a:r>
          </a:p>
          <a:p>
            <a:pPr>
              <a:buFont typeface="Arial" panose="020B0604020202020204" pitchFamily="34" charset="0"/>
              <a:buChar char="•"/>
            </a:pPr>
            <a:r>
              <a:rPr lang="ru-RU" sz="2000" dirty="0"/>
              <a:t>PUSH_PROMISE всегда отправляется </a:t>
            </a:r>
            <a:r>
              <a:rPr lang="ru-RU" sz="2000" b="1" dirty="0"/>
              <a:t>только от сервера к клиенту</a:t>
            </a:r>
            <a:r>
              <a:rPr lang="ru-RU" sz="2000" dirty="0"/>
              <a:t>.</a:t>
            </a:r>
          </a:p>
          <a:p>
            <a:pPr>
              <a:buFont typeface="Arial" panose="020B0604020202020204" pitchFamily="34" charset="0"/>
              <a:buChar char="•"/>
            </a:pPr>
            <a:r>
              <a:rPr lang="ru-RU" sz="2000" dirty="0"/>
              <a:t>Каждый PUSH_PROMISE связан с исходным запросом через идентификатор потока (</a:t>
            </a:r>
            <a:r>
              <a:rPr lang="ru-RU" sz="2000" dirty="0" err="1"/>
              <a:t>stream</a:t>
            </a:r>
            <a:r>
              <a:rPr lang="ru-RU" sz="2000" dirty="0"/>
              <a:t> ID).</a:t>
            </a:r>
          </a:p>
          <a:p>
            <a:pPr>
              <a:buFont typeface="Arial" panose="020B0604020202020204" pitchFamily="34" charset="0"/>
              <a:buChar char="•"/>
            </a:pPr>
            <a:r>
              <a:rPr lang="ru-RU" sz="2000" dirty="0"/>
              <a:t>Клиент может ограничить количество обещаний или вовсе отключить </a:t>
            </a:r>
            <a:r>
              <a:rPr lang="ru-RU" sz="2000" dirty="0" err="1"/>
              <a:t>push</a:t>
            </a:r>
            <a:r>
              <a:rPr lang="ru-RU" sz="2000" dirty="0"/>
              <a:t> с помощью настроек (SETTINGS_ENABLE_PUSH).</a:t>
            </a:r>
          </a:p>
        </p:txBody>
      </p:sp>
      <p:sp>
        <p:nvSpPr>
          <p:cNvPr id="4" name="Rectangle 1">
            <a:extLst>
              <a:ext uri="{FF2B5EF4-FFF2-40B4-BE49-F238E27FC236}">
                <a16:creationId xmlns:a16="http://schemas.microsoft.com/office/drawing/2014/main" id="{3D91B6B2-09FE-40C1-8FE7-B8A53E9E6425}"/>
              </a:ext>
            </a:extLst>
          </p:cNvPr>
          <p:cNvSpPr>
            <a:spLocks noChangeArrowheads="1"/>
          </p:cNvSpPr>
          <p:nvPr/>
        </p:nvSpPr>
        <p:spPr bwMode="auto">
          <a:xfrm>
            <a:off x="390525" y="3275112"/>
            <a:ext cx="10687050"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Пример</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Arial" panose="020B0604020202020204" pitchFamily="34" charset="0"/>
              </a:rPr>
              <a:t>Клиент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запрашивает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/index.html</a:t>
            </a:r>
            <a:r>
              <a:rPr kumimoji="0" lang="en-US" altLang="en-US" sz="2000" b="0" i="0" u="none" strike="noStrike" cap="none" normalizeH="0" baseline="0" dirty="0">
                <a:ln>
                  <a:noFill/>
                </a:ln>
                <a:solidFill>
                  <a:schemeClr val="tx1"/>
                </a:solidFill>
                <a:effectLst/>
              </a:rPr>
              <a:t>. </a:t>
            </a:r>
            <a:endParaRPr kumimoji="0" lang="ru-RU"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rPr>
              <a:t>Сервер</a:t>
            </a:r>
            <a:r>
              <a:rPr kumimoji="0" lang="en-US" altLang="en-US" sz="2000" b="0" i="0" u="none" strike="noStrike" cap="none" normalizeH="0" baseline="0" dirty="0">
                <a:ln>
                  <a:noFill/>
                </a:ln>
                <a:solidFill>
                  <a:schemeClr val="tx1"/>
                </a:solidFill>
                <a:effectLst/>
              </a:rPr>
              <a:t> в </a:t>
            </a:r>
            <a:r>
              <a:rPr kumimoji="0" lang="en-US" altLang="en-US" sz="2000" b="0" i="0" u="none" strike="noStrike" cap="none" normalizeH="0" baseline="0" dirty="0" err="1">
                <a:ln>
                  <a:noFill/>
                </a:ln>
                <a:solidFill>
                  <a:schemeClr val="tx1"/>
                </a:solidFill>
                <a:effectLst/>
              </a:rPr>
              <a:t>ответ</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на</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этот</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поток</a:t>
            </a:r>
            <a:r>
              <a:rPr kumimoji="0" lang="en-US" altLang="en-US" sz="2000" b="0" i="0" u="none" strike="noStrike" cap="none" normalizeH="0" baseline="0" dirty="0">
                <a:ln>
                  <a:noFill/>
                </a:ln>
                <a:solidFill>
                  <a:schemeClr val="tx1"/>
                </a:solidFill>
                <a:effectLst/>
              </a:rPr>
              <a:t> (stream 1) </a:t>
            </a:r>
            <a:r>
              <a:rPr kumimoji="0" lang="en-US" altLang="en-US" sz="2000" b="0" i="0" u="none" strike="noStrike" cap="none" normalizeH="0" baseline="0" dirty="0" err="1">
                <a:ln>
                  <a:noFill/>
                </a:ln>
                <a:solidFill>
                  <a:schemeClr val="tx1"/>
                </a:solidFill>
                <a:effectLst/>
              </a:rPr>
              <a:t>отправляет</a:t>
            </a:r>
            <a:r>
              <a:rPr kumimoji="0" lang="en-US" altLang="en-US" sz="2000" b="0" i="0" u="none" strike="noStrike" cap="none" normalizeH="0" baseline="0" dirty="0">
                <a:ln>
                  <a:noFill/>
                </a:ln>
                <a:solidFill>
                  <a:schemeClr val="tx1"/>
                </a:solidFill>
                <a:effectLst/>
              </a:rPr>
              <a:t> PUSH_PROMISE </a:t>
            </a:r>
            <a:r>
              <a:rPr kumimoji="0" lang="en-US" altLang="en-US" sz="2000" b="0" i="0" u="none" strike="noStrike" cap="none" normalizeH="0" baseline="0" dirty="0" err="1">
                <a:ln>
                  <a:noFill/>
                </a:ln>
                <a:solidFill>
                  <a:schemeClr val="tx1"/>
                </a:solidFill>
                <a:effectLst/>
              </a:rPr>
              <a:t>для</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/style.css</a:t>
            </a:r>
            <a:r>
              <a:rPr kumimoji="0" lang="en-US" altLang="en-US" sz="2000" b="0" i="0" u="none" strike="noStrike" cap="none" normalizeH="0" baseline="0" dirty="0">
                <a:ln>
                  <a:noFill/>
                </a:ln>
                <a:solidFill>
                  <a:schemeClr val="tx1"/>
                </a:solidFill>
                <a:effectLst/>
              </a:rPr>
              <a:t> (stream 2). </a:t>
            </a:r>
            <a:r>
              <a:rPr kumimoji="0" lang="en-US" altLang="en-US" sz="2000" b="0" i="0" u="none" strike="noStrike" cap="none" normalizeH="0" baseline="0" dirty="0" err="1">
                <a:ln>
                  <a:noFill/>
                </a:ln>
                <a:solidFill>
                  <a:schemeClr val="tx1"/>
                </a:solidFill>
                <a:effectLst/>
              </a:rPr>
              <a:t>Затем</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сервер</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присылает</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сам</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стиль</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на</a:t>
            </a:r>
            <a:r>
              <a:rPr kumimoji="0" lang="en-US" altLang="en-US" sz="2000" b="0" i="0" u="none" strike="noStrike" cap="none" normalizeH="0" baseline="0" dirty="0">
                <a:ln>
                  <a:noFill/>
                </a:ln>
                <a:solidFill>
                  <a:schemeClr val="tx1"/>
                </a:solidFill>
                <a:effectLst/>
              </a:rPr>
              <a:t> stream 2. </a:t>
            </a:r>
            <a:endParaRPr kumimoji="0" lang="ru-RU" altLang="en-US" sz="2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rPr>
              <a:t>Клиент</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получает</a:t>
            </a:r>
            <a:r>
              <a:rPr kumimoji="0" lang="en-US" altLang="en-US" sz="2000" b="0" i="0" u="none" strike="noStrike" cap="none" normalizeH="0" baseline="0" dirty="0">
                <a:ln>
                  <a:noFill/>
                </a:ln>
                <a:solidFill>
                  <a:schemeClr val="tx1"/>
                </a:solidFill>
                <a:effectLst/>
              </a:rPr>
              <a:t> и HTML, и CSS </a:t>
            </a:r>
            <a:r>
              <a:rPr kumimoji="0" lang="en-US" altLang="en-US" sz="2000" b="0" i="0" u="none" strike="noStrike" cap="none" normalizeH="0" baseline="0" dirty="0" err="1">
                <a:ln>
                  <a:noFill/>
                </a:ln>
                <a:solidFill>
                  <a:schemeClr val="tx1"/>
                </a:solidFill>
                <a:effectLst/>
              </a:rPr>
              <a:t>без</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дополнительных</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запросов</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824424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577F0B-F3C8-4626-B2F7-90D5BA99AEC4}"/>
              </a:ext>
            </a:extLst>
          </p:cNvPr>
          <p:cNvSpPr txBox="1"/>
          <p:nvPr/>
        </p:nvSpPr>
        <p:spPr>
          <a:xfrm>
            <a:off x="585787" y="615895"/>
            <a:ext cx="11020425" cy="1754326"/>
          </a:xfrm>
          <a:prstGeom prst="rect">
            <a:avLst/>
          </a:prstGeom>
          <a:noFill/>
        </p:spPr>
        <p:txBody>
          <a:bodyPr wrap="square">
            <a:spAutoFit/>
          </a:bodyPr>
          <a:lstStyle/>
          <a:p>
            <a:r>
              <a:rPr lang="ru-RU" b="1" dirty="0"/>
              <a:t>Преимущества (теоретические)</a:t>
            </a:r>
          </a:p>
          <a:p>
            <a:pPr>
              <a:buFont typeface="Arial" panose="020B0604020202020204" pitchFamily="34" charset="0"/>
              <a:buChar char="•"/>
            </a:pPr>
            <a:r>
              <a:rPr lang="ru-RU" b="1" dirty="0"/>
              <a:t>Сокращение времени загрузки</a:t>
            </a:r>
            <a:r>
              <a:rPr lang="ru-RU" dirty="0"/>
              <a:t> — ресурсы начинают передаваться без дополнительного RTT на получение HTML, его </a:t>
            </a:r>
            <a:r>
              <a:rPr lang="ru-RU" dirty="0" err="1"/>
              <a:t>парсинг</a:t>
            </a:r>
            <a:r>
              <a:rPr lang="ru-RU" dirty="0"/>
              <a:t> и обнаружение зависимостей.</a:t>
            </a:r>
          </a:p>
          <a:p>
            <a:pPr>
              <a:buFont typeface="Arial" panose="020B0604020202020204" pitchFamily="34" charset="0"/>
              <a:buChar char="•"/>
            </a:pPr>
            <a:r>
              <a:rPr lang="ru-RU" b="1" dirty="0"/>
              <a:t>Уменьшение нагрузки на сервер</a:t>
            </a:r>
            <a:r>
              <a:rPr lang="ru-RU" dirty="0"/>
              <a:t> — не нужно обрабатывать дополнительные запросы (хотя это спорно, так как </a:t>
            </a:r>
            <a:r>
              <a:rPr lang="ru-RU" dirty="0" err="1"/>
              <a:t>push</a:t>
            </a:r>
            <a:r>
              <a:rPr lang="ru-RU" dirty="0"/>
              <a:t> тоже потребляет ресурсы).</a:t>
            </a:r>
          </a:p>
          <a:p>
            <a:pPr>
              <a:buFont typeface="Arial" panose="020B0604020202020204" pitchFamily="34" charset="0"/>
              <a:buChar char="•"/>
            </a:pPr>
            <a:r>
              <a:rPr lang="ru-RU" b="1" dirty="0"/>
              <a:t>Идеально подходит для критических ресурсов</a:t>
            </a:r>
            <a:r>
              <a:rPr lang="ru-RU" dirty="0"/>
              <a:t>, которые браузер узнаёт только после загрузки HTML.</a:t>
            </a:r>
          </a:p>
        </p:txBody>
      </p:sp>
      <p:sp>
        <p:nvSpPr>
          <p:cNvPr id="4" name="Rectangle 1">
            <a:extLst>
              <a:ext uri="{FF2B5EF4-FFF2-40B4-BE49-F238E27FC236}">
                <a16:creationId xmlns:a16="http://schemas.microsoft.com/office/drawing/2014/main" id="{7DC8FBB0-2EFE-4700-8ED2-1B8FE807BA6A}"/>
              </a:ext>
            </a:extLst>
          </p:cNvPr>
          <p:cNvSpPr>
            <a:spLocks noChangeArrowheads="1"/>
          </p:cNvSpPr>
          <p:nvPr/>
        </p:nvSpPr>
        <p:spPr bwMode="auto">
          <a:xfrm>
            <a:off x="495299" y="2641119"/>
            <a:ext cx="10525125" cy="2723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err="1">
                <a:ln>
                  <a:noFill/>
                </a:ln>
                <a:solidFill>
                  <a:schemeClr val="tx1"/>
                </a:solidFill>
                <a:effectLst/>
                <a:latin typeface="Arial" panose="020B0604020202020204" pitchFamily="34" charset="0"/>
              </a:rPr>
              <a:t>Проблемы</a:t>
            </a:r>
            <a:r>
              <a:rPr kumimoji="0" lang="en-US" altLang="en-US" sz="1700" b="1" i="0" u="none" strike="noStrike" cap="none" normalizeH="0" baseline="0" dirty="0">
                <a:ln>
                  <a:noFill/>
                </a:ln>
                <a:solidFill>
                  <a:schemeClr val="tx1"/>
                </a:solidFill>
                <a:effectLst/>
                <a:latin typeface="Arial" panose="020B0604020202020204" pitchFamily="34" charset="0"/>
              </a:rPr>
              <a:t> и </a:t>
            </a:r>
            <a:r>
              <a:rPr kumimoji="0" lang="en-US" altLang="en-US" sz="1700" b="1" i="0" u="none" strike="noStrike" cap="none" normalizeH="0" baseline="0" dirty="0" err="1">
                <a:ln>
                  <a:noFill/>
                </a:ln>
                <a:solidFill>
                  <a:schemeClr val="tx1"/>
                </a:solidFill>
                <a:effectLst/>
                <a:latin typeface="Arial" panose="020B0604020202020204" pitchFamily="34" charset="0"/>
              </a:rPr>
              <a:t>особенности</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реализации</a:t>
            </a: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1. </a:t>
            </a:r>
            <a:r>
              <a:rPr kumimoji="0" lang="en-US" altLang="en-US" sz="1700" b="1" i="0" u="none" strike="noStrike" cap="none" normalizeH="0" baseline="0" dirty="0" err="1">
                <a:ln>
                  <a:noFill/>
                </a:ln>
                <a:solidFill>
                  <a:schemeClr val="tx1"/>
                </a:solidFill>
                <a:effectLst/>
                <a:latin typeface="Arial" panose="020B0604020202020204" pitchFamily="34" charset="0"/>
              </a:rPr>
              <a:t>Кэширование</a:t>
            </a: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err="1">
                <a:ln>
                  <a:noFill/>
                </a:ln>
                <a:solidFill>
                  <a:schemeClr val="tx1"/>
                </a:solidFill>
                <a:effectLst/>
                <a:latin typeface="Arial" panose="020B0604020202020204" pitchFamily="34" charset="0"/>
              </a:rPr>
              <a:t>Если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ресурс</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уже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есть</a:t>
            </a:r>
            <a:r>
              <a:rPr kumimoji="0" lang="en-US" altLang="en-US" sz="1700" b="0" i="0" u="none" strike="noStrike" cap="none" normalizeH="0" baseline="0" dirty="0">
                <a:ln>
                  <a:noFill/>
                </a:ln>
                <a:solidFill>
                  <a:schemeClr val="tx1"/>
                </a:solidFill>
                <a:effectLst/>
                <a:latin typeface="Arial" panose="020B0604020202020204" pitchFamily="34" charset="0"/>
              </a:rPr>
              <a:t> в </a:t>
            </a:r>
            <a:r>
              <a:rPr kumimoji="0" lang="en-US" altLang="en-US" sz="1700" b="0" i="0" u="none" strike="noStrike" cap="none" normalizeH="0" baseline="0" dirty="0" err="1">
                <a:ln>
                  <a:noFill/>
                </a:ln>
                <a:solidFill>
                  <a:schemeClr val="tx1"/>
                </a:solidFill>
                <a:effectLst/>
                <a:latin typeface="Arial" panose="020B0604020202020204" pitchFamily="34" charset="0"/>
              </a:rPr>
              <a:t>кэше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клиента</a:t>
            </a:r>
            <a:r>
              <a:rPr kumimoji="0" lang="en-US" altLang="en-US" sz="1700" b="0" i="0" u="none" strike="noStrike" cap="none" normalizeH="0" baseline="0" dirty="0">
                <a:ln>
                  <a:noFill/>
                </a:ln>
                <a:solidFill>
                  <a:schemeClr val="tx1"/>
                </a:solidFill>
                <a:effectLst/>
                <a:latin typeface="Arial" panose="020B0604020202020204" pitchFamily="34" charset="0"/>
              </a:rPr>
              <a:t>, push </a:t>
            </a:r>
            <a:r>
              <a:rPr kumimoji="0" lang="en-US" altLang="en-US" sz="1700" b="0" i="0" u="none" strike="noStrike" cap="none" normalizeH="0" baseline="0" dirty="0" err="1">
                <a:ln>
                  <a:noFill/>
                </a:ln>
                <a:solidFill>
                  <a:schemeClr val="tx1"/>
                </a:solidFill>
                <a:effectLst/>
                <a:latin typeface="Arial" panose="020B0604020202020204" pitchFamily="34" charset="0"/>
              </a:rPr>
              <a:t>тратит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пропускную</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способность</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впустую</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Сервер</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знает</a:t>
            </a:r>
            <a:r>
              <a:rPr kumimoji="0" lang="en-US" altLang="en-US" sz="1700" b="0" i="0" u="none" strike="noStrike" cap="none" normalizeH="0" baseline="0" dirty="0">
                <a:ln>
                  <a:noFill/>
                </a:ln>
                <a:solidFill>
                  <a:schemeClr val="tx1"/>
                </a:solidFill>
                <a:effectLst/>
                <a:latin typeface="Arial" panose="020B0604020202020204" pitchFamily="34" charset="0"/>
              </a:rPr>
              <a:t> о </a:t>
            </a:r>
            <a:r>
              <a:rPr kumimoji="0" lang="en-US" altLang="en-US" sz="1700" b="0" i="0" u="none" strike="noStrike" cap="none" normalizeH="0" baseline="0" dirty="0" err="1">
                <a:ln>
                  <a:noFill/>
                </a:ln>
                <a:solidFill>
                  <a:schemeClr val="tx1"/>
                </a:solidFill>
                <a:effectLst/>
                <a:latin typeface="Arial" panose="020B0604020202020204" pitchFamily="34" charset="0"/>
              </a:rPr>
              <a:t>состоянии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кэша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клиента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поэтому</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может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отправлять</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ненужные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данные</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err="1">
                <a:ln>
                  <a:noFill/>
                </a:ln>
                <a:solidFill>
                  <a:schemeClr val="tx1"/>
                </a:solidFill>
                <a:effectLst/>
                <a:latin typeface="Arial" panose="020B0604020202020204" pitchFamily="34" charset="0"/>
              </a:rPr>
              <a:t>Решение</a:t>
            </a:r>
            <a:r>
              <a:rPr kumimoji="0" lang="en-US" altLang="en-US" sz="1700" b="1" i="0" u="none" strike="noStrike" cap="none" normalizeH="0" baseline="0" dirty="0">
                <a:ln>
                  <a:noFill/>
                </a:ln>
                <a:solidFill>
                  <a:schemeClr val="tx1"/>
                </a:solidFill>
                <a:effectLst/>
                <a:latin typeface="Arial" panose="020B0604020202020204" pitchFamily="34" charset="0"/>
              </a:rPr>
              <a:t>:</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err="1">
                <a:ln>
                  <a:noFill/>
                </a:ln>
                <a:solidFill>
                  <a:schemeClr val="tx1"/>
                </a:solidFill>
                <a:effectLst/>
                <a:latin typeface="Arial" panose="020B0604020202020204" pitchFamily="34" charset="0"/>
              </a:rPr>
              <a:t>Использовать</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a:ln>
                  <a:noFill/>
                </a:ln>
                <a:solidFill>
                  <a:schemeClr val="tx1"/>
                </a:solidFill>
                <a:effectLst/>
                <a:latin typeface="Arial" panose="020B0604020202020204" pitchFamily="34" charset="0"/>
              </a:rPr>
              <a:t>cookies</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это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сложно</a:t>
            </a:r>
            <a:r>
              <a:rPr kumimoji="0" lang="en-US" altLang="en-US" sz="1700" b="0" i="0" u="none" strike="noStrike" cap="none" normalizeH="0" baseline="0" dirty="0">
                <a:ln>
                  <a:noFill/>
                </a:ln>
                <a:solidFill>
                  <a:schemeClr val="tx1"/>
                </a:solidFill>
                <a:effectLst/>
                <a:latin typeface="Arial" panose="020B0604020202020204" pitchFamily="34" charset="0"/>
              </a:rPr>
              <a:t> и </a:t>
            </a:r>
            <a:r>
              <a:rPr kumimoji="0" lang="en-US" altLang="en-US" sz="1700" b="0" i="0" u="none" strike="noStrike" cap="none" normalizeH="0" baseline="0" dirty="0" err="1">
                <a:ln>
                  <a:noFill/>
                </a:ln>
                <a:solidFill>
                  <a:schemeClr val="tx1"/>
                </a:solidFill>
                <a:effectLst/>
                <a:latin typeface="Arial" panose="020B0604020202020204" pitchFamily="34" charset="0"/>
              </a:rPr>
              <a:t>не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всегда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надёжно</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err="1">
                <a:ln>
                  <a:noFill/>
                </a:ln>
                <a:solidFill>
                  <a:schemeClr val="tx1"/>
                </a:solidFill>
                <a:effectLst/>
                <a:latin typeface="Arial" panose="020B0604020202020204" pitchFamily="34" charset="0"/>
              </a:rPr>
              <a:t>Отправлять</a:t>
            </a:r>
            <a:r>
              <a:rPr kumimoji="0" lang="en-US" altLang="en-US" sz="1700" b="0" i="0" u="none" strike="noStrike" cap="none" normalizeH="0" baseline="0" dirty="0">
                <a:ln>
                  <a:noFill/>
                </a:ln>
                <a:solidFill>
                  <a:schemeClr val="tx1"/>
                </a:solidFill>
                <a:effectLst/>
                <a:latin typeface="Arial" panose="020B0604020202020204" pitchFamily="34" charset="0"/>
              </a:rPr>
              <a:t> push </a:t>
            </a:r>
            <a:r>
              <a:rPr kumimoji="0" lang="en-US" altLang="en-US" sz="1700" b="0" i="0" u="none" strike="noStrike" cap="none" normalizeH="0" baseline="0" dirty="0" err="1">
                <a:ln>
                  <a:noFill/>
                </a:ln>
                <a:solidFill>
                  <a:schemeClr val="tx1"/>
                </a:solidFill>
                <a:effectLst/>
                <a:latin typeface="Arial" panose="020B0604020202020204" pitchFamily="34" charset="0"/>
              </a:rPr>
              <a:t>только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для</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новых</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посетителей</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или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проверять</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наличие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заголовка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Unicode MS"/>
              </a:rPr>
              <a:t>If-None-Match</a:t>
            </a:r>
            <a:r>
              <a:rPr kumimoji="0" lang="en-US" altLang="en-US" sz="1700" b="0" i="0" u="none" strike="noStrike" cap="none" normalizeH="0" baseline="0" dirty="0">
                <a:ln>
                  <a:noFill/>
                </a:ln>
                <a:solidFill>
                  <a:schemeClr val="tx1"/>
                </a:solidFill>
                <a:effectLst/>
              </a:rPr>
              <a:t> в PUSH_PROMISE? (</a:t>
            </a:r>
            <a:r>
              <a:rPr kumimoji="0" lang="en-US" altLang="en-US" sz="1700" b="0" i="0" u="none" strike="noStrike" cap="none" normalizeH="0" baseline="0" dirty="0" err="1">
                <a:ln>
                  <a:noFill/>
                </a:ln>
                <a:solidFill>
                  <a:schemeClr val="tx1"/>
                </a:solidFill>
                <a:effectLst/>
              </a:rPr>
              <a:t>не</a:t>
            </a:r>
            <a:r>
              <a:rPr kumimoji="0" lang="en-US" altLang="en-US" sz="1700" b="0" i="0" u="none" strike="noStrike" cap="none" normalizeH="0" baseline="0" dirty="0">
                <a:ln>
                  <a:noFill/>
                </a:ln>
                <a:solidFill>
                  <a:schemeClr val="tx1"/>
                </a:solidFill>
                <a:effectLst/>
              </a:rPr>
              <a:t> </a:t>
            </a:r>
            <a:r>
              <a:rPr kumimoji="0" lang="en-US" altLang="en-US" sz="1700" b="0" i="0" u="none" strike="noStrike" cap="none" normalizeH="0" baseline="0" dirty="0" err="1">
                <a:ln>
                  <a:noFill/>
                </a:ln>
                <a:solidFill>
                  <a:schemeClr val="tx1"/>
                </a:solidFill>
                <a:effectLst/>
              </a:rPr>
              <a:t>предусмотрено</a:t>
            </a:r>
            <a:r>
              <a:rPr kumimoji="0" lang="en-US" altLang="en-US" sz="1700" b="0" i="0" u="none" strike="noStrike" cap="none" normalizeH="0" baseline="0" dirty="0">
                <a:ln>
                  <a:noFill/>
                </a:ln>
                <a:solidFill>
                  <a:schemeClr val="tx1"/>
                </a:solidFill>
                <a:effectLst/>
              </a:rPr>
              <a:t> </a:t>
            </a:r>
            <a:r>
              <a:rPr kumimoji="0" lang="en-US" altLang="en-US" sz="1700" b="0" i="0" u="none" strike="noStrike" cap="none" normalizeH="0" baseline="0" dirty="0" err="1">
                <a:ln>
                  <a:noFill/>
                </a:ln>
                <a:solidFill>
                  <a:schemeClr val="tx1"/>
                </a:solidFill>
                <a:effectLst/>
              </a:rPr>
              <a:t>спецификацией</a:t>
            </a:r>
            <a:r>
              <a:rPr kumimoji="0" lang="en-US" altLang="en-US" sz="1700" b="0" i="0" u="none" strike="noStrike" cap="none" normalizeH="0" baseline="0" dirty="0">
                <a:ln>
                  <a:noFill/>
                </a:ln>
                <a:solidFill>
                  <a:schemeClr val="tx1"/>
                </a:solidFill>
                <a:effectLst/>
              </a:rPr>
              <a:t>).</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0" i="0" u="none" strike="noStrike" cap="none" normalizeH="0" baseline="0" dirty="0" err="1">
                <a:ln>
                  <a:noFill/>
                </a:ln>
                <a:solidFill>
                  <a:schemeClr val="tx1"/>
                </a:solidFill>
                <a:effectLst/>
                <a:latin typeface="Arial" panose="020B0604020202020204" pitchFamily="34" charset="0"/>
              </a:rPr>
              <a:t>На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практике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часто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отключают</a:t>
            </a:r>
            <a:r>
              <a:rPr kumimoji="0" lang="en-US" altLang="en-US" sz="1700" b="0" i="0" u="none" strike="noStrike" cap="none" normalizeH="0" baseline="0" dirty="0">
                <a:ln>
                  <a:noFill/>
                </a:ln>
                <a:solidFill>
                  <a:schemeClr val="tx1"/>
                </a:solidFill>
                <a:effectLst/>
                <a:latin typeface="Arial" panose="020B0604020202020204" pitchFamily="34" charset="0"/>
              </a:rPr>
              <a:t> push </a:t>
            </a:r>
            <a:r>
              <a:rPr kumimoji="0" lang="en-US" altLang="en-US" sz="1700" b="0" i="0" u="none" strike="noStrike" cap="none" normalizeH="0" baseline="0" dirty="0" err="1">
                <a:ln>
                  <a:noFill/>
                </a:ln>
                <a:solidFill>
                  <a:schemeClr val="tx1"/>
                </a:solidFill>
                <a:effectLst/>
                <a:latin typeface="Arial" panose="020B0604020202020204" pitchFamily="34" charset="0"/>
              </a:rPr>
              <a:t>или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применяют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очень</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осторожно</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387577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A1F99D-AE25-42D5-BE34-B0878AC56613}"/>
              </a:ext>
            </a:extLst>
          </p:cNvPr>
          <p:cNvSpPr txBox="1"/>
          <p:nvPr/>
        </p:nvSpPr>
        <p:spPr>
          <a:xfrm>
            <a:off x="409575" y="148441"/>
            <a:ext cx="11372850" cy="2862322"/>
          </a:xfrm>
          <a:prstGeom prst="rect">
            <a:avLst/>
          </a:prstGeom>
          <a:noFill/>
        </p:spPr>
        <p:txBody>
          <a:bodyPr wrap="square">
            <a:spAutoFit/>
          </a:bodyPr>
          <a:lstStyle/>
          <a:p>
            <a:r>
              <a:rPr lang="ru-RU" b="1" dirty="0"/>
              <a:t>2. Конкуренция за пропускную способность</a:t>
            </a:r>
          </a:p>
          <a:p>
            <a:r>
              <a:rPr lang="ru-RU" dirty="0" err="1"/>
              <a:t>Push</a:t>
            </a:r>
            <a:r>
              <a:rPr lang="ru-RU" dirty="0"/>
              <a:t> отправляет ресурсы немедленно, но они могут «забивать» канал и мешать передаче самого HTML, который критически важен для начала рендеринга.</a:t>
            </a:r>
          </a:p>
          <a:p>
            <a:r>
              <a:rPr lang="ru-RU" b="1" dirty="0"/>
              <a:t>Решение:</a:t>
            </a:r>
            <a:endParaRPr lang="ru-RU" dirty="0"/>
          </a:p>
          <a:p>
            <a:pPr>
              <a:buFont typeface="Arial" panose="020B0604020202020204" pitchFamily="34" charset="0"/>
              <a:buChar char="•"/>
            </a:pPr>
            <a:r>
              <a:rPr lang="ru-RU" dirty="0"/>
              <a:t>Использовать </a:t>
            </a:r>
            <a:r>
              <a:rPr lang="ru-RU" dirty="0" err="1"/>
              <a:t>приоритизацию</a:t>
            </a:r>
            <a:r>
              <a:rPr lang="ru-RU" dirty="0"/>
              <a:t> потоков (установить более высокий приоритет для HTML).</a:t>
            </a:r>
          </a:p>
          <a:p>
            <a:pPr>
              <a:buFont typeface="Arial" panose="020B0604020202020204" pitchFamily="34" charset="0"/>
              <a:buChar char="•"/>
            </a:pPr>
            <a:r>
              <a:rPr lang="ru-RU" dirty="0"/>
              <a:t>Отправлять </a:t>
            </a:r>
            <a:r>
              <a:rPr lang="ru-RU" dirty="0" err="1"/>
              <a:t>push</a:t>
            </a:r>
            <a:r>
              <a:rPr lang="ru-RU" dirty="0"/>
              <a:t> после того, как HTML передан полностью.</a:t>
            </a:r>
          </a:p>
          <a:p>
            <a:r>
              <a:rPr lang="ru-RU" b="1" dirty="0"/>
              <a:t>3. Отмена </a:t>
            </a:r>
            <a:r>
              <a:rPr lang="ru-RU" b="1" dirty="0" err="1"/>
              <a:t>push’а</a:t>
            </a:r>
            <a:endParaRPr lang="ru-RU" b="1" dirty="0"/>
          </a:p>
          <a:p>
            <a:r>
              <a:rPr lang="ru-RU" dirty="0"/>
              <a:t>Клиент может отклонить PUSH_PROMISE, если ресурс уже есть в кэше или если он не нужен (например, отключён в настройках). Браузеры делают это автоматически, но сервер всё равно тратит ресурсы на формирование </a:t>
            </a:r>
            <a:r>
              <a:rPr lang="ru-RU" dirty="0" err="1"/>
              <a:t>push</a:t>
            </a:r>
            <a:r>
              <a:rPr lang="ru-RU" dirty="0"/>
              <a:t>‑потока.</a:t>
            </a:r>
          </a:p>
        </p:txBody>
      </p:sp>
      <p:sp>
        <p:nvSpPr>
          <p:cNvPr id="4" name="Rectangle 1">
            <a:extLst>
              <a:ext uri="{FF2B5EF4-FFF2-40B4-BE49-F238E27FC236}">
                <a16:creationId xmlns:a16="http://schemas.microsoft.com/office/drawing/2014/main" id="{6D3C454B-9070-4301-8CD2-4DCF3A3AEAA6}"/>
              </a:ext>
            </a:extLst>
          </p:cNvPr>
          <p:cNvSpPr>
            <a:spLocks noChangeArrowheads="1"/>
          </p:cNvSpPr>
          <p:nvPr/>
        </p:nvSpPr>
        <p:spPr bwMode="auto">
          <a:xfrm>
            <a:off x="409575" y="3077878"/>
            <a:ext cx="1098232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4</a:t>
            </a:r>
            <a:r>
              <a:rPr lang="en-US" altLang="en-US" dirty="0"/>
              <a:t>. </a:t>
            </a:r>
            <a:r>
              <a:rPr lang="en-US" altLang="en-US" b="1" dirty="0" err="1"/>
              <a:t>Сложность</a:t>
            </a:r>
            <a:r>
              <a:rPr lang="en-US" altLang="en-US" b="1" dirty="0"/>
              <a:t> </a:t>
            </a:r>
            <a:r>
              <a:rPr lang="en-US" altLang="en-US" b="1" dirty="0" err="1"/>
              <a:t>предсказания</a:t>
            </a:r>
            <a:r>
              <a:rPr lang="en-US" altLang="en-US" b="1" dirty="0"/>
              <a:t> </a:t>
            </a:r>
            <a:r>
              <a:rPr lang="en-US" altLang="en-US" b="1" dirty="0" err="1"/>
              <a:t>зависимостей</a:t>
            </a:r>
            <a:endParaRPr lang="en-US" altLang="en-US" b="1"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t>Динамические</a:t>
            </a:r>
            <a:r>
              <a:rPr lang="en-US" altLang="en-US" dirty="0"/>
              <a:t> </a:t>
            </a:r>
            <a:r>
              <a:rPr lang="en-US" altLang="en-US" dirty="0" err="1"/>
              <a:t>страницы</a:t>
            </a:r>
            <a:r>
              <a:rPr lang="en-US" altLang="en-US" dirty="0"/>
              <a:t> (с </a:t>
            </a:r>
            <a:r>
              <a:rPr lang="en-US" altLang="en-US" dirty="0" err="1"/>
              <a:t>персонализацией</a:t>
            </a:r>
            <a:r>
              <a:rPr lang="en-US" altLang="en-US" dirty="0"/>
              <a:t>, A/B‑</a:t>
            </a:r>
            <a:r>
              <a:rPr lang="en-US" altLang="en-US" dirty="0" err="1"/>
              <a:t>тестами</a:t>
            </a:r>
            <a:r>
              <a:rPr lang="en-US" altLang="en-US" dirty="0"/>
              <a:t>) </a:t>
            </a:r>
            <a:r>
              <a:rPr lang="en-US" altLang="en-US" dirty="0" err="1"/>
              <a:t>могут</a:t>
            </a:r>
            <a:r>
              <a:rPr lang="en-US" altLang="en-US" dirty="0"/>
              <a:t> </a:t>
            </a:r>
            <a:r>
              <a:rPr lang="en-US" altLang="en-US" dirty="0" err="1"/>
              <a:t>иметь</a:t>
            </a:r>
            <a:r>
              <a:rPr lang="en-US" altLang="en-US" dirty="0"/>
              <a:t> </a:t>
            </a:r>
            <a:r>
              <a:rPr lang="en-US" altLang="en-US" dirty="0" err="1"/>
              <a:t>разные</a:t>
            </a:r>
            <a:r>
              <a:rPr lang="en-US" altLang="en-US" dirty="0"/>
              <a:t> </a:t>
            </a:r>
            <a:r>
              <a:rPr lang="en-US" altLang="en-US" dirty="0" err="1"/>
              <a:t>наборы</a:t>
            </a:r>
            <a:r>
              <a:rPr lang="en-US" altLang="en-US" dirty="0"/>
              <a:t> </a:t>
            </a:r>
            <a:r>
              <a:rPr lang="en-US" altLang="en-US" dirty="0" err="1"/>
              <a:t>ресурсов</a:t>
            </a:r>
            <a:r>
              <a:rPr lang="en-US" altLang="en-US" dirty="0"/>
              <a:t>. </a:t>
            </a:r>
            <a:r>
              <a:rPr lang="en-US" altLang="en-US" dirty="0" err="1"/>
              <a:t>Жёстко</a:t>
            </a:r>
            <a:r>
              <a:rPr lang="en-US" altLang="en-US" dirty="0"/>
              <a:t> </a:t>
            </a:r>
            <a:r>
              <a:rPr lang="en-US" altLang="en-US" dirty="0" err="1"/>
              <a:t>заданный</a:t>
            </a:r>
            <a:r>
              <a:rPr lang="en-US" altLang="en-US" dirty="0"/>
              <a:t> </a:t>
            </a:r>
            <a:r>
              <a:rPr lang="en-US" altLang="en-US" dirty="0" err="1"/>
              <a:t>список</a:t>
            </a:r>
            <a:r>
              <a:rPr lang="en-US" altLang="en-US" dirty="0"/>
              <a:t> push‑</a:t>
            </a:r>
            <a:r>
              <a:rPr lang="en-US" altLang="en-US" dirty="0" err="1"/>
              <a:t>ресурсов</a:t>
            </a:r>
            <a:r>
              <a:rPr lang="en-US" altLang="en-US" dirty="0"/>
              <a:t> </a:t>
            </a:r>
            <a:r>
              <a:rPr lang="en-US" altLang="en-US" dirty="0" err="1"/>
              <a:t>либо</a:t>
            </a:r>
            <a:r>
              <a:rPr lang="en-US" altLang="en-US" dirty="0"/>
              <a:t> </a:t>
            </a:r>
            <a:r>
              <a:rPr lang="en-US" altLang="en-US" dirty="0" err="1"/>
              <a:t>неэффективен</a:t>
            </a:r>
            <a:r>
              <a:rPr lang="en-US" altLang="en-US" dirty="0"/>
              <a:t>, </a:t>
            </a:r>
            <a:r>
              <a:rPr lang="en-US" altLang="en-US" dirty="0" err="1"/>
              <a:t>либо</a:t>
            </a:r>
            <a:r>
              <a:rPr lang="en-US" altLang="en-US" dirty="0"/>
              <a:t> </a:t>
            </a:r>
            <a:r>
              <a:rPr lang="en-US" altLang="en-US" dirty="0" err="1"/>
              <a:t>приводит</a:t>
            </a:r>
            <a:r>
              <a:rPr lang="en-US" altLang="en-US" dirty="0"/>
              <a:t> к </a:t>
            </a:r>
            <a:r>
              <a:rPr lang="en-US" altLang="en-US" dirty="0" err="1"/>
              <a:t>избыточной</a:t>
            </a:r>
            <a:r>
              <a:rPr lang="en-US" altLang="en-US" dirty="0"/>
              <a:t> </a:t>
            </a:r>
            <a:r>
              <a:rPr lang="en-US" altLang="en-US" dirty="0" err="1"/>
              <a:t>передаче</a:t>
            </a:r>
            <a:r>
              <a:rPr lang="en-US" altLang="en-US"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t>Решение</a:t>
            </a:r>
            <a:r>
              <a:rPr lang="en-US" altLang="en-US" dirty="0"/>
              <a: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err="1"/>
              <a:t>Динамическое</a:t>
            </a:r>
            <a:r>
              <a:rPr lang="en-US" altLang="en-US" dirty="0"/>
              <a:t> </a:t>
            </a:r>
            <a:r>
              <a:rPr lang="en-US" altLang="en-US" dirty="0" err="1"/>
              <a:t>определение</a:t>
            </a:r>
            <a:r>
              <a:rPr lang="en-US" altLang="en-US" dirty="0"/>
              <a:t> push‑</a:t>
            </a:r>
            <a:r>
              <a:rPr lang="en-US" altLang="en-US" dirty="0" err="1"/>
              <a:t>ресурсов</a:t>
            </a:r>
            <a:r>
              <a:rPr lang="en-US" altLang="en-US" dirty="0"/>
              <a:t> </a:t>
            </a:r>
            <a:r>
              <a:rPr lang="en-US" altLang="en-US" dirty="0" err="1"/>
              <a:t>через</a:t>
            </a:r>
            <a:r>
              <a:rPr lang="en-US" altLang="en-US" dirty="0"/>
              <a:t> HTTP‑</a:t>
            </a:r>
            <a:r>
              <a:rPr lang="en-US" altLang="en-US" dirty="0" err="1"/>
              <a:t>заголовки</a:t>
            </a:r>
            <a:r>
              <a:rPr lang="en-US" altLang="en-US" dirty="0"/>
              <a:t> (</a:t>
            </a:r>
            <a:r>
              <a:rPr lang="en-US" altLang="en-US" dirty="0" err="1"/>
              <a:t>например</a:t>
            </a:r>
            <a:r>
              <a:rPr lang="en-US" altLang="en-US" dirty="0"/>
              <a:t>, Link: &lt;/style.css&gt;; </a:t>
            </a:r>
            <a:r>
              <a:rPr lang="en-US" altLang="en-US" dirty="0" err="1"/>
              <a:t>rel</a:t>
            </a:r>
            <a:r>
              <a:rPr lang="en-US" altLang="en-US" dirty="0"/>
              <a:t>=preload; as=style) и </a:t>
            </a:r>
            <a:r>
              <a:rPr lang="en-US" altLang="en-US" dirty="0" err="1"/>
              <a:t>их</a:t>
            </a:r>
            <a:r>
              <a:rPr lang="en-US" altLang="en-US" dirty="0"/>
              <a:t> </a:t>
            </a:r>
            <a:r>
              <a:rPr lang="en-US" altLang="en-US" dirty="0" err="1"/>
              <a:t>обработка</a:t>
            </a:r>
            <a:r>
              <a:rPr lang="en-US" altLang="en-US" dirty="0"/>
              <a:t> </a:t>
            </a:r>
            <a:r>
              <a:rPr lang="en-US" altLang="en-US" dirty="0" err="1"/>
              <a:t>на</a:t>
            </a:r>
            <a:r>
              <a:rPr lang="en-US" altLang="en-US" dirty="0"/>
              <a:t> </a:t>
            </a:r>
            <a:r>
              <a:rPr lang="en-US" altLang="en-US" dirty="0" err="1"/>
              <a:t>сервере</a:t>
            </a:r>
            <a:r>
              <a:rPr lang="en-US" altLang="en-US" dirty="0"/>
              <a: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err="1"/>
              <a:t>Использование</a:t>
            </a:r>
            <a:r>
              <a:rPr lang="en-US" altLang="en-US" dirty="0"/>
              <a:t> </a:t>
            </a:r>
            <a:r>
              <a:rPr lang="en-US" altLang="en-US" dirty="0" err="1"/>
              <a:t>промежуточных</a:t>
            </a:r>
            <a:r>
              <a:rPr lang="en-US" altLang="en-US" dirty="0"/>
              <a:t> </a:t>
            </a:r>
            <a:r>
              <a:rPr lang="en-US" altLang="en-US" dirty="0" err="1"/>
              <a:t>слоёв</a:t>
            </a:r>
            <a:r>
              <a:rPr lang="en-US" altLang="en-US" dirty="0"/>
              <a:t> (Nginx, Apache) с </a:t>
            </a:r>
            <a:r>
              <a:rPr lang="en-US" altLang="en-US" dirty="0" err="1"/>
              <a:t>модулями</a:t>
            </a:r>
            <a:r>
              <a:rPr lang="en-US" altLang="en-US" dirty="0"/>
              <a:t>, </a:t>
            </a:r>
            <a:r>
              <a:rPr lang="en-US" altLang="en-US" dirty="0" err="1"/>
              <a:t>анализирующими</a:t>
            </a:r>
            <a:r>
              <a:rPr lang="en-US" altLang="en-US" dirty="0"/>
              <a:t> </a:t>
            </a:r>
            <a:r>
              <a:rPr lang="en-US" altLang="en-US" dirty="0" err="1"/>
              <a:t>ответ</a:t>
            </a:r>
            <a:r>
              <a:rPr lang="en-US" altLang="en-US"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5. </a:t>
            </a:r>
            <a:r>
              <a:rPr lang="en-US" altLang="en-US" dirty="0" err="1"/>
              <a:t>Ограничения</a:t>
            </a:r>
            <a:r>
              <a:rPr lang="en-US" altLang="en-US" dirty="0"/>
              <a:t> </a:t>
            </a:r>
            <a:r>
              <a:rPr lang="en-US" altLang="en-US" dirty="0" err="1"/>
              <a:t>браузеров</a:t>
            </a: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err="1"/>
              <a:t>Браузеры</a:t>
            </a:r>
            <a:r>
              <a:rPr lang="en-US" altLang="en-US" dirty="0"/>
              <a:t> </a:t>
            </a:r>
            <a:r>
              <a:rPr lang="en-US" altLang="en-US" dirty="0" err="1"/>
              <a:t>ограничивают</a:t>
            </a:r>
            <a:r>
              <a:rPr lang="en-US" altLang="en-US" dirty="0"/>
              <a:t> </a:t>
            </a:r>
            <a:r>
              <a:rPr lang="en-US" altLang="en-US" dirty="0" err="1"/>
              <a:t>количество</a:t>
            </a:r>
            <a:r>
              <a:rPr lang="en-US" altLang="en-US" dirty="0"/>
              <a:t> </a:t>
            </a:r>
            <a:r>
              <a:rPr lang="en-US" altLang="en-US" dirty="0" err="1"/>
              <a:t>одновременно</a:t>
            </a:r>
            <a:r>
              <a:rPr lang="en-US" altLang="en-US" dirty="0"/>
              <a:t> </a:t>
            </a:r>
            <a:r>
              <a:rPr lang="en-US" altLang="en-US" dirty="0" err="1"/>
              <a:t>открытых</a:t>
            </a:r>
            <a:r>
              <a:rPr lang="en-US" altLang="en-US" dirty="0"/>
              <a:t> push‑</a:t>
            </a:r>
            <a:r>
              <a:rPr lang="en-US" altLang="en-US" dirty="0" err="1"/>
              <a:t>потоков</a:t>
            </a:r>
            <a:r>
              <a:rPr lang="en-US" altLang="en-US" dirty="0"/>
              <a:t> (</a:t>
            </a:r>
            <a:r>
              <a:rPr lang="en-US" altLang="en-US" dirty="0" err="1"/>
              <a:t>обычно</a:t>
            </a:r>
            <a:r>
              <a:rPr lang="en-US" altLang="en-US" dirty="0"/>
              <a:t> 6–10). </a:t>
            </a:r>
            <a:r>
              <a:rPr lang="en-US" altLang="en-US" dirty="0" err="1"/>
              <a:t>Если</a:t>
            </a:r>
            <a:r>
              <a:rPr lang="en-US" altLang="en-US" dirty="0"/>
              <a:t> </a:t>
            </a:r>
            <a:r>
              <a:rPr lang="en-US" altLang="en-US" dirty="0" err="1"/>
              <a:t>ресурсов</a:t>
            </a:r>
            <a:r>
              <a:rPr lang="en-US" altLang="en-US" dirty="0"/>
              <a:t> </a:t>
            </a:r>
            <a:r>
              <a:rPr lang="en-US" altLang="en-US" dirty="0" err="1"/>
              <a:t>много</a:t>
            </a:r>
            <a:r>
              <a:rPr lang="en-US" altLang="en-US" dirty="0"/>
              <a:t>, </a:t>
            </a:r>
            <a:r>
              <a:rPr lang="en-US" altLang="en-US" dirty="0" err="1"/>
              <a:t>они</a:t>
            </a:r>
            <a:r>
              <a:rPr lang="en-US" altLang="en-US" dirty="0"/>
              <a:t> </a:t>
            </a:r>
            <a:r>
              <a:rPr lang="en-US" altLang="en-US" dirty="0" err="1"/>
              <a:t>ставятся</a:t>
            </a:r>
            <a:r>
              <a:rPr lang="en-US" altLang="en-US" dirty="0"/>
              <a:t> в </a:t>
            </a:r>
            <a:r>
              <a:rPr lang="en-US" altLang="en-US" dirty="0" err="1"/>
              <a:t>очередь</a:t>
            </a:r>
            <a:r>
              <a:rPr lang="en-US" altLang="en-US" dirty="0"/>
              <a:t>.</a:t>
            </a:r>
          </a:p>
        </p:txBody>
      </p:sp>
    </p:spTree>
    <p:extLst>
      <p:ext uri="{BB962C8B-B14F-4D97-AF65-F5344CB8AC3E}">
        <p14:creationId xmlns:p14="http://schemas.microsoft.com/office/powerpoint/2010/main" val="37604638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113E1D-0EAD-484F-885A-DA16A202149A}"/>
              </a:ext>
            </a:extLst>
          </p:cNvPr>
          <p:cNvSpPr txBox="1"/>
          <p:nvPr/>
        </p:nvSpPr>
        <p:spPr>
          <a:xfrm>
            <a:off x="476250" y="285750"/>
            <a:ext cx="11515725" cy="1754326"/>
          </a:xfrm>
          <a:prstGeom prst="rect">
            <a:avLst/>
          </a:prstGeom>
          <a:noFill/>
        </p:spPr>
        <p:txBody>
          <a:bodyPr wrap="square">
            <a:spAutoFit/>
          </a:bodyPr>
          <a:lstStyle/>
          <a:p>
            <a:r>
              <a:rPr lang="ru-RU" b="1" dirty="0"/>
              <a:t>Современный статус: </a:t>
            </a:r>
            <a:r>
              <a:rPr lang="ru-RU" b="1" dirty="0" err="1"/>
              <a:t>Server</a:t>
            </a:r>
            <a:r>
              <a:rPr lang="ru-RU" b="1" dirty="0"/>
              <a:t> </a:t>
            </a:r>
            <a:r>
              <a:rPr lang="ru-RU" b="1" dirty="0" err="1"/>
              <a:t>Push</a:t>
            </a:r>
            <a:r>
              <a:rPr lang="ru-RU" b="1" dirty="0"/>
              <a:t> </a:t>
            </a:r>
            <a:r>
              <a:rPr lang="ru-RU" b="1" dirty="0" err="1"/>
              <a:t>vs</a:t>
            </a:r>
            <a:r>
              <a:rPr lang="ru-RU" b="1" dirty="0"/>
              <a:t> альтернативы</a:t>
            </a:r>
          </a:p>
          <a:p>
            <a:r>
              <a:rPr lang="ru-RU" dirty="0" err="1"/>
              <a:t>Server</a:t>
            </a:r>
            <a:r>
              <a:rPr lang="ru-RU" dirty="0"/>
              <a:t> </a:t>
            </a:r>
            <a:r>
              <a:rPr lang="ru-RU" dirty="0" err="1"/>
              <a:t>Push</a:t>
            </a:r>
            <a:r>
              <a:rPr lang="ru-RU" dirty="0"/>
              <a:t> оказался сложным в практическом применении. Многие крупные компании (</a:t>
            </a:r>
            <a:r>
              <a:rPr lang="ru-RU" dirty="0" err="1"/>
              <a:t>Google</a:t>
            </a:r>
            <a:r>
              <a:rPr lang="ru-RU" dirty="0"/>
              <a:t>, </a:t>
            </a:r>
            <a:r>
              <a:rPr lang="ru-RU" dirty="0" err="1"/>
              <a:t>Cloudflare</a:t>
            </a:r>
            <a:r>
              <a:rPr lang="ru-RU" dirty="0"/>
              <a:t>, </a:t>
            </a:r>
            <a:r>
              <a:rPr lang="ru-RU" dirty="0" err="1"/>
              <a:t>Akamai</a:t>
            </a:r>
            <a:r>
              <a:rPr lang="ru-RU" dirty="0"/>
              <a:t>) либо отказались от него, либо используют очень ограниченно. Причины:</a:t>
            </a:r>
          </a:p>
          <a:p>
            <a:pPr>
              <a:buFont typeface="Arial" panose="020B0604020202020204" pitchFamily="34" charset="0"/>
              <a:buChar char="•"/>
            </a:pPr>
            <a:r>
              <a:rPr lang="ru-RU" dirty="0"/>
              <a:t>Сложность правильной реализации без переотправки </a:t>
            </a:r>
            <a:r>
              <a:rPr lang="ru-RU" dirty="0" err="1"/>
              <a:t>закэшированных</a:t>
            </a:r>
            <a:r>
              <a:rPr lang="ru-RU" dirty="0"/>
              <a:t> ресурсов.</a:t>
            </a:r>
          </a:p>
          <a:p>
            <a:pPr>
              <a:buFont typeface="Arial" panose="020B0604020202020204" pitchFamily="34" charset="0"/>
              <a:buChar char="•"/>
            </a:pPr>
            <a:r>
              <a:rPr lang="ru-RU" dirty="0"/>
              <a:t>Непредсказуемое влияние на производительность.</a:t>
            </a:r>
          </a:p>
          <a:p>
            <a:pPr>
              <a:buFont typeface="Arial" panose="020B0604020202020204" pitchFamily="34" charset="0"/>
              <a:buChar char="•"/>
            </a:pPr>
            <a:r>
              <a:rPr lang="ru-RU" dirty="0"/>
              <a:t>Появление более простых и эффективных альтернатив.</a:t>
            </a:r>
          </a:p>
        </p:txBody>
      </p:sp>
      <p:sp>
        <p:nvSpPr>
          <p:cNvPr id="4" name="Rectangle 1">
            <a:extLst>
              <a:ext uri="{FF2B5EF4-FFF2-40B4-BE49-F238E27FC236}">
                <a16:creationId xmlns:a16="http://schemas.microsoft.com/office/drawing/2014/main" id="{EE8E10F0-CC6A-4B86-9BEB-5E85DC5BBFAB}"/>
              </a:ext>
            </a:extLst>
          </p:cNvPr>
          <p:cNvSpPr>
            <a:spLocks noChangeArrowheads="1"/>
          </p:cNvSpPr>
          <p:nvPr/>
        </p:nvSpPr>
        <p:spPr bwMode="auto">
          <a:xfrm>
            <a:off x="538162" y="2274838"/>
            <a:ext cx="1111567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fontAlgn="base">
              <a:lnSpc>
                <a:spcPct val="100000"/>
              </a:lnSpc>
              <a:spcBef>
                <a:spcPct val="0"/>
              </a:spcBef>
              <a:spcAft>
                <a:spcPct val="0"/>
              </a:spcAft>
              <a:buClrTx/>
              <a:buSzTx/>
              <a:tabLst/>
            </a:pPr>
            <a:r>
              <a:rPr lang="en-US" altLang="en-US" b="1" dirty="0" err="1"/>
              <a:t>Альтернативы</a:t>
            </a:r>
            <a:endParaRPr lang="en-US" altLang="en-US" b="1" dirty="0"/>
          </a:p>
          <a:p>
            <a:pPr marR="0" lvl="0" indent="-171450" fontAlgn="base">
              <a:lnSpc>
                <a:spcPct val="100000"/>
              </a:lnSpc>
              <a:spcBef>
                <a:spcPct val="0"/>
              </a:spcBef>
              <a:spcAft>
                <a:spcPct val="0"/>
              </a:spcAft>
              <a:buClrTx/>
              <a:buSzTx/>
              <a:buFont typeface="Arial" panose="020B0604020202020204" pitchFamily="34" charset="0"/>
              <a:buChar char="•"/>
              <a:tabLst/>
            </a:pPr>
            <a:r>
              <a:rPr lang="en-US" altLang="en-US" dirty="0"/>
              <a:t>&lt;link </a:t>
            </a:r>
            <a:r>
              <a:rPr lang="en-US" altLang="en-US" dirty="0" err="1"/>
              <a:t>rel</a:t>
            </a:r>
            <a:r>
              <a:rPr lang="en-US" altLang="en-US" dirty="0"/>
              <a:t>=preload&gt;</a:t>
            </a:r>
          </a:p>
          <a:p>
            <a:pPr marR="0" lvl="0" indent="-171450" fontAlgn="base">
              <a:lnSpc>
                <a:spcPct val="100000"/>
              </a:lnSpc>
              <a:spcBef>
                <a:spcPct val="0"/>
              </a:spcBef>
              <a:spcAft>
                <a:spcPct val="0"/>
              </a:spcAft>
              <a:buClrTx/>
              <a:buSzTx/>
              <a:buFont typeface="Arial" panose="020B0604020202020204" pitchFamily="34" charset="0"/>
              <a:buChar char="•"/>
              <a:tabLst/>
            </a:pPr>
            <a:r>
              <a:rPr lang="en-US" altLang="en-US" dirty="0" err="1"/>
              <a:t>Браузер</a:t>
            </a:r>
            <a:r>
              <a:rPr lang="en-US" altLang="en-US" dirty="0"/>
              <a:t>, </a:t>
            </a:r>
            <a:r>
              <a:rPr lang="en-US" altLang="en-US" dirty="0" err="1"/>
              <a:t>встретив</a:t>
            </a:r>
            <a:r>
              <a:rPr lang="en-US" altLang="en-US" dirty="0"/>
              <a:t> </a:t>
            </a:r>
            <a:r>
              <a:rPr lang="en-US" altLang="en-US" dirty="0" err="1"/>
              <a:t>такой</a:t>
            </a:r>
            <a:r>
              <a:rPr lang="en-US" altLang="en-US" dirty="0"/>
              <a:t> </a:t>
            </a:r>
            <a:r>
              <a:rPr lang="en-US" altLang="en-US" dirty="0" err="1"/>
              <a:t>тег</a:t>
            </a:r>
            <a:r>
              <a:rPr lang="en-US" altLang="en-US" dirty="0"/>
              <a:t> в HTML, </a:t>
            </a:r>
            <a:r>
              <a:rPr lang="en-US" altLang="en-US" dirty="0" err="1"/>
              <a:t>загружает</a:t>
            </a:r>
            <a:r>
              <a:rPr lang="en-US" altLang="en-US" dirty="0"/>
              <a:t> </a:t>
            </a:r>
            <a:r>
              <a:rPr lang="en-US" altLang="en-US" dirty="0" err="1"/>
              <a:t>ресурс</a:t>
            </a:r>
            <a:r>
              <a:rPr lang="en-US" altLang="en-US" dirty="0"/>
              <a:t> с </a:t>
            </a:r>
            <a:r>
              <a:rPr lang="en-US" altLang="en-US" dirty="0" err="1"/>
              <a:t>высоким</a:t>
            </a:r>
            <a:r>
              <a:rPr lang="en-US" altLang="en-US" dirty="0"/>
              <a:t> </a:t>
            </a:r>
            <a:r>
              <a:rPr lang="en-US" altLang="en-US" dirty="0" err="1"/>
              <a:t>приоритетом</a:t>
            </a:r>
            <a:r>
              <a:rPr lang="en-US" altLang="en-US" dirty="0"/>
              <a:t>, </a:t>
            </a:r>
            <a:r>
              <a:rPr lang="en-US" altLang="en-US" dirty="0" err="1"/>
              <a:t>но</a:t>
            </a:r>
            <a:r>
              <a:rPr lang="en-US" altLang="en-US" dirty="0"/>
              <a:t> </a:t>
            </a:r>
            <a:r>
              <a:rPr lang="en-US" altLang="en-US" dirty="0" err="1"/>
              <a:t>запрос</a:t>
            </a:r>
            <a:r>
              <a:rPr lang="en-US" altLang="en-US" dirty="0"/>
              <a:t> </a:t>
            </a:r>
            <a:r>
              <a:rPr lang="en-US" altLang="en-US" dirty="0" err="1"/>
              <a:t>всё</a:t>
            </a:r>
            <a:r>
              <a:rPr lang="en-US" altLang="en-US" dirty="0"/>
              <a:t> </a:t>
            </a:r>
            <a:r>
              <a:rPr lang="en-US" altLang="en-US" dirty="0" err="1"/>
              <a:t>равно</a:t>
            </a:r>
            <a:r>
              <a:rPr lang="en-US" altLang="en-US" dirty="0"/>
              <a:t> </a:t>
            </a:r>
            <a:r>
              <a:rPr lang="en-US" altLang="en-US" dirty="0" err="1"/>
              <a:t>инициируется</a:t>
            </a:r>
            <a:r>
              <a:rPr lang="en-US" altLang="en-US" dirty="0"/>
              <a:t> </a:t>
            </a:r>
            <a:r>
              <a:rPr lang="en-US" altLang="en-US" dirty="0" err="1"/>
              <a:t>клиентом</a:t>
            </a:r>
            <a:r>
              <a:rPr lang="en-US" altLang="en-US" dirty="0"/>
              <a:t>. </a:t>
            </a:r>
            <a:r>
              <a:rPr lang="en-US" altLang="en-US" dirty="0" err="1"/>
              <a:t>Преимущество</a:t>
            </a:r>
            <a:r>
              <a:rPr lang="en-US" altLang="en-US" dirty="0"/>
              <a:t> — </a:t>
            </a:r>
            <a:r>
              <a:rPr lang="en-US" altLang="en-US" dirty="0" err="1"/>
              <a:t>точное</a:t>
            </a:r>
            <a:r>
              <a:rPr lang="en-US" altLang="en-US" dirty="0"/>
              <a:t> </a:t>
            </a:r>
            <a:r>
              <a:rPr lang="en-US" altLang="en-US" dirty="0" err="1"/>
              <a:t>управление</a:t>
            </a:r>
            <a:r>
              <a:rPr lang="en-US" altLang="en-US" dirty="0"/>
              <a:t> </a:t>
            </a:r>
            <a:r>
              <a:rPr lang="en-US" altLang="en-US" dirty="0" err="1"/>
              <a:t>кэшем</a:t>
            </a:r>
            <a:r>
              <a:rPr lang="en-US" altLang="en-US" dirty="0"/>
              <a:t> и </a:t>
            </a:r>
            <a:r>
              <a:rPr lang="en-US" altLang="en-US" dirty="0" err="1"/>
              <a:t>простота</a:t>
            </a:r>
            <a:r>
              <a:rPr lang="en-US" altLang="en-US" dirty="0"/>
              <a:t>.</a:t>
            </a:r>
          </a:p>
          <a:p>
            <a:pPr marR="0" lvl="0" indent="-171450" fontAlgn="base">
              <a:lnSpc>
                <a:spcPct val="100000"/>
              </a:lnSpc>
              <a:spcBef>
                <a:spcPct val="0"/>
              </a:spcBef>
              <a:spcAft>
                <a:spcPct val="0"/>
              </a:spcAft>
              <a:buClrTx/>
              <a:buSzTx/>
              <a:buFont typeface="Arial" panose="020B0604020202020204" pitchFamily="34" charset="0"/>
              <a:buChar char="•"/>
              <a:tabLst/>
            </a:pPr>
            <a:r>
              <a:rPr lang="en-US" altLang="en-US" dirty="0"/>
              <a:t>103 Early Hints</a:t>
            </a:r>
          </a:p>
          <a:p>
            <a:pPr marR="0" lvl="0" indent="-171450" fontAlgn="base">
              <a:lnSpc>
                <a:spcPct val="100000"/>
              </a:lnSpc>
              <a:spcBef>
                <a:spcPct val="0"/>
              </a:spcBef>
              <a:spcAft>
                <a:spcPct val="0"/>
              </a:spcAft>
              <a:buClrTx/>
              <a:buSzTx/>
              <a:buFont typeface="Arial" panose="020B0604020202020204" pitchFamily="34" charset="0"/>
              <a:buChar char="•"/>
              <a:tabLst/>
            </a:pPr>
            <a:r>
              <a:rPr lang="en-US" altLang="en-US" dirty="0"/>
              <a:t>HTTP‑</a:t>
            </a:r>
            <a:r>
              <a:rPr lang="en-US" altLang="en-US" dirty="0" err="1"/>
              <a:t>статус</a:t>
            </a:r>
            <a:r>
              <a:rPr lang="en-US" altLang="en-US" dirty="0"/>
              <a:t> 103 Early Hints </a:t>
            </a:r>
            <a:r>
              <a:rPr lang="en-US" altLang="en-US" dirty="0" err="1"/>
              <a:t>позволяет</a:t>
            </a:r>
            <a:r>
              <a:rPr lang="en-US" altLang="en-US" dirty="0"/>
              <a:t> </a:t>
            </a:r>
            <a:r>
              <a:rPr lang="en-US" altLang="en-US" dirty="0" err="1"/>
              <a:t>серверу</a:t>
            </a:r>
            <a:r>
              <a:rPr lang="en-US" altLang="en-US" dirty="0"/>
              <a:t> </a:t>
            </a:r>
            <a:r>
              <a:rPr lang="en-US" altLang="en-US" dirty="0" err="1"/>
              <a:t>отправить</a:t>
            </a:r>
            <a:r>
              <a:rPr lang="en-US" altLang="en-US" dirty="0"/>
              <a:t> </a:t>
            </a:r>
            <a:r>
              <a:rPr lang="en-US" altLang="en-US" dirty="0" err="1"/>
              <a:t>заголовки</a:t>
            </a:r>
            <a:r>
              <a:rPr lang="en-US" altLang="en-US" dirty="0"/>
              <a:t> с </a:t>
            </a:r>
            <a:r>
              <a:rPr lang="en-US" altLang="en-US" dirty="0" err="1"/>
              <a:t>подсказками</a:t>
            </a:r>
            <a:r>
              <a:rPr lang="en-US" altLang="en-US" dirty="0"/>
              <a:t> (Link: &lt;...&gt;; </a:t>
            </a:r>
            <a:r>
              <a:rPr lang="en-US" altLang="en-US" dirty="0" err="1"/>
              <a:t>rel</a:t>
            </a:r>
            <a:r>
              <a:rPr lang="en-US" altLang="en-US" dirty="0"/>
              <a:t>=preload) </a:t>
            </a:r>
            <a:r>
              <a:rPr lang="en-US" altLang="en-US" dirty="0" err="1"/>
              <a:t>до</a:t>
            </a:r>
            <a:r>
              <a:rPr lang="en-US" altLang="en-US" dirty="0"/>
              <a:t> </a:t>
            </a:r>
            <a:r>
              <a:rPr lang="en-US" altLang="en-US" dirty="0" err="1"/>
              <a:t>того</a:t>
            </a:r>
            <a:r>
              <a:rPr lang="en-US" altLang="en-US" dirty="0"/>
              <a:t>, </a:t>
            </a:r>
            <a:r>
              <a:rPr lang="en-US" altLang="en-US" dirty="0" err="1"/>
              <a:t>как</a:t>
            </a:r>
            <a:r>
              <a:rPr lang="en-US" altLang="en-US" dirty="0"/>
              <a:t> </a:t>
            </a:r>
            <a:r>
              <a:rPr lang="en-US" altLang="en-US" dirty="0" err="1"/>
              <a:t>будет</a:t>
            </a:r>
            <a:r>
              <a:rPr lang="en-US" altLang="en-US" dirty="0"/>
              <a:t> </a:t>
            </a:r>
            <a:r>
              <a:rPr lang="en-US" altLang="en-US" dirty="0" err="1"/>
              <a:t>сформирован</a:t>
            </a:r>
            <a:r>
              <a:rPr lang="en-US" altLang="en-US" dirty="0"/>
              <a:t> </a:t>
            </a:r>
            <a:r>
              <a:rPr lang="en-US" altLang="en-US" dirty="0" err="1"/>
              <a:t>основной</a:t>
            </a:r>
            <a:r>
              <a:rPr lang="en-US" altLang="en-US" dirty="0"/>
              <a:t> </a:t>
            </a:r>
            <a:r>
              <a:rPr lang="en-US" altLang="en-US" dirty="0" err="1"/>
              <a:t>ответ</a:t>
            </a:r>
            <a:r>
              <a:rPr lang="en-US" altLang="en-US" dirty="0"/>
              <a:t>. </a:t>
            </a:r>
            <a:r>
              <a:rPr lang="en-US" altLang="en-US" dirty="0" err="1"/>
              <a:t>Клиент</a:t>
            </a:r>
            <a:r>
              <a:rPr lang="en-US" altLang="en-US" dirty="0"/>
              <a:t> </a:t>
            </a:r>
            <a:r>
              <a:rPr lang="en-US" altLang="en-US" dirty="0" err="1"/>
              <a:t>может</a:t>
            </a:r>
            <a:r>
              <a:rPr lang="en-US" altLang="en-US" dirty="0"/>
              <a:t> </a:t>
            </a:r>
            <a:r>
              <a:rPr lang="en-US" altLang="en-US" dirty="0" err="1"/>
              <a:t>начать</a:t>
            </a:r>
            <a:r>
              <a:rPr lang="en-US" altLang="en-US" dirty="0"/>
              <a:t> </a:t>
            </a:r>
            <a:r>
              <a:rPr lang="en-US" altLang="en-US" dirty="0" err="1"/>
              <a:t>загрузку</a:t>
            </a:r>
            <a:r>
              <a:rPr lang="en-US" altLang="en-US" dirty="0"/>
              <a:t> </a:t>
            </a:r>
            <a:r>
              <a:rPr lang="en-US" altLang="en-US" dirty="0" err="1"/>
              <a:t>ресурсов</a:t>
            </a:r>
            <a:r>
              <a:rPr lang="en-US" altLang="en-US" dirty="0"/>
              <a:t>, </a:t>
            </a:r>
            <a:r>
              <a:rPr lang="en-US" altLang="en-US" dirty="0" err="1"/>
              <a:t>пока</a:t>
            </a:r>
            <a:r>
              <a:rPr lang="en-US" altLang="en-US" dirty="0"/>
              <a:t> </a:t>
            </a:r>
            <a:r>
              <a:rPr lang="en-US" altLang="en-US" dirty="0" err="1"/>
              <a:t>сервер</a:t>
            </a:r>
            <a:r>
              <a:rPr lang="en-US" altLang="en-US" dirty="0"/>
              <a:t> </a:t>
            </a:r>
            <a:r>
              <a:rPr lang="en-US" altLang="en-US" dirty="0" err="1"/>
              <a:t>готовит</a:t>
            </a:r>
            <a:r>
              <a:rPr lang="en-US" altLang="en-US" dirty="0"/>
              <a:t> HTML. </a:t>
            </a:r>
            <a:r>
              <a:rPr lang="en-US" altLang="en-US" dirty="0" err="1"/>
              <a:t>Это</a:t>
            </a:r>
            <a:r>
              <a:rPr lang="en-US" altLang="en-US" dirty="0"/>
              <a:t> </a:t>
            </a:r>
            <a:r>
              <a:rPr lang="en-US" altLang="en-US" dirty="0" err="1"/>
              <a:t>даёт</a:t>
            </a:r>
            <a:r>
              <a:rPr lang="en-US" altLang="en-US" dirty="0"/>
              <a:t> </a:t>
            </a:r>
            <a:r>
              <a:rPr lang="en-US" altLang="en-US" dirty="0" err="1"/>
              <a:t>похожий</a:t>
            </a:r>
            <a:r>
              <a:rPr lang="en-US" altLang="en-US" dirty="0"/>
              <a:t> </a:t>
            </a:r>
            <a:r>
              <a:rPr lang="en-US" altLang="en-US" dirty="0" err="1"/>
              <a:t>эффект</a:t>
            </a:r>
            <a:r>
              <a:rPr lang="en-US" altLang="en-US" dirty="0"/>
              <a:t>, </a:t>
            </a:r>
            <a:r>
              <a:rPr lang="en-US" altLang="en-US" dirty="0" err="1"/>
              <a:t>но</a:t>
            </a:r>
            <a:r>
              <a:rPr lang="en-US" altLang="en-US" dirty="0"/>
              <a:t> </a:t>
            </a:r>
            <a:r>
              <a:rPr lang="en-US" altLang="en-US" dirty="0" err="1"/>
              <a:t>без</a:t>
            </a:r>
            <a:r>
              <a:rPr lang="en-US" altLang="en-US" dirty="0"/>
              <a:t> </a:t>
            </a:r>
            <a:r>
              <a:rPr lang="en-US" altLang="en-US" dirty="0" err="1"/>
              <a:t>недостатков</a:t>
            </a:r>
            <a:r>
              <a:rPr lang="en-US" altLang="en-US" dirty="0"/>
              <a:t> </a:t>
            </a:r>
            <a:r>
              <a:rPr lang="en-US" altLang="en-US" dirty="0" err="1"/>
              <a:t>push’а</a:t>
            </a:r>
            <a:r>
              <a:rPr lang="en-US" altLang="en-US" dirty="0"/>
              <a:t> (</a:t>
            </a:r>
            <a:r>
              <a:rPr lang="en-US" altLang="en-US" dirty="0" err="1"/>
              <a:t>проблем</a:t>
            </a:r>
            <a:r>
              <a:rPr lang="en-US" altLang="en-US" dirty="0"/>
              <a:t> с </a:t>
            </a:r>
            <a:r>
              <a:rPr lang="en-US" altLang="en-US" dirty="0" err="1"/>
              <a:t>кэшем</a:t>
            </a:r>
            <a:r>
              <a:rPr lang="en-US" altLang="en-US" dirty="0"/>
              <a:t>, </a:t>
            </a:r>
            <a:r>
              <a:rPr lang="en-US" altLang="en-US" dirty="0" err="1"/>
              <a:t>приоритизацией</a:t>
            </a:r>
            <a:r>
              <a:rPr lang="en-US" altLang="en-US" dirty="0"/>
              <a:t> и </a:t>
            </a:r>
            <a:r>
              <a:rPr lang="en-US" altLang="en-US" dirty="0" err="1"/>
              <a:t>отменой</a:t>
            </a:r>
            <a:r>
              <a:rPr lang="en-US" altLang="en-US" dirty="0"/>
              <a:t>).</a:t>
            </a:r>
          </a:p>
        </p:txBody>
      </p:sp>
      <p:sp>
        <p:nvSpPr>
          <p:cNvPr id="6" name="TextBox 5">
            <a:extLst>
              <a:ext uri="{FF2B5EF4-FFF2-40B4-BE49-F238E27FC236}">
                <a16:creationId xmlns:a16="http://schemas.microsoft.com/office/drawing/2014/main" id="{A7E4760C-8EF2-457A-8AEC-AA669AC0E3B3}"/>
              </a:ext>
            </a:extLst>
          </p:cNvPr>
          <p:cNvSpPr txBox="1"/>
          <p:nvPr/>
        </p:nvSpPr>
        <p:spPr>
          <a:xfrm>
            <a:off x="704850" y="4817924"/>
            <a:ext cx="10287000" cy="923330"/>
          </a:xfrm>
          <a:prstGeom prst="rect">
            <a:avLst/>
          </a:prstGeom>
          <a:noFill/>
        </p:spPr>
        <p:txBody>
          <a:bodyPr wrap="square">
            <a:spAutoFit/>
          </a:bodyPr>
          <a:lstStyle/>
          <a:p>
            <a:r>
              <a:rPr lang="ru-RU" b="1" dirty="0"/>
              <a:t>HTTP/3 и QUIC</a:t>
            </a:r>
          </a:p>
          <a:p>
            <a:r>
              <a:rPr lang="ru-RU" dirty="0"/>
              <a:t>HTTP/3 (работающий поверх QUIC) не содержит </a:t>
            </a:r>
            <a:r>
              <a:rPr lang="ru-RU" dirty="0" err="1"/>
              <a:t>server</a:t>
            </a:r>
            <a:r>
              <a:rPr lang="ru-RU" dirty="0"/>
              <a:t> </a:t>
            </a:r>
            <a:r>
              <a:rPr lang="ru-RU" dirty="0" err="1"/>
              <a:t>push</a:t>
            </a:r>
            <a:r>
              <a:rPr lang="ru-RU" dirty="0"/>
              <a:t> в классическом виде, но предлагает более гибкие механизмы передачи данных</a:t>
            </a:r>
          </a:p>
        </p:txBody>
      </p:sp>
    </p:spTree>
    <p:extLst>
      <p:ext uri="{BB962C8B-B14F-4D97-AF65-F5344CB8AC3E}">
        <p14:creationId xmlns:p14="http://schemas.microsoft.com/office/powerpoint/2010/main" val="112848009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8DAC0E-0B22-4882-A987-021455681BEC}"/>
              </a:ext>
            </a:extLst>
          </p:cNvPr>
          <p:cNvSpPr txBox="1"/>
          <p:nvPr/>
        </p:nvSpPr>
        <p:spPr>
          <a:xfrm>
            <a:off x="390524" y="193239"/>
            <a:ext cx="11534775" cy="1477328"/>
          </a:xfrm>
          <a:prstGeom prst="rect">
            <a:avLst/>
          </a:prstGeom>
          <a:noFill/>
        </p:spPr>
        <p:txBody>
          <a:bodyPr wrap="square">
            <a:spAutoFit/>
          </a:bodyPr>
          <a:lstStyle/>
          <a:p>
            <a:r>
              <a:rPr lang="ru-RU" b="1" dirty="0"/>
              <a:t>Когда </a:t>
            </a:r>
            <a:r>
              <a:rPr lang="ru-RU" b="1" dirty="0" err="1"/>
              <a:t>push</a:t>
            </a:r>
            <a:r>
              <a:rPr lang="ru-RU" b="1" dirty="0"/>
              <a:t> может быть полезен</a:t>
            </a:r>
          </a:p>
          <a:p>
            <a:r>
              <a:rPr lang="ru-RU" dirty="0"/>
              <a:t>Несмотря на сложности, существуют сценарии, где </a:t>
            </a:r>
            <a:r>
              <a:rPr lang="ru-RU" dirty="0" err="1"/>
              <a:t>server</a:t>
            </a:r>
            <a:r>
              <a:rPr lang="ru-RU" dirty="0"/>
              <a:t> </a:t>
            </a:r>
            <a:r>
              <a:rPr lang="ru-RU" dirty="0" err="1"/>
              <a:t>push</a:t>
            </a:r>
            <a:r>
              <a:rPr lang="ru-RU" dirty="0"/>
              <a:t> даёт выигрыш:</a:t>
            </a:r>
          </a:p>
          <a:p>
            <a:pPr>
              <a:buFont typeface="Arial" panose="020B0604020202020204" pitchFamily="34" charset="0"/>
              <a:buChar char="•"/>
            </a:pPr>
            <a:r>
              <a:rPr lang="ru-RU" b="1" dirty="0"/>
              <a:t>Первая загрузка страницы</a:t>
            </a:r>
            <a:r>
              <a:rPr lang="ru-RU" dirty="0"/>
              <a:t> для нового пользователя, когда кэш пуст.</a:t>
            </a:r>
          </a:p>
          <a:p>
            <a:pPr>
              <a:buFont typeface="Arial" panose="020B0604020202020204" pitchFamily="34" charset="0"/>
              <a:buChar char="•"/>
            </a:pPr>
            <a:r>
              <a:rPr lang="ru-RU" b="1" dirty="0"/>
              <a:t>Критические ресурсы</a:t>
            </a:r>
            <a:r>
              <a:rPr lang="ru-RU" dirty="0"/>
              <a:t>, которые иначе загружались бы через цепочку запросов (например, CSS для выше сгиба).</a:t>
            </a:r>
          </a:p>
          <a:p>
            <a:pPr>
              <a:buFont typeface="Arial" panose="020B0604020202020204" pitchFamily="34" charset="0"/>
              <a:buChar char="•"/>
            </a:pPr>
            <a:r>
              <a:rPr lang="ru-RU" b="1" dirty="0"/>
              <a:t>Закрытые системы</a:t>
            </a:r>
            <a:r>
              <a:rPr lang="ru-RU" dirty="0"/>
              <a:t> с полным контролем над клиентом (API, мобильные приложения, обёртки </a:t>
            </a:r>
            <a:r>
              <a:rPr lang="ru-RU" dirty="0" err="1"/>
              <a:t>WebView</a:t>
            </a:r>
            <a:r>
              <a:rPr lang="ru-RU" dirty="0"/>
              <a:t>).</a:t>
            </a:r>
          </a:p>
        </p:txBody>
      </p:sp>
      <p:sp>
        <p:nvSpPr>
          <p:cNvPr id="5" name="TextBox 4">
            <a:extLst>
              <a:ext uri="{FF2B5EF4-FFF2-40B4-BE49-F238E27FC236}">
                <a16:creationId xmlns:a16="http://schemas.microsoft.com/office/drawing/2014/main" id="{29014DEA-5C33-423E-9A64-BB74F5BE7DCC}"/>
              </a:ext>
            </a:extLst>
          </p:cNvPr>
          <p:cNvSpPr txBox="1"/>
          <p:nvPr/>
        </p:nvSpPr>
        <p:spPr>
          <a:xfrm>
            <a:off x="666750" y="1951672"/>
            <a:ext cx="6096000" cy="369332"/>
          </a:xfrm>
          <a:prstGeom prst="rect">
            <a:avLst/>
          </a:prstGeom>
          <a:noFill/>
        </p:spPr>
        <p:txBody>
          <a:bodyPr wrap="square">
            <a:spAutoFit/>
          </a:bodyPr>
          <a:lstStyle/>
          <a:p>
            <a:r>
              <a:rPr lang="ru-RU" b="1" dirty="0"/>
              <a:t>Как реализовать </a:t>
            </a:r>
            <a:r>
              <a:rPr lang="ru-RU" b="1" dirty="0" err="1"/>
              <a:t>server</a:t>
            </a:r>
            <a:r>
              <a:rPr lang="ru-RU" b="1" dirty="0"/>
              <a:t> </a:t>
            </a:r>
            <a:r>
              <a:rPr lang="ru-RU" b="1" dirty="0" err="1"/>
              <a:t>push</a:t>
            </a:r>
            <a:r>
              <a:rPr lang="ru-RU" b="1" dirty="0"/>
              <a:t> (кратко)</a:t>
            </a:r>
          </a:p>
        </p:txBody>
      </p:sp>
      <p:pic>
        <p:nvPicPr>
          <p:cNvPr id="7" name="Рисунок 6">
            <a:extLst>
              <a:ext uri="{FF2B5EF4-FFF2-40B4-BE49-F238E27FC236}">
                <a16:creationId xmlns:a16="http://schemas.microsoft.com/office/drawing/2014/main" id="{2ADB46B5-20AB-460B-8AAD-D352FE89E08F}"/>
              </a:ext>
            </a:extLst>
          </p:cNvPr>
          <p:cNvPicPr>
            <a:picLocks noChangeAspect="1"/>
          </p:cNvPicPr>
          <p:nvPr/>
        </p:nvPicPr>
        <p:blipFill>
          <a:blip r:embed="rId2"/>
          <a:stretch>
            <a:fillRect/>
          </a:stretch>
        </p:blipFill>
        <p:spPr>
          <a:xfrm>
            <a:off x="780597" y="2723935"/>
            <a:ext cx="7591877" cy="3594977"/>
          </a:xfrm>
          <a:prstGeom prst="rect">
            <a:avLst/>
          </a:prstGeom>
        </p:spPr>
      </p:pic>
    </p:spTree>
    <p:extLst>
      <p:ext uri="{BB962C8B-B14F-4D97-AF65-F5344CB8AC3E}">
        <p14:creationId xmlns:p14="http://schemas.microsoft.com/office/powerpoint/2010/main" val="357617246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99912EB-8A4B-4419-A4A9-AFE691F7AB81}"/>
              </a:ext>
            </a:extLst>
          </p:cNvPr>
          <p:cNvSpPr txBox="1"/>
          <p:nvPr/>
        </p:nvSpPr>
        <p:spPr>
          <a:xfrm>
            <a:off x="828675" y="379452"/>
            <a:ext cx="6096000" cy="369332"/>
          </a:xfrm>
          <a:prstGeom prst="rect">
            <a:avLst/>
          </a:prstGeom>
          <a:noFill/>
        </p:spPr>
        <p:txBody>
          <a:bodyPr wrap="square">
            <a:spAutoFit/>
          </a:bodyPr>
          <a:lstStyle/>
          <a:p>
            <a:r>
              <a:rPr lang="en-US" b="1" dirty="0"/>
              <a:t>Apache</a:t>
            </a:r>
          </a:p>
        </p:txBody>
      </p:sp>
      <p:pic>
        <p:nvPicPr>
          <p:cNvPr id="7" name="Рисунок 6">
            <a:extLst>
              <a:ext uri="{FF2B5EF4-FFF2-40B4-BE49-F238E27FC236}">
                <a16:creationId xmlns:a16="http://schemas.microsoft.com/office/drawing/2014/main" id="{F24B3C10-593B-44FD-9830-D076134CF5F7}"/>
              </a:ext>
            </a:extLst>
          </p:cNvPr>
          <p:cNvPicPr>
            <a:picLocks noChangeAspect="1"/>
          </p:cNvPicPr>
          <p:nvPr/>
        </p:nvPicPr>
        <p:blipFill>
          <a:blip r:embed="rId2"/>
          <a:stretch>
            <a:fillRect/>
          </a:stretch>
        </p:blipFill>
        <p:spPr>
          <a:xfrm>
            <a:off x="549098" y="867146"/>
            <a:ext cx="6375577" cy="1447429"/>
          </a:xfrm>
          <a:prstGeom prst="rect">
            <a:avLst/>
          </a:prstGeom>
        </p:spPr>
      </p:pic>
      <p:pic>
        <p:nvPicPr>
          <p:cNvPr id="9" name="Рисунок 8">
            <a:extLst>
              <a:ext uri="{FF2B5EF4-FFF2-40B4-BE49-F238E27FC236}">
                <a16:creationId xmlns:a16="http://schemas.microsoft.com/office/drawing/2014/main" id="{5BB4DCA8-98F6-4CAA-9D2C-7B25FC65265C}"/>
              </a:ext>
            </a:extLst>
          </p:cNvPr>
          <p:cNvPicPr>
            <a:picLocks noChangeAspect="1"/>
          </p:cNvPicPr>
          <p:nvPr/>
        </p:nvPicPr>
        <p:blipFill>
          <a:blip r:embed="rId3"/>
          <a:stretch>
            <a:fillRect/>
          </a:stretch>
        </p:blipFill>
        <p:spPr>
          <a:xfrm>
            <a:off x="549097" y="2599731"/>
            <a:ext cx="7385227" cy="4258269"/>
          </a:xfrm>
          <a:prstGeom prst="rect">
            <a:avLst/>
          </a:prstGeom>
        </p:spPr>
      </p:pic>
    </p:spTree>
    <p:extLst>
      <p:ext uri="{BB962C8B-B14F-4D97-AF65-F5344CB8AC3E}">
        <p14:creationId xmlns:p14="http://schemas.microsoft.com/office/powerpoint/2010/main" val="795476141"/>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D53BC00-6FCE-4D54-9392-A952BD26BF77}"/>
              </a:ext>
            </a:extLst>
          </p:cNvPr>
          <p:cNvSpPr>
            <a:spLocks noChangeArrowheads="1"/>
          </p:cNvSpPr>
          <p:nvPr/>
        </p:nvSpPr>
        <p:spPr bwMode="auto">
          <a:xfrm>
            <a:off x="428625" y="447794"/>
            <a:ext cx="104013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Server Push — </a:t>
            </a:r>
            <a:r>
              <a:rPr kumimoji="0" lang="en-US" altLang="en-US" sz="1800" b="0" i="0" u="none" strike="noStrike" cap="none" normalizeH="0" baseline="0" dirty="0" err="1">
                <a:ln>
                  <a:noFill/>
                </a:ln>
                <a:solidFill>
                  <a:schemeClr val="tx1"/>
                </a:solidFill>
                <a:effectLst/>
                <a:latin typeface="Arial" panose="020B0604020202020204" pitchFamily="34" charset="0"/>
              </a:rPr>
              <a:t>это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мощная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очень</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требовательная</a:t>
            </a:r>
            <a:r>
              <a:rPr kumimoji="0" lang="en-US" altLang="en-US" sz="1800" b="0" i="0" u="none" strike="noStrike" cap="none" normalizeH="0" baseline="0" dirty="0">
                <a:ln>
                  <a:noFill/>
                </a:ln>
                <a:solidFill>
                  <a:schemeClr val="tx1"/>
                </a:solidFill>
                <a:effectLst/>
                <a:latin typeface="Arial" panose="020B0604020202020204" pitchFamily="34" charset="0"/>
              </a:rPr>
              <a:t> к </a:t>
            </a:r>
            <a:r>
              <a:rPr kumimoji="0" lang="en-US" altLang="en-US" sz="1800" b="0" i="0" u="none" strike="noStrike" cap="none" normalizeH="0" baseline="0" dirty="0" err="1">
                <a:ln>
                  <a:noFill/>
                </a:ln>
                <a:solidFill>
                  <a:schemeClr val="tx1"/>
                </a:solidFill>
                <a:effectLst/>
                <a:latin typeface="Arial" panose="020B0604020202020204" pitchFamily="34" charset="0"/>
              </a:rPr>
              <a:t>правильной</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реализации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фича</a:t>
            </a:r>
            <a:r>
              <a:rPr kumimoji="0" lang="en-US" altLang="en-US" sz="1800" b="0" i="0" u="none" strike="noStrike" cap="none" normalizeH="0" baseline="0" dirty="0">
                <a:ln>
                  <a:noFill/>
                </a:ln>
                <a:solidFill>
                  <a:schemeClr val="tx1"/>
                </a:solidFill>
                <a:effectLst/>
                <a:latin typeface="Arial" panose="020B0604020202020204" pitchFamily="34" charset="0"/>
              </a:rPr>
              <a:t> HTTP/2. </a:t>
            </a:r>
            <a:r>
              <a:rPr kumimoji="0" lang="en-US" altLang="en-US" sz="1800" b="0" i="0" u="none" strike="noStrike" cap="none" normalizeH="0" baseline="0" dirty="0" err="1">
                <a:ln>
                  <a:noFill/>
                </a:ln>
                <a:solidFill>
                  <a:schemeClr val="tx1"/>
                </a:solidFill>
                <a:effectLst/>
                <a:latin typeface="Arial" panose="020B0604020202020204" pitchFamily="34" charset="0"/>
              </a:rPr>
              <a:t>Она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даёт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прирост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производительности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только</a:t>
            </a:r>
            <a:r>
              <a:rPr kumimoji="0" lang="en-US" altLang="en-US" sz="1800" b="0" i="0" u="none" strike="noStrike" cap="none" normalizeH="0" baseline="0" dirty="0">
                <a:ln>
                  <a:noFill/>
                </a:ln>
                <a:solidFill>
                  <a:schemeClr val="tx1"/>
                </a:solidFill>
                <a:effectLst/>
                <a:latin typeface="Arial" panose="020B0604020202020204" pitchFamily="34" charset="0"/>
              </a:rPr>
              <a:t> в </a:t>
            </a:r>
            <a:r>
              <a:rPr kumimoji="0" lang="en-US" altLang="en-US" sz="1800" b="0" i="0" u="none" strike="noStrike" cap="none" normalizeH="0" baseline="0" dirty="0" err="1">
                <a:ln>
                  <a:noFill/>
                </a:ln>
                <a:solidFill>
                  <a:schemeClr val="tx1"/>
                </a:solidFill>
                <a:effectLst/>
                <a:latin typeface="Arial" panose="020B0604020202020204" pitchFamily="34" charset="0"/>
              </a:rPr>
              <a:t>узких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сценариях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где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точно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известно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состояние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кэша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клиента</a:t>
            </a:r>
            <a:r>
              <a:rPr kumimoji="0" lang="en-US" altLang="en-US" sz="1800" b="0" i="0" u="none" strike="noStrike" cap="none" normalizeH="0" baseline="0" dirty="0">
                <a:ln>
                  <a:noFill/>
                </a:ln>
                <a:solidFill>
                  <a:schemeClr val="tx1"/>
                </a:solidFill>
                <a:effectLst/>
                <a:latin typeface="Arial" panose="020B0604020202020204" pitchFamily="34" charset="0"/>
              </a:rPr>
              <a:t> и </a:t>
            </a:r>
            <a:r>
              <a:rPr kumimoji="0" lang="en-US" altLang="en-US" sz="1800" b="0" i="0" u="none" strike="noStrike" cap="none" normalizeH="0" baseline="0" dirty="0" err="1">
                <a:ln>
                  <a:noFill/>
                </a:ln>
                <a:solidFill>
                  <a:schemeClr val="tx1"/>
                </a:solidFill>
                <a:effectLst/>
                <a:latin typeface="Arial" panose="020B0604020202020204" pitchFamily="34" charset="0"/>
              </a:rPr>
              <a:t>критически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важные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ресурсы</a:t>
            </a:r>
            <a:r>
              <a:rPr kumimoji="0" lang="en-US" altLang="en-US" sz="1800" b="0" i="0" u="none" strike="noStrike" cap="none" normalizeH="0" baseline="0" dirty="0">
                <a:ln>
                  <a:noFill/>
                </a:ln>
                <a:solidFill>
                  <a:schemeClr val="tx1"/>
                </a:solidFill>
                <a:effectLst/>
                <a:latin typeface="Arial" panose="020B0604020202020204" pitchFamily="34" charset="0"/>
              </a:rPr>
              <a:t>. В </a:t>
            </a:r>
            <a:r>
              <a:rPr kumimoji="0" lang="en-US" altLang="en-US" sz="1800" b="0" i="0" u="none" strike="noStrike" cap="none" normalizeH="0" baseline="0" dirty="0" err="1">
                <a:ln>
                  <a:noFill/>
                </a:ln>
                <a:solidFill>
                  <a:schemeClr val="tx1"/>
                </a:solidFill>
                <a:effectLst/>
                <a:latin typeface="Arial" panose="020B0604020202020204" pitchFamily="34" charset="0"/>
              </a:rPr>
              <a:t>большинстве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современных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проектов</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её</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заменяют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комбинацию</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000" b="0" i="0" u="none" strike="noStrike" cap="none" normalizeH="0" baseline="0" dirty="0">
                <a:ln>
                  <a:noFill/>
                </a:ln>
                <a:solidFill>
                  <a:schemeClr val="tx1"/>
                </a:solidFill>
                <a:effectLst/>
                <a:latin typeface="Arial Unicode MS"/>
              </a:rPr>
              <a:t>preload</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a:rPr>
              <a:t>103 Early Hints</a:t>
            </a:r>
            <a:r>
              <a:rPr kumimoji="0" lang="en-US" altLang="en-US" sz="800" b="0" i="0" u="none" strike="noStrike" cap="none" normalizeH="0" baseline="0" dirty="0">
                <a:ln>
                  <a:noFill/>
                </a:ln>
                <a:solidFill>
                  <a:schemeClr val="tx1"/>
                </a:solidFill>
                <a:effectLst/>
              </a:rPr>
              <a:t> и </a:t>
            </a:r>
            <a:r>
              <a:rPr kumimoji="0" lang="en-US" altLang="en-US" sz="800" b="0" i="0" u="none" strike="noStrike" cap="none" normalizeH="0" baseline="0" dirty="0" err="1">
                <a:ln>
                  <a:noFill/>
                </a:ln>
                <a:solidFill>
                  <a:schemeClr val="tx1"/>
                </a:solidFill>
                <a:effectLst/>
              </a:rPr>
              <a:t>оптимизацию</a:t>
            </a:r>
            <a:r>
              <a:rPr kumimoji="0" lang="en-US" altLang="en-US" sz="800" b="0" i="0" u="none" strike="noStrike" cap="none" normalizeH="0" baseline="0" dirty="0">
                <a:ln>
                  <a:noFill/>
                </a:ln>
                <a:solidFill>
                  <a:schemeClr val="tx1"/>
                </a:solidFill>
                <a:effectLst/>
              </a:rPr>
              <a:t> </a:t>
            </a:r>
            <a:r>
              <a:rPr kumimoji="0" lang="en-US" altLang="en-US" sz="800" b="0" i="0" u="none" strike="noStrike" cap="none" normalizeH="0" baseline="0" dirty="0" err="1">
                <a:ln>
                  <a:noFill/>
                </a:ln>
                <a:solidFill>
                  <a:schemeClr val="tx1"/>
                </a:solidFill>
                <a:effectLst/>
              </a:rPr>
              <a:t>самого</a:t>
            </a:r>
            <a:r>
              <a:rPr kumimoji="0" lang="en-US" altLang="en-US" sz="800" b="0" i="0" u="none" strike="noStrike" cap="none" normalizeH="0" baseline="0" dirty="0">
                <a:ln>
                  <a:noFill/>
                </a:ln>
                <a:solidFill>
                  <a:schemeClr val="tx1"/>
                </a:solidFill>
                <a:effectLst/>
              </a:rPr>
              <a:t> HTML.</a:t>
            </a:r>
            <a:endParaRPr kumimoji="0" lang="ru-RU"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9229351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0E1DA50-E094-4308-910B-EC817AA7FA6D}"/>
              </a:ext>
            </a:extLst>
          </p:cNvPr>
          <p:cNvSpPr txBox="1"/>
          <p:nvPr/>
        </p:nvSpPr>
        <p:spPr>
          <a:xfrm>
            <a:off x="504824" y="260926"/>
            <a:ext cx="11115676" cy="5355312"/>
          </a:xfrm>
          <a:prstGeom prst="rect">
            <a:avLst/>
          </a:prstGeom>
          <a:noFill/>
        </p:spPr>
        <p:txBody>
          <a:bodyPr wrap="square">
            <a:spAutoFit/>
          </a:bodyPr>
          <a:lstStyle/>
          <a:p>
            <a:r>
              <a:rPr lang="ru-RU" b="1" dirty="0"/>
              <a:t>QUIC — вместо TCP</a:t>
            </a:r>
          </a:p>
          <a:p>
            <a:r>
              <a:rPr lang="ru-RU" dirty="0"/>
              <a:t>QUIC изначально разрабатывался </a:t>
            </a:r>
            <a:r>
              <a:rPr lang="ru-RU" dirty="0" err="1"/>
              <a:t>Google</a:t>
            </a:r>
            <a:r>
              <a:rPr lang="ru-RU" dirty="0"/>
              <a:t> как протокол транспортного уровня, объединяющий лучшие черты TCP, TLS и мультиплексирования. В HTTP/3 он полностью заменяет связку «TCP + TLS + HTTP/2». Почему это важно?</a:t>
            </a:r>
          </a:p>
          <a:p>
            <a:r>
              <a:rPr lang="ru-RU" b="1" dirty="0"/>
              <a:t>1. Устранение головной блокировки на транспортном уровне (TCP </a:t>
            </a:r>
            <a:r>
              <a:rPr lang="ru-RU" b="1" dirty="0" err="1"/>
              <a:t>HoL</a:t>
            </a:r>
            <a:r>
              <a:rPr lang="ru-RU" b="1" dirty="0"/>
              <a:t> </a:t>
            </a:r>
            <a:r>
              <a:rPr lang="ru-RU" b="1" dirty="0" err="1"/>
              <a:t>blocking</a:t>
            </a:r>
            <a:r>
              <a:rPr lang="ru-RU" b="1" dirty="0"/>
              <a:t>)</a:t>
            </a:r>
          </a:p>
          <a:p>
            <a:r>
              <a:rPr lang="ru-RU" dirty="0"/>
              <a:t>В HTTP/2 мультиплексирование решало проблему блокировки на уровне приложения, но TCP оставался последовательным: потеря одного пакета останавливала доставку </a:t>
            </a:r>
            <a:r>
              <a:rPr lang="ru-RU" i="1" dirty="0"/>
              <a:t>всех</a:t>
            </a:r>
            <a:r>
              <a:rPr lang="ru-RU" dirty="0"/>
              <a:t> потоков, пока потерянный пакет не будет повторно передан. Это особенно заметно в сетях с высокой потерей пакетов (мобильные сети, </a:t>
            </a:r>
            <a:r>
              <a:rPr lang="ru-RU" dirty="0" err="1"/>
              <a:t>Wi-Fi</a:t>
            </a:r>
            <a:r>
              <a:rPr lang="ru-RU" dirty="0"/>
              <a:t>).</a:t>
            </a:r>
          </a:p>
          <a:p>
            <a:r>
              <a:rPr lang="ru-RU" dirty="0"/>
              <a:t>QUIC обеспечивает </a:t>
            </a:r>
            <a:r>
              <a:rPr lang="ru-RU" b="1" dirty="0"/>
              <a:t>независимую доставку потоков</a:t>
            </a:r>
            <a:r>
              <a:rPr lang="ru-RU" dirty="0"/>
              <a:t> внутри одного соединения. Если пакет одного потока потерян, остальные потоки продолжают передаваться без задержек.</a:t>
            </a:r>
          </a:p>
          <a:p>
            <a:r>
              <a:rPr lang="ru-RU" b="1" dirty="0"/>
              <a:t>2. Ускорение установки соединения</a:t>
            </a:r>
          </a:p>
          <a:p>
            <a:r>
              <a:rPr lang="ru-RU" dirty="0"/>
              <a:t>QUIC объединяет согласование криптографических параметров (TLS 1.3) с установкой соединения. Вместо двух круглых обходов (TCP </a:t>
            </a:r>
            <a:r>
              <a:rPr lang="ru-RU" dirty="0" err="1"/>
              <a:t>handshake</a:t>
            </a:r>
            <a:r>
              <a:rPr lang="ru-RU" dirty="0"/>
              <a:t> + TLS </a:t>
            </a:r>
            <a:r>
              <a:rPr lang="ru-RU" dirty="0" err="1"/>
              <a:t>handshake</a:t>
            </a:r>
            <a:r>
              <a:rPr lang="ru-RU" dirty="0"/>
              <a:t>) QUIC может установить защищённое соединение за </a:t>
            </a:r>
            <a:r>
              <a:rPr lang="ru-RU" b="1" dirty="0"/>
              <a:t>0-RTT</a:t>
            </a:r>
            <a:r>
              <a:rPr lang="ru-RU" dirty="0"/>
              <a:t> (ноль круглых обходов) для повторных подключений. Это снижает задержки при загрузке страниц, особенно на мобильных устройствах.</a:t>
            </a:r>
          </a:p>
          <a:p>
            <a:r>
              <a:rPr lang="ru-RU" b="1" dirty="0"/>
              <a:t>3. Лучшая работа в условиях смены сети</a:t>
            </a:r>
          </a:p>
          <a:p>
            <a:r>
              <a:rPr lang="ru-RU" dirty="0"/>
              <a:t>TCP привязан к IP-адресу и порту; при смене сети (например, переход с </a:t>
            </a:r>
            <a:r>
              <a:rPr lang="ru-RU" dirty="0" err="1"/>
              <a:t>Wi-Fi</a:t>
            </a:r>
            <a:r>
              <a:rPr lang="ru-RU" dirty="0"/>
              <a:t> на LTE) соединение разрывается. QUIC использует идентификатор соединения (</a:t>
            </a:r>
            <a:r>
              <a:rPr lang="ru-RU" dirty="0" err="1"/>
              <a:t>connection</a:t>
            </a:r>
            <a:r>
              <a:rPr lang="ru-RU" dirty="0"/>
              <a:t> ID), который позволяет мигрировать между адресами без переустановки. Это критически важно для мобильных приложений и непрерывной работы.</a:t>
            </a:r>
          </a:p>
        </p:txBody>
      </p:sp>
    </p:spTree>
    <p:extLst>
      <p:ext uri="{BB962C8B-B14F-4D97-AF65-F5344CB8AC3E}">
        <p14:creationId xmlns:p14="http://schemas.microsoft.com/office/powerpoint/2010/main" val="72258026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D225FA-2661-47DA-B506-FB1B7C514102}"/>
              </a:ext>
            </a:extLst>
          </p:cNvPr>
          <p:cNvSpPr txBox="1"/>
          <p:nvPr/>
        </p:nvSpPr>
        <p:spPr>
          <a:xfrm>
            <a:off x="666750" y="242650"/>
            <a:ext cx="10858500" cy="6139100"/>
          </a:xfrm>
          <a:prstGeom prst="rect">
            <a:avLst/>
          </a:prstGeom>
          <a:noFill/>
        </p:spPr>
        <p:txBody>
          <a:bodyPr wrap="square">
            <a:spAutoFit/>
          </a:bodyPr>
          <a:lstStyle/>
          <a:p>
            <a:r>
              <a:rPr lang="ru-RU" b="1" dirty="0"/>
              <a:t>Основные особенности HTTP/3</a:t>
            </a:r>
          </a:p>
          <a:p>
            <a:pPr>
              <a:buFont typeface="Arial" panose="020B0604020202020204" pitchFamily="34" charset="0"/>
              <a:buChar char="•"/>
            </a:pPr>
            <a:r>
              <a:rPr lang="ru-RU" b="1" dirty="0"/>
              <a:t>Мультиплексирование без блокировок</a:t>
            </a:r>
            <a:r>
              <a:rPr lang="ru-RU" dirty="0"/>
              <a:t>: каждый поток обрабатывается независимо, что делает HTTP/3 идеальным для нестабильных каналов.</a:t>
            </a:r>
          </a:p>
          <a:p>
            <a:pPr>
              <a:buFont typeface="Arial" panose="020B0604020202020204" pitchFamily="34" charset="0"/>
              <a:buChar char="•"/>
            </a:pPr>
            <a:r>
              <a:rPr lang="ru-RU" b="1" dirty="0"/>
              <a:t>Единый слой безопасности</a:t>
            </a:r>
            <a:r>
              <a:rPr lang="ru-RU" dirty="0"/>
              <a:t>: шифрование QUIC является обязательным и встроенным, аналогично TLS 1.3. Протокол не поддерживает работу без шифрования.</a:t>
            </a:r>
          </a:p>
          <a:p>
            <a:pPr>
              <a:buFont typeface="Arial" panose="020B0604020202020204" pitchFamily="34" charset="0"/>
              <a:buChar char="•"/>
            </a:pPr>
            <a:r>
              <a:rPr lang="ru-RU" b="1" dirty="0"/>
              <a:t>Управление потоком (</a:t>
            </a:r>
            <a:r>
              <a:rPr lang="ru-RU" b="1" dirty="0" err="1"/>
              <a:t>flow</a:t>
            </a:r>
            <a:r>
              <a:rPr lang="ru-RU" b="1" dirty="0"/>
              <a:t> </a:t>
            </a:r>
            <a:r>
              <a:rPr lang="ru-RU" b="1" dirty="0" err="1"/>
              <a:t>control</a:t>
            </a:r>
            <a:r>
              <a:rPr lang="ru-RU" b="1" dirty="0"/>
              <a:t>)</a:t>
            </a:r>
            <a:r>
              <a:rPr lang="ru-RU" dirty="0"/>
              <a:t>: гибкие механизмы на уровне соединения и каждого потока, аналогичные HTTP/2, но адаптированные к особенностям QUIC.</a:t>
            </a:r>
          </a:p>
          <a:p>
            <a:pPr>
              <a:buFont typeface="Arial" panose="020B0604020202020204" pitchFamily="34" charset="0"/>
              <a:buChar char="•"/>
            </a:pPr>
            <a:r>
              <a:rPr lang="ru-RU" b="1" dirty="0" err="1"/>
              <a:t>Приоритизация</a:t>
            </a:r>
            <a:r>
              <a:rPr lang="ru-RU" dirty="0"/>
              <a:t>: HTTP/3 использует механизмы </a:t>
            </a:r>
            <a:r>
              <a:rPr lang="ru-RU" dirty="0" err="1"/>
              <a:t>приоритизации</a:t>
            </a:r>
            <a:r>
              <a:rPr lang="ru-RU" dirty="0"/>
              <a:t>, похожие на HTTP/2, но с учётом того, что потоки больше не блокируют друг друга.</a:t>
            </a:r>
          </a:p>
          <a:p>
            <a:r>
              <a:rPr lang="ru-RU" b="1" dirty="0"/>
              <a:t>QPACK — сжатие заголовков для HTTP/3</a:t>
            </a:r>
          </a:p>
          <a:p>
            <a:r>
              <a:rPr lang="ru-RU" dirty="0"/>
              <a:t>В HTTP/2 использовался HPACK, который полагался на строгую упорядоченность доставки кадров (потоки передаются по одному TCP-потоку). В HTTP/3 потоки могут доставляться в любом порядке, поэтому HPACK не подходит.</a:t>
            </a:r>
          </a:p>
          <a:p>
            <a:r>
              <a:rPr lang="ru-RU" b="1" dirty="0"/>
              <a:t>QPACK</a:t>
            </a:r>
            <a:r>
              <a:rPr lang="ru-RU" dirty="0"/>
              <a:t> — адаптированный алгоритм сжатия, который:</a:t>
            </a:r>
          </a:p>
          <a:p>
            <a:pPr>
              <a:buFont typeface="Arial" panose="020B0604020202020204" pitchFamily="34" charset="0"/>
              <a:buChar char="•"/>
            </a:pPr>
            <a:r>
              <a:rPr lang="ru-RU" dirty="0"/>
              <a:t>Использует статическую таблицу (как в HPACK).</a:t>
            </a:r>
          </a:p>
          <a:p>
            <a:pPr>
              <a:buFont typeface="Arial" panose="020B0604020202020204" pitchFamily="34" charset="0"/>
              <a:buChar char="•"/>
            </a:pPr>
            <a:r>
              <a:rPr lang="ru-RU" dirty="0"/>
              <a:t>Разделяет динамическую таблицу на две части: инструкции по её обновлению передаются в отдельном потоке (контрольном), а ссылки на таблицу — в обычных потоках.</a:t>
            </a:r>
          </a:p>
          <a:p>
            <a:pPr>
              <a:buFont typeface="Arial" panose="020B0604020202020204" pitchFamily="34" charset="0"/>
              <a:buChar char="•"/>
            </a:pPr>
            <a:r>
              <a:rPr lang="ru-RU" dirty="0"/>
              <a:t>Позволяет декодеру применять обновления таблицы асинхронно, не дожидаясь строгой последовательности.</a:t>
            </a:r>
          </a:p>
          <a:p>
            <a:r>
              <a:rPr lang="ru-RU" dirty="0"/>
              <a:t>Это сохраняет высокую степень сжатия заголовков, характерную для HPACK, но работает в условиях параллельной доставки потоков.</a:t>
            </a:r>
          </a:p>
        </p:txBody>
      </p:sp>
    </p:spTree>
    <p:extLst>
      <p:ext uri="{BB962C8B-B14F-4D97-AF65-F5344CB8AC3E}">
        <p14:creationId xmlns:p14="http://schemas.microsoft.com/office/powerpoint/2010/main" val="61680745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C57A0A-6679-4C37-A854-2667C0F31CCD}"/>
              </a:ext>
            </a:extLst>
          </p:cNvPr>
          <p:cNvSpPr txBox="1"/>
          <p:nvPr/>
        </p:nvSpPr>
        <p:spPr>
          <a:xfrm>
            <a:off x="623887" y="119360"/>
            <a:ext cx="11334750" cy="923330"/>
          </a:xfrm>
          <a:prstGeom prst="rect">
            <a:avLst/>
          </a:prstGeom>
          <a:noFill/>
        </p:spPr>
        <p:txBody>
          <a:bodyPr wrap="square">
            <a:spAutoFit/>
          </a:bodyPr>
          <a:lstStyle/>
          <a:p>
            <a:r>
              <a:rPr lang="ru-RU" b="1" dirty="0"/>
              <a:t>Структура протокола</a:t>
            </a:r>
          </a:p>
          <a:p>
            <a:r>
              <a:rPr lang="ru-RU" dirty="0"/>
              <a:t>HTTP/3 не является прямым расширением HTTP/2. Он использует собственный формат кадров (</a:t>
            </a:r>
            <a:r>
              <a:rPr lang="ru-RU" dirty="0" err="1"/>
              <a:t>frames</a:t>
            </a:r>
            <a:r>
              <a:rPr lang="ru-RU" dirty="0"/>
              <a:t>), похожий на HTTP/2, но передаваемый через QUIC-потоки. Каждый HTTP-запрос и ответ отображается на один QUIC-поток.</a:t>
            </a:r>
          </a:p>
        </p:txBody>
      </p:sp>
      <p:pic>
        <p:nvPicPr>
          <p:cNvPr id="5" name="Рисунок 4">
            <a:extLst>
              <a:ext uri="{FF2B5EF4-FFF2-40B4-BE49-F238E27FC236}">
                <a16:creationId xmlns:a16="http://schemas.microsoft.com/office/drawing/2014/main" id="{4B3826A7-670D-47C0-BCC0-53EF2F964C91}"/>
              </a:ext>
            </a:extLst>
          </p:cNvPr>
          <p:cNvPicPr>
            <a:picLocks noChangeAspect="1"/>
          </p:cNvPicPr>
          <p:nvPr/>
        </p:nvPicPr>
        <p:blipFill>
          <a:blip r:embed="rId2"/>
          <a:stretch>
            <a:fillRect/>
          </a:stretch>
        </p:blipFill>
        <p:spPr>
          <a:xfrm>
            <a:off x="1104639" y="1046263"/>
            <a:ext cx="3734321" cy="2553056"/>
          </a:xfrm>
          <a:prstGeom prst="rect">
            <a:avLst/>
          </a:prstGeom>
        </p:spPr>
      </p:pic>
      <p:sp>
        <p:nvSpPr>
          <p:cNvPr id="7" name="TextBox 6">
            <a:extLst>
              <a:ext uri="{FF2B5EF4-FFF2-40B4-BE49-F238E27FC236}">
                <a16:creationId xmlns:a16="http://schemas.microsoft.com/office/drawing/2014/main" id="{5BD5A256-1359-4519-9D0A-8E3C03DD4D6E}"/>
              </a:ext>
            </a:extLst>
          </p:cNvPr>
          <p:cNvSpPr txBox="1"/>
          <p:nvPr/>
        </p:nvSpPr>
        <p:spPr>
          <a:xfrm>
            <a:off x="428625" y="3313569"/>
            <a:ext cx="11334750" cy="3139321"/>
          </a:xfrm>
          <a:prstGeom prst="rect">
            <a:avLst/>
          </a:prstGeom>
          <a:noFill/>
        </p:spPr>
        <p:txBody>
          <a:bodyPr wrap="square">
            <a:spAutoFit/>
          </a:bodyPr>
          <a:lstStyle/>
          <a:p>
            <a:r>
              <a:rPr lang="ru-RU" b="1" dirty="0"/>
              <a:t>Преимущества HTTP/3 на практике</a:t>
            </a:r>
          </a:p>
          <a:p>
            <a:pPr>
              <a:buFont typeface="Arial" panose="020B0604020202020204" pitchFamily="34" charset="0"/>
              <a:buChar char="•"/>
            </a:pPr>
            <a:r>
              <a:rPr lang="ru-RU" b="1" dirty="0"/>
              <a:t>Более быстрая загрузка страниц</a:t>
            </a:r>
            <a:r>
              <a:rPr lang="ru-RU" dirty="0"/>
              <a:t> в нестабильных сетях (мобильный интернет, спутник, </a:t>
            </a:r>
            <a:r>
              <a:rPr lang="ru-RU" dirty="0" err="1"/>
              <a:t>Wi-Fi</a:t>
            </a:r>
            <a:r>
              <a:rPr lang="ru-RU" dirty="0"/>
              <a:t> с помехами).</a:t>
            </a:r>
          </a:p>
          <a:p>
            <a:pPr>
              <a:buFont typeface="Arial" panose="020B0604020202020204" pitchFamily="34" charset="0"/>
              <a:buChar char="•"/>
            </a:pPr>
            <a:r>
              <a:rPr lang="ru-RU" b="1" dirty="0"/>
              <a:t>Плавное переключение между сетями</a:t>
            </a:r>
            <a:r>
              <a:rPr lang="ru-RU" dirty="0"/>
              <a:t> без прерывания передачи (например, видео‑звонки, стриминг).</a:t>
            </a:r>
          </a:p>
          <a:p>
            <a:pPr>
              <a:buFont typeface="Arial" panose="020B0604020202020204" pitchFamily="34" charset="0"/>
              <a:buChar char="•"/>
            </a:pPr>
            <a:r>
              <a:rPr lang="ru-RU" b="1" dirty="0"/>
              <a:t>Улучшенная безопасность</a:t>
            </a:r>
            <a:r>
              <a:rPr lang="ru-RU" dirty="0"/>
              <a:t> за счёт обязательного шифрования и использования TLS 1.3.</a:t>
            </a:r>
          </a:p>
          <a:p>
            <a:pPr>
              <a:buFont typeface="Arial" panose="020B0604020202020204" pitchFamily="34" charset="0"/>
              <a:buChar char="•"/>
            </a:pPr>
            <a:r>
              <a:rPr lang="ru-RU" b="1" dirty="0"/>
              <a:t>Снижение нагрузки на сервер</a:t>
            </a:r>
            <a:r>
              <a:rPr lang="ru-RU" dirty="0"/>
              <a:t> за счёт уменьшения количества установок соединений и их более эффективного мультиплексирования.</a:t>
            </a:r>
          </a:p>
          <a:p>
            <a:r>
              <a:rPr lang="ru-RU" b="1" dirty="0"/>
              <a:t>Текущее внедрение</a:t>
            </a:r>
          </a:p>
          <a:p>
            <a:r>
              <a:rPr lang="ru-RU" dirty="0"/>
              <a:t>HTTP/3 поддерживается большинством современных браузеров (</a:t>
            </a:r>
            <a:r>
              <a:rPr lang="ru-RU" dirty="0" err="1"/>
              <a:t>Chrome</a:t>
            </a:r>
            <a:r>
              <a:rPr lang="ru-RU" dirty="0"/>
              <a:t>, </a:t>
            </a:r>
            <a:r>
              <a:rPr lang="ru-RU" dirty="0" err="1"/>
              <a:t>Firefox</a:t>
            </a:r>
            <a:r>
              <a:rPr lang="ru-RU" dirty="0"/>
              <a:t>, </a:t>
            </a:r>
            <a:r>
              <a:rPr lang="ru-RU" dirty="0" err="1"/>
              <a:t>Safari</a:t>
            </a:r>
            <a:r>
              <a:rPr lang="ru-RU" dirty="0"/>
              <a:t>, </a:t>
            </a:r>
            <a:r>
              <a:rPr lang="ru-RU" dirty="0" err="1"/>
              <a:t>Edge</a:t>
            </a:r>
            <a:r>
              <a:rPr lang="ru-RU" dirty="0"/>
              <a:t>) и многими крупными веб-сервисами (</a:t>
            </a:r>
            <a:r>
              <a:rPr lang="ru-RU" dirty="0" err="1"/>
              <a:t>Google</a:t>
            </a:r>
            <a:r>
              <a:rPr lang="ru-RU" dirty="0"/>
              <a:t>, </a:t>
            </a:r>
            <a:r>
              <a:rPr lang="ru-RU" dirty="0" err="1"/>
              <a:t>YouTube</a:t>
            </a:r>
            <a:r>
              <a:rPr lang="ru-RU" dirty="0"/>
              <a:t>, </a:t>
            </a:r>
            <a:r>
              <a:rPr lang="ru-RU" dirty="0" err="1"/>
              <a:t>Facebook</a:t>
            </a:r>
            <a:r>
              <a:rPr lang="ru-RU" dirty="0"/>
              <a:t>, </a:t>
            </a:r>
            <a:r>
              <a:rPr lang="ru-RU" dirty="0" err="1"/>
              <a:t>Cloudflare</a:t>
            </a:r>
            <a:r>
              <a:rPr lang="ru-RU" dirty="0"/>
              <a:t>). Однако для его использования требуется поддержка как на стороне сервера, так и на клиенте. В ближайшие годы ожидается дальнейшее распространение, особенно для мобильных приложений и высоконагруженных сайтов.</a:t>
            </a:r>
          </a:p>
        </p:txBody>
      </p:sp>
    </p:spTree>
    <p:extLst>
      <p:ext uri="{BB962C8B-B14F-4D97-AF65-F5344CB8AC3E}">
        <p14:creationId xmlns:p14="http://schemas.microsoft.com/office/powerpoint/2010/main" val="49481738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DA5785B-045F-404F-8D01-D436CB99BE2E}"/>
              </a:ext>
            </a:extLst>
          </p:cNvPr>
          <p:cNvSpPr txBox="1"/>
          <p:nvPr/>
        </p:nvSpPr>
        <p:spPr>
          <a:xfrm>
            <a:off x="490537" y="687497"/>
            <a:ext cx="11210925" cy="4524315"/>
          </a:xfrm>
          <a:prstGeom prst="rect">
            <a:avLst/>
          </a:prstGeom>
          <a:noFill/>
        </p:spPr>
        <p:txBody>
          <a:bodyPr wrap="square">
            <a:spAutoFit/>
          </a:bodyPr>
          <a:lstStyle/>
          <a:p>
            <a:r>
              <a:rPr lang="ru-RU" b="1" dirty="0"/>
              <a:t>QUIC</a:t>
            </a:r>
            <a:r>
              <a:rPr lang="ru-RU" dirty="0"/>
              <a:t> (</a:t>
            </a:r>
            <a:r>
              <a:rPr lang="ru-RU" dirty="0" err="1"/>
              <a:t>Quick</a:t>
            </a:r>
            <a:r>
              <a:rPr lang="ru-RU" dirty="0"/>
              <a:t> UDP </a:t>
            </a:r>
            <a:r>
              <a:rPr lang="ru-RU" dirty="0" err="1"/>
              <a:t>Internet</a:t>
            </a:r>
            <a:r>
              <a:rPr lang="ru-RU" dirty="0"/>
              <a:t> </a:t>
            </a:r>
            <a:r>
              <a:rPr lang="ru-RU" dirty="0" err="1"/>
              <a:t>Connections</a:t>
            </a:r>
            <a:r>
              <a:rPr lang="ru-RU" dirty="0"/>
              <a:t>) — это транспортный сетевой протокол, разработанный компанией </a:t>
            </a:r>
            <a:r>
              <a:rPr lang="ru-RU" dirty="0" err="1"/>
              <a:t>Google</a:t>
            </a:r>
            <a:r>
              <a:rPr lang="ru-RU" dirty="0"/>
              <a:t> и стандартизированный IETF (</a:t>
            </a:r>
            <a:r>
              <a:rPr lang="ru-RU" dirty="0" err="1"/>
              <a:t>Internet</a:t>
            </a:r>
            <a:r>
              <a:rPr lang="ru-RU" dirty="0"/>
              <a:t> </a:t>
            </a:r>
            <a:r>
              <a:rPr lang="ru-RU" dirty="0" err="1"/>
              <a:t>Engineering</a:t>
            </a:r>
            <a:r>
              <a:rPr lang="ru-RU" dirty="0"/>
              <a:t> </a:t>
            </a:r>
            <a:r>
              <a:rPr lang="ru-RU" dirty="0" err="1"/>
              <a:t>Task</a:t>
            </a:r>
            <a:r>
              <a:rPr lang="ru-RU" dirty="0"/>
              <a:t> </a:t>
            </a:r>
            <a:r>
              <a:rPr lang="ru-RU" dirty="0" err="1"/>
              <a:t>Force</a:t>
            </a:r>
            <a:r>
              <a:rPr lang="ru-RU" dirty="0"/>
              <a:t>) как основа для </a:t>
            </a:r>
            <a:r>
              <a:rPr lang="ru-RU" b="1" dirty="0"/>
              <a:t>HTTP/3</a:t>
            </a:r>
            <a:r>
              <a:rPr lang="ru-RU" dirty="0"/>
              <a:t>.</a:t>
            </a:r>
          </a:p>
          <a:p>
            <a:r>
              <a:rPr lang="ru-RU" dirty="0"/>
              <a:t>Если говорить кратко: </a:t>
            </a:r>
            <a:r>
              <a:rPr lang="ru-RU" b="1" dirty="0"/>
              <a:t>QUIC призван заменить связку TCP + TLS + HTTP/2</a:t>
            </a:r>
            <a:r>
              <a:rPr lang="ru-RU" dirty="0"/>
              <a:t>, работающую поверх IP, на единый протокол поверх UDP, который решает фундаментальные проблемы своего предшественника.</a:t>
            </a:r>
          </a:p>
          <a:p>
            <a:r>
              <a:rPr lang="ru-RU" dirty="0"/>
              <a:t>Вот ключевые отличия QUIC от TCP и причины, почему это «следующая эволюция» интернета:</a:t>
            </a:r>
          </a:p>
          <a:p>
            <a:endParaRPr lang="ru-RU" dirty="0"/>
          </a:p>
          <a:p>
            <a:r>
              <a:rPr lang="ru-RU" b="1" dirty="0"/>
              <a:t>1. Устранение «</a:t>
            </a:r>
            <a:r>
              <a:rPr lang="ru-RU" b="1" dirty="0" err="1"/>
              <a:t>Head-of-Line</a:t>
            </a:r>
            <a:r>
              <a:rPr lang="ru-RU" b="1" dirty="0"/>
              <a:t> </a:t>
            </a:r>
            <a:r>
              <a:rPr lang="ru-RU" b="1" dirty="0" err="1"/>
              <a:t>Blocking</a:t>
            </a:r>
            <a:r>
              <a:rPr lang="ru-RU" b="1" dirty="0"/>
              <a:t>» (Блокировка головы очереди)</a:t>
            </a:r>
          </a:p>
          <a:p>
            <a:r>
              <a:rPr lang="ru-RU" dirty="0"/>
              <a:t>Это главное архитектурное преимущество.</a:t>
            </a:r>
          </a:p>
          <a:p>
            <a:endParaRPr lang="ru-RU" dirty="0"/>
          </a:p>
          <a:p>
            <a:pPr>
              <a:buFont typeface="Arial" panose="020B0604020202020204" pitchFamily="34" charset="0"/>
              <a:buChar char="•"/>
            </a:pPr>
            <a:r>
              <a:rPr lang="ru-RU" b="1" dirty="0"/>
              <a:t>TCP:</a:t>
            </a:r>
            <a:r>
              <a:rPr lang="ru-RU" dirty="0"/>
              <a:t> Обеспечивает строгую последовательность доставки пакетов. Если в потоке данных потерян один пакет, все последующие потоки (даже из другой вкладки браузера, идущие по тому же соединению) ждут, пока потерянный пакет не будет передан повторно. Это создает задержки (зависания) на медленных соединениях.</a:t>
            </a:r>
          </a:p>
          <a:p>
            <a:pPr>
              <a:buFont typeface="Arial" panose="020B0604020202020204" pitchFamily="34" charset="0"/>
              <a:buChar char="•"/>
            </a:pPr>
            <a:endParaRPr lang="ru-RU" dirty="0"/>
          </a:p>
          <a:p>
            <a:pPr>
              <a:buFont typeface="Arial" panose="020B0604020202020204" pitchFamily="34" charset="0"/>
              <a:buChar char="•"/>
            </a:pPr>
            <a:r>
              <a:rPr lang="ru-RU" b="1" dirty="0"/>
              <a:t>QUIC:</a:t>
            </a:r>
            <a:r>
              <a:rPr lang="ru-RU" dirty="0"/>
              <a:t> Мультиплексирован независимыми потоками внутри одного соединения. Если потерян пакет одного потока (например, загрузка CSS), остальные потоки (изображения, видео) продолжают обрабатываться без задержек.</a:t>
            </a:r>
          </a:p>
        </p:txBody>
      </p:sp>
    </p:spTree>
    <p:extLst>
      <p:ext uri="{BB962C8B-B14F-4D97-AF65-F5344CB8AC3E}">
        <p14:creationId xmlns:p14="http://schemas.microsoft.com/office/powerpoint/2010/main" val="255025151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56B7BB-7CB5-4916-8F8F-C8B3C4D224A8}"/>
              </a:ext>
            </a:extLst>
          </p:cNvPr>
          <p:cNvSpPr txBox="1"/>
          <p:nvPr/>
        </p:nvSpPr>
        <p:spPr>
          <a:xfrm>
            <a:off x="676275" y="288727"/>
            <a:ext cx="10839450" cy="5355312"/>
          </a:xfrm>
          <a:prstGeom prst="rect">
            <a:avLst/>
          </a:prstGeom>
          <a:noFill/>
        </p:spPr>
        <p:txBody>
          <a:bodyPr wrap="square">
            <a:spAutoFit/>
          </a:bodyPr>
          <a:lstStyle/>
          <a:p>
            <a:r>
              <a:rPr lang="ru-RU" b="1" dirty="0"/>
              <a:t>2. Ускоренное установление соединения (0-RTT) (</a:t>
            </a:r>
            <a:r>
              <a:rPr lang="en-US" b="1" dirty="0">
                <a:hlinkClick r:id="rId2">
                  <a:extLst>
                    <a:ext uri="{A12FA001-AC4F-418D-AE19-62706E023703}">
                      <ahyp:hlinkClr xmlns:ahyp="http://schemas.microsoft.com/office/drawing/2018/hyperlinkcolor" val="tx"/>
                    </a:ext>
                  </a:extLst>
                </a:hlinkClick>
              </a:rPr>
              <a:t>Round-trip time</a:t>
            </a:r>
            <a:r>
              <a:rPr lang="ru-RU" b="1" dirty="0"/>
              <a:t>)</a:t>
            </a:r>
          </a:p>
          <a:p>
            <a:pPr>
              <a:buFont typeface="Arial" panose="020B0604020202020204" pitchFamily="34" charset="0"/>
              <a:buChar char="•"/>
            </a:pPr>
            <a:r>
              <a:rPr lang="ru-RU" b="1" dirty="0"/>
              <a:t>TCP + TLS:</a:t>
            </a:r>
            <a:r>
              <a:rPr lang="ru-RU" dirty="0"/>
              <a:t> Для установки защищенного соединения требуется минимум 2 RTT (</a:t>
            </a:r>
            <a:r>
              <a:rPr lang="ru-RU" dirty="0" err="1"/>
              <a:t>Round</a:t>
            </a:r>
            <a:r>
              <a:rPr lang="ru-RU" dirty="0"/>
              <a:t> </a:t>
            </a:r>
            <a:r>
              <a:rPr lang="ru-RU" dirty="0" err="1"/>
              <a:t>Trip</a:t>
            </a:r>
            <a:r>
              <a:rPr lang="ru-RU" dirty="0"/>
              <a:t> </a:t>
            </a:r>
            <a:r>
              <a:rPr lang="ru-RU" dirty="0" err="1"/>
              <a:t>Time</a:t>
            </a:r>
            <a:r>
              <a:rPr lang="ru-RU" dirty="0"/>
              <a:t> — время туда-обратно). Первый для рукопожатия TCP (SYN, SYN-ACK), второй для рукопожатия TLS (обмен ключами).</a:t>
            </a:r>
          </a:p>
          <a:p>
            <a:pPr>
              <a:buFont typeface="Arial" panose="020B0604020202020204" pitchFamily="34" charset="0"/>
              <a:buChar char="•"/>
            </a:pPr>
            <a:r>
              <a:rPr lang="ru-RU" b="1" dirty="0"/>
              <a:t>QUIC:</a:t>
            </a:r>
            <a:r>
              <a:rPr lang="ru-RU" dirty="0"/>
              <a:t> Объединяет транспортное рукопожатие и криптографическое (TLS 1.3) в один этап. В большинстве случаев установка соединения занимает </a:t>
            </a:r>
            <a:r>
              <a:rPr lang="ru-RU" b="1" dirty="0"/>
              <a:t>0 RTT</a:t>
            </a:r>
            <a:r>
              <a:rPr lang="ru-RU" dirty="0"/>
              <a:t> (если клиент уже подключался к серверу ранее), либо </a:t>
            </a:r>
            <a:r>
              <a:rPr lang="ru-RU" b="1" dirty="0"/>
              <a:t>1 RTT</a:t>
            </a:r>
            <a:r>
              <a:rPr lang="ru-RU" dirty="0"/>
              <a:t> при первом подключении. Это радикально ускоряет загрузку веб-страниц, особенно на мобильных устройствах с высокой задержкой сети.</a:t>
            </a:r>
          </a:p>
          <a:p>
            <a:r>
              <a:rPr lang="ru-RU" b="1" dirty="0"/>
              <a:t>3. Миграция между сетями (</a:t>
            </a:r>
            <a:r>
              <a:rPr lang="ru-RU" b="1" dirty="0" err="1"/>
              <a:t>Connection</a:t>
            </a:r>
            <a:r>
              <a:rPr lang="ru-RU" b="1" dirty="0"/>
              <a:t> </a:t>
            </a:r>
            <a:r>
              <a:rPr lang="ru-RU" b="1" dirty="0" err="1"/>
              <a:t>Migration</a:t>
            </a:r>
            <a:r>
              <a:rPr lang="ru-RU" b="1" dirty="0"/>
              <a:t>)</a:t>
            </a:r>
          </a:p>
          <a:p>
            <a:pPr>
              <a:buFont typeface="Arial" panose="020B0604020202020204" pitchFamily="34" charset="0"/>
              <a:buChar char="•"/>
            </a:pPr>
            <a:r>
              <a:rPr lang="ru-RU" b="1" dirty="0"/>
              <a:t>TCP:</a:t>
            </a:r>
            <a:r>
              <a:rPr lang="ru-RU" dirty="0"/>
              <a:t> Привязан к паре «IP-адрес : Порт». Если мобильное устройство переключается с </a:t>
            </a:r>
            <a:r>
              <a:rPr lang="ru-RU" dirty="0" err="1"/>
              <a:t>Wi-Fi</a:t>
            </a:r>
            <a:r>
              <a:rPr lang="ru-RU" dirty="0"/>
              <a:t> на мобильную связь (4G/5G), IP-адрес меняется. TCP-соединение разрывается, и приложению (например, видеозвонку) приходится устанавливать соединение заново.</a:t>
            </a:r>
          </a:p>
          <a:p>
            <a:pPr>
              <a:buFont typeface="Arial" panose="020B0604020202020204" pitchFamily="34" charset="0"/>
              <a:buChar char="•"/>
            </a:pPr>
            <a:r>
              <a:rPr lang="ru-RU" b="1" dirty="0"/>
              <a:t>QUIC:</a:t>
            </a:r>
            <a:r>
              <a:rPr lang="ru-RU" dirty="0"/>
              <a:t> Использует идентификатор соединения (</a:t>
            </a:r>
            <a:r>
              <a:rPr lang="ru-RU" dirty="0" err="1"/>
              <a:t>Connection</a:t>
            </a:r>
            <a:r>
              <a:rPr lang="ru-RU" dirty="0"/>
              <a:t> ID), не зависящий от IP-адреса. Если вы выходите из дома и теряете </a:t>
            </a:r>
            <a:r>
              <a:rPr lang="ru-RU" dirty="0" err="1"/>
              <a:t>Wi-Fi</a:t>
            </a:r>
            <a:r>
              <a:rPr lang="ru-RU" dirty="0"/>
              <a:t>, QUIC отправляет пакет с новым IP, но старым </a:t>
            </a:r>
            <a:r>
              <a:rPr lang="ru-RU" dirty="0" err="1"/>
              <a:t>Connection</a:t>
            </a:r>
            <a:r>
              <a:rPr lang="ru-RU" dirty="0"/>
              <a:t> ID. Сервер продолжает передачу данных </a:t>
            </a:r>
            <a:r>
              <a:rPr lang="ru-RU" b="1" dirty="0"/>
              <a:t>без разрыва связи</a:t>
            </a:r>
            <a:r>
              <a:rPr lang="ru-RU" dirty="0"/>
              <a:t>. Это критически важно для мобильных устройств, VPN и роуминга.</a:t>
            </a:r>
          </a:p>
          <a:p>
            <a:r>
              <a:rPr lang="ru-RU" b="1" dirty="0"/>
              <a:t>4. Безопасность по умолчанию</a:t>
            </a:r>
          </a:p>
          <a:p>
            <a:pPr>
              <a:buFont typeface="Arial" panose="020B0604020202020204" pitchFamily="34" charset="0"/>
              <a:buChar char="•"/>
            </a:pPr>
            <a:r>
              <a:rPr lang="ru-RU" b="1" dirty="0"/>
              <a:t>TCP:</a:t>
            </a:r>
            <a:r>
              <a:rPr lang="ru-RU" dirty="0"/>
              <a:t> Сам по себе TCP не шифрует данные. Для безопасности поверх него надстраивается TLS (HTTPS).</a:t>
            </a:r>
          </a:p>
          <a:p>
            <a:pPr>
              <a:buFont typeface="Arial" panose="020B0604020202020204" pitchFamily="34" charset="0"/>
              <a:buChar char="•"/>
            </a:pPr>
            <a:r>
              <a:rPr lang="ru-RU" b="1" dirty="0"/>
              <a:t>QUIC:</a:t>
            </a:r>
            <a:r>
              <a:rPr lang="ru-RU" dirty="0"/>
              <a:t> </a:t>
            </a:r>
            <a:r>
              <a:rPr lang="ru-RU" b="1" dirty="0"/>
              <a:t>Все</a:t>
            </a:r>
            <a:r>
              <a:rPr lang="ru-RU" dirty="0"/>
              <a:t> пакеты QUIC шифрованы. В спецификации протокола нет возможности создать «чистый» незашифрованный QUIC-канал. Заголовки (кроме нескольких бит) также шифруются, что затрудняет DPI (</a:t>
            </a:r>
            <a:r>
              <a:rPr lang="ru-RU" dirty="0" err="1"/>
              <a:t>Deep</a:t>
            </a:r>
            <a:r>
              <a:rPr lang="ru-RU" dirty="0"/>
              <a:t> </a:t>
            </a:r>
            <a:r>
              <a:rPr lang="ru-RU" dirty="0" err="1"/>
              <a:t>Packet</a:t>
            </a:r>
            <a:r>
              <a:rPr lang="ru-RU" dirty="0"/>
              <a:t> </a:t>
            </a:r>
            <a:r>
              <a:rPr lang="ru-RU" dirty="0" err="1"/>
              <a:t>Inspection</a:t>
            </a:r>
            <a:r>
              <a:rPr lang="ru-RU" dirty="0"/>
              <a:t> — глубокий анализ трафика) и повышает приватность пользователя.</a:t>
            </a:r>
          </a:p>
        </p:txBody>
      </p:sp>
    </p:spTree>
    <p:extLst>
      <p:ext uri="{BB962C8B-B14F-4D97-AF65-F5344CB8AC3E}">
        <p14:creationId xmlns:p14="http://schemas.microsoft.com/office/powerpoint/2010/main" val="6493091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9754A3-FF7C-43CD-974F-F3EEB6C55234}"/>
              </a:ext>
            </a:extLst>
          </p:cNvPr>
          <p:cNvSpPr txBox="1"/>
          <p:nvPr/>
        </p:nvSpPr>
        <p:spPr>
          <a:xfrm>
            <a:off x="428625" y="102602"/>
            <a:ext cx="11144250" cy="6463308"/>
          </a:xfrm>
          <a:prstGeom prst="rect">
            <a:avLst/>
          </a:prstGeom>
          <a:noFill/>
        </p:spPr>
        <p:txBody>
          <a:bodyPr wrap="square">
            <a:spAutoFit/>
          </a:bodyPr>
          <a:lstStyle/>
          <a:p>
            <a:r>
              <a:rPr lang="ru-RU" b="1" dirty="0"/>
              <a:t>5. Управление потоком </a:t>
            </a:r>
          </a:p>
          <a:p>
            <a:pPr>
              <a:buFont typeface="Arial" panose="020B0604020202020204" pitchFamily="34" charset="0"/>
              <a:buChar char="•"/>
            </a:pPr>
            <a:r>
              <a:rPr lang="ru-RU" dirty="0"/>
              <a:t>QUIC реализует механизмы контроля перегрузки (алгоритмы типа BBR, </a:t>
            </a:r>
            <a:r>
              <a:rPr lang="ru-RU" dirty="0" err="1"/>
              <a:t>Cubic</a:t>
            </a:r>
            <a:r>
              <a:rPr lang="ru-RU" dirty="0"/>
              <a:t>) на уровне приложения (в пространстве пользователя), а не в ядре ОС, как TCP.</a:t>
            </a:r>
          </a:p>
          <a:p>
            <a:pPr>
              <a:buFont typeface="Arial" panose="020B0604020202020204" pitchFamily="34" charset="0"/>
              <a:buChar char="•"/>
            </a:pPr>
            <a:r>
              <a:rPr lang="ru-RU" dirty="0"/>
              <a:t>Это позволяет разработчикам (</a:t>
            </a:r>
            <a:r>
              <a:rPr lang="ru-RU" dirty="0" err="1"/>
              <a:t>Google</a:t>
            </a:r>
            <a:r>
              <a:rPr lang="ru-RU" dirty="0"/>
              <a:t>, </a:t>
            </a:r>
            <a:r>
              <a:rPr lang="ru-RU" dirty="0" err="1"/>
              <a:t>Meta</a:t>
            </a:r>
            <a:r>
              <a:rPr lang="ru-RU" dirty="0"/>
              <a:t>, </a:t>
            </a:r>
            <a:r>
              <a:rPr lang="ru-RU" dirty="0" err="1"/>
              <a:t>Cloudflare</a:t>
            </a:r>
            <a:r>
              <a:rPr lang="ru-RU" dirty="0"/>
              <a:t>) быстрее внедрять новые алгоритмы управления трафиком без необходимости обновлять ядра миллионов устройств.</a:t>
            </a:r>
          </a:p>
          <a:p>
            <a:r>
              <a:rPr lang="ru-RU" b="1" dirty="0"/>
              <a:t>Почему QUIC работает поверх UDP?</a:t>
            </a:r>
          </a:p>
          <a:p>
            <a:r>
              <a:rPr lang="ru-RU" dirty="0"/>
              <a:t>QUIC не пытался заменить UDP (</a:t>
            </a:r>
            <a:r>
              <a:rPr lang="ru-RU" dirty="0" err="1"/>
              <a:t>User</a:t>
            </a:r>
            <a:r>
              <a:rPr lang="ru-RU" dirty="0"/>
              <a:t> </a:t>
            </a:r>
            <a:r>
              <a:rPr lang="ru-RU" dirty="0" err="1"/>
              <a:t>Datagram</a:t>
            </a:r>
            <a:r>
              <a:rPr lang="ru-RU" dirty="0"/>
              <a:t> </a:t>
            </a:r>
            <a:r>
              <a:rPr lang="ru-RU" dirty="0" err="1"/>
              <a:t>Protocol</a:t>
            </a:r>
            <a:r>
              <a:rPr lang="ru-RU" dirty="0"/>
              <a:t>), так как это потребовало бы изменения всей сетевой инфраструктуры (роутеры, </a:t>
            </a:r>
            <a:r>
              <a:rPr lang="ru-RU" dirty="0" err="1"/>
              <a:t>фаерволы</a:t>
            </a:r>
            <a:r>
              <a:rPr lang="ru-RU" dirty="0"/>
              <a:t>, NAT). Вместо этого QUIC работает поверх UDP.</a:t>
            </a:r>
          </a:p>
          <a:p>
            <a:pPr>
              <a:buFont typeface="Arial" panose="020B0604020202020204" pitchFamily="34" charset="0"/>
              <a:buChar char="•"/>
            </a:pPr>
            <a:r>
              <a:rPr lang="ru-RU" dirty="0"/>
              <a:t>Для сетевого оборудования UDP — это знакомый протокол, который просто пропускает пакеты дальше.</a:t>
            </a:r>
          </a:p>
          <a:p>
            <a:pPr>
              <a:buFont typeface="Arial" panose="020B0604020202020204" pitchFamily="34" charset="0"/>
              <a:buChar char="•"/>
            </a:pPr>
            <a:r>
              <a:rPr lang="ru-RU" dirty="0"/>
              <a:t>Всю логику надежности, упорядочивания, безопасности и мультиплексирования берет на себя уровень приложения.</a:t>
            </a:r>
          </a:p>
          <a:p>
            <a:r>
              <a:rPr lang="ru-RU" b="1" dirty="0"/>
              <a:t>Итог: замена или нет?</a:t>
            </a:r>
          </a:p>
          <a:p>
            <a:r>
              <a:rPr lang="ru-RU" dirty="0"/>
              <a:t>На сегодняшний день </a:t>
            </a:r>
            <a:r>
              <a:rPr lang="ru-RU" b="1" dirty="0"/>
              <a:t>QUIC не полностью заменяет TCP</a:t>
            </a:r>
            <a:r>
              <a:rPr lang="ru-RU" dirty="0"/>
              <a:t>, но заменяет его для основного трафика интернета (веб-серфинг, API, видео, </a:t>
            </a:r>
            <a:r>
              <a:rPr lang="ru-RU" dirty="0" err="1"/>
              <a:t>VoIP</a:t>
            </a:r>
            <a:r>
              <a:rPr lang="ru-RU" dirty="0"/>
              <a:t>):</a:t>
            </a:r>
          </a:p>
          <a:p>
            <a:pPr>
              <a:buFont typeface="Arial" panose="020B0604020202020204" pitchFamily="34" charset="0"/>
              <a:buChar char="•"/>
            </a:pPr>
            <a:r>
              <a:rPr lang="ru-RU" b="1" dirty="0"/>
              <a:t>HTTP/3</a:t>
            </a:r>
            <a:r>
              <a:rPr lang="ru-RU" dirty="0"/>
              <a:t> работает исключительно поверх QUIC.</a:t>
            </a:r>
          </a:p>
          <a:p>
            <a:pPr>
              <a:buFont typeface="Arial" panose="020B0604020202020204" pitchFamily="34" charset="0"/>
              <a:buChar char="•"/>
            </a:pPr>
            <a:r>
              <a:rPr lang="ru-RU" dirty="0"/>
              <a:t>По данным </a:t>
            </a:r>
            <a:r>
              <a:rPr lang="ru-RU" dirty="0" err="1"/>
              <a:t>Cloudflare</a:t>
            </a:r>
            <a:r>
              <a:rPr lang="ru-RU" dirty="0"/>
              <a:t> и </a:t>
            </a:r>
            <a:r>
              <a:rPr lang="ru-RU" dirty="0" err="1"/>
              <a:t>Google</a:t>
            </a:r>
            <a:r>
              <a:rPr lang="ru-RU" dirty="0"/>
              <a:t>, около </a:t>
            </a:r>
            <a:r>
              <a:rPr lang="ru-RU" b="1" dirty="0"/>
              <a:t>30–40% всего интернет-трафика</a:t>
            </a:r>
            <a:r>
              <a:rPr lang="ru-RU" dirty="0"/>
              <a:t> (по состоянию на 2024–2025 годы) уже использует QUIC.</a:t>
            </a:r>
          </a:p>
          <a:p>
            <a:pPr>
              <a:buFont typeface="Arial" panose="020B0604020202020204" pitchFamily="34" charset="0"/>
              <a:buChar char="•"/>
            </a:pPr>
            <a:r>
              <a:rPr lang="ru-RU" dirty="0"/>
              <a:t>TCP остается основным протоколом для трафика, где важна простота, старая совместимость (SMTP, SSH, старые VPN) или где требуется строгая фильтрация на корпоративных </a:t>
            </a:r>
            <a:r>
              <a:rPr lang="ru-RU" dirty="0" err="1"/>
              <a:t>фаервола</a:t>
            </a:r>
            <a:r>
              <a:rPr lang="ru-RU" dirty="0"/>
              <a:t>, которые еще не адаптированы под QUIC.</a:t>
            </a:r>
          </a:p>
          <a:p>
            <a:r>
              <a:rPr lang="ru-RU" b="1" dirty="0"/>
              <a:t>Вердикт:</a:t>
            </a:r>
            <a:r>
              <a:rPr lang="ru-RU" dirty="0"/>
              <a:t> QUIC — это транспортный протокол, спроектированный для современного интернета с высокими задержками, мобильностью и требованием к безопасности. Он решает проблемы «возраста» TCP, который был разработан в 1970-х годах, когда интернет был статичным и проводным.</a:t>
            </a:r>
          </a:p>
        </p:txBody>
      </p:sp>
    </p:spTree>
    <p:extLst>
      <p:ext uri="{BB962C8B-B14F-4D97-AF65-F5344CB8AC3E}">
        <p14:creationId xmlns:p14="http://schemas.microsoft.com/office/powerpoint/2010/main" val="127224610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3E8A33-CE8C-4586-BDFD-C5396083E492}"/>
              </a:ext>
            </a:extLst>
          </p:cNvPr>
          <p:cNvSpPr txBox="1"/>
          <p:nvPr/>
        </p:nvSpPr>
        <p:spPr>
          <a:xfrm>
            <a:off x="923926" y="783521"/>
            <a:ext cx="10515600" cy="4247317"/>
          </a:xfrm>
          <a:prstGeom prst="rect">
            <a:avLst/>
          </a:prstGeom>
          <a:noFill/>
        </p:spPr>
        <p:txBody>
          <a:bodyPr wrap="square">
            <a:spAutoFit/>
          </a:bodyPr>
          <a:lstStyle/>
          <a:p>
            <a:r>
              <a:rPr lang="ru-RU" b="1" dirty="0"/>
              <a:t>Что такое TCP </a:t>
            </a:r>
            <a:r>
              <a:rPr lang="ru-RU" b="1" dirty="0" err="1"/>
              <a:t>HoL</a:t>
            </a:r>
            <a:r>
              <a:rPr lang="ru-RU" b="1" dirty="0"/>
              <a:t> </a:t>
            </a:r>
            <a:r>
              <a:rPr lang="ru-RU" b="1" dirty="0" err="1"/>
              <a:t>blocking</a:t>
            </a:r>
            <a:r>
              <a:rPr lang="ru-RU" b="1" dirty="0"/>
              <a:t>?</a:t>
            </a:r>
          </a:p>
          <a:p>
            <a:r>
              <a:rPr lang="ru-RU" dirty="0"/>
              <a:t>TCP гарантирует надёжную и строго упорядоченную доставку байтового потока. Если в соединении передаётся несколько логических потоков данных (например, разные ресурсы веб-страницы), TCP «склеивает» их в один непрерывный поток.</a:t>
            </a:r>
          </a:p>
          <a:p>
            <a:r>
              <a:rPr lang="ru-RU" b="1" dirty="0"/>
              <a:t>Как возникает блокировка:</a:t>
            </a:r>
            <a:endParaRPr lang="ru-RU" dirty="0"/>
          </a:p>
          <a:p>
            <a:pPr>
              <a:buFont typeface="+mj-lt"/>
              <a:buAutoNum type="arabicPeriod"/>
            </a:pPr>
            <a:r>
              <a:rPr lang="ru-RU" dirty="0"/>
              <a:t>Отправляются пакеты с данными для потоков A, B, C.</a:t>
            </a:r>
          </a:p>
          <a:p>
            <a:pPr>
              <a:buFont typeface="+mj-lt"/>
              <a:buAutoNum type="arabicPeriod"/>
            </a:pPr>
            <a:r>
              <a:rPr lang="ru-RU" dirty="0"/>
              <a:t>Пакет потока A теряется в сети.</a:t>
            </a:r>
          </a:p>
          <a:p>
            <a:pPr>
              <a:buFont typeface="+mj-lt"/>
              <a:buAutoNum type="arabicPeriod"/>
            </a:pPr>
            <a:r>
              <a:rPr lang="ru-RU" dirty="0"/>
              <a:t>TCP не может передать полученные позже пакеты потоков B и C приложению, потому что они «обогнали» потерянный пакет A.</a:t>
            </a:r>
          </a:p>
          <a:p>
            <a:pPr>
              <a:buFont typeface="+mj-lt"/>
              <a:buAutoNum type="arabicPeriod"/>
            </a:pPr>
            <a:r>
              <a:rPr lang="ru-RU" dirty="0"/>
              <a:t>Приложение (браузер, приложение) </a:t>
            </a:r>
            <a:r>
              <a:rPr lang="ru-RU" b="1" dirty="0"/>
              <a:t>вынуждено ждать</a:t>
            </a:r>
            <a:r>
              <a:rPr lang="ru-RU" dirty="0"/>
              <a:t>, пока потерянный пакет A не будет повторно отправлен и принят.</a:t>
            </a:r>
          </a:p>
          <a:p>
            <a:pPr>
              <a:buFont typeface="+mj-lt"/>
              <a:buAutoNum type="arabicPeriod"/>
            </a:pPr>
            <a:r>
              <a:rPr lang="ru-RU" dirty="0"/>
              <a:t>Всё соединение «стоит», даже если данные для B и C уже полностью доступны в буфере ОС.</a:t>
            </a:r>
          </a:p>
          <a:p>
            <a:r>
              <a:rPr lang="ru-RU" dirty="0"/>
              <a:t>Это особенно заметно при использовании </a:t>
            </a:r>
            <a:r>
              <a:rPr lang="ru-RU" b="1" dirty="0"/>
              <a:t>HTTP/2</a:t>
            </a:r>
            <a:r>
              <a:rPr lang="ru-RU" dirty="0"/>
              <a:t> поверх TCP. Хотя HTTP/2 мультиплексирует запросы, на транспортном уровне все они идут в одном TCP-потоке. Потеря одного пакета задерживает все параллельные запросы — картинки, CSS, </a:t>
            </a:r>
            <a:r>
              <a:rPr lang="ru-RU" dirty="0" err="1"/>
              <a:t>JavaScript</a:t>
            </a:r>
            <a:r>
              <a:rPr lang="ru-RU" dirty="0"/>
              <a:t>.</a:t>
            </a:r>
          </a:p>
        </p:txBody>
      </p:sp>
    </p:spTree>
    <p:extLst>
      <p:ext uri="{BB962C8B-B14F-4D97-AF65-F5344CB8AC3E}">
        <p14:creationId xmlns:p14="http://schemas.microsoft.com/office/powerpoint/2010/main" val="292482631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ADAE51-7A56-47D5-843B-5082C0661122}"/>
              </a:ext>
            </a:extLst>
          </p:cNvPr>
          <p:cNvSpPr txBox="1"/>
          <p:nvPr/>
        </p:nvSpPr>
        <p:spPr>
          <a:xfrm>
            <a:off x="519112" y="455801"/>
            <a:ext cx="11153775" cy="5062924"/>
          </a:xfrm>
          <a:prstGeom prst="rect">
            <a:avLst/>
          </a:prstGeom>
          <a:noFill/>
        </p:spPr>
        <p:txBody>
          <a:bodyPr wrap="square">
            <a:spAutoFit/>
          </a:bodyPr>
          <a:lstStyle/>
          <a:p>
            <a:r>
              <a:rPr lang="ru-RU" sz="1700" b="1" dirty="0"/>
              <a:t>Как QUIC устраняет </a:t>
            </a:r>
            <a:r>
              <a:rPr lang="ru-RU" sz="1700" b="1" dirty="0" err="1"/>
              <a:t>HoL</a:t>
            </a:r>
            <a:r>
              <a:rPr lang="ru-RU" sz="1700" b="1" dirty="0"/>
              <a:t> </a:t>
            </a:r>
            <a:r>
              <a:rPr lang="ru-RU" sz="1700" b="1" dirty="0" err="1"/>
              <a:t>blocking</a:t>
            </a:r>
            <a:endParaRPr lang="ru-RU" sz="1700" b="1" dirty="0"/>
          </a:p>
          <a:p>
            <a:r>
              <a:rPr lang="ru-RU" sz="1700" dirty="0"/>
              <a:t>QUIC разделяет данные на </a:t>
            </a:r>
            <a:r>
              <a:rPr lang="ru-RU" sz="1700" b="1" dirty="0"/>
              <a:t>независимые потоки</a:t>
            </a:r>
            <a:r>
              <a:rPr lang="ru-RU" sz="1700" dirty="0"/>
              <a:t> на самом транспортном уровне. Каждый поток имеет свой порядковый номер и управление доставкой.</a:t>
            </a:r>
          </a:p>
          <a:p>
            <a:pPr>
              <a:buFont typeface="Arial" panose="020B0604020202020204" pitchFamily="34" charset="0"/>
              <a:buChar char="•"/>
            </a:pPr>
            <a:r>
              <a:rPr lang="ru-RU" sz="1700" dirty="0"/>
              <a:t>Потоки </a:t>
            </a:r>
            <a:r>
              <a:rPr lang="ru-RU" sz="1700" b="1" dirty="0"/>
              <a:t>не блокируют друг друга</a:t>
            </a:r>
            <a:r>
              <a:rPr lang="ru-RU" sz="1700" dirty="0"/>
              <a:t>. Если пакет потока 1 потерян, QUIC продолжает доставлять приложению уже полученные данные из потока 2, потока 3 и т.д.</a:t>
            </a:r>
          </a:p>
          <a:p>
            <a:pPr>
              <a:buFont typeface="Arial" panose="020B0604020202020204" pitchFamily="34" charset="0"/>
              <a:buChar char="•"/>
            </a:pPr>
            <a:r>
              <a:rPr lang="ru-RU" sz="1700" dirty="0"/>
              <a:t>Управление порядком доставки происходит </a:t>
            </a:r>
            <a:r>
              <a:rPr lang="ru-RU" sz="1700" b="1" dirty="0"/>
              <a:t>внутри каждого потока</a:t>
            </a:r>
            <a:r>
              <a:rPr lang="ru-RU" sz="1700" dirty="0"/>
              <a:t>, а не на уровне всего соединения.</a:t>
            </a:r>
          </a:p>
          <a:p>
            <a:pPr>
              <a:buFont typeface="Arial" panose="020B0604020202020204" pitchFamily="34" charset="0"/>
              <a:buChar char="•"/>
            </a:pPr>
            <a:r>
              <a:rPr lang="ru-RU" sz="1700" dirty="0"/>
              <a:t>Потерянный пакет затрагивает только тот поток, которому он принадлежит.</a:t>
            </a:r>
          </a:p>
          <a:p>
            <a:r>
              <a:rPr lang="ru-RU" sz="1700" b="1" dirty="0"/>
              <a:t>Дополнительные преимущества:</a:t>
            </a:r>
            <a:endParaRPr lang="ru-RU" sz="1700" dirty="0"/>
          </a:p>
          <a:p>
            <a:pPr>
              <a:buFont typeface="Arial" panose="020B0604020202020204" pitchFamily="34" charset="0"/>
              <a:buChar char="•"/>
            </a:pPr>
            <a:r>
              <a:rPr lang="ru-RU" sz="1700" dirty="0"/>
              <a:t>QUIC реализует </a:t>
            </a:r>
            <a:r>
              <a:rPr lang="ru-RU" sz="1700" b="1" dirty="0"/>
              <a:t>независимое управление потоком</a:t>
            </a:r>
            <a:r>
              <a:rPr lang="ru-RU" sz="1700" dirty="0"/>
              <a:t> (</a:t>
            </a:r>
            <a:r>
              <a:rPr lang="ru-RU" sz="1700" dirty="0" err="1"/>
              <a:t>flow</a:t>
            </a:r>
            <a:r>
              <a:rPr lang="ru-RU" sz="1700" dirty="0"/>
              <a:t> </a:t>
            </a:r>
            <a:r>
              <a:rPr lang="ru-RU" sz="1700" dirty="0" err="1"/>
              <a:t>control</a:t>
            </a:r>
            <a:r>
              <a:rPr lang="ru-RU" sz="1700" dirty="0"/>
              <a:t>) для каждого потока, что предотвращает ситуацию, когда один медленный поток «забивает» буферы всего соединения.</a:t>
            </a:r>
          </a:p>
          <a:p>
            <a:pPr>
              <a:buFont typeface="Arial" panose="020B0604020202020204" pitchFamily="34" charset="0"/>
              <a:buChar char="•"/>
            </a:pPr>
            <a:r>
              <a:rPr lang="ru-RU" sz="1700" dirty="0"/>
              <a:t>Мультиплексирование в QUIC заложено в спецификацию транспортного уровня, а не надстройкой, как HTTP/2 над TCP.</a:t>
            </a:r>
          </a:p>
          <a:p>
            <a:r>
              <a:rPr lang="ru-RU" sz="1700" b="1" dirty="0"/>
              <a:t>Важное уточнение: </a:t>
            </a:r>
            <a:r>
              <a:rPr lang="ru-RU" sz="1700" b="1" dirty="0" err="1"/>
              <a:t>HoL</a:t>
            </a:r>
            <a:r>
              <a:rPr lang="ru-RU" sz="1700" b="1" dirty="0"/>
              <a:t> блокировка бывает разной</a:t>
            </a:r>
          </a:p>
          <a:p>
            <a:pPr>
              <a:buFont typeface="+mj-lt"/>
              <a:buAutoNum type="arabicPeriod"/>
            </a:pPr>
            <a:r>
              <a:rPr lang="ru-RU" sz="1700" b="1" dirty="0"/>
              <a:t>На транспортном уровне</a:t>
            </a:r>
            <a:r>
              <a:rPr lang="ru-RU" sz="1700" dirty="0"/>
              <a:t> — устранена QUIC благодаря независимым потокам.</a:t>
            </a:r>
          </a:p>
          <a:p>
            <a:pPr>
              <a:buFont typeface="+mj-lt"/>
              <a:buAutoNum type="arabicPeriod"/>
            </a:pPr>
            <a:r>
              <a:rPr lang="ru-RU" sz="1700" b="1" dirty="0"/>
              <a:t>На уровне приложения</a:t>
            </a:r>
            <a:r>
              <a:rPr lang="ru-RU" sz="1700" dirty="0"/>
              <a:t> — если приложение само требует последовательной обработки (например, JPEG с прогрессивной загрузкой), оно всё равно может испытывать блокировку, но это уже не вина транспорта.</a:t>
            </a:r>
          </a:p>
          <a:p>
            <a:r>
              <a:rPr lang="ru-RU" sz="1700" dirty="0"/>
              <a:t>Также стоит отметить, что QUIC не устраняет </a:t>
            </a:r>
            <a:r>
              <a:rPr lang="ru-RU" sz="1700" b="1" dirty="0"/>
              <a:t>сетевую</a:t>
            </a:r>
            <a:r>
              <a:rPr lang="ru-RU" sz="1700" dirty="0"/>
              <a:t> головную блокировку, вызванную ограничениями буферов коммутаторов (</a:t>
            </a:r>
            <a:r>
              <a:rPr lang="ru-RU" sz="1700" dirty="0" err="1"/>
              <a:t>bufferbloat</a:t>
            </a:r>
            <a:r>
              <a:rPr lang="ru-RU" sz="1700" dirty="0"/>
              <a:t>), но это проблема другого рода, с которой борются алгоритмы управления перегрузкой (BBR, </a:t>
            </a:r>
            <a:r>
              <a:rPr lang="ru-RU" sz="1700" dirty="0" err="1"/>
              <a:t>Copa</a:t>
            </a:r>
            <a:r>
              <a:rPr lang="ru-RU" sz="1700" dirty="0"/>
              <a:t> и др.), которые в QUIC можно внедрять быстрее, чем в TCP.</a:t>
            </a:r>
          </a:p>
        </p:txBody>
      </p:sp>
      <p:sp>
        <p:nvSpPr>
          <p:cNvPr id="5" name="TextBox 4">
            <a:extLst>
              <a:ext uri="{FF2B5EF4-FFF2-40B4-BE49-F238E27FC236}">
                <a16:creationId xmlns:a16="http://schemas.microsoft.com/office/drawing/2014/main" id="{C180BB17-631C-48B6-B6D5-07EFF38C0DFF}"/>
              </a:ext>
            </a:extLst>
          </p:cNvPr>
          <p:cNvSpPr txBox="1"/>
          <p:nvPr/>
        </p:nvSpPr>
        <p:spPr>
          <a:xfrm>
            <a:off x="519112" y="5432763"/>
            <a:ext cx="10067925" cy="1200329"/>
          </a:xfrm>
          <a:prstGeom prst="rect">
            <a:avLst/>
          </a:prstGeom>
          <a:noFill/>
        </p:spPr>
        <p:txBody>
          <a:bodyPr wrap="square">
            <a:spAutoFit/>
          </a:bodyPr>
          <a:lstStyle/>
          <a:p>
            <a:r>
              <a:rPr lang="ru-RU" b="1" dirty="0"/>
              <a:t>TCP </a:t>
            </a:r>
            <a:r>
              <a:rPr lang="ru-RU" b="1" dirty="0" err="1"/>
              <a:t>HoL</a:t>
            </a:r>
            <a:r>
              <a:rPr lang="ru-RU" b="1" dirty="0"/>
              <a:t> </a:t>
            </a:r>
            <a:r>
              <a:rPr lang="ru-RU" b="1" dirty="0" err="1"/>
              <a:t>blocking</a:t>
            </a:r>
            <a:r>
              <a:rPr lang="ru-RU" dirty="0"/>
              <a:t> — это фундаментальное ограничение модели надёжного упорядоченного потока. QUIC обходит его, перенося управление надёжностью и порядком на уровень отдельных потоков внутри одного UDP-соединения. Именно это делает QUIC особенно эффективным для HTTP/3, </a:t>
            </a:r>
            <a:r>
              <a:rPr lang="ru-RU" dirty="0" err="1"/>
              <a:t>видеостриминга</a:t>
            </a:r>
            <a:r>
              <a:rPr lang="ru-RU" dirty="0"/>
              <a:t> и других приложений с параллельными передачами данных.</a:t>
            </a:r>
            <a:endParaRPr lang="en-US" dirty="0"/>
          </a:p>
        </p:txBody>
      </p:sp>
    </p:spTree>
    <p:extLst>
      <p:ext uri="{BB962C8B-B14F-4D97-AF65-F5344CB8AC3E}">
        <p14:creationId xmlns:p14="http://schemas.microsoft.com/office/powerpoint/2010/main" val="318457074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431216-0DC2-4349-98FB-EF5140E8A9FC}"/>
              </a:ext>
            </a:extLst>
          </p:cNvPr>
          <p:cNvSpPr txBox="1"/>
          <p:nvPr/>
        </p:nvSpPr>
        <p:spPr>
          <a:xfrm>
            <a:off x="566737" y="255776"/>
            <a:ext cx="11058525" cy="5632311"/>
          </a:xfrm>
          <a:prstGeom prst="rect">
            <a:avLst/>
          </a:prstGeom>
          <a:noFill/>
        </p:spPr>
        <p:txBody>
          <a:bodyPr wrap="square">
            <a:spAutoFit/>
          </a:bodyPr>
          <a:lstStyle/>
          <a:p>
            <a:r>
              <a:rPr lang="ru-RU" b="1" dirty="0"/>
              <a:t>Ускорение установки соединения в HTTP/3</a:t>
            </a:r>
            <a:r>
              <a:rPr lang="ru-RU" dirty="0"/>
              <a:t> — это одно из ключевых преимуществ протокола, достигаемое за счёт использования QUIC и встроенного TLS 1.3. Если сравнивать с классической связкой </a:t>
            </a:r>
            <a:r>
              <a:rPr lang="ru-RU" b="1" dirty="0"/>
              <a:t>HTTP/2 + TCP + TLS</a:t>
            </a:r>
            <a:r>
              <a:rPr lang="ru-RU" dirty="0"/>
              <a:t>, разница в количественных задержек (RTT) радикальна.</a:t>
            </a:r>
          </a:p>
          <a:p>
            <a:r>
              <a:rPr lang="ru-RU" b="1" dirty="0"/>
              <a:t>Традиционная схема (HTTP/2)</a:t>
            </a:r>
          </a:p>
          <a:p>
            <a:pPr>
              <a:buFont typeface="+mj-lt"/>
              <a:buAutoNum type="arabicPeriod"/>
            </a:pPr>
            <a:r>
              <a:rPr lang="ru-RU" b="1" dirty="0"/>
              <a:t>TCP </a:t>
            </a:r>
            <a:r>
              <a:rPr lang="ru-RU" b="1" dirty="0" err="1"/>
              <a:t>handshake</a:t>
            </a:r>
            <a:r>
              <a:rPr lang="ru-RU" dirty="0"/>
              <a:t> — 1 RTT (SYN, SYN-ACK).</a:t>
            </a:r>
          </a:p>
          <a:p>
            <a:pPr>
              <a:buFont typeface="+mj-lt"/>
              <a:buAutoNum type="arabicPeriod"/>
            </a:pPr>
            <a:r>
              <a:rPr lang="ru-RU" b="1" dirty="0"/>
              <a:t>TLS </a:t>
            </a:r>
            <a:r>
              <a:rPr lang="ru-RU" b="1" dirty="0" err="1"/>
              <a:t>handshake</a:t>
            </a:r>
            <a:r>
              <a:rPr lang="ru-RU" dirty="0"/>
              <a:t> (полный, без сокращений) — ещё 1–2 RTT (обмен ключами, проверка сертификата).</a:t>
            </a:r>
          </a:p>
          <a:p>
            <a:pPr>
              <a:buFont typeface="+mj-lt"/>
              <a:buAutoNum type="arabicPeriod"/>
            </a:pPr>
            <a:r>
              <a:rPr lang="ru-RU" b="1" dirty="0"/>
              <a:t>HTTP/2</a:t>
            </a:r>
            <a:r>
              <a:rPr lang="ru-RU" dirty="0"/>
              <a:t> может начать отправлять данные только после завершения обоих этапов.</a:t>
            </a:r>
          </a:p>
          <a:p>
            <a:r>
              <a:rPr lang="ru-RU" b="1" dirty="0"/>
              <a:t>Итого:</a:t>
            </a:r>
            <a:r>
              <a:rPr lang="ru-RU" dirty="0"/>
              <a:t> минимум </a:t>
            </a:r>
            <a:r>
              <a:rPr lang="ru-RU" b="1" dirty="0"/>
              <a:t>2–3 RTT</a:t>
            </a:r>
            <a:r>
              <a:rPr lang="ru-RU" dirty="0"/>
              <a:t> до момента, когда первый байт полезной нагрузки может быть отправлен.</a:t>
            </a:r>
          </a:p>
          <a:p>
            <a:r>
              <a:rPr lang="ru-RU" b="1" dirty="0"/>
              <a:t>Как HTTP/3 (QUIC) ускоряет установку</a:t>
            </a:r>
          </a:p>
          <a:p>
            <a:r>
              <a:rPr lang="ru-RU" dirty="0"/>
              <a:t>QUIC объединяет транспортное и криптографическое рукопожатие в один этап:</a:t>
            </a:r>
          </a:p>
          <a:p>
            <a:pPr>
              <a:buFont typeface="Arial" panose="020B0604020202020204" pitchFamily="34" charset="0"/>
              <a:buChar char="•"/>
            </a:pPr>
            <a:r>
              <a:rPr lang="ru-RU" b="1" dirty="0"/>
              <a:t>Первое соединение (1-RTT):</a:t>
            </a:r>
            <a:br>
              <a:rPr lang="ru-RU" dirty="0"/>
            </a:br>
            <a:r>
              <a:rPr lang="ru-RU" dirty="0"/>
              <a:t>Клиент отправляет «</a:t>
            </a:r>
            <a:r>
              <a:rPr lang="ru-RU" dirty="0" err="1"/>
              <a:t>Initial</a:t>
            </a:r>
            <a:r>
              <a:rPr lang="ru-RU" dirty="0"/>
              <a:t>» пакет, который содержит криптографические параметры (как в TLS 1.3). Сервер отвечает, и сразу после получения ответа клиент может отправлять зашифрованные данные.</a:t>
            </a:r>
            <a:br>
              <a:rPr lang="ru-RU" dirty="0"/>
            </a:br>
            <a:r>
              <a:rPr lang="ru-RU" i="1" dirty="0"/>
              <a:t>Фактически</a:t>
            </a:r>
            <a:r>
              <a:rPr lang="ru-RU" dirty="0"/>
              <a:t> — </a:t>
            </a:r>
            <a:r>
              <a:rPr lang="ru-RU" b="1" dirty="0"/>
              <a:t>1 RTT</a:t>
            </a:r>
            <a:r>
              <a:rPr lang="ru-RU" dirty="0"/>
              <a:t> до начала передачи данных.</a:t>
            </a:r>
          </a:p>
          <a:p>
            <a:pPr>
              <a:buFont typeface="Arial" panose="020B0604020202020204" pitchFamily="34" charset="0"/>
              <a:buChar char="•"/>
            </a:pPr>
            <a:r>
              <a:rPr lang="ru-RU" b="1" dirty="0"/>
              <a:t>Возобновление соединения (0-RTT):</a:t>
            </a:r>
            <a:br>
              <a:rPr lang="ru-RU" dirty="0"/>
            </a:br>
            <a:r>
              <a:rPr lang="ru-RU" dirty="0"/>
              <a:t>Если клиент уже соединялся с сервером ранее, он может кэшировать параметры сессии (</a:t>
            </a:r>
            <a:r>
              <a:rPr lang="ru-RU" dirty="0" err="1"/>
              <a:t>session</a:t>
            </a:r>
            <a:r>
              <a:rPr lang="ru-RU" dirty="0"/>
              <a:t> </a:t>
            </a:r>
            <a:r>
              <a:rPr lang="ru-RU" dirty="0" err="1"/>
              <a:t>ticket</a:t>
            </a:r>
            <a:r>
              <a:rPr lang="ru-RU" dirty="0"/>
              <a:t>, транспортные параметры). При повторном визите клиент отправляет </a:t>
            </a:r>
            <a:r>
              <a:rPr lang="ru-RU" b="1" dirty="0"/>
              <a:t>0-RTT данные</a:t>
            </a:r>
            <a:r>
              <a:rPr lang="ru-RU" dirty="0"/>
              <a:t> (например, HTTP-запрос) </a:t>
            </a:r>
            <a:r>
              <a:rPr lang="ru-RU" b="1" dirty="0"/>
              <a:t>вместе с первым пакетом рукопожатия</a:t>
            </a:r>
            <a:r>
              <a:rPr lang="ru-RU" dirty="0"/>
              <a:t>.</a:t>
            </a:r>
            <a:br>
              <a:rPr lang="ru-RU" dirty="0"/>
            </a:br>
            <a:r>
              <a:rPr lang="ru-RU" dirty="0"/>
              <a:t>Сервер обрабатывает запрос параллельно с проверкой сессии. Это даёт </a:t>
            </a:r>
            <a:r>
              <a:rPr lang="ru-RU" b="1" dirty="0"/>
              <a:t>нулевое ожидание</a:t>
            </a:r>
            <a:r>
              <a:rPr lang="ru-RU" dirty="0"/>
              <a:t> — клиент получает ответ уже через 1 RTT (сам запрос передан в первом пакете).</a:t>
            </a:r>
          </a:p>
        </p:txBody>
      </p:sp>
    </p:spTree>
    <p:extLst>
      <p:ext uri="{BB962C8B-B14F-4D97-AF65-F5344CB8AC3E}">
        <p14:creationId xmlns:p14="http://schemas.microsoft.com/office/powerpoint/2010/main" val="282747620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3F8DA5-E922-4FD0-A47F-B32BE825B661}"/>
              </a:ext>
            </a:extLst>
          </p:cNvPr>
          <p:cNvSpPr txBox="1"/>
          <p:nvPr/>
        </p:nvSpPr>
        <p:spPr>
          <a:xfrm>
            <a:off x="447675" y="274052"/>
            <a:ext cx="11163300" cy="5355312"/>
          </a:xfrm>
          <a:prstGeom prst="rect">
            <a:avLst/>
          </a:prstGeom>
          <a:noFill/>
        </p:spPr>
        <p:txBody>
          <a:bodyPr wrap="square">
            <a:spAutoFit/>
          </a:bodyPr>
          <a:lstStyle/>
          <a:p>
            <a:r>
              <a:rPr lang="ru-RU" b="1" dirty="0"/>
              <a:t>Почему это важно для реального интернета</a:t>
            </a:r>
          </a:p>
          <a:p>
            <a:pPr>
              <a:buFont typeface="Arial" panose="020B0604020202020204" pitchFamily="34" charset="0"/>
              <a:buChar char="•"/>
            </a:pPr>
            <a:r>
              <a:rPr lang="ru-RU" b="1" dirty="0"/>
              <a:t>Мобильные сети:</a:t>
            </a:r>
            <a:r>
              <a:rPr lang="ru-RU" dirty="0"/>
              <a:t> Высокая задержка (RTT 50–200 </a:t>
            </a:r>
            <a:r>
              <a:rPr lang="ru-RU" dirty="0" err="1"/>
              <a:t>мс</a:t>
            </a:r>
            <a:r>
              <a:rPr lang="ru-RU" dirty="0"/>
              <a:t>) — сокращение на 1–2 RTT даёт выигрыш в сотни миллисекунд, заметный для пользователя.</a:t>
            </a:r>
          </a:p>
          <a:p>
            <a:pPr>
              <a:buFont typeface="Arial" panose="020B0604020202020204" pitchFamily="34" charset="0"/>
              <a:buChar char="•"/>
            </a:pPr>
            <a:r>
              <a:rPr lang="ru-RU" b="1" dirty="0"/>
              <a:t>Множественные ресурсы:</a:t>
            </a:r>
            <a:r>
              <a:rPr lang="ru-RU" dirty="0"/>
              <a:t> При загрузке веб-страницы, где используются десятки запросов к одному серверу, повторные соединения (или миграция между сетями) становятся практически мгновенными благодаря 0-RTT.</a:t>
            </a:r>
          </a:p>
          <a:p>
            <a:pPr>
              <a:buFont typeface="Arial" panose="020B0604020202020204" pitchFamily="34" charset="0"/>
              <a:buChar char="•"/>
            </a:pPr>
            <a:r>
              <a:rPr lang="ru-RU" b="1" dirty="0"/>
              <a:t>API и потоковое видео:</a:t>
            </a:r>
            <a:r>
              <a:rPr lang="ru-RU" dirty="0"/>
              <a:t> Ускоренный старт уменьшает задержки начала воспроизведения (</a:t>
            </a:r>
            <a:r>
              <a:rPr lang="ru-RU" dirty="0" err="1"/>
              <a:t>time-to-first-byte</a:t>
            </a:r>
            <a:r>
              <a:rPr lang="ru-RU" dirty="0"/>
              <a:t>).</a:t>
            </a:r>
          </a:p>
          <a:p>
            <a:r>
              <a:rPr lang="ru-RU" b="1" dirty="0"/>
              <a:t>Особенности и ограничения 0-RTT</a:t>
            </a:r>
          </a:p>
          <a:p>
            <a:r>
              <a:rPr lang="ru-RU" dirty="0"/>
              <a:t>0-RTT в HTTP/3 — мощный инструмент, но он имеет компромиссы:</a:t>
            </a:r>
          </a:p>
          <a:p>
            <a:pPr>
              <a:buFont typeface="Arial" panose="020B0604020202020204" pitchFamily="34" charset="0"/>
              <a:buChar char="•"/>
            </a:pPr>
            <a:r>
              <a:rPr lang="ru-RU" b="1" dirty="0"/>
              <a:t>Потенциальная уязвимость к </a:t>
            </a:r>
            <a:r>
              <a:rPr lang="ru-RU" b="1" dirty="0" err="1"/>
              <a:t>replay</a:t>
            </a:r>
            <a:r>
              <a:rPr lang="ru-RU" b="1" dirty="0"/>
              <a:t>-атакам:</a:t>
            </a:r>
            <a:r>
              <a:rPr lang="ru-RU" dirty="0"/>
              <a:t> Злоумышленник может перехватить 0-RTT запрос и отправить его повторно. Поэтому безопасные для повтора методы, такие как GET, допускаются, а вот POST с изменением состояния может быть запрещён или требовать осторожного использования.</a:t>
            </a:r>
          </a:p>
          <a:p>
            <a:pPr>
              <a:buFont typeface="Arial" panose="020B0604020202020204" pitchFamily="34" charset="0"/>
              <a:buChar char="•"/>
            </a:pPr>
            <a:r>
              <a:rPr lang="ru-RU" b="1" dirty="0"/>
              <a:t>Неполная прямая секретность (PFS):</a:t>
            </a:r>
            <a:r>
              <a:rPr lang="ru-RU" dirty="0"/>
              <a:t> 0-RTT данные шифруются с использованием ранее согласованных ключей, поэтому если долговременный ключ сервера скомпрометирован, прошлые 0-RTT запросы могут быть расшифрованы. Для критичных операций приложения часто требуют полноценного 1-RTT рукопожатия.</a:t>
            </a:r>
          </a:p>
          <a:p>
            <a:endParaRPr lang="ru-RU" b="1" dirty="0"/>
          </a:p>
          <a:p>
            <a:r>
              <a:rPr lang="ru-RU" b="1" dirty="0"/>
              <a:t>HTTP/3 сокращает время установки соединения минимум вдвое по сравнению с HTTP/2</a:t>
            </a:r>
            <a:r>
              <a:rPr lang="ru-RU" dirty="0"/>
              <a:t> (с 2–3 RTT до 1 RTT для нового соединения и до 0 RTT для повторного). В сочетании с устранением головной блокировки (</a:t>
            </a:r>
            <a:r>
              <a:rPr lang="ru-RU" dirty="0" err="1"/>
              <a:t>HoL</a:t>
            </a:r>
            <a:r>
              <a:rPr lang="ru-RU" dirty="0"/>
              <a:t> </a:t>
            </a:r>
            <a:r>
              <a:rPr lang="ru-RU" dirty="0" err="1"/>
              <a:t>blocking</a:t>
            </a:r>
            <a:r>
              <a:rPr lang="ru-RU" dirty="0"/>
              <a:t>) и миграцией соединений это делает HTTP/3 самым быстрым и отзывчивым протоколом для современного интернета, особенно на мобильных устройствах и в условиях нестабильной сети.</a:t>
            </a:r>
          </a:p>
        </p:txBody>
      </p:sp>
    </p:spTree>
    <p:extLst>
      <p:ext uri="{BB962C8B-B14F-4D97-AF65-F5344CB8AC3E}">
        <p14:creationId xmlns:p14="http://schemas.microsoft.com/office/powerpoint/2010/main" val="40566663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58C9DD-B64F-4507-B7C8-A2BAADFE2620}"/>
              </a:ext>
            </a:extLst>
          </p:cNvPr>
          <p:cNvSpPr txBox="1"/>
          <p:nvPr/>
        </p:nvSpPr>
        <p:spPr>
          <a:xfrm>
            <a:off x="933449" y="188595"/>
            <a:ext cx="11001375" cy="3970318"/>
          </a:xfrm>
          <a:prstGeom prst="rect">
            <a:avLst/>
          </a:prstGeom>
          <a:noFill/>
        </p:spPr>
        <p:txBody>
          <a:bodyPr wrap="square">
            <a:spAutoFit/>
          </a:bodyPr>
          <a:lstStyle/>
          <a:p>
            <a:r>
              <a:rPr lang="ru-RU" b="1" dirty="0"/>
              <a:t>Лучшая работа в условиях смены сети</a:t>
            </a:r>
            <a:r>
              <a:rPr lang="ru-RU" dirty="0"/>
              <a:t> — это одно из ключевых преимуществ HTTP/3, реализованное на уровне транспортного протокола QUIC. Оно особенно важно для мобильных устройств, ноутбуков и любых клиентов, которые часто переключаются между </a:t>
            </a:r>
            <a:r>
              <a:rPr lang="ru-RU" dirty="0" err="1"/>
              <a:t>Wi-Fi</a:t>
            </a:r>
            <a:r>
              <a:rPr lang="ru-RU" dirty="0"/>
              <a:t>, сотовой сетью, VPN или меняют IP-адрес.</a:t>
            </a:r>
          </a:p>
          <a:p>
            <a:r>
              <a:rPr lang="ru-RU" b="1" dirty="0"/>
              <a:t>Проблема TCP и HTTP/2</a:t>
            </a:r>
          </a:p>
          <a:p>
            <a:r>
              <a:rPr lang="ru-RU" dirty="0"/>
              <a:t>В традиционной связке </a:t>
            </a:r>
            <a:r>
              <a:rPr lang="ru-RU" b="1" dirty="0"/>
              <a:t>TCP + TLS</a:t>
            </a:r>
            <a:r>
              <a:rPr lang="ru-RU" dirty="0"/>
              <a:t> соединение жёстко привязано к паре </a:t>
            </a:r>
            <a:r>
              <a:rPr lang="ru-RU" b="1" dirty="0"/>
              <a:t>«IP-адрес : порт»</a:t>
            </a:r>
            <a:r>
              <a:rPr lang="ru-RU" dirty="0"/>
              <a:t>.</a:t>
            </a:r>
            <a:br>
              <a:rPr lang="ru-RU" dirty="0"/>
            </a:br>
            <a:r>
              <a:rPr lang="ru-RU" dirty="0"/>
              <a:t>Когда устройство меняет сеть (например, выходит из дома и теряет </a:t>
            </a:r>
            <a:r>
              <a:rPr lang="ru-RU" dirty="0" err="1"/>
              <a:t>Wi-Fi</a:t>
            </a:r>
            <a:r>
              <a:rPr lang="ru-RU" dirty="0"/>
              <a:t>, переключаясь на 4G):</a:t>
            </a:r>
          </a:p>
          <a:p>
            <a:pPr>
              <a:buFont typeface="+mj-lt"/>
              <a:buAutoNum type="arabicPeriod"/>
            </a:pPr>
            <a:r>
              <a:rPr lang="ru-RU" dirty="0"/>
              <a:t>IP-адрес клиента изменяется.</a:t>
            </a:r>
          </a:p>
          <a:p>
            <a:pPr>
              <a:buFont typeface="+mj-lt"/>
              <a:buAutoNum type="arabicPeriod"/>
            </a:pPr>
            <a:r>
              <a:rPr lang="ru-RU" dirty="0"/>
              <a:t>TCP-соединение разрывается — сервер считает, что клиент исчез.</a:t>
            </a:r>
          </a:p>
          <a:p>
            <a:pPr>
              <a:buFont typeface="+mj-lt"/>
              <a:buAutoNum type="arabicPeriod"/>
            </a:pPr>
            <a:r>
              <a:rPr lang="ru-RU" dirty="0"/>
              <a:t>Приложение (видеозвонок, загрузка файла) вынуждено:</a:t>
            </a:r>
          </a:p>
          <a:p>
            <a:pPr marL="742950" lvl="1" indent="-285750">
              <a:buFont typeface="+mj-lt"/>
              <a:buAutoNum type="arabicPeriod"/>
            </a:pPr>
            <a:r>
              <a:rPr lang="ru-RU" dirty="0"/>
              <a:t>Обнаружить обрыв,</a:t>
            </a:r>
          </a:p>
          <a:p>
            <a:pPr marL="742950" lvl="1" indent="-285750">
              <a:buFont typeface="+mj-lt"/>
              <a:buAutoNum type="arabicPeriod"/>
            </a:pPr>
            <a:r>
              <a:rPr lang="ru-RU" dirty="0"/>
              <a:t>Установить новое TCP-соединение,</a:t>
            </a:r>
          </a:p>
          <a:p>
            <a:pPr marL="742950" lvl="1" indent="-285750">
              <a:buFont typeface="+mj-lt"/>
              <a:buAutoNum type="arabicPeriod"/>
            </a:pPr>
            <a:r>
              <a:rPr lang="ru-RU" dirty="0"/>
              <a:t>Выполнить повторное TLS-рукопожатие (2–3 RTT),</a:t>
            </a:r>
          </a:p>
          <a:p>
            <a:pPr marL="742950" lvl="1" indent="-285750">
              <a:buFont typeface="+mj-lt"/>
              <a:buAutoNum type="arabicPeriod"/>
            </a:pPr>
            <a:r>
              <a:rPr lang="ru-RU" dirty="0"/>
              <a:t>Восстановить состояние приложения.</a:t>
            </a:r>
          </a:p>
          <a:p>
            <a:r>
              <a:rPr lang="ru-RU" dirty="0"/>
              <a:t>Это приводит к заметным паузам, потере пакетов и ухудшению пользовательского опыта.</a:t>
            </a:r>
          </a:p>
        </p:txBody>
      </p:sp>
    </p:spTree>
    <p:extLst>
      <p:ext uri="{BB962C8B-B14F-4D97-AF65-F5344CB8AC3E}">
        <p14:creationId xmlns:p14="http://schemas.microsoft.com/office/powerpoint/2010/main" val="54493427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7119B0-E56F-40D7-82DC-AD47192F896C}"/>
              </a:ext>
            </a:extLst>
          </p:cNvPr>
          <p:cNvSpPr txBox="1"/>
          <p:nvPr/>
        </p:nvSpPr>
        <p:spPr>
          <a:xfrm>
            <a:off x="371474" y="0"/>
            <a:ext cx="11668126" cy="3231654"/>
          </a:xfrm>
          <a:prstGeom prst="rect">
            <a:avLst/>
          </a:prstGeom>
          <a:noFill/>
        </p:spPr>
        <p:txBody>
          <a:bodyPr wrap="square">
            <a:spAutoFit/>
          </a:bodyPr>
          <a:lstStyle/>
          <a:p>
            <a:r>
              <a:rPr lang="ru-RU" sz="1700" b="1" dirty="0"/>
              <a:t>Как QUIC (HTTP/3) решает эту проблему</a:t>
            </a:r>
          </a:p>
          <a:p>
            <a:r>
              <a:rPr lang="ru-RU" sz="1700" dirty="0"/>
              <a:t>QUIC вводит понятие </a:t>
            </a:r>
            <a:r>
              <a:rPr lang="ru-RU" sz="1700" b="1" dirty="0"/>
              <a:t>идентификатора соединения (</a:t>
            </a:r>
            <a:r>
              <a:rPr lang="ru-RU" sz="1700" b="1" dirty="0" err="1"/>
              <a:t>Connection</a:t>
            </a:r>
            <a:r>
              <a:rPr lang="ru-RU" sz="1700" b="1" dirty="0"/>
              <a:t> ID, CID)</a:t>
            </a:r>
            <a:r>
              <a:rPr lang="ru-RU" sz="1700" dirty="0"/>
              <a:t> — уникальной метки, которая не зависит от IP-адреса или порта.</a:t>
            </a:r>
          </a:p>
          <a:p>
            <a:pPr>
              <a:buFont typeface="Arial" panose="020B0604020202020204" pitchFamily="34" charset="0"/>
              <a:buChar char="•"/>
            </a:pPr>
            <a:r>
              <a:rPr lang="ru-RU" sz="1700" b="1" dirty="0"/>
              <a:t>Инициализация соединения:</a:t>
            </a:r>
            <a:r>
              <a:rPr lang="ru-RU" sz="1700" dirty="0"/>
              <a:t> при установке HTTP/3-сессии клиент и сервер согласовывают один или несколько CID.</a:t>
            </a:r>
          </a:p>
          <a:p>
            <a:pPr>
              <a:buFont typeface="Arial" panose="020B0604020202020204" pitchFamily="34" charset="0"/>
              <a:buChar char="•"/>
            </a:pPr>
            <a:r>
              <a:rPr lang="ru-RU" sz="1700" b="1" dirty="0"/>
              <a:t>Смена сети:</a:t>
            </a:r>
            <a:r>
              <a:rPr lang="ru-RU" sz="1700" dirty="0"/>
              <a:t> устройство получает новый IP-адрес. Клиент продолжает отправлять пакеты на сервер, используя тот же CID, но с нового IP.</a:t>
            </a:r>
          </a:p>
          <a:p>
            <a:pPr>
              <a:buFont typeface="Arial" panose="020B0604020202020204" pitchFamily="34" charset="0"/>
              <a:buChar char="•"/>
            </a:pPr>
            <a:r>
              <a:rPr lang="ru-RU" sz="1700" b="1" dirty="0"/>
              <a:t>Обнаружение миграции:</a:t>
            </a:r>
            <a:r>
              <a:rPr lang="ru-RU" sz="1700" dirty="0"/>
              <a:t> сервер получает пакет с новым IP, но знакомым CID. Он </a:t>
            </a:r>
            <a:r>
              <a:rPr lang="ru-RU" sz="1700" b="1" dirty="0"/>
              <a:t>не разрывает соединение</a:t>
            </a:r>
            <a:r>
              <a:rPr lang="ru-RU" sz="1700" dirty="0"/>
              <a:t>, а отправляет подтверждение (патч-валидацию) на новый адрес, чтобы убедиться, что клиент действительно контролирует этот адрес (защита от атак с подменой).</a:t>
            </a:r>
          </a:p>
          <a:p>
            <a:pPr>
              <a:buFont typeface="Arial" panose="020B0604020202020204" pitchFamily="34" charset="0"/>
              <a:buChar char="•"/>
            </a:pPr>
            <a:r>
              <a:rPr lang="ru-RU" sz="1700" b="1" dirty="0"/>
              <a:t>Продолжение передачи:</a:t>
            </a:r>
            <a:r>
              <a:rPr lang="ru-RU" sz="1700" dirty="0"/>
              <a:t> после короткого обмена служебными пакетами (обычно &lt; 1 RTT) передача данных возобновляется </a:t>
            </a:r>
            <a:r>
              <a:rPr lang="ru-RU" sz="1700" b="1" dirty="0"/>
              <a:t>без потери состояния</a:t>
            </a:r>
            <a:r>
              <a:rPr lang="ru-RU" sz="1700" dirty="0"/>
              <a:t> приложения, без повторного рукопожатия и без прерывания пользовательского сеанса.</a:t>
            </a:r>
          </a:p>
        </p:txBody>
      </p:sp>
      <p:sp>
        <p:nvSpPr>
          <p:cNvPr id="5" name="TextBox 4">
            <a:extLst>
              <a:ext uri="{FF2B5EF4-FFF2-40B4-BE49-F238E27FC236}">
                <a16:creationId xmlns:a16="http://schemas.microsoft.com/office/drawing/2014/main" id="{4D748858-AE2F-400D-9FB3-AAF8228B7132}"/>
              </a:ext>
            </a:extLst>
          </p:cNvPr>
          <p:cNvSpPr txBox="1"/>
          <p:nvPr/>
        </p:nvSpPr>
        <p:spPr>
          <a:xfrm>
            <a:off x="371474" y="3231654"/>
            <a:ext cx="11668127" cy="3493264"/>
          </a:xfrm>
          <a:prstGeom prst="rect">
            <a:avLst/>
          </a:prstGeom>
          <a:noFill/>
        </p:spPr>
        <p:txBody>
          <a:bodyPr wrap="square">
            <a:spAutoFit/>
          </a:bodyPr>
          <a:lstStyle/>
          <a:p>
            <a:r>
              <a:rPr lang="ru-RU" sz="1700" b="1" dirty="0"/>
              <a:t>Ключевые преимущества</a:t>
            </a:r>
          </a:p>
          <a:p>
            <a:pPr>
              <a:buFont typeface="+mj-lt"/>
              <a:buAutoNum type="arabicPeriod"/>
            </a:pPr>
            <a:r>
              <a:rPr lang="ru-RU" sz="1700" b="1" dirty="0"/>
              <a:t>Незаметность для пользователя</a:t>
            </a:r>
            <a:br>
              <a:rPr lang="ru-RU" sz="1700" dirty="0"/>
            </a:br>
            <a:r>
              <a:rPr lang="ru-RU" sz="1700" dirty="0"/>
              <a:t>Видеозвонок (</a:t>
            </a:r>
            <a:r>
              <a:rPr lang="ru-RU" sz="1700" dirty="0" err="1"/>
              <a:t>Zoom</a:t>
            </a:r>
            <a:r>
              <a:rPr lang="ru-RU" sz="1700" dirty="0"/>
              <a:t>, </a:t>
            </a:r>
            <a:r>
              <a:rPr lang="ru-RU" sz="1700" dirty="0" err="1"/>
              <a:t>WhatsApp</a:t>
            </a:r>
            <a:r>
              <a:rPr lang="ru-RU" sz="1700" dirty="0"/>
              <a:t>, </a:t>
            </a:r>
            <a:r>
              <a:rPr lang="ru-RU" sz="1700" dirty="0" err="1"/>
              <a:t>Google</a:t>
            </a:r>
            <a:r>
              <a:rPr lang="ru-RU" sz="1700" dirty="0"/>
              <a:t> </a:t>
            </a:r>
            <a:r>
              <a:rPr lang="ru-RU" sz="1700" dirty="0" err="1"/>
              <a:t>Meet</a:t>
            </a:r>
            <a:r>
              <a:rPr lang="ru-RU" sz="1700" dirty="0"/>
              <a:t>), загрузка файла, стриминг не прерываются при переключении между </a:t>
            </a:r>
            <a:r>
              <a:rPr lang="ru-RU" sz="1700" dirty="0" err="1"/>
              <a:t>Wi-Fi</a:t>
            </a:r>
            <a:r>
              <a:rPr lang="ru-RU" sz="1700" dirty="0"/>
              <a:t> и 5G.</a:t>
            </a:r>
          </a:p>
          <a:p>
            <a:pPr>
              <a:buFont typeface="+mj-lt"/>
              <a:buAutoNum type="arabicPeriod"/>
            </a:pPr>
            <a:r>
              <a:rPr lang="ru-RU" sz="1700" b="1" dirty="0"/>
              <a:t>Сохранение всех потоков и буферов</a:t>
            </a:r>
            <a:br>
              <a:rPr lang="ru-RU" sz="1700" dirty="0"/>
            </a:br>
            <a:r>
              <a:rPr lang="ru-RU" sz="1700" dirty="0"/>
              <a:t>Внутри соединения может быть десятки независимых потоков (например, разные вкладки браузера). Все они продолжают работу без переустановки.</a:t>
            </a:r>
          </a:p>
          <a:p>
            <a:pPr>
              <a:buFont typeface="+mj-lt"/>
              <a:buAutoNum type="arabicPeriod"/>
            </a:pPr>
            <a:r>
              <a:rPr lang="ru-RU" sz="1700" b="1" dirty="0"/>
              <a:t>Безопасная миграция</a:t>
            </a:r>
            <a:br>
              <a:rPr lang="ru-RU" sz="1700" dirty="0"/>
            </a:br>
            <a:r>
              <a:rPr lang="ru-RU" sz="1700" dirty="0"/>
              <a:t>Протокол включает механизм </a:t>
            </a:r>
            <a:r>
              <a:rPr lang="ru-RU" sz="1700" b="1" dirty="0" err="1"/>
              <a:t>path</a:t>
            </a:r>
            <a:r>
              <a:rPr lang="ru-RU" sz="1700" b="1" dirty="0"/>
              <a:t> </a:t>
            </a:r>
            <a:r>
              <a:rPr lang="ru-RU" sz="1700" b="1" dirty="0" err="1"/>
              <a:t>validation</a:t>
            </a:r>
            <a:r>
              <a:rPr lang="ru-RU" sz="1700" dirty="0"/>
              <a:t>: сервер отправляет на новый адрес клиента специальный токен, клиент возвращает его. Это предотвращает захват соединения злоумышленником, который попытался бы «увести» CID на свой IP.</a:t>
            </a:r>
          </a:p>
          <a:p>
            <a:pPr>
              <a:buFont typeface="+mj-lt"/>
              <a:buAutoNum type="arabicPeriod"/>
            </a:pPr>
            <a:r>
              <a:rPr lang="ru-RU" sz="1700" b="1" dirty="0"/>
              <a:t>Экономия времени и энергии</a:t>
            </a:r>
            <a:br>
              <a:rPr lang="ru-RU" sz="1700" dirty="0"/>
            </a:br>
            <a:r>
              <a:rPr lang="ru-RU" sz="1700" dirty="0"/>
              <a:t>Отсутствие необходимости в новом TLS-рукопожатии (которое на мобильных устройствах требует вычислений и потребляет батарею) снижает задержки и нагрузку на процессор.</a:t>
            </a:r>
          </a:p>
        </p:txBody>
      </p:sp>
    </p:spTree>
    <p:extLst>
      <p:ext uri="{BB962C8B-B14F-4D97-AF65-F5344CB8AC3E}">
        <p14:creationId xmlns:p14="http://schemas.microsoft.com/office/powerpoint/2010/main" val="210436060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3669F-51C4-49CA-8898-41640373A382}"/>
              </a:ext>
            </a:extLst>
          </p:cNvPr>
          <p:cNvSpPr txBox="1"/>
          <p:nvPr/>
        </p:nvSpPr>
        <p:spPr>
          <a:xfrm>
            <a:off x="352424" y="326827"/>
            <a:ext cx="11515726" cy="5632311"/>
          </a:xfrm>
          <a:prstGeom prst="rect">
            <a:avLst/>
          </a:prstGeom>
          <a:noFill/>
        </p:spPr>
        <p:txBody>
          <a:bodyPr wrap="square">
            <a:spAutoFit/>
          </a:bodyPr>
          <a:lstStyle/>
          <a:p>
            <a:r>
              <a:rPr lang="ru-RU" b="1" dirty="0"/>
              <a:t>Примеры использования</a:t>
            </a:r>
          </a:p>
          <a:p>
            <a:pPr>
              <a:buFont typeface="Arial" panose="020B0604020202020204" pitchFamily="34" charset="0"/>
              <a:buChar char="•"/>
            </a:pPr>
            <a:r>
              <a:rPr lang="ru-RU" b="1" dirty="0"/>
              <a:t>Мобильный браузер:</a:t>
            </a:r>
            <a:r>
              <a:rPr lang="ru-RU" dirty="0"/>
              <a:t> пользователь заходит в веб-приложение через </a:t>
            </a:r>
            <a:r>
              <a:rPr lang="ru-RU" dirty="0" err="1"/>
              <a:t>Wi-Fi</a:t>
            </a:r>
            <a:r>
              <a:rPr lang="ru-RU" dirty="0"/>
              <a:t>, выходит на улицу — соединение автоматически переключается на мобильные данные, страница продолжает загружаться, видео не останавливается.</a:t>
            </a:r>
          </a:p>
          <a:p>
            <a:pPr>
              <a:buFont typeface="Arial" panose="020B0604020202020204" pitchFamily="34" charset="0"/>
              <a:buChar char="•"/>
            </a:pPr>
            <a:r>
              <a:rPr lang="ru-RU" b="1" dirty="0"/>
              <a:t>VPN и роуминг:</a:t>
            </a:r>
            <a:r>
              <a:rPr lang="ru-RU" dirty="0"/>
              <a:t> при смене точки доступа или переключении между сотовыми вышками соединение остаётся устойчивым.</a:t>
            </a:r>
          </a:p>
          <a:p>
            <a:pPr>
              <a:buFont typeface="Arial" panose="020B0604020202020204" pitchFamily="34" charset="0"/>
              <a:buChar char="•"/>
            </a:pPr>
            <a:r>
              <a:rPr lang="ru-RU" b="1" dirty="0" err="1"/>
              <a:t>IoT</a:t>
            </a:r>
            <a:r>
              <a:rPr lang="ru-RU" b="1" dirty="0"/>
              <a:t> и автомобили:</a:t>
            </a:r>
            <a:r>
              <a:rPr lang="ru-RU" dirty="0"/>
              <a:t> устройства, движущиеся между точками доступа </a:t>
            </a:r>
            <a:r>
              <a:rPr lang="ru-RU" dirty="0" err="1"/>
              <a:t>Wi-Fi</a:t>
            </a:r>
            <a:r>
              <a:rPr lang="ru-RU" dirty="0"/>
              <a:t> или переходящие на сотовую связь, сохраняют сеансы связи.</a:t>
            </a:r>
          </a:p>
          <a:p>
            <a:r>
              <a:rPr lang="ru-RU" b="1" dirty="0"/>
              <a:t>Ограничения и нюансы</a:t>
            </a:r>
          </a:p>
          <a:p>
            <a:pPr>
              <a:buFont typeface="Arial" panose="020B0604020202020204" pitchFamily="34" charset="0"/>
              <a:buChar char="•"/>
            </a:pPr>
            <a:r>
              <a:rPr lang="ru-RU" b="1" dirty="0"/>
              <a:t>Поддержка на сервере и в сети:</a:t>
            </a:r>
            <a:r>
              <a:rPr lang="ru-RU" dirty="0"/>
              <a:t> не все серверы и межсетевые экраны (особенно корпоративные </a:t>
            </a:r>
            <a:r>
              <a:rPr lang="ru-RU" dirty="0" err="1"/>
              <a:t>фаерволы</a:t>
            </a:r>
            <a:r>
              <a:rPr lang="ru-RU" dirty="0"/>
              <a:t>, анализирующие трафик) корректно обрабатывают миграцию QUIC. Некоторые могут блокировать соединение при смене IP.</a:t>
            </a:r>
          </a:p>
          <a:p>
            <a:pPr>
              <a:buFont typeface="Arial" panose="020B0604020202020204" pitchFamily="34" charset="0"/>
              <a:buChar char="•"/>
            </a:pPr>
            <a:r>
              <a:rPr lang="ru-RU" b="1" dirty="0"/>
              <a:t>Время переключения:</a:t>
            </a:r>
            <a:r>
              <a:rPr lang="ru-RU" dirty="0"/>
              <a:t> хотя соединение не рвётся, кратковременная потеря пакетов во время смены сети всё же возможна, но QUIC быстро восстанавливает передачу без полной переустановки.</a:t>
            </a:r>
          </a:p>
          <a:p>
            <a:pPr>
              <a:buFont typeface="Arial" panose="020B0604020202020204" pitchFamily="34" charset="0"/>
              <a:buChar char="•"/>
            </a:pPr>
            <a:r>
              <a:rPr lang="ru-RU" b="1" dirty="0" err="1"/>
              <a:t>Path</a:t>
            </a:r>
            <a:r>
              <a:rPr lang="ru-RU" b="1" dirty="0"/>
              <a:t> </a:t>
            </a:r>
            <a:r>
              <a:rPr lang="ru-RU" b="1" dirty="0" err="1"/>
              <a:t>validation</a:t>
            </a:r>
            <a:r>
              <a:rPr lang="ru-RU" b="1" dirty="0"/>
              <a:t> добавляет 1 RTT</a:t>
            </a:r>
            <a:r>
              <a:rPr lang="ru-RU" dirty="0"/>
              <a:t> при первом использовании нового адреса, но это происходит только один раз за миграцию и не требует повторной аутентификации.</a:t>
            </a:r>
          </a:p>
          <a:p>
            <a:endParaRPr lang="ru-RU" b="1" dirty="0"/>
          </a:p>
          <a:p>
            <a:r>
              <a:rPr lang="ru-RU" dirty="0"/>
              <a:t>HTTP/3 (QUIC) обеспечивает </a:t>
            </a:r>
            <a:r>
              <a:rPr lang="ru-RU" b="1" dirty="0"/>
              <a:t>бесшовную работу при смене сети</a:t>
            </a:r>
            <a:r>
              <a:rPr lang="ru-RU" dirty="0"/>
              <a:t>, устраняя главный недостаток TCP — привязку к IP-адресу. Это делает его идеальным выбором для мобильных приложений, онлайн-коммуникаций и любых сервисов, где важна непрерывность соединения в условиях изменчивой сетевой среды.</a:t>
            </a:r>
          </a:p>
        </p:txBody>
      </p:sp>
    </p:spTree>
    <p:extLst>
      <p:ext uri="{BB962C8B-B14F-4D97-AF65-F5344CB8AC3E}">
        <p14:creationId xmlns:p14="http://schemas.microsoft.com/office/powerpoint/2010/main" val="256783114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7208D7-4918-4525-87AF-EBB45926DFCB}"/>
              </a:ext>
            </a:extLst>
          </p:cNvPr>
          <p:cNvSpPr txBox="1"/>
          <p:nvPr/>
        </p:nvSpPr>
        <p:spPr>
          <a:xfrm>
            <a:off x="523875" y="320159"/>
            <a:ext cx="6096000" cy="369332"/>
          </a:xfrm>
          <a:prstGeom prst="rect">
            <a:avLst/>
          </a:prstGeom>
          <a:noFill/>
        </p:spPr>
        <p:txBody>
          <a:bodyPr wrap="square">
            <a:spAutoFit/>
          </a:bodyPr>
          <a:lstStyle/>
          <a:p>
            <a:r>
              <a:rPr lang="ru-RU" b="1" dirty="0"/>
              <a:t>Основные особенности </a:t>
            </a:r>
            <a:r>
              <a:rPr lang="en-US" b="1" dirty="0"/>
              <a:t>HTTP/3</a:t>
            </a:r>
          </a:p>
        </p:txBody>
      </p:sp>
      <p:sp>
        <p:nvSpPr>
          <p:cNvPr id="4" name="Rectangle 1">
            <a:extLst>
              <a:ext uri="{FF2B5EF4-FFF2-40B4-BE49-F238E27FC236}">
                <a16:creationId xmlns:a16="http://schemas.microsoft.com/office/drawing/2014/main" id="{CFC1012F-43B0-414F-9870-3718260E58A5}"/>
              </a:ext>
            </a:extLst>
          </p:cNvPr>
          <p:cNvSpPr>
            <a:spLocks noChangeArrowheads="1"/>
          </p:cNvSpPr>
          <p:nvPr/>
        </p:nvSpPr>
        <p:spPr bwMode="auto">
          <a:xfrm>
            <a:off x="357186" y="788247"/>
            <a:ext cx="10953750" cy="1400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1. </a:t>
            </a:r>
            <a:r>
              <a:rPr kumimoji="0" lang="en-US" altLang="en-US" sz="1700" b="1" i="0" u="none" strike="noStrike" cap="none" normalizeH="0" baseline="0" dirty="0" err="1">
                <a:ln>
                  <a:noFill/>
                </a:ln>
                <a:solidFill>
                  <a:schemeClr val="tx1"/>
                </a:solidFill>
                <a:effectLst/>
                <a:latin typeface="Arial" panose="020B0604020202020204" pitchFamily="34" charset="0"/>
              </a:rPr>
              <a:t>Мультиплексирование</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без</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блокировок</a:t>
            </a: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err="1">
                <a:ln>
                  <a:noFill/>
                </a:ln>
                <a:solidFill>
                  <a:schemeClr val="tx1"/>
                </a:solidFill>
                <a:effectLst/>
                <a:latin typeface="Arial" panose="020B0604020202020204" pitchFamily="34" charset="0"/>
              </a:rPr>
              <a:t>Да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благодаря</a:t>
            </a:r>
            <a:r>
              <a:rPr kumimoji="0" lang="en-US" altLang="en-US" sz="1700" b="0" i="0" u="none" strike="noStrike" cap="none" normalizeH="0" baseline="0" dirty="0">
                <a:ln>
                  <a:noFill/>
                </a:ln>
                <a:solidFill>
                  <a:schemeClr val="tx1"/>
                </a:solidFill>
                <a:effectLst/>
                <a:latin typeface="Arial" panose="020B0604020202020204" pitchFamily="34" charset="0"/>
              </a:rPr>
              <a:t> QUIC </a:t>
            </a:r>
            <a:r>
              <a:rPr kumimoji="0" lang="en-US" altLang="en-US" sz="1700" b="0" i="0" u="none" strike="noStrike" cap="none" normalizeH="0" baseline="0" dirty="0" err="1">
                <a:ln>
                  <a:noFill/>
                </a:ln>
                <a:solidFill>
                  <a:schemeClr val="tx1"/>
                </a:solidFill>
                <a:effectLst/>
                <a:latin typeface="Arial" panose="020B0604020202020204" pitchFamily="34" charset="0"/>
              </a:rPr>
              <a:t>потоки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изолированы</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транспортном</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уровне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Однако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важно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понимать</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головная</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блокировка</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HoL</a:t>
            </a:r>
            <a:r>
              <a:rPr kumimoji="0" lang="en-US" altLang="en-US" sz="1700" b="1" i="0" u="none" strike="noStrike" cap="none" normalizeH="0" baseline="0" dirty="0">
                <a:ln>
                  <a:noFill/>
                </a:ln>
                <a:solidFill>
                  <a:schemeClr val="tx1"/>
                </a:solidFill>
                <a:effectLst/>
                <a:latin typeface="Arial" panose="020B0604020202020204" pitchFamily="34" charset="0"/>
              </a:rPr>
              <a:t> blocking) </a:t>
            </a:r>
            <a:r>
              <a:rPr kumimoji="0" lang="en-US" altLang="en-US" sz="1700" b="1" i="0" u="none" strike="noStrike" cap="none" normalizeH="0" baseline="0" dirty="0" err="1">
                <a:ln>
                  <a:noFill/>
                </a:ln>
                <a:solidFill>
                  <a:schemeClr val="tx1"/>
                </a:solidFill>
                <a:effectLst/>
                <a:latin typeface="Arial" panose="020B0604020202020204" pitchFamily="34" charset="0"/>
              </a:rPr>
              <a:t>полностью</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устранена</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только</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на</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транспортном</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уровне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Если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приложение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требует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последовательной</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обработки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данных</a:t>
            </a:r>
            <a:r>
              <a:rPr kumimoji="0" lang="en-US" altLang="en-US" sz="1700" b="0" i="0" u="none" strike="noStrike" cap="none" normalizeH="0" baseline="0" dirty="0">
                <a:ln>
                  <a:noFill/>
                </a:ln>
                <a:solidFill>
                  <a:schemeClr val="tx1"/>
                </a:solidFill>
                <a:effectLst/>
                <a:latin typeface="Arial" panose="020B0604020202020204" pitchFamily="34" charset="0"/>
              </a:rPr>
              <a:t> в </a:t>
            </a:r>
            <a:r>
              <a:rPr kumimoji="0" lang="en-US" altLang="en-US" sz="1700" b="0" i="0" u="none" strike="noStrike" cap="none" normalizeH="0" baseline="0" dirty="0" err="1">
                <a:ln>
                  <a:noFill/>
                </a:ln>
                <a:solidFill>
                  <a:schemeClr val="tx1"/>
                </a:solidFill>
                <a:effectLst/>
                <a:latin typeface="Arial" panose="020B0604020202020204" pitchFamily="34" charset="0"/>
              </a:rPr>
              <a:t>рамках</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одного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потока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кадры</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видео</a:t>
            </a:r>
            <a:r>
              <a:rPr kumimoji="0" lang="en-US" altLang="en-US" sz="1700" b="0" i="0" u="none" strike="noStrike" cap="none" normalizeH="0" baseline="0" dirty="0">
                <a:ln>
                  <a:noFill/>
                </a:ln>
                <a:solidFill>
                  <a:schemeClr val="tx1"/>
                </a:solidFill>
                <a:effectLst/>
                <a:latin typeface="Arial" panose="020B0604020202020204" pitchFamily="34" charset="0"/>
              </a:rPr>
              <a:t> в </a:t>
            </a:r>
            <a:r>
              <a:rPr kumimoji="0" lang="en-US" altLang="en-US" sz="1700" b="0" i="0" u="none" strike="noStrike" cap="none" normalizeH="0" baseline="0" dirty="0" err="1">
                <a:ln>
                  <a:noFill/>
                </a:ln>
                <a:solidFill>
                  <a:schemeClr val="tx1"/>
                </a:solidFill>
                <a:effectLst/>
                <a:latin typeface="Arial" panose="020B0604020202020204" pitchFamily="34" charset="0"/>
              </a:rPr>
              <a:t>одном</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потоке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то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блокировка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внутри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потока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сохраняется</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она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уже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затрагивает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остальные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потоки</a:t>
            </a:r>
            <a:r>
              <a:rPr kumimoji="0" lang="en-US" altLang="en-US" sz="1700" b="0" i="0" u="none" strike="noStrike" cap="none" normalizeH="0" baseline="0" dirty="0">
                <a:ln>
                  <a:noFill/>
                </a:ln>
                <a:solidFill>
                  <a:schemeClr val="tx1"/>
                </a:solidFill>
                <a:effectLst/>
                <a:latin typeface="Arial" panose="020B0604020202020204" pitchFamily="34" charset="0"/>
              </a:rPr>
              <a:t>.</a:t>
            </a:r>
          </a:p>
        </p:txBody>
      </p:sp>
      <p:sp>
        <p:nvSpPr>
          <p:cNvPr id="6" name="Rectangle 3">
            <a:extLst>
              <a:ext uri="{FF2B5EF4-FFF2-40B4-BE49-F238E27FC236}">
                <a16:creationId xmlns:a16="http://schemas.microsoft.com/office/drawing/2014/main" id="{CC6B80B7-2988-4B4C-A499-25895EBBAC6B}"/>
              </a:ext>
            </a:extLst>
          </p:cNvPr>
          <p:cNvSpPr>
            <a:spLocks noChangeArrowheads="1"/>
          </p:cNvSpPr>
          <p:nvPr/>
        </p:nvSpPr>
        <p:spPr bwMode="auto">
          <a:xfrm>
            <a:off x="266699" y="2384561"/>
            <a:ext cx="10953750" cy="1923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2. </a:t>
            </a:r>
            <a:r>
              <a:rPr kumimoji="0" lang="en-US" altLang="en-US" sz="1700" b="1" i="0" u="none" strike="noStrike" cap="none" normalizeH="0" baseline="0" dirty="0" err="1">
                <a:ln>
                  <a:noFill/>
                </a:ln>
                <a:solidFill>
                  <a:schemeClr val="tx1"/>
                </a:solidFill>
                <a:effectLst/>
                <a:latin typeface="Arial" panose="020B0604020202020204" pitchFamily="34" charset="0"/>
              </a:rPr>
              <a:t>Единый</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слой</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безопасности</a:t>
            </a: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err="1">
                <a:ln>
                  <a:noFill/>
                </a:ln>
                <a:solidFill>
                  <a:schemeClr val="tx1"/>
                </a:solidFill>
                <a:effectLst/>
                <a:latin typeface="Arial" panose="020B0604020202020204" pitchFamily="34" charset="0"/>
              </a:rPr>
              <a:t>Действительно</a:t>
            </a:r>
            <a:r>
              <a:rPr kumimoji="0" lang="en-US" altLang="en-US" sz="1700" b="0" i="0" u="none" strike="noStrike" cap="none" normalizeH="0" baseline="0" dirty="0">
                <a:ln>
                  <a:noFill/>
                </a:ln>
                <a:solidFill>
                  <a:schemeClr val="tx1"/>
                </a:solidFill>
                <a:effectLst/>
                <a:latin typeface="Arial" panose="020B0604020202020204" pitchFamily="34" charset="0"/>
              </a:rPr>
              <a:t>, QUIC </a:t>
            </a:r>
            <a:r>
              <a:rPr kumimoji="0" lang="en-US" altLang="en-US" sz="1700" b="0" i="0" u="none" strike="noStrike" cap="none" normalizeH="0" baseline="0" dirty="0" err="1">
                <a:ln>
                  <a:noFill/>
                </a:ln>
                <a:solidFill>
                  <a:schemeClr val="tx1"/>
                </a:solidFill>
                <a:effectLst/>
                <a:latin typeface="Arial" panose="020B0604020202020204" pitchFamily="34" charset="0"/>
              </a:rPr>
              <a:t>использует</a:t>
            </a:r>
            <a:r>
              <a:rPr kumimoji="0" lang="en-US" altLang="en-US" sz="1700" b="0" i="0" u="none" strike="noStrike" cap="none" normalizeH="0" baseline="0" dirty="0">
                <a:ln>
                  <a:noFill/>
                </a:ln>
                <a:solidFill>
                  <a:schemeClr val="tx1"/>
                </a:solidFill>
                <a:effectLst/>
                <a:latin typeface="Arial" panose="020B0604020202020204" pitchFamily="34" charset="0"/>
              </a:rPr>
              <a:t> TLS 1.3 и </a:t>
            </a:r>
            <a:r>
              <a:rPr kumimoji="0" lang="en-US" altLang="en-US" sz="1700" b="1" i="0" u="none" strike="noStrike" cap="none" normalizeH="0" baseline="0" dirty="0" err="1">
                <a:ln>
                  <a:noFill/>
                </a:ln>
                <a:solidFill>
                  <a:schemeClr val="tx1"/>
                </a:solidFill>
                <a:effectLst/>
                <a:latin typeface="Arial" panose="020B0604020202020204" pitchFamily="34" charset="0"/>
              </a:rPr>
              <a:t>не</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допускает</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незашифрованных</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соединений</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Это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повышает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приватность</a:t>
            </a:r>
            <a:r>
              <a:rPr kumimoji="0" lang="en-US" altLang="en-US" sz="1700" b="0" i="0" u="none" strike="noStrike" cap="none" normalizeH="0" baseline="0" dirty="0">
                <a:ln>
                  <a:noFill/>
                </a:ln>
                <a:solidFill>
                  <a:schemeClr val="tx1"/>
                </a:solidFill>
                <a:effectLst/>
                <a:latin typeface="Arial" panose="020B0604020202020204" pitchFamily="34" charset="0"/>
              </a:rPr>
              <a:t> и </a:t>
            </a:r>
            <a:r>
              <a:rPr kumimoji="0" lang="en-US" altLang="en-US" sz="1700" b="0" i="0" u="none" strike="noStrike" cap="none" normalizeH="0" baseline="0" dirty="0" err="1">
                <a:ln>
                  <a:noFill/>
                </a:ln>
                <a:solidFill>
                  <a:schemeClr val="tx1"/>
                </a:solidFill>
                <a:effectLst/>
                <a:latin typeface="Arial" panose="020B0604020202020204" pitchFamily="34" charset="0"/>
              </a:rPr>
              <a:t>безопасность</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создаёт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вызовы</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для</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корпоративных</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сетей</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традиционные</a:t>
            </a:r>
            <a:r>
              <a:rPr kumimoji="0" lang="en-US" altLang="en-US" sz="1700" b="0" i="0" u="none" strike="noStrike" cap="none" normalizeH="0" baseline="0" dirty="0">
                <a:ln>
                  <a:noFill/>
                </a:ln>
                <a:solidFill>
                  <a:schemeClr val="tx1"/>
                </a:solidFill>
                <a:effectLst/>
                <a:latin typeface="Arial" panose="020B0604020202020204" pitchFamily="34" charset="0"/>
              </a:rPr>
              <a:t> DPI-</a:t>
            </a:r>
            <a:r>
              <a:rPr kumimoji="0" lang="en-US" altLang="en-US" sz="1700" b="0" i="0" u="none" strike="noStrike" cap="none" normalizeH="0" baseline="0" dirty="0" err="1">
                <a:ln>
                  <a:noFill/>
                </a:ln>
                <a:solidFill>
                  <a:schemeClr val="tx1"/>
                </a:solidFill>
                <a:effectLst/>
                <a:latin typeface="Arial" panose="020B0604020202020204" pitchFamily="34" charset="0"/>
              </a:rPr>
              <a:t>решения</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которые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полагаются</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анализ</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незашифрованных</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заголовков</a:t>
            </a:r>
            <a:r>
              <a:rPr kumimoji="0" lang="en-US" altLang="en-US" sz="1700" b="0" i="0" u="none" strike="noStrike" cap="none" normalizeH="0" baseline="0" dirty="0">
                <a:ln>
                  <a:noFill/>
                </a:ln>
                <a:solidFill>
                  <a:schemeClr val="tx1"/>
                </a:solidFill>
                <a:effectLst/>
                <a:latin typeface="Arial" panose="020B0604020202020204" pitchFamily="34" charset="0"/>
              </a:rPr>
              <a:t> TCP, </a:t>
            </a:r>
            <a:r>
              <a:rPr kumimoji="0" lang="en-US" altLang="en-US" sz="1700" b="0" i="0" u="none" strike="noStrike" cap="none" normalizeH="0" baseline="0" dirty="0" err="1">
                <a:ln>
                  <a:noFill/>
                </a:ln>
                <a:solidFill>
                  <a:schemeClr val="tx1"/>
                </a:solidFill>
                <a:effectLst/>
                <a:latin typeface="Arial" panose="020B0604020202020204" pitchFamily="34" charset="0"/>
              </a:rPr>
              <a:t>не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работают</a:t>
            </a:r>
            <a:r>
              <a:rPr kumimoji="0" lang="en-US" altLang="en-US" sz="1700" b="0" i="0" u="none" strike="noStrike" cap="none" normalizeH="0" baseline="0" dirty="0">
                <a:ln>
                  <a:noFill/>
                </a:ln>
                <a:solidFill>
                  <a:schemeClr val="tx1"/>
                </a:solidFill>
                <a:effectLst/>
                <a:latin typeface="Arial" panose="020B0604020202020204" pitchFamily="34" charset="0"/>
              </a:rPr>
              <a:t> с QUIC. В </a:t>
            </a:r>
            <a:r>
              <a:rPr kumimoji="0" lang="en-US" altLang="en-US" sz="1700" b="0" i="0" u="none" strike="noStrike" cap="none" normalizeH="0" baseline="0" dirty="0" err="1">
                <a:ln>
                  <a:noFill/>
                </a:ln>
                <a:solidFill>
                  <a:schemeClr val="tx1"/>
                </a:solidFill>
                <a:effectLst/>
                <a:latin typeface="Arial" panose="020B0604020202020204" pitchFamily="34" charset="0"/>
              </a:rPr>
              <a:t>результате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многие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организации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вынуждены</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либо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блокировать</a:t>
            </a:r>
            <a:r>
              <a:rPr kumimoji="0" lang="en-US" altLang="en-US" sz="1700" b="0" i="0" u="none" strike="noStrike" cap="none" normalizeH="0" baseline="0" dirty="0">
                <a:ln>
                  <a:noFill/>
                </a:ln>
                <a:solidFill>
                  <a:schemeClr val="tx1"/>
                </a:solidFill>
                <a:effectLst/>
                <a:latin typeface="Arial" panose="020B0604020202020204" pitchFamily="34" charset="0"/>
              </a:rPr>
              <a:t> QUIC (</a:t>
            </a:r>
            <a:r>
              <a:rPr kumimoji="0" lang="en-US" altLang="en-US" sz="1700" b="0" i="0" u="none" strike="noStrike" cap="none" normalizeH="0" baseline="0" dirty="0" err="1">
                <a:ln>
                  <a:noFill/>
                </a:ln>
                <a:solidFill>
                  <a:schemeClr val="tx1"/>
                </a:solidFill>
                <a:effectLst/>
                <a:latin typeface="Arial" panose="020B0604020202020204" pitchFamily="34" charset="0"/>
              </a:rPr>
              <a:t>заставляя</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клиентов</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откатываться</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на</a:t>
            </a:r>
            <a:r>
              <a:rPr kumimoji="0" lang="en-US" altLang="en-US" sz="1700" b="0" i="0" u="none" strike="noStrike" cap="none" normalizeH="0" baseline="0" dirty="0">
                <a:ln>
                  <a:noFill/>
                </a:ln>
                <a:solidFill>
                  <a:schemeClr val="tx1"/>
                </a:solidFill>
                <a:effectLst/>
                <a:latin typeface="Arial" panose="020B0604020202020204" pitchFamily="34" charset="0"/>
              </a:rPr>
              <a:t> HTTP/2), </a:t>
            </a:r>
            <a:r>
              <a:rPr kumimoji="0" lang="en-US" altLang="en-US" sz="1700" b="0" i="0" u="none" strike="noStrike" cap="none" normalizeH="0" baseline="0" dirty="0" err="1">
                <a:ln>
                  <a:noFill/>
                </a:ln>
                <a:solidFill>
                  <a:schemeClr val="tx1"/>
                </a:solidFill>
                <a:effectLst/>
                <a:latin typeface="Arial" panose="020B0604020202020204" pitchFamily="34" charset="0"/>
              </a:rPr>
              <a:t>либо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внедрять</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специализированные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средства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мониторинга</a:t>
            </a:r>
            <a:r>
              <a:rPr kumimoji="0" lang="en-US" altLang="en-US" sz="1700" b="0" i="0" u="none" strike="noStrike" cap="none" normalizeH="0" baseline="0" dirty="0">
                <a:ln>
                  <a:noFill/>
                </a:ln>
                <a:solidFill>
                  <a:schemeClr val="tx1"/>
                </a:solidFill>
                <a:effectLst/>
                <a:latin typeface="Arial" panose="020B0604020202020204" pitchFamily="34" charset="0"/>
              </a:rPr>
              <a:t>.</a:t>
            </a:r>
          </a:p>
        </p:txBody>
      </p:sp>
      <p:sp>
        <p:nvSpPr>
          <p:cNvPr id="8" name="Rectangle 5">
            <a:extLst>
              <a:ext uri="{FF2B5EF4-FFF2-40B4-BE49-F238E27FC236}">
                <a16:creationId xmlns:a16="http://schemas.microsoft.com/office/drawing/2014/main" id="{CD551881-42F9-419E-8B7A-29A78CBD8928}"/>
              </a:ext>
            </a:extLst>
          </p:cNvPr>
          <p:cNvSpPr>
            <a:spLocks noChangeArrowheads="1"/>
          </p:cNvSpPr>
          <p:nvPr/>
        </p:nvSpPr>
        <p:spPr bwMode="auto">
          <a:xfrm>
            <a:off x="190499" y="4342513"/>
            <a:ext cx="11287125" cy="19236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1" i="0" u="none" strike="noStrike" cap="none" normalizeH="0" baseline="0" dirty="0">
                <a:ln>
                  <a:noFill/>
                </a:ln>
                <a:solidFill>
                  <a:schemeClr val="tx1"/>
                </a:solidFill>
                <a:effectLst/>
                <a:latin typeface="Arial" panose="020B0604020202020204" pitchFamily="34" charset="0"/>
              </a:rPr>
              <a:t>3. </a:t>
            </a:r>
            <a:r>
              <a:rPr kumimoji="0" lang="en-US" altLang="en-US" sz="1700" b="1" i="0" u="none" strike="noStrike" cap="none" normalizeH="0" baseline="0" dirty="0" err="1">
                <a:ln>
                  <a:noFill/>
                </a:ln>
                <a:solidFill>
                  <a:schemeClr val="tx1"/>
                </a:solidFill>
                <a:effectLst/>
                <a:latin typeface="Arial" panose="020B0604020202020204" pitchFamily="34" charset="0"/>
              </a:rPr>
              <a:t>Управление</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потоком</a:t>
            </a:r>
            <a:r>
              <a:rPr kumimoji="0" lang="en-US" altLang="en-US" sz="1700" b="1" i="0" u="none" strike="noStrike" cap="none" normalizeH="0" baseline="0" dirty="0">
                <a:ln>
                  <a:noFill/>
                </a:ln>
                <a:solidFill>
                  <a:schemeClr val="tx1"/>
                </a:solidFill>
                <a:effectLst/>
                <a:latin typeface="Arial" panose="020B0604020202020204" pitchFamily="34" charset="0"/>
              </a:rPr>
              <a:t> (flow control)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a:ln>
                  <a:noFill/>
                </a:ln>
                <a:solidFill>
                  <a:schemeClr val="tx1"/>
                </a:solidFill>
                <a:effectLst/>
                <a:latin typeface="Arial" panose="020B0604020202020204" pitchFamily="34" charset="0"/>
              </a:rPr>
              <a:t>QUIC </a:t>
            </a:r>
            <a:r>
              <a:rPr kumimoji="0" lang="en-US" altLang="en-US" sz="1700" b="0" i="0" u="none" strike="noStrike" cap="none" normalizeH="0" baseline="0" dirty="0" err="1">
                <a:ln>
                  <a:noFill/>
                </a:ln>
                <a:solidFill>
                  <a:schemeClr val="tx1"/>
                </a:solidFill>
                <a:effectLst/>
                <a:latin typeface="Arial" panose="020B0604020202020204" pitchFamily="34" charset="0"/>
              </a:rPr>
              <a:t>реализует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двухуровневое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управление</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err="1">
                <a:ln>
                  <a:noFill/>
                </a:ln>
                <a:solidFill>
                  <a:schemeClr val="tx1"/>
                </a:solidFill>
                <a:effectLst/>
                <a:latin typeface="Arial" panose="020B0604020202020204" pitchFamily="34" charset="0"/>
              </a:rPr>
              <a:t>На</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уровне</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соединения</a:t>
            </a:r>
            <a:r>
              <a:rPr kumimoji="0" lang="en-US" altLang="en-US" sz="1700" b="0" i="0" u="none" strike="noStrike" cap="none" normalizeH="0" baseline="0" dirty="0">
                <a:ln>
                  <a:noFill/>
                </a:ln>
                <a:solidFill>
                  <a:schemeClr val="tx1"/>
                </a:solidFill>
                <a:effectLst/>
                <a:latin typeface="Arial" panose="020B0604020202020204" pitchFamily="34" charset="0"/>
              </a:rPr>
              <a:t> — </a:t>
            </a:r>
            <a:r>
              <a:rPr kumimoji="0" lang="en-US" altLang="en-US" sz="1700" b="0" i="0" u="none" strike="noStrike" cap="none" normalizeH="0" baseline="0" dirty="0" err="1">
                <a:ln>
                  <a:noFill/>
                </a:ln>
                <a:solidFill>
                  <a:schemeClr val="tx1"/>
                </a:solidFill>
                <a:effectLst/>
                <a:latin typeface="Arial" panose="020B0604020202020204" pitchFamily="34" charset="0"/>
              </a:rPr>
              <a:t>общий</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лимит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буфера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для</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всех</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потоков</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700" b="1" i="0" u="none" strike="noStrike" cap="none" normalizeH="0" baseline="0" dirty="0" err="1">
                <a:ln>
                  <a:noFill/>
                </a:ln>
                <a:solidFill>
                  <a:schemeClr val="tx1"/>
                </a:solidFill>
                <a:effectLst/>
                <a:latin typeface="Arial" panose="020B0604020202020204" pitchFamily="34" charset="0"/>
              </a:rPr>
              <a:t>На</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уровне</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каждого</a:t>
            </a:r>
            <a:r>
              <a:rPr kumimoji="0" lang="en-US" altLang="en-US" sz="1700" b="1" i="0" u="none" strike="noStrike" cap="none" normalizeH="0" baseline="0" dirty="0">
                <a:ln>
                  <a:noFill/>
                </a:ln>
                <a:solidFill>
                  <a:schemeClr val="tx1"/>
                </a:solidFill>
                <a:effectLst/>
                <a:latin typeface="Arial" panose="020B0604020202020204" pitchFamily="34" charset="0"/>
              </a:rPr>
              <a:t> </a:t>
            </a:r>
            <a:r>
              <a:rPr kumimoji="0" lang="en-US" altLang="en-US" sz="1700" b="1" i="0" u="none" strike="noStrike" cap="none" normalizeH="0" baseline="0" dirty="0" err="1">
                <a:ln>
                  <a:noFill/>
                </a:ln>
                <a:solidFill>
                  <a:schemeClr val="tx1"/>
                </a:solidFill>
                <a:effectLst/>
                <a:latin typeface="Arial" panose="020B0604020202020204" pitchFamily="34" charset="0"/>
              </a:rPr>
              <a:t>потока</a:t>
            </a:r>
            <a:r>
              <a:rPr kumimoji="0" lang="en-US" altLang="en-US" sz="1700" b="0" i="0" u="none" strike="noStrike" cap="none" normalizeH="0" baseline="0" dirty="0">
                <a:ln>
                  <a:noFill/>
                </a:ln>
                <a:solidFill>
                  <a:schemeClr val="tx1"/>
                </a:solidFill>
                <a:effectLst/>
                <a:latin typeface="Arial" panose="020B0604020202020204" pitchFamily="34" charset="0"/>
              </a:rPr>
              <a:t> — </a:t>
            </a:r>
            <a:r>
              <a:rPr kumimoji="0" lang="en-US" altLang="en-US" sz="1700" b="0" i="0" u="none" strike="noStrike" cap="none" normalizeH="0" baseline="0" dirty="0" err="1">
                <a:ln>
                  <a:noFill/>
                </a:ln>
                <a:solidFill>
                  <a:schemeClr val="tx1"/>
                </a:solidFill>
                <a:effectLst/>
                <a:latin typeface="Arial" panose="020B0604020202020204" pitchFamily="34" charset="0"/>
              </a:rPr>
              <a:t>индивидуальные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окна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которые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можно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динамически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изменять</a:t>
            </a:r>
            <a:r>
              <a:rPr kumimoji="0" lang="en-US" altLang="en-US" sz="17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700" b="0" i="0" u="none" strike="noStrike" cap="none" normalizeH="0" baseline="0" dirty="0" err="1">
                <a:ln>
                  <a:noFill/>
                </a:ln>
                <a:solidFill>
                  <a:schemeClr val="tx1"/>
                </a:solidFill>
                <a:effectLst/>
                <a:latin typeface="Arial" panose="020B0604020202020204" pitchFamily="34" charset="0"/>
              </a:rPr>
              <a:t>Это</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позволяет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избежать</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ситуации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когда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один</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медленный</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поток</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исчерпывает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весь</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буфер</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соединения</a:t>
            </a:r>
            <a:r>
              <a:rPr kumimoji="0" lang="en-US" altLang="en-US" sz="1700" b="0" i="0" u="none" strike="noStrike" cap="none" normalizeH="0" baseline="0" dirty="0">
                <a:ln>
                  <a:noFill/>
                </a:ln>
                <a:solidFill>
                  <a:schemeClr val="tx1"/>
                </a:solidFill>
                <a:effectLst/>
                <a:latin typeface="Arial" panose="020B0604020202020204" pitchFamily="34" charset="0"/>
              </a:rPr>
              <a:t> и </a:t>
            </a:r>
            <a:r>
              <a:rPr kumimoji="0" lang="en-US" altLang="en-US" sz="1700" b="0" i="0" u="none" strike="noStrike" cap="none" normalizeH="0" baseline="0" dirty="0" err="1">
                <a:ln>
                  <a:noFill/>
                </a:ln>
                <a:solidFill>
                  <a:schemeClr val="tx1"/>
                </a:solidFill>
                <a:effectLst/>
                <a:latin typeface="Arial" panose="020B0604020202020204" pitchFamily="34" charset="0"/>
              </a:rPr>
              <a:t>блокирует</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остальные</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проблема</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существующая</a:t>
            </a:r>
            <a:r>
              <a:rPr kumimoji="0" lang="en-US" altLang="en-US" sz="1700" b="0" i="0" u="none" strike="noStrike" cap="none" normalizeH="0" baseline="0" dirty="0">
                <a:ln>
                  <a:noFill/>
                </a:ln>
                <a:solidFill>
                  <a:schemeClr val="tx1"/>
                </a:solidFill>
                <a:effectLst/>
                <a:latin typeface="Arial" panose="020B0604020202020204" pitchFamily="34" charset="0"/>
              </a:rPr>
              <a:t> в TCP </a:t>
            </a:r>
            <a:r>
              <a:rPr kumimoji="0" lang="en-US" altLang="en-US" sz="1700" b="0" i="0" u="none" strike="noStrike" cap="none" normalizeH="0" baseline="0" dirty="0" err="1">
                <a:ln>
                  <a:noFill/>
                </a:ln>
                <a:solidFill>
                  <a:schemeClr val="tx1"/>
                </a:solidFill>
                <a:effectLst/>
                <a:latin typeface="Arial" panose="020B0604020202020204" pitchFamily="34" charset="0"/>
              </a:rPr>
              <a:t>при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использовании</a:t>
            </a:r>
            <a:r>
              <a:rPr kumimoji="0" lang="en-US" altLang="en-US" sz="17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err="1">
                <a:ln>
                  <a:noFill/>
                </a:ln>
                <a:solidFill>
                  <a:schemeClr val="tx1"/>
                </a:solidFill>
                <a:effectLst/>
                <a:latin typeface="Arial" panose="020B0604020202020204" pitchFamily="34" charset="0"/>
              </a:rPr>
              <a:t>мультиплексирования</a:t>
            </a:r>
            <a:r>
              <a:rPr kumimoji="0" lang="en-US" altLang="en-US" sz="17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3163729601"/>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29BA2EA-7FB2-4DF6-95D1-FE158C9B4D98}"/>
              </a:ext>
            </a:extLst>
          </p:cNvPr>
          <p:cNvSpPr>
            <a:spLocks noChangeArrowheads="1"/>
          </p:cNvSpPr>
          <p:nvPr/>
        </p:nvSpPr>
        <p:spPr bwMode="auto">
          <a:xfrm>
            <a:off x="461962" y="263617"/>
            <a:ext cx="11096625"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4. </a:t>
            </a:r>
            <a:r>
              <a:rPr kumimoji="0" lang="en-US" altLang="en-US" b="1" i="0" u="none" strike="noStrike" cap="none" normalizeH="0" baseline="0" dirty="0" err="1">
                <a:ln>
                  <a:noFill/>
                </a:ln>
                <a:solidFill>
                  <a:schemeClr val="tx1"/>
                </a:solidFill>
                <a:effectLst/>
                <a:latin typeface="Arial" panose="020B0604020202020204" pitchFamily="34" charset="0"/>
              </a:rPr>
              <a:t>Приоритизация</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Здесь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важно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уточнить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HTTP/3 </a:t>
            </a:r>
            <a:r>
              <a:rPr kumimoji="0" lang="en-US" altLang="en-US" b="1" i="0" u="none" strike="noStrike" cap="none" normalizeH="0" baseline="0" dirty="0" err="1">
                <a:ln>
                  <a:noFill/>
                </a:ln>
                <a:solidFill>
                  <a:schemeClr val="tx1"/>
                </a:solidFill>
                <a:effectLst/>
                <a:latin typeface="Arial" panose="020B0604020202020204" pitchFamily="34" charset="0"/>
              </a:rPr>
              <a:t>не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использует</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механизм</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приоритетов</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унаследованный</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от</a:t>
            </a:r>
            <a:r>
              <a:rPr kumimoji="0" lang="en-US" altLang="en-US" b="1" i="0" u="none" strike="noStrike" cap="none" normalizeH="0" baseline="0" dirty="0">
                <a:ln>
                  <a:noFill/>
                </a:ln>
                <a:solidFill>
                  <a:schemeClr val="tx1"/>
                </a:solidFill>
                <a:effectLst/>
                <a:latin typeface="Arial" panose="020B0604020202020204" pitchFamily="34" charset="0"/>
              </a:rPr>
              <a:t> HTTP/2</a:t>
            </a:r>
            <a:r>
              <a:rPr kumimoji="0" lang="en-US" altLang="en-US" b="0" i="0" u="none" strike="noStrike" cap="none" normalizeH="0" baseline="0" dirty="0">
                <a:ln>
                  <a:noFill/>
                </a:ln>
                <a:solidFill>
                  <a:schemeClr val="tx1"/>
                </a:solidFill>
                <a:effectLst/>
                <a:latin typeface="Arial" panose="020B0604020202020204" pitchFamily="34" charset="0"/>
              </a:rPr>
              <a:t>.</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a:ln>
                  <a:noFill/>
                </a:ln>
                <a:solidFill>
                  <a:schemeClr val="tx1"/>
                </a:solidFill>
                <a:effectLst/>
                <a:latin typeface="Arial" panose="020B0604020202020204" pitchFamily="34" charset="0"/>
              </a:rPr>
              <a:t>HTTP/2 </a:t>
            </a:r>
            <a:r>
              <a:rPr kumimoji="0" lang="en-US" altLang="en-US" b="0" i="0" u="none" strike="noStrike" cap="none" normalizeH="0" baseline="0" dirty="0" err="1">
                <a:ln>
                  <a:noFill/>
                </a:ln>
                <a:solidFill>
                  <a:schemeClr val="tx1"/>
                </a:solidFill>
                <a:effectLst/>
                <a:latin typeface="Arial" panose="020B0604020202020204" pitchFamily="34" charset="0"/>
              </a:rPr>
              <a:t>использовал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древовидную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структуру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зависимостей</a:t>
            </a:r>
            <a:r>
              <a:rPr kumimoji="0" lang="en-US" altLang="en-US" b="0" i="0" u="none" strike="noStrike" cap="none" normalizeH="0" baseline="0" dirty="0">
                <a:ln>
                  <a:noFill/>
                </a:ln>
                <a:solidFill>
                  <a:schemeClr val="tx1"/>
                </a:solidFill>
                <a:effectLst/>
                <a:latin typeface="Arial" panose="020B0604020202020204" pitchFamily="34" charset="0"/>
              </a:rPr>
              <a:t> с </a:t>
            </a:r>
            <a:r>
              <a:rPr kumimoji="0" lang="en-US" altLang="en-US" b="0" i="0" u="none" strike="noStrike" cap="none" normalizeH="0" baseline="0" dirty="0" err="1">
                <a:ln>
                  <a:noFill/>
                </a:ln>
                <a:solidFill>
                  <a:schemeClr val="tx1"/>
                </a:solidFill>
                <a:effectLst/>
                <a:latin typeface="Arial" panose="020B0604020202020204" pitchFamily="34" charset="0"/>
              </a:rPr>
              <a:t>весами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которая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оказалась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сложной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корректной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реализации</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часто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приводила</a:t>
            </a:r>
            <a:r>
              <a:rPr kumimoji="0" lang="en-US" altLang="en-US" b="0" i="0" u="none" strike="noStrike" cap="none" normalizeH="0" baseline="0" dirty="0">
                <a:ln>
                  <a:noFill/>
                </a:ln>
                <a:solidFill>
                  <a:schemeClr val="tx1"/>
                </a:solidFill>
                <a:effectLst/>
                <a:latin typeface="Arial" panose="020B0604020202020204" pitchFamily="34" charset="0"/>
              </a:rPr>
              <a:t> к </a:t>
            </a:r>
            <a:r>
              <a:rPr kumimoji="0" lang="en-US" altLang="en-US" b="0" i="0" u="none" strike="noStrike" cap="none" normalizeH="0" baseline="0" dirty="0" err="1">
                <a:ln>
                  <a:noFill/>
                </a:ln>
                <a:solidFill>
                  <a:schemeClr val="tx1"/>
                </a:solidFill>
                <a:effectLst/>
                <a:latin typeface="Arial" panose="020B0604020202020204" pitchFamily="34" charset="0"/>
              </a:rPr>
              <a:t>непредсказуемому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поведению</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HTTP/3 </a:t>
            </a:r>
            <a:r>
              <a:rPr kumimoji="0" lang="en-US" altLang="en-US" b="1" i="0" u="none" strike="noStrike" cap="none" normalizeH="0" baseline="0" dirty="0" err="1">
                <a:ln>
                  <a:noFill/>
                </a:ln>
                <a:solidFill>
                  <a:schemeClr val="tx1"/>
                </a:solidFill>
                <a:effectLst/>
                <a:latin typeface="Arial" panose="020B0604020202020204" pitchFamily="34" charset="0"/>
              </a:rPr>
              <a:t>внедрил</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более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простую</a:t>
            </a:r>
            <a:r>
              <a:rPr kumimoji="0" lang="en-US" altLang="en-US" b="1" i="0" u="none" strike="noStrike" cap="none" normalizeH="0" baseline="0" dirty="0">
                <a:ln>
                  <a:noFill/>
                </a:ln>
                <a:solidFill>
                  <a:schemeClr val="tx1"/>
                </a:solidFill>
                <a:effectLst/>
                <a:latin typeface="Arial" panose="020B0604020202020204" pitchFamily="34" charset="0"/>
              </a:rPr>
              <a:t> и </a:t>
            </a:r>
            <a:r>
              <a:rPr kumimoji="0" lang="en-US" altLang="en-US" b="1" i="0" u="none" strike="noStrike" cap="none" normalizeH="0" baseline="0" dirty="0" err="1">
                <a:ln>
                  <a:noFill/>
                </a:ln>
                <a:solidFill>
                  <a:schemeClr val="tx1"/>
                </a:solidFill>
                <a:effectLst/>
                <a:latin typeface="Arial" panose="020B0604020202020204" pitchFamily="34" charset="0"/>
              </a:rPr>
              <a:t>гибкую</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систему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описанную</a:t>
            </a:r>
            <a:r>
              <a:rPr kumimoji="0" lang="en-US" altLang="en-US" b="0" i="0" u="none" strike="noStrike" cap="none" normalizeH="0" baseline="0" dirty="0">
                <a:ln>
                  <a:noFill/>
                </a:ln>
                <a:solidFill>
                  <a:schemeClr val="tx1"/>
                </a:solidFill>
                <a:effectLst/>
                <a:latin typeface="Arial" panose="020B0604020202020204" pitchFamily="34" charset="0"/>
              </a:rPr>
              <a:t> в RFC 9218), </a:t>
            </a:r>
            <a:r>
              <a:rPr kumimoji="0" lang="en-US" altLang="en-US" b="0" i="0" u="none" strike="noStrike" cap="none" normalizeH="0" baseline="0" dirty="0" err="1">
                <a:ln>
                  <a:noFill/>
                </a:ln>
                <a:solidFill>
                  <a:schemeClr val="tx1"/>
                </a:solidFill>
                <a:effectLst/>
                <a:latin typeface="Arial" panose="020B0604020202020204" pitchFamily="34" charset="0"/>
              </a:rPr>
              <a:t>основанную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явных</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приоритетах</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Каждому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потоку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назначается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urgency</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срочность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a:t>
            </a:r>
            <a:r>
              <a:rPr kumimoji="0" lang="en-US" altLang="en-US" b="0" i="0" u="none" strike="noStrike" cap="none" normalizeH="0" baseline="0" dirty="0">
                <a:ln>
                  <a:noFill/>
                </a:ln>
                <a:solidFill>
                  <a:schemeClr val="tx1"/>
                </a:solidFill>
                <a:effectLst/>
                <a:latin typeface="Arial" panose="020B0604020202020204" pitchFamily="34" charset="0"/>
              </a:rPr>
              <a:t> 0 </a:t>
            </a:r>
            <a:r>
              <a:rPr kumimoji="0" lang="en-US" altLang="en-US" b="0" i="0" u="none" strike="noStrike" cap="none" normalizeH="0" baseline="0" dirty="0" err="1">
                <a:ln>
                  <a:noFill/>
                </a:ln>
                <a:solidFill>
                  <a:schemeClr val="tx1"/>
                </a:solidFill>
                <a:effectLst/>
                <a:latin typeface="Arial" panose="020B0604020202020204" pitchFamily="34" charset="0"/>
              </a:rPr>
              <a:t>до</a:t>
            </a:r>
            <a:r>
              <a:rPr kumimoji="0" lang="en-US" altLang="en-US" b="0" i="0" u="none" strike="noStrike" cap="none" normalizeH="0" baseline="0" dirty="0">
                <a:ln>
                  <a:noFill/>
                </a:ln>
                <a:solidFill>
                  <a:schemeClr val="tx1"/>
                </a:solidFill>
                <a:effectLst/>
                <a:latin typeface="Arial" panose="020B0604020202020204" pitchFamily="34" charset="0"/>
              </a:rPr>
              <a:t> 7.</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Опционально</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1" i="0" u="none" strike="noStrike" cap="none" normalizeH="0" baseline="0" dirty="0">
                <a:ln>
                  <a:noFill/>
                </a:ln>
                <a:solidFill>
                  <a:schemeClr val="tx1"/>
                </a:solidFill>
                <a:effectLst/>
                <a:latin typeface="Arial" panose="020B0604020202020204" pitchFamily="34" charset="0"/>
              </a:rPr>
              <a:t>incremental</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флаг</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указывающий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можно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обрабатывать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поток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частям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он</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неделим</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Серверы</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клиенты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могут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динамически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изменять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приоритеты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даже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после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начала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передачи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особенно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важно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веб-страниц</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где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интерактивные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элементы</a:t>
            </a:r>
            <a:r>
              <a:rPr kumimoji="0" lang="en-US" altLang="en-US" b="0" i="0" u="none" strike="noStrike" cap="none" normalizeH="0" baseline="0" dirty="0">
                <a:ln>
                  <a:noFill/>
                </a:ln>
                <a:solidFill>
                  <a:schemeClr val="tx1"/>
                </a:solidFill>
                <a:effectLst/>
                <a:latin typeface="Arial" panose="020B0604020202020204" pitchFamily="34" charset="0"/>
              </a:rPr>
              <a:t> (API, CSS) </a:t>
            </a:r>
            <a:r>
              <a:rPr kumimoji="0" lang="en-US" altLang="en-US" b="0" i="0" u="none" strike="noStrike" cap="none" normalizeH="0" baseline="0" dirty="0" err="1">
                <a:ln>
                  <a:noFill/>
                </a:ln>
                <a:solidFill>
                  <a:schemeClr val="tx1"/>
                </a:solidFill>
                <a:effectLst/>
                <a:latin typeface="Arial" panose="020B0604020202020204" pitchFamily="34" charset="0"/>
              </a:rPr>
              <a:t>должны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иметь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более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высокий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приоритет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чем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изображения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аналитика</a:t>
            </a:r>
            <a:r>
              <a:rPr kumimoji="0" lang="en-US" altLang="en-US" b="0" i="0" u="none" strike="noStrike" cap="none" normalizeH="0" baseline="0" dirty="0">
                <a:ln>
                  <a:noFill/>
                </a:ln>
                <a:solidFill>
                  <a:schemeClr val="tx1"/>
                </a:solidFill>
                <a:effectLst/>
                <a:latin typeface="Arial" panose="020B0604020202020204" pitchFamily="34" charset="0"/>
              </a:rPr>
              <a:t>.</a:t>
            </a:r>
          </a:p>
        </p:txBody>
      </p:sp>
      <p:sp>
        <p:nvSpPr>
          <p:cNvPr id="4" name="Rectangle 3">
            <a:extLst>
              <a:ext uri="{FF2B5EF4-FFF2-40B4-BE49-F238E27FC236}">
                <a16:creationId xmlns:a16="http://schemas.microsoft.com/office/drawing/2014/main" id="{07A3CA00-850C-4DD6-867E-405EA6F8F155}"/>
              </a:ext>
            </a:extLst>
          </p:cNvPr>
          <p:cNvSpPr>
            <a:spLocks noChangeArrowheads="1"/>
          </p:cNvSpPr>
          <p:nvPr/>
        </p:nvSpPr>
        <p:spPr bwMode="auto">
          <a:xfrm>
            <a:off x="461963" y="3956936"/>
            <a:ext cx="11268075"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HTTP/3 —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просто</a:t>
            </a:r>
            <a:r>
              <a:rPr kumimoji="0" lang="en-US" altLang="en-US" b="0" i="0" u="none" strike="noStrike" cap="none" normalizeH="0" baseline="0" dirty="0">
                <a:ln>
                  <a:noFill/>
                </a:ln>
                <a:solidFill>
                  <a:schemeClr val="tx1"/>
                </a:solidFill>
                <a:effectLst/>
                <a:latin typeface="Arial" panose="020B0604020202020204" pitchFamily="34" charset="0"/>
              </a:rPr>
              <a:t> «HTTP/2 </a:t>
            </a:r>
            <a:r>
              <a:rPr kumimoji="0" lang="en-US" altLang="en-US" b="0" i="0" u="none" strike="noStrike" cap="none" normalizeH="0" baseline="0" dirty="0" err="1">
                <a:ln>
                  <a:noFill/>
                </a:ln>
                <a:solidFill>
                  <a:schemeClr val="tx1"/>
                </a:solidFill>
                <a:effectLst/>
                <a:latin typeface="Arial" panose="020B0604020202020204" pitchFamily="34" charset="0"/>
              </a:rPr>
              <a:t>поверх</a:t>
            </a:r>
            <a:r>
              <a:rPr kumimoji="0" lang="en-US" altLang="en-US" b="0" i="0" u="none" strike="noStrike" cap="none" normalizeH="0" baseline="0" dirty="0">
                <a:ln>
                  <a:noFill/>
                </a:ln>
                <a:solidFill>
                  <a:schemeClr val="tx1"/>
                </a:solidFill>
                <a:effectLst/>
                <a:latin typeface="Arial" panose="020B0604020202020204" pitchFamily="34" charset="0"/>
              </a:rPr>
              <a:t> UDP», а </a:t>
            </a:r>
            <a:r>
              <a:rPr kumimoji="0" lang="en-US" altLang="en-US" b="0" i="0" u="none" strike="noStrike" cap="none" normalizeH="0" baseline="0" dirty="0" err="1">
                <a:ln>
                  <a:noFill/>
                </a:ln>
                <a:solidFill>
                  <a:schemeClr val="tx1"/>
                </a:solidFill>
                <a:effectLst/>
                <a:latin typeface="Arial" panose="020B0604020202020204" pitchFamily="34" charset="0"/>
              </a:rPr>
              <a:t>тщательно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переработанный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стек</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котором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каждый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механизм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мультиплексирование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безопасность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управление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потоком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приоритизация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спроектирован</a:t>
            </a:r>
            <a:r>
              <a:rPr kumimoji="0" lang="en-US" altLang="en-US" b="0" i="0" u="none" strike="noStrike" cap="none" normalizeH="0" baseline="0" dirty="0">
                <a:ln>
                  <a:noFill/>
                </a:ln>
                <a:solidFill>
                  <a:schemeClr val="tx1"/>
                </a:solidFill>
                <a:effectLst/>
                <a:latin typeface="Arial" panose="020B0604020202020204" pitchFamily="34" charset="0"/>
              </a:rPr>
              <a:t> с </a:t>
            </a:r>
            <a:r>
              <a:rPr kumimoji="0" lang="en-US" altLang="en-US" b="0" i="0" u="none" strike="noStrike" cap="none" normalizeH="0" baseline="0" dirty="0" err="1">
                <a:ln>
                  <a:noFill/>
                </a:ln>
                <a:solidFill>
                  <a:schemeClr val="tx1"/>
                </a:solidFill>
                <a:effectLst/>
                <a:latin typeface="Arial" panose="020B0604020202020204" pitchFamily="34" charset="0"/>
              </a:rPr>
              <a:t>учётом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уроков</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извлечённых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эксплуатации</a:t>
            </a:r>
            <a:r>
              <a:rPr kumimoji="0" lang="en-US" altLang="en-US" b="0" i="0" u="none" strike="noStrike" cap="none" normalizeH="0" baseline="0" dirty="0">
                <a:ln>
                  <a:noFill/>
                </a:ln>
                <a:solidFill>
                  <a:schemeClr val="tx1"/>
                </a:solidFill>
                <a:effectLst/>
                <a:latin typeface="Arial" panose="020B0604020202020204" pitchFamily="34" charset="0"/>
              </a:rPr>
              <a:t> HTTP/2 и TCP. </a:t>
            </a:r>
            <a:r>
              <a:rPr kumimoji="0" lang="en-US" altLang="en-US" b="0" i="0" u="none" strike="noStrike" cap="none" normalizeH="0" baseline="0" dirty="0" err="1">
                <a:ln>
                  <a:noFill/>
                </a:ln>
                <a:solidFill>
                  <a:schemeClr val="tx1"/>
                </a:solidFill>
                <a:effectLst/>
                <a:latin typeface="Arial" panose="020B0604020202020204" pitchFamily="34" charset="0"/>
              </a:rPr>
              <a:t>Перечисленные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вами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особенности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действительно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составляют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его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фундамент</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8410805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913B21-A5A0-48DF-B65B-EB8C978E1024}"/>
              </a:ext>
            </a:extLst>
          </p:cNvPr>
          <p:cNvSpPr txBox="1"/>
          <p:nvPr/>
        </p:nvSpPr>
        <p:spPr>
          <a:xfrm>
            <a:off x="866775" y="1016496"/>
            <a:ext cx="10810875" cy="4708981"/>
          </a:xfrm>
          <a:prstGeom prst="rect">
            <a:avLst/>
          </a:prstGeom>
          <a:noFill/>
        </p:spPr>
        <p:txBody>
          <a:bodyPr wrap="square">
            <a:spAutoFit/>
          </a:bodyPr>
          <a:lstStyle/>
          <a:p>
            <a:r>
              <a:rPr lang="ru-RU" sz="2000" b="1" dirty="0"/>
              <a:t>QPACK</a:t>
            </a:r>
            <a:r>
              <a:rPr lang="ru-RU" sz="2000" dirty="0"/>
              <a:t> — это механизм сжатия заголовков для HTTP/3, адаптированный к особенностям QUIC. Он выполняет ту же функцию, что и </a:t>
            </a:r>
            <a:r>
              <a:rPr lang="ru-RU" sz="2000" b="1" dirty="0"/>
              <a:t>HPACK</a:t>
            </a:r>
            <a:r>
              <a:rPr lang="ru-RU" sz="2000" dirty="0"/>
              <a:t> в HTTP/2 (сжатие имён и значений заголовков для уменьшения накладных расходов), но принципиально переработан, чтобы работать в условиях мультиплексирования независимых потоков без головной блокировки.</a:t>
            </a:r>
          </a:p>
          <a:p>
            <a:r>
              <a:rPr lang="ru-RU" sz="2000" b="1" dirty="0"/>
              <a:t>Почему HPACK не подошёл для HTTP/3</a:t>
            </a:r>
          </a:p>
          <a:p>
            <a:r>
              <a:rPr lang="ru-RU" sz="2000" dirty="0"/>
              <a:t>HPACK в HTTP/2 опирается на </a:t>
            </a:r>
            <a:r>
              <a:rPr lang="ru-RU" sz="2000" b="1" dirty="0"/>
              <a:t>строгую упорядоченность доставки</a:t>
            </a:r>
            <a:r>
              <a:rPr lang="ru-RU" sz="2000" dirty="0"/>
              <a:t> в рамках одного TCP-соединения. Сжатие использует динамическую таблицу, которая синхронизируется между клиентом и сервером через последовательные кадры. Если какой-то кадр потерян, все последующие кадры, ссылающиеся на динамическую таблицу, не могут быть обработаны до тех пор, пока потеря не будет восстановлена. В HTTP/2 это не создаёт проблемы, потому что TCP сам обеспечивает порядок.</a:t>
            </a:r>
          </a:p>
          <a:p>
            <a:r>
              <a:rPr lang="ru-RU" sz="2000" dirty="0"/>
              <a:t>В QUIC потоки независимы, и кадры из разных потоков могут приходить в любом порядке. Использование HPACK привело бы к </a:t>
            </a:r>
            <a:r>
              <a:rPr lang="ru-RU" sz="2000" b="1" dirty="0"/>
              <a:t>головной блокировке на уровне сжатия заголовков</a:t>
            </a:r>
            <a:r>
              <a:rPr lang="ru-RU" sz="2000" dirty="0"/>
              <a:t>: потеря кадра с обновлением таблицы могла бы остановить декодирование заголовков во всех потоках, даже если сами данные потоков целы.</a:t>
            </a:r>
          </a:p>
        </p:txBody>
      </p:sp>
    </p:spTree>
    <p:extLst>
      <p:ext uri="{BB962C8B-B14F-4D97-AF65-F5344CB8AC3E}">
        <p14:creationId xmlns:p14="http://schemas.microsoft.com/office/powerpoint/2010/main" val="4047472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3D0D34-4BF5-4ACF-8E0A-33338092DBD0}"/>
              </a:ext>
            </a:extLst>
          </p:cNvPr>
          <p:cNvSpPr>
            <a:spLocks noChangeArrowheads="1"/>
          </p:cNvSpPr>
          <p:nvPr/>
        </p:nvSpPr>
        <p:spPr bwMode="auto">
          <a:xfrm>
            <a:off x="666750" y="333137"/>
            <a:ext cx="10267950" cy="652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err="1">
                <a:ln>
                  <a:noFill/>
                </a:ln>
                <a:solidFill>
                  <a:schemeClr val="tx1"/>
                </a:solidFill>
                <a:effectLst/>
                <a:latin typeface="Arial" panose="020B0604020202020204" pitchFamily="34" charset="0"/>
              </a:rPr>
              <a:t>Архитектура</a:t>
            </a:r>
            <a:r>
              <a:rPr kumimoji="0" lang="en-US" altLang="en-US" sz="2000" b="1" i="0" u="none" strike="noStrike" cap="none" normalizeH="0" baseline="0" dirty="0">
                <a:ln>
                  <a:noFill/>
                </a:ln>
                <a:solidFill>
                  <a:schemeClr val="tx1"/>
                </a:solidFill>
                <a:effectLst/>
                <a:latin typeface="Arial" panose="020B0604020202020204" pitchFamily="34" charset="0"/>
              </a:rPr>
              <a:t> QPACK</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QPACK </a:t>
            </a:r>
            <a:r>
              <a:rPr kumimoji="0" lang="en-US" altLang="en-US" sz="2000" b="0" i="0" u="none" strike="noStrike" cap="none" normalizeH="0" baseline="0" dirty="0" err="1">
                <a:ln>
                  <a:noFill/>
                </a:ln>
                <a:solidFill>
                  <a:schemeClr val="tx1"/>
                </a:solidFill>
                <a:effectLst/>
                <a:latin typeface="Arial" panose="020B0604020202020204" pitchFamily="34" charset="0"/>
              </a:rPr>
              <a:t>решает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эту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проблему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вынося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управление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таблицами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отдельные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потоки</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позволяя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ссылаться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записи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динамической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таблицы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асинхронно</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000" b="1" i="0" u="none" strike="noStrike" cap="none" normalizeH="0" baseline="0" dirty="0" err="1">
                <a:ln>
                  <a:noFill/>
                </a:ln>
                <a:solidFill>
                  <a:schemeClr val="tx1"/>
                </a:solidFill>
                <a:effectLst/>
                <a:latin typeface="Arial" panose="020B0604020202020204" pitchFamily="34" charset="0"/>
              </a:rPr>
              <a:t>Два</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управляющих</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потока</a:t>
            </a:r>
            <a:r>
              <a:rPr kumimoji="0" lang="en-US" altLang="en-US" sz="2000" b="1" i="0" u="none" strike="noStrike" cap="none" normalizeH="0" baseline="0" dirty="0">
                <a:ln>
                  <a:noFill/>
                </a:ln>
                <a:solidFill>
                  <a:schemeClr val="tx1"/>
                </a:solidFill>
                <a:effectLst/>
                <a:latin typeface="Arial" panose="020B0604020202020204" pitchFamily="34" charset="0"/>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Encoder stream</a:t>
            </a:r>
            <a:r>
              <a:rPr kumimoji="0" lang="en-US" altLang="en-US" sz="2000" b="0" i="0" u="none" strike="noStrike" cap="none" normalizeH="0" baseline="0" dirty="0">
                <a:ln>
                  <a:noFill/>
                </a:ln>
                <a:solidFill>
                  <a:schemeClr val="tx1"/>
                </a:solidFill>
                <a:effectLst/>
                <a:latin typeface="Arial" panose="020B0604020202020204" pitchFamily="34" charset="0"/>
              </a:rPr>
              <a:t> — </a:t>
            </a:r>
            <a:r>
              <a:rPr kumimoji="0" lang="en-US" altLang="en-US" sz="2000" b="0" i="0" u="none" strike="noStrike" cap="none" normalizeH="0" baseline="0" dirty="0" err="1">
                <a:ln>
                  <a:noFill/>
                </a:ln>
                <a:solidFill>
                  <a:schemeClr val="tx1"/>
                </a:solidFill>
                <a:effectLst/>
                <a:latin typeface="Arial" panose="020B0604020202020204" pitchFamily="34" charset="0"/>
              </a:rPr>
              <a:t>отправляется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кодировщика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сервера</a:t>
            </a:r>
            <a:r>
              <a:rPr kumimoji="0" lang="en-US" altLang="en-US" sz="2000" b="0" i="0" u="none" strike="noStrike" cap="none" normalizeH="0" baseline="0" dirty="0">
                <a:ln>
                  <a:noFill/>
                </a:ln>
                <a:solidFill>
                  <a:schemeClr val="tx1"/>
                </a:solidFill>
                <a:effectLst/>
                <a:latin typeface="Arial" panose="020B0604020202020204" pitchFamily="34" charset="0"/>
              </a:rPr>
              <a:t>) к </a:t>
            </a:r>
            <a:r>
              <a:rPr kumimoji="0" lang="en-US" altLang="en-US" sz="2000" b="0" i="0" u="none" strike="noStrike" cap="none" normalizeH="0" baseline="0" dirty="0" err="1">
                <a:ln>
                  <a:noFill/>
                </a:ln>
                <a:solidFill>
                  <a:schemeClr val="tx1"/>
                </a:solidFill>
                <a:effectLst/>
                <a:latin typeface="Arial" panose="020B0604020202020204" pitchFamily="34" charset="0"/>
              </a:rPr>
              <a:t>декодировщику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клиенту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Содержит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инструкции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изменению</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динамической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таблицы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добавление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обновление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удаление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записей</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Decoder stream</a:t>
            </a:r>
            <a:r>
              <a:rPr kumimoji="0" lang="en-US" altLang="en-US" sz="2000" b="0" i="0" u="none" strike="noStrike" cap="none" normalizeH="0" baseline="0" dirty="0">
                <a:ln>
                  <a:noFill/>
                </a:ln>
                <a:solidFill>
                  <a:schemeClr val="tx1"/>
                </a:solidFill>
                <a:effectLst/>
                <a:latin typeface="Arial" panose="020B0604020202020204" pitchFamily="34" charset="0"/>
              </a:rPr>
              <a:t> — </a:t>
            </a:r>
            <a:r>
              <a:rPr kumimoji="0" lang="en-US" altLang="en-US" sz="2000" b="0" i="0" u="none" strike="noStrike" cap="none" normalizeH="0" baseline="0" dirty="0" err="1">
                <a:ln>
                  <a:noFill/>
                </a:ln>
                <a:solidFill>
                  <a:schemeClr val="tx1"/>
                </a:solidFill>
                <a:effectLst/>
                <a:latin typeface="Arial" panose="020B0604020202020204" pitchFamily="34" charset="0"/>
              </a:rPr>
              <a:t>обратный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которому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декодировщик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сообщает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кодировщику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какие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записи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таблицы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были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успешно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применены</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отправляет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сигналы</a:t>
            </a:r>
            <a:r>
              <a:rPr kumimoji="0" lang="en-US" altLang="en-US" sz="2000" b="0" i="0" u="none" strike="noStrike" cap="none" normalizeH="0" baseline="0" dirty="0">
                <a:ln>
                  <a:noFill/>
                </a:ln>
                <a:solidFill>
                  <a:schemeClr val="tx1"/>
                </a:solidFill>
                <a:effectLst/>
                <a:latin typeface="Arial" panose="020B0604020202020204" pitchFamily="34" charset="0"/>
              </a:rPr>
              <a:t> о </a:t>
            </a:r>
            <a:r>
              <a:rPr kumimoji="0" lang="en-US" altLang="en-US" sz="2000" b="0" i="0" u="none" strike="noStrike" cap="none" normalizeH="0" baseline="0" dirty="0" err="1">
                <a:ln>
                  <a:noFill/>
                </a:ln>
                <a:solidFill>
                  <a:schemeClr val="tx1"/>
                </a:solidFill>
                <a:effectLst/>
                <a:latin typeface="Arial" panose="020B0604020202020204" pitchFamily="34" charset="0"/>
              </a:rPr>
              <a:t>проблемах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невозможность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обработать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ссылку</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000" b="1" i="0" u="none" strike="noStrike" cap="none" normalizeH="0" baseline="0" dirty="0" err="1">
                <a:ln>
                  <a:noFill/>
                </a:ln>
                <a:solidFill>
                  <a:schemeClr val="tx1"/>
                </a:solidFill>
                <a:effectLst/>
                <a:latin typeface="Arial" panose="020B0604020202020204" pitchFamily="34" charset="0"/>
              </a:rPr>
              <a:t>Два</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типа</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ссылок</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на</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динамическую</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таблицу</a:t>
            </a:r>
            <a:r>
              <a:rPr kumimoji="0" lang="en-US" altLang="en-US" sz="2000" b="1" i="0" u="none" strike="noStrike" cap="none" normalizeH="0" baseline="0" dirty="0">
                <a:ln>
                  <a:noFill/>
                </a:ln>
                <a:solidFill>
                  <a:schemeClr val="tx1"/>
                </a:solidFill>
                <a:effectLst/>
                <a:latin typeface="Arial" panose="020B0604020202020204" pitchFamily="34" charset="0"/>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Base-indexed references</a:t>
            </a:r>
            <a:r>
              <a:rPr kumimoji="0" lang="en-US" altLang="en-US" sz="2000" b="0" i="0" u="none" strike="noStrike" cap="none" normalizeH="0" baseline="0" dirty="0">
                <a:ln>
                  <a:noFill/>
                </a:ln>
                <a:solidFill>
                  <a:schemeClr val="tx1"/>
                </a:solidFill>
                <a:effectLst/>
                <a:latin typeface="Arial" panose="020B0604020202020204" pitchFamily="34" charset="0"/>
              </a:rPr>
              <a:t> — </a:t>
            </a:r>
            <a:r>
              <a:rPr kumimoji="0" lang="en-US" altLang="en-US" sz="2000" b="0" i="0" u="none" strike="noStrike" cap="none" normalizeH="0" baseline="0" dirty="0" err="1">
                <a:ln>
                  <a:noFill/>
                </a:ln>
                <a:solidFill>
                  <a:schemeClr val="tx1"/>
                </a:solidFill>
                <a:effectLst/>
                <a:latin typeface="Arial" panose="020B0604020202020204" pitchFamily="34" charset="0"/>
              </a:rPr>
              <a:t>используются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когда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есть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уверенность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запись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уже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известна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декодировщику</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Кодировщик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отслеживает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подтверждения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через</a:t>
            </a:r>
            <a:r>
              <a:rPr kumimoji="0" lang="en-US" altLang="en-US" sz="2000" b="0" i="0" u="none" strike="noStrike" cap="none" normalizeH="0" baseline="0" dirty="0">
                <a:ln>
                  <a:noFill/>
                </a:ln>
                <a:solidFill>
                  <a:schemeClr val="tx1"/>
                </a:solidFill>
                <a:effectLst/>
                <a:latin typeface="Arial" panose="020B0604020202020204" pitchFamily="34" charset="0"/>
              </a:rPr>
              <a:t> decoder stream.</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Post-base references</a:t>
            </a:r>
            <a:r>
              <a:rPr kumimoji="0" lang="en-US" altLang="en-US" sz="2000" b="0" i="0" u="none" strike="noStrike" cap="none" normalizeH="0" baseline="0" dirty="0">
                <a:ln>
                  <a:noFill/>
                </a:ln>
                <a:solidFill>
                  <a:schemeClr val="tx1"/>
                </a:solidFill>
                <a:effectLst/>
                <a:latin typeface="Arial" panose="020B0604020202020204" pitchFamily="34" charset="0"/>
              </a:rPr>
              <a:t> — </a:t>
            </a:r>
            <a:r>
              <a:rPr kumimoji="0" lang="en-US" altLang="en-US" sz="2000" b="0" i="0" u="none" strike="noStrike" cap="none" normalizeH="0" baseline="0" dirty="0" err="1">
                <a:ln>
                  <a:noFill/>
                </a:ln>
                <a:solidFill>
                  <a:schemeClr val="tx1"/>
                </a:solidFill>
                <a:effectLst/>
                <a:latin typeface="Arial" panose="020B0604020202020204" pitchFamily="34" charset="0"/>
              </a:rPr>
              <a:t>позволяют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ссылаться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записи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которые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ещё</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были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подтверждены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будут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добавлены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позже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Это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особенно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важно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для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передачи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заголовков</a:t>
            </a:r>
            <a:r>
              <a:rPr kumimoji="0" lang="en-US" altLang="en-US" sz="2000" b="0" i="0" u="none" strike="noStrike" cap="none" normalizeH="0" baseline="0" dirty="0">
                <a:ln>
                  <a:noFill/>
                </a:ln>
                <a:solidFill>
                  <a:schemeClr val="tx1"/>
                </a:solidFill>
                <a:effectLst/>
                <a:latin typeface="Arial" panose="020B0604020202020204" pitchFamily="34" charset="0"/>
              </a:rPr>
              <a:t> в </a:t>
            </a:r>
            <a:r>
              <a:rPr kumimoji="0" lang="en-US" altLang="en-US" sz="2000" b="0" i="0" u="none" strike="noStrike" cap="none" normalizeH="0" baseline="0" dirty="0" err="1">
                <a:ln>
                  <a:noFill/>
                </a:ln>
                <a:solidFill>
                  <a:schemeClr val="tx1"/>
                </a:solidFill>
                <a:effectLst/>
                <a:latin typeface="Arial" panose="020B0604020202020204" pitchFamily="34" charset="0"/>
              </a:rPr>
              <a:t>одном</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потоке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без</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ожидания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подтверждения</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000" b="1" i="0" u="none" strike="noStrike" cap="none" normalizeH="0" baseline="0" dirty="0" err="1">
                <a:ln>
                  <a:noFill/>
                </a:ln>
                <a:solidFill>
                  <a:schemeClr val="tx1"/>
                </a:solidFill>
                <a:effectLst/>
                <a:latin typeface="Arial" panose="020B0604020202020204" pitchFamily="34" charset="0"/>
              </a:rPr>
              <a:t>Статическая</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таблица</a:t>
            </a:r>
            <a:r>
              <a:rPr kumimoji="0" lang="en-US" altLang="en-US" sz="2000" b="0" i="0" u="none" strike="noStrike" cap="none" normalizeH="0" baseline="0" dirty="0">
                <a:ln>
                  <a:noFill/>
                </a:ln>
                <a:solidFill>
                  <a:schemeClr val="tx1"/>
                </a:solidFill>
                <a:effectLst/>
                <a:latin typeface="Arial" panose="020B0604020202020204" pitchFamily="34" charset="0"/>
              </a:rPr>
              <a:t> — </a:t>
            </a:r>
            <a:r>
              <a:rPr kumimoji="0" lang="en-US" altLang="en-US" sz="2000" b="0" i="0" u="none" strike="noStrike" cap="none" normalizeH="0" baseline="0" dirty="0" err="1">
                <a:ln>
                  <a:noFill/>
                </a:ln>
                <a:solidFill>
                  <a:schemeClr val="tx1"/>
                </a:solidFill>
                <a:effectLst/>
                <a:latin typeface="Arial" panose="020B0604020202020204" pitchFamily="34" charset="0"/>
              </a:rPr>
              <a:t>идентична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той</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используется</a:t>
            </a:r>
            <a:r>
              <a:rPr kumimoji="0" lang="en-US" altLang="en-US" sz="2000" b="0" i="0" u="none" strike="noStrike" cap="none" normalizeH="0" baseline="0" dirty="0">
                <a:ln>
                  <a:noFill/>
                </a:ln>
                <a:solidFill>
                  <a:schemeClr val="tx1"/>
                </a:solidFill>
                <a:effectLst/>
                <a:latin typeface="Arial" panose="020B0604020202020204" pitchFamily="34" charset="0"/>
              </a:rPr>
              <a:t> в HPACK (61 </a:t>
            </a:r>
            <a:r>
              <a:rPr kumimoji="0" lang="en-US" altLang="en-US" sz="2000" b="0" i="0" u="none" strike="noStrike" cap="none" normalizeH="0" baseline="0" dirty="0" err="1">
                <a:ln>
                  <a:noFill/>
                </a:ln>
                <a:solidFill>
                  <a:schemeClr val="tx1"/>
                </a:solidFill>
                <a:effectLst/>
                <a:latin typeface="Arial" panose="020B0604020202020204" pitchFamily="34" charset="0"/>
              </a:rPr>
              <a:t>общая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запись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для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часто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встречающихся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заголовков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Unicode MS"/>
              </a:rPr>
              <a:t>:method: GET</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a:ln>
                  <a:noFill/>
                </a:ln>
                <a:solidFill>
                  <a:schemeClr val="tx1"/>
                </a:solidFill>
                <a:effectLst/>
                <a:latin typeface="Arial Unicode MS"/>
              </a:rPr>
              <a:t>:status: 200</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На</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неё</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можно</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ссылаться</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без</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всякой</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синхронизации</a:t>
            </a:r>
            <a:r>
              <a:rPr kumimoji="0" lang="en-US" altLang="en-US" sz="2000" b="0" i="0" u="none" strike="noStrike" cap="none" normalizeH="0" baseline="0" dirty="0">
                <a:ln>
                  <a:noFill/>
                </a:ln>
                <a:solidFill>
                  <a:schemeClr val="tx1"/>
                </a:solidFill>
                <a:effectLst/>
              </a:rPr>
              <a:t>.</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8166378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1B9309-2C9A-410D-99AA-8F8E0334DC76}"/>
              </a:ext>
            </a:extLst>
          </p:cNvPr>
          <p:cNvSpPr txBox="1"/>
          <p:nvPr/>
        </p:nvSpPr>
        <p:spPr>
          <a:xfrm>
            <a:off x="495300" y="335845"/>
            <a:ext cx="11315700" cy="4708981"/>
          </a:xfrm>
          <a:prstGeom prst="rect">
            <a:avLst/>
          </a:prstGeom>
          <a:noFill/>
        </p:spPr>
        <p:txBody>
          <a:bodyPr wrap="square">
            <a:spAutoFit/>
          </a:bodyPr>
          <a:lstStyle/>
          <a:p>
            <a:r>
              <a:rPr lang="ru-RU" sz="2000" b="1" dirty="0"/>
              <a:t>Как QPACK избегает головной блокировки</a:t>
            </a:r>
          </a:p>
          <a:p>
            <a:pPr>
              <a:buFont typeface="Arial" panose="020B0604020202020204" pitchFamily="34" charset="0"/>
              <a:buChar char="•"/>
            </a:pPr>
            <a:r>
              <a:rPr lang="ru-RU" sz="2000" b="1" dirty="0"/>
              <a:t>Разделение управления и данных:</a:t>
            </a:r>
            <a:br>
              <a:rPr lang="ru-RU" sz="2000" dirty="0"/>
            </a:br>
            <a:r>
              <a:rPr lang="ru-RU" sz="2000" dirty="0"/>
              <a:t>Инструкции по обновлению таблицы идут по отдельному потоку, не смешиваясь с заголовками основных потоков. Если </a:t>
            </a:r>
            <a:r>
              <a:rPr lang="ru-RU" sz="2000" dirty="0" err="1"/>
              <a:t>encoder</a:t>
            </a:r>
            <a:r>
              <a:rPr lang="ru-RU" sz="2000" dirty="0"/>
              <a:t> </a:t>
            </a:r>
            <a:r>
              <a:rPr lang="ru-RU" sz="2000" dirty="0" err="1"/>
              <a:t>stream</a:t>
            </a:r>
            <a:r>
              <a:rPr lang="ru-RU" sz="2000" dirty="0"/>
              <a:t> теряет пакет, это может задержать </a:t>
            </a:r>
            <a:r>
              <a:rPr lang="ru-RU" sz="2000" i="1" dirty="0"/>
              <a:t>будущие</a:t>
            </a:r>
            <a:r>
              <a:rPr lang="ru-RU" sz="2000" dirty="0"/>
              <a:t> ссылки на новые записи, но уже переданные заголовки, использующие статические записи или подтверждённые записи, не блокируются.</a:t>
            </a:r>
          </a:p>
          <a:p>
            <a:pPr>
              <a:buFont typeface="Arial" panose="020B0604020202020204" pitchFamily="34" charset="0"/>
              <a:buChar char="•"/>
            </a:pPr>
            <a:r>
              <a:rPr lang="ru-RU" sz="2000" b="1" dirty="0"/>
              <a:t>Локальное кэширование состояний:</a:t>
            </a:r>
            <a:br>
              <a:rPr lang="ru-RU" sz="2000" dirty="0"/>
            </a:br>
            <a:r>
              <a:rPr lang="ru-RU" sz="2000" dirty="0"/>
              <a:t>Каждый поток может содержать свои заголовки, ссылающиеся на динамическую таблицу, с учётом «максимального известного номера записи» (</a:t>
            </a:r>
            <a:r>
              <a:rPr lang="ru-RU" sz="2000" dirty="0" err="1"/>
              <a:t>Known</a:t>
            </a:r>
            <a:r>
              <a:rPr lang="ru-RU" sz="2000" dirty="0"/>
              <a:t> </a:t>
            </a:r>
            <a:r>
              <a:rPr lang="ru-RU" sz="2000" dirty="0" err="1"/>
              <a:t>Received</a:t>
            </a:r>
            <a:r>
              <a:rPr lang="ru-RU" sz="2000" dirty="0"/>
              <a:t> </a:t>
            </a:r>
            <a:r>
              <a:rPr lang="ru-RU" sz="2000" dirty="0" err="1"/>
              <a:t>Count</a:t>
            </a:r>
            <a:r>
              <a:rPr lang="ru-RU" sz="2000" dirty="0"/>
              <a:t>), который синхронизируется через </a:t>
            </a:r>
            <a:r>
              <a:rPr lang="ru-RU" sz="2000" dirty="0" err="1"/>
              <a:t>decoder</a:t>
            </a:r>
            <a:r>
              <a:rPr lang="ru-RU" sz="2000" dirty="0"/>
              <a:t> </a:t>
            </a:r>
            <a:r>
              <a:rPr lang="ru-RU" sz="2000" dirty="0" err="1"/>
              <a:t>stream</a:t>
            </a:r>
            <a:r>
              <a:rPr lang="ru-RU" sz="2000" dirty="0"/>
              <a:t>. Поток не обязан ждать подтверждения всех записей, на которые он ссылается, если использует пост-базовые ссылки.</a:t>
            </a:r>
          </a:p>
          <a:p>
            <a:pPr>
              <a:buFont typeface="Arial" panose="020B0604020202020204" pitchFamily="34" charset="0"/>
              <a:buChar char="•"/>
            </a:pPr>
            <a:r>
              <a:rPr lang="ru-RU" sz="2000" b="1" dirty="0"/>
              <a:t>Независимая обработка потоков:</a:t>
            </a:r>
            <a:br>
              <a:rPr lang="ru-RU" sz="2000" dirty="0"/>
            </a:br>
            <a:r>
              <a:rPr lang="ru-RU" sz="2000" dirty="0"/>
              <a:t>Даже если один поток содержит заголовок, требующий ожидания обновления таблицы, остальные потоки продолжают обрабатываться. Это сохраняет основное преимущество QUIC — отсутствие </a:t>
            </a:r>
            <a:r>
              <a:rPr lang="ru-RU" sz="2000" dirty="0" err="1"/>
              <a:t>HoL</a:t>
            </a:r>
            <a:r>
              <a:rPr lang="ru-RU" sz="2000" dirty="0"/>
              <a:t> </a:t>
            </a:r>
            <a:r>
              <a:rPr lang="ru-RU" sz="2000" dirty="0" err="1"/>
              <a:t>blocking</a:t>
            </a:r>
            <a:r>
              <a:rPr lang="ru-RU" sz="2000" dirty="0"/>
              <a:t> на транспорте.</a:t>
            </a:r>
          </a:p>
        </p:txBody>
      </p:sp>
    </p:spTree>
    <p:extLst>
      <p:ext uri="{BB962C8B-B14F-4D97-AF65-F5344CB8AC3E}">
        <p14:creationId xmlns:p14="http://schemas.microsoft.com/office/powerpoint/2010/main" val="67723597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1D7D6847-5338-4B47-85B7-EFB53B6855C3}"/>
              </a:ext>
            </a:extLst>
          </p:cNvPr>
          <p:cNvPicPr>
            <a:picLocks noChangeAspect="1"/>
          </p:cNvPicPr>
          <p:nvPr/>
        </p:nvPicPr>
        <p:blipFill>
          <a:blip r:embed="rId2"/>
          <a:stretch>
            <a:fillRect/>
          </a:stretch>
        </p:blipFill>
        <p:spPr>
          <a:xfrm>
            <a:off x="1609099" y="1247470"/>
            <a:ext cx="8973802" cy="4363059"/>
          </a:xfrm>
          <a:prstGeom prst="rect">
            <a:avLst/>
          </a:prstGeom>
        </p:spPr>
      </p:pic>
    </p:spTree>
    <p:extLst>
      <p:ext uri="{BB962C8B-B14F-4D97-AF65-F5344CB8AC3E}">
        <p14:creationId xmlns:p14="http://schemas.microsoft.com/office/powerpoint/2010/main" val="33821936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6BEF7B-3015-44F4-9F68-583145A83BEC}"/>
              </a:ext>
            </a:extLst>
          </p:cNvPr>
          <p:cNvSpPr txBox="1"/>
          <p:nvPr/>
        </p:nvSpPr>
        <p:spPr>
          <a:xfrm>
            <a:off x="685800" y="197345"/>
            <a:ext cx="10877550" cy="5016758"/>
          </a:xfrm>
          <a:prstGeom prst="rect">
            <a:avLst/>
          </a:prstGeom>
          <a:noFill/>
        </p:spPr>
        <p:txBody>
          <a:bodyPr wrap="square">
            <a:spAutoFit/>
          </a:bodyPr>
          <a:lstStyle/>
          <a:p>
            <a:r>
              <a:rPr lang="ru-RU" sz="2000" b="1" dirty="0"/>
              <a:t>Особенности реализации и совместимости</a:t>
            </a:r>
          </a:p>
          <a:p>
            <a:endParaRPr lang="ru-RU" sz="2000" b="1" dirty="0"/>
          </a:p>
          <a:p>
            <a:pPr>
              <a:buFont typeface="Arial" panose="020B0604020202020204" pitchFamily="34" charset="0"/>
              <a:buChar char="•"/>
            </a:pPr>
            <a:r>
              <a:rPr lang="ru-RU" sz="2000" dirty="0"/>
              <a:t>QPACK требует, чтобы клиент и сервер согласовали </a:t>
            </a:r>
            <a:r>
              <a:rPr lang="ru-RU" sz="2000" b="1" dirty="0"/>
              <a:t>максимальный размер динамической таблицы</a:t>
            </a:r>
            <a:r>
              <a:rPr lang="ru-RU" sz="2000" dirty="0"/>
              <a:t> (аналогично HPACK) в рамках параметров HTTP/3-сессии.</a:t>
            </a:r>
          </a:p>
          <a:p>
            <a:pPr>
              <a:buFont typeface="Arial" panose="020B0604020202020204" pitchFamily="34" charset="0"/>
              <a:buChar char="•"/>
            </a:pPr>
            <a:r>
              <a:rPr lang="ru-RU" sz="2000" dirty="0"/>
              <a:t>Для обеспечения надёжности </a:t>
            </a:r>
            <a:r>
              <a:rPr lang="ru-RU" sz="2000" dirty="0" err="1"/>
              <a:t>encoder</a:t>
            </a:r>
            <a:r>
              <a:rPr lang="ru-RU" sz="2000" dirty="0"/>
              <a:t> </a:t>
            </a:r>
            <a:r>
              <a:rPr lang="ru-RU" sz="2000" dirty="0" err="1"/>
              <a:t>stream</a:t>
            </a:r>
            <a:r>
              <a:rPr lang="ru-RU" sz="2000" dirty="0"/>
              <a:t> и </a:t>
            </a:r>
            <a:r>
              <a:rPr lang="ru-RU" sz="2000" dirty="0" err="1"/>
              <a:t>decoder</a:t>
            </a:r>
            <a:r>
              <a:rPr lang="ru-RU" sz="2000" dirty="0"/>
              <a:t> </a:t>
            </a:r>
            <a:r>
              <a:rPr lang="ru-RU" sz="2000" dirty="0" err="1"/>
              <a:t>stream</a:t>
            </a:r>
            <a:r>
              <a:rPr lang="ru-RU" sz="2000" dirty="0"/>
              <a:t> используют механизмы надёжной доставки QUIC (каждый управляющий поток имеет собственную нумерацию и контроль потерь).</a:t>
            </a:r>
          </a:p>
          <a:p>
            <a:pPr>
              <a:buFont typeface="Arial" panose="020B0604020202020204" pitchFamily="34" charset="0"/>
              <a:buChar char="•"/>
            </a:pPr>
            <a:r>
              <a:rPr lang="ru-RU" sz="2000" dirty="0"/>
              <a:t>Начальное состояние статической таблицы известно обеим сторонам, поэтому первые запросы (например, 0-RTT) могут кодироваться без динамической таблицы или с использованием только статической.</a:t>
            </a:r>
          </a:p>
          <a:p>
            <a:endParaRPr lang="ru-RU" sz="2000" b="1" dirty="0"/>
          </a:p>
          <a:p>
            <a:r>
              <a:rPr lang="ru-RU" sz="2000" dirty="0"/>
              <a:t>QPACK — это элегантная адаптация сжатия заголовков к потоковой модели QUIC. Сохраняя высокую степень сжатия, достигнутую в HPACK, он устраняет зависимость от порядка доставки и тем самым поддерживает главное преимущество HTTP/3 — мультиплексирование без головной блокировки. Благодаря раздельным управляющим потокам и механизму пост-базовых ссылок, QPACK позволяет эффективно использовать динамическую таблицу даже в условиях потери пакетов и переупорядочивания.</a:t>
            </a:r>
          </a:p>
        </p:txBody>
      </p:sp>
    </p:spTree>
    <p:extLst>
      <p:ext uri="{BB962C8B-B14F-4D97-AF65-F5344CB8AC3E}">
        <p14:creationId xmlns:p14="http://schemas.microsoft.com/office/powerpoint/2010/main" val="197045468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C5EB89-7A6D-4EA8-8A4D-09371B62F955}"/>
              </a:ext>
            </a:extLst>
          </p:cNvPr>
          <p:cNvSpPr txBox="1"/>
          <p:nvPr/>
        </p:nvSpPr>
        <p:spPr>
          <a:xfrm>
            <a:off x="409575" y="208164"/>
            <a:ext cx="10915650" cy="1477328"/>
          </a:xfrm>
          <a:prstGeom prst="rect">
            <a:avLst/>
          </a:prstGeom>
          <a:noFill/>
        </p:spPr>
        <p:txBody>
          <a:bodyPr wrap="square">
            <a:spAutoFit/>
          </a:bodyPr>
          <a:lstStyle/>
          <a:p>
            <a:r>
              <a:rPr lang="ru-RU" b="1" dirty="0"/>
              <a:t>Структура Протокола HTTP/3</a:t>
            </a:r>
            <a:r>
              <a:rPr lang="ru-RU" dirty="0"/>
              <a:t> имеет иную архитектуру, чем HTTP/2. Вместо того чтобы работать поверх TCP+TLS, HTTP/3 строится непосредственно на транспортном протоколе </a:t>
            </a:r>
            <a:r>
              <a:rPr lang="ru-RU" b="1" dirty="0"/>
              <a:t>QUIC</a:t>
            </a:r>
            <a:r>
              <a:rPr lang="ru-RU" dirty="0"/>
              <a:t>, который, в свою очередь, работает поверх UDP. Это позволяет переосмыслить многие механизмы, включая мультиплексирование, сжатие заголовков и управление соединением.</a:t>
            </a:r>
          </a:p>
          <a:p>
            <a:r>
              <a:rPr lang="ru-RU" dirty="0"/>
              <a:t>Ниже представлена структура HTTP/3 по уровням — от транспортного до прикладного.</a:t>
            </a:r>
          </a:p>
        </p:txBody>
      </p:sp>
      <p:sp>
        <p:nvSpPr>
          <p:cNvPr id="4" name="Rectangle 1">
            <a:extLst>
              <a:ext uri="{FF2B5EF4-FFF2-40B4-BE49-F238E27FC236}">
                <a16:creationId xmlns:a16="http://schemas.microsoft.com/office/drawing/2014/main" id="{7A7CC4B6-4E8F-496D-B6BD-61B8607BB75E}"/>
              </a:ext>
            </a:extLst>
          </p:cNvPr>
          <p:cNvSpPr>
            <a:spLocks noChangeArrowheads="1"/>
          </p:cNvSpPr>
          <p:nvPr/>
        </p:nvSpPr>
        <p:spPr bwMode="auto">
          <a:xfrm>
            <a:off x="290512" y="1931714"/>
            <a:ext cx="118491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1. </a:t>
            </a:r>
            <a:r>
              <a:rPr kumimoji="0" lang="en-US" altLang="en-US" b="1" i="0" u="none" strike="noStrike" cap="none" normalizeH="0" baseline="0" dirty="0" err="1">
                <a:ln>
                  <a:noFill/>
                </a:ln>
                <a:solidFill>
                  <a:schemeClr val="tx1"/>
                </a:solidFill>
                <a:effectLst/>
                <a:latin typeface="Arial" panose="020B0604020202020204" pitchFamily="34" charset="0"/>
              </a:rPr>
              <a:t>Физический</a:t>
            </a:r>
            <a:r>
              <a:rPr kumimoji="0" lang="en-US" altLang="en-US" b="1" i="0" u="none" strike="noStrike" cap="none" normalizeH="0" baseline="0" dirty="0">
                <a:ln>
                  <a:noFill/>
                </a:ln>
                <a:solidFill>
                  <a:schemeClr val="tx1"/>
                </a:solidFill>
                <a:effectLst/>
                <a:latin typeface="Arial" panose="020B0604020202020204" pitchFamily="34" charset="0"/>
              </a:rPr>
              <a:t> и </a:t>
            </a:r>
            <a:r>
              <a:rPr kumimoji="0" lang="en-US" altLang="en-US" b="1" i="0" u="none" strike="noStrike" cap="none" normalizeH="0" baseline="0" dirty="0" err="1">
                <a:ln>
                  <a:noFill/>
                </a:ln>
                <a:solidFill>
                  <a:schemeClr val="tx1"/>
                </a:solidFill>
                <a:effectLst/>
                <a:latin typeface="Arial" panose="020B0604020202020204" pitchFamily="34" charset="0"/>
              </a:rPr>
              <a:t>сетевой</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уровни</a:t>
            </a:r>
            <a:r>
              <a:rPr kumimoji="0" lang="en-US" altLang="en-US" b="1" i="0" u="none" strike="noStrike" cap="none" normalizeH="0" baseline="0" dirty="0">
                <a:ln>
                  <a:noFill/>
                </a:ln>
                <a:solidFill>
                  <a:schemeClr val="tx1"/>
                </a:solidFill>
                <a:effectLst/>
                <a:latin typeface="Arial" panose="020B0604020202020204" pitchFamily="34" charset="0"/>
              </a:rPr>
              <a:t> (IP, UDP)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В </a:t>
            </a:r>
            <a:r>
              <a:rPr kumimoji="0" lang="en-US" altLang="en-US" b="0" i="0" u="none" strike="noStrike" cap="none" normalizeH="0" baseline="0" dirty="0" err="1">
                <a:ln>
                  <a:noFill/>
                </a:ln>
                <a:solidFill>
                  <a:schemeClr val="tx1"/>
                </a:solidFill>
                <a:effectLst/>
                <a:latin typeface="Arial" panose="020B0604020202020204" pitchFamily="34" charset="0"/>
              </a:rPr>
              <a:t>основе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лежит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UDP</a:t>
            </a:r>
            <a:r>
              <a:rPr kumimoji="0" lang="en-US" altLang="en-US" b="0" i="0" u="none" strike="noStrike" cap="none" normalizeH="0" baseline="0" dirty="0">
                <a:ln>
                  <a:noFill/>
                </a:ln>
                <a:solidFill>
                  <a:schemeClr val="tx1"/>
                </a:solidFill>
                <a:effectLst/>
                <a:latin typeface="Arial" panose="020B0604020202020204" pitchFamily="34" charset="0"/>
              </a:rPr>
              <a:t> (User Datagram Protocol). QUIC </a:t>
            </a:r>
            <a:r>
              <a:rPr kumimoji="0" lang="en-US" altLang="en-US" b="0" i="0" u="none" strike="noStrike" cap="none" normalizeH="0" baseline="0" dirty="0" err="1">
                <a:ln>
                  <a:noFill/>
                </a:ln>
                <a:solidFill>
                  <a:schemeClr val="tx1"/>
                </a:solidFill>
                <a:effectLst/>
                <a:latin typeface="Arial" panose="020B0604020202020204" pitchFamily="34" charset="0"/>
              </a:rPr>
              <a:t>использует</a:t>
            </a:r>
            <a:r>
              <a:rPr kumimoji="0" lang="en-US" altLang="en-US" b="0" i="0" u="none" strike="noStrike" cap="none" normalizeH="0" baseline="0" dirty="0">
                <a:ln>
                  <a:noFill/>
                </a:ln>
                <a:solidFill>
                  <a:schemeClr val="tx1"/>
                </a:solidFill>
                <a:effectLst/>
                <a:latin typeface="Arial" panose="020B0604020202020204" pitchFamily="34" charset="0"/>
              </a:rPr>
              <a:t> UDP </a:t>
            </a:r>
            <a:r>
              <a:rPr kumimoji="0" lang="en-US" altLang="en-US" b="0" i="0" u="none" strike="noStrike" cap="none" normalizeH="0" baseline="0" dirty="0" err="1">
                <a:ln>
                  <a:noFill/>
                </a:ln>
                <a:solidFill>
                  <a:schemeClr val="tx1"/>
                </a:solidFill>
                <a:effectLst/>
                <a:latin typeface="Arial" panose="020B0604020202020204" pitchFamily="34" charset="0"/>
              </a:rPr>
              <a:t>как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оболочку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чтобы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проходить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через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существующую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сетевую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инфратуру</a:t>
            </a:r>
            <a:r>
              <a:rPr kumimoji="0" lang="en-US" altLang="en-US" b="0" i="0" u="none" strike="noStrike" cap="none" normalizeH="0" baseline="0" dirty="0">
                <a:ln>
                  <a:noFill/>
                </a:ln>
                <a:solidFill>
                  <a:schemeClr val="tx1"/>
                </a:solidFill>
                <a:effectLst/>
                <a:latin typeface="Arial" panose="020B0604020202020204" pitchFamily="34" charset="0"/>
              </a:rPr>
              <a:t> (NAT, </a:t>
            </a:r>
            <a:r>
              <a:rPr kumimoji="0" lang="en-US" altLang="en-US" b="0" i="0" u="none" strike="noStrike" cap="none" normalizeH="0" baseline="0" dirty="0" err="1">
                <a:ln>
                  <a:noFill/>
                </a:ln>
                <a:solidFill>
                  <a:schemeClr val="tx1"/>
                </a:solidFill>
                <a:effectLst/>
                <a:latin typeface="Arial" panose="020B0604020202020204" pitchFamily="34" charset="0"/>
              </a:rPr>
              <a:t>фаерволы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без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необходимости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изменять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ядра</a:t>
            </a:r>
            <a:r>
              <a:rPr kumimoji="0" lang="en-US" altLang="en-US" b="0" i="0" u="none" strike="noStrike" cap="none" normalizeH="0" baseline="0" dirty="0">
                <a:ln>
                  <a:noFill/>
                </a:ln>
                <a:solidFill>
                  <a:schemeClr val="tx1"/>
                </a:solidFill>
                <a:effectLst/>
                <a:latin typeface="Arial" panose="020B0604020202020204" pitchFamily="34" charset="0"/>
              </a:rPr>
              <a:t> ОС.</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err="1">
                <a:ln>
                  <a:noFill/>
                </a:ln>
                <a:solidFill>
                  <a:schemeClr val="tx1"/>
                </a:solidFill>
                <a:effectLst/>
                <a:latin typeface="Arial" panose="020B0604020202020204" pitchFamily="34" charset="0"/>
              </a:rPr>
              <a:t>Поверх</a:t>
            </a:r>
            <a:r>
              <a:rPr kumimoji="0" lang="en-US" altLang="en-US" b="0" i="0" u="none" strike="noStrike" cap="none" normalizeH="0" baseline="0" dirty="0">
                <a:ln>
                  <a:noFill/>
                </a:ln>
                <a:solidFill>
                  <a:schemeClr val="tx1"/>
                </a:solidFill>
                <a:effectLst/>
                <a:latin typeface="Arial" panose="020B0604020202020204" pitchFamily="34" charset="0"/>
              </a:rPr>
              <a:t> UDP QUIC </a:t>
            </a:r>
            <a:r>
              <a:rPr kumimoji="0" lang="en-US" altLang="en-US" b="0" i="0" u="none" strike="noStrike" cap="none" normalizeH="0" baseline="0" dirty="0" err="1">
                <a:ln>
                  <a:noFill/>
                </a:ln>
                <a:solidFill>
                  <a:schemeClr val="tx1"/>
                </a:solidFill>
                <a:effectLst/>
                <a:latin typeface="Arial" panose="020B0604020202020204" pitchFamily="34" charset="0"/>
              </a:rPr>
              <a:t>добавляет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надёжность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управление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перегрузкой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безопасность</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мультиплексирование</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1142E647-DD4B-4FB6-8EF2-787E72EEC8D1}"/>
              </a:ext>
            </a:extLst>
          </p:cNvPr>
          <p:cNvSpPr>
            <a:spLocks noChangeArrowheads="1"/>
          </p:cNvSpPr>
          <p:nvPr/>
        </p:nvSpPr>
        <p:spPr bwMode="auto">
          <a:xfrm>
            <a:off x="238125" y="3325849"/>
            <a:ext cx="1195387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2. </a:t>
            </a:r>
            <a:r>
              <a:rPr kumimoji="0" lang="en-US" altLang="en-US" b="1" i="0" u="none" strike="noStrike" cap="none" normalizeH="0" baseline="0" dirty="0" err="1">
                <a:ln>
                  <a:noFill/>
                </a:ln>
                <a:solidFill>
                  <a:schemeClr val="tx1"/>
                </a:solidFill>
                <a:effectLst/>
                <a:latin typeface="Arial" panose="020B0604020202020204" pitchFamily="34" charset="0"/>
              </a:rPr>
              <a:t>Уровень</a:t>
            </a:r>
            <a:r>
              <a:rPr kumimoji="0" lang="en-US" altLang="en-US" b="1" i="0" u="none" strike="noStrike" cap="none" normalizeH="0" baseline="0" dirty="0">
                <a:ln>
                  <a:noFill/>
                </a:ln>
                <a:solidFill>
                  <a:schemeClr val="tx1"/>
                </a:solidFill>
                <a:effectLst/>
                <a:latin typeface="Arial" panose="020B0604020202020204" pitchFamily="34" charset="0"/>
              </a:rPr>
              <a:t> QUIC (</a:t>
            </a:r>
            <a:r>
              <a:rPr kumimoji="0" lang="en-US" altLang="en-US" b="1" i="0" u="none" strike="noStrike" cap="none" normalizeH="0" baseline="0" dirty="0" err="1">
                <a:ln>
                  <a:noFill/>
                </a:ln>
                <a:solidFill>
                  <a:schemeClr val="tx1"/>
                </a:solidFill>
                <a:effectLst/>
                <a:latin typeface="Arial" panose="020B0604020202020204" pitchFamily="34" charset="0"/>
              </a:rPr>
              <a:t>транспортный</a:t>
            </a:r>
            <a:r>
              <a:rPr kumimoji="0" lang="en-US" altLang="en-US"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QUIC </a:t>
            </a:r>
            <a:r>
              <a:rPr kumimoji="0" lang="en-US" altLang="en-US" b="0" i="0" u="none" strike="noStrike" cap="none" normalizeH="0" baseline="0" dirty="0" err="1">
                <a:ln>
                  <a:noFill/>
                </a:ln>
                <a:solidFill>
                  <a:schemeClr val="tx1"/>
                </a:solidFill>
                <a:effectLst/>
                <a:latin typeface="Arial" panose="020B0604020202020204" pitchFamily="34" charset="0"/>
              </a:rPr>
              <a:t>предоставляет</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Защищённые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соединения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обязательное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шифрование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основе</a:t>
            </a:r>
            <a:r>
              <a:rPr kumimoji="0" lang="en-US" altLang="en-US" b="0" i="0" u="none" strike="noStrike" cap="none" normalizeH="0" baseline="0" dirty="0">
                <a:ln>
                  <a:noFill/>
                </a:ln>
                <a:solidFill>
                  <a:schemeClr val="tx1"/>
                </a:solidFill>
                <a:effectLst/>
                <a:latin typeface="Arial" panose="020B0604020202020204" pitchFamily="34" charset="0"/>
              </a:rPr>
              <a:t> TLS 1.3).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Потоки</a:t>
            </a:r>
            <a:r>
              <a:rPr kumimoji="0" lang="en-US" altLang="en-US" b="1" i="0" u="none" strike="noStrike" cap="none" normalizeH="0" baseline="0" dirty="0">
                <a:ln>
                  <a:noFill/>
                </a:ln>
                <a:solidFill>
                  <a:schemeClr val="tx1"/>
                </a:solidFill>
                <a:effectLst/>
                <a:latin typeface="Arial" panose="020B0604020202020204" pitchFamily="34" charset="0"/>
              </a:rPr>
              <a:t> (streams)</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легковесные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двунаправленные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или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однонаправленные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каналы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внутри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одного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соединения</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Идентификаторы</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соединения</a:t>
            </a:r>
            <a:r>
              <a:rPr kumimoji="0" lang="en-US" altLang="en-US" b="1" i="0" u="none" strike="noStrike" cap="none" normalizeH="0" baseline="0" dirty="0">
                <a:ln>
                  <a:noFill/>
                </a:ln>
                <a:solidFill>
                  <a:schemeClr val="tx1"/>
                </a:solidFill>
                <a:effectLst/>
                <a:latin typeface="Arial" panose="020B0604020202020204" pitchFamily="34" charset="0"/>
              </a:rPr>
              <a:t> (Connection ID)</a:t>
            </a:r>
            <a:r>
              <a:rPr kumimoji="0" lang="en-US" altLang="en-US" b="0" i="0" u="none" strike="noStrike" cap="none" normalizeH="0" baseline="0" dirty="0">
                <a:ln>
                  <a:noFill/>
                </a:ln>
                <a:solidFill>
                  <a:schemeClr val="tx1"/>
                </a:solidFill>
                <a:effectLst/>
                <a:latin typeface="Arial" panose="020B0604020202020204" pitchFamily="34" charset="0"/>
              </a:rPr>
              <a:t> —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миграции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между</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сетями</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Надёжную</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доставку</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на</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уровне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потоков</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каждый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поток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имеет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свой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порядковый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номер</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контроль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потерь</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err="1">
                <a:ln>
                  <a:noFill/>
                </a:ln>
                <a:solidFill>
                  <a:schemeClr val="tx1"/>
                </a:solidFill>
                <a:effectLst/>
                <a:latin typeface="Arial" panose="020B0604020202020204" pitchFamily="34" charset="0"/>
              </a:rPr>
              <a:t>Управление</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потоком</a:t>
            </a:r>
            <a:r>
              <a:rPr kumimoji="0" lang="en-US" altLang="en-US" b="1" i="0" u="none" strike="noStrike" cap="none" normalizeH="0" baseline="0" dirty="0">
                <a:ln>
                  <a:noFill/>
                </a:ln>
                <a:solidFill>
                  <a:schemeClr val="tx1"/>
                </a:solidFill>
                <a:effectLst/>
                <a:latin typeface="Arial" panose="020B0604020202020204" pitchFamily="34" charset="0"/>
              </a:rPr>
              <a:t> (flow control)</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уровне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соединения</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уровне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каждого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потока</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9695509"/>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4D7FC6-1793-4962-83FC-A0ADF86183FD}"/>
              </a:ext>
            </a:extLst>
          </p:cNvPr>
          <p:cNvSpPr txBox="1"/>
          <p:nvPr/>
        </p:nvSpPr>
        <p:spPr>
          <a:xfrm>
            <a:off x="457200" y="246250"/>
            <a:ext cx="11382375" cy="5909310"/>
          </a:xfrm>
          <a:prstGeom prst="rect">
            <a:avLst/>
          </a:prstGeom>
          <a:noFill/>
        </p:spPr>
        <p:txBody>
          <a:bodyPr wrap="square">
            <a:spAutoFit/>
          </a:bodyPr>
          <a:lstStyle/>
          <a:p>
            <a:r>
              <a:rPr lang="ru-RU" b="1" dirty="0"/>
              <a:t>3. Уровень HTTP/3 (прикладной)</a:t>
            </a:r>
          </a:p>
          <a:p>
            <a:r>
              <a:rPr lang="ru-RU" dirty="0"/>
              <a:t>HTTP/3 определяет, как именно HTTP-семантика (методы, заголовки, тело) отображается на QUIC-потоки. Ключевые элементы:</a:t>
            </a:r>
          </a:p>
          <a:p>
            <a:r>
              <a:rPr lang="ru-RU" b="1" dirty="0"/>
              <a:t>3.1. Кадры (</a:t>
            </a:r>
            <a:r>
              <a:rPr lang="ru-RU" b="1" dirty="0" err="1"/>
              <a:t>Frames</a:t>
            </a:r>
            <a:r>
              <a:rPr lang="ru-RU" b="1" dirty="0"/>
              <a:t>)</a:t>
            </a:r>
          </a:p>
          <a:p>
            <a:r>
              <a:rPr lang="ru-RU" dirty="0"/>
              <a:t>HTTP/3 не имеет отдельного «стартового» кадра, как в HTTP/2 (магический префикс). Всё взаимодействие строится на кадрах, которые передаются внутри QUIC-потоков. Типы кадров:</a:t>
            </a:r>
          </a:p>
          <a:p>
            <a:pPr>
              <a:buFont typeface="Arial" panose="020B0604020202020204" pitchFamily="34" charset="0"/>
              <a:buChar char="•"/>
            </a:pPr>
            <a:r>
              <a:rPr lang="ru-RU" b="1" dirty="0"/>
              <a:t>DATA</a:t>
            </a:r>
            <a:r>
              <a:rPr lang="ru-RU" dirty="0"/>
              <a:t> — передача тела сообщения (аналогично HTTP/2 DATA).</a:t>
            </a:r>
          </a:p>
          <a:p>
            <a:pPr>
              <a:buFont typeface="Arial" panose="020B0604020202020204" pitchFamily="34" charset="0"/>
              <a:buChar char="•"/>
            </a:pPr>
            <a:r>
              <a:rPr lang="ru-RU" b="1" dirty="0"/>
              <a:t>HEADERS</a:t>
            </a:r>
            <a:r>
              <a:rPr lang="ru-RU" dirty="0"/>
              <a:t> — передача сжатых заголовков (кодированных QPACK).</a:t>
            </a:r>
          </a:p>
          <a:p>
            <a:pPr>
              <a:buFont typeface="Arial" panose="020B0604020202020204" pitchFamily="34" charset="0"/>
              <a:buChar char="•"/>
            </a:pPr>
            <a:r>
              <a:rPr lang="ru-RU" b="1" dirty="0"/>
              <a:t>CANCEL_PUSH</a:t>
            </a:r>
            <a:r>
              <a:rPr lang="ru-RU" dirty="0"/>
              <a:t> — отмена обещанного </a:t>
            </a:r>
            <a:r>
              <a:rPr lang="ru-RU" dirty="0" err="1"/>
              <a:t>push</a:t>
            </a:r>
            <a:r>
              <a:rPr lang="ru-RU" dirty="0"/>
              <a:t>-ресурса.</a:t>
            </a:r>
          </a:p>
          <a:p>
            <a:pPr>
              <a:buFont typeface="Arial" panose="020B0604020202020204" pitchFamily="34" charset="0"/>
              <a:buChar char="•"/>
            </a:pPr>
            <a:r>
              <a:rPr lang="ru-RU" b="1" dirty="0"/>
              <a:t>SETTINGS</a:t>
            </a:r>
            <a:r>
              <a:rPr lang="ru-RU" dirty="0"/>
              <a:t> — обмен параметрами соединения (аналог HTTP/2 SETTINGS).</a:t>
            </a:r>
          </a:p>
          <a:p>
            <a:pPr>
              <a:buFont typeface="Arial" panose="020B0604020202020204" pitchFamily="34" charset="0"/>
              <a:buChar char="•"/>
            </a:pPr>
            <a:r>
              <a:rPr lang="ru-RU" b="1" dirty="0"/>
              <a:t>PUSH_PROMISE</a:t>
            </a:r>
            <a:r>
              <a:rPr lang="ru-RU" dirty="0"/>
              <a:t> — обещание отправить ресурс (</a:t>
            </a:r>
            <a:r>
              <a:rPr lang="ru-RU" dirty="0" err="1"/>
              <a:t>server</a:t>
            </a:r>
            <a:r>
              <a:rPr lang="ru-RU" dirty="0"/>
              <a:t> </a:t>
            </a:r>
            <a:r>
              <a:rPr lang="ru-RU" dirty="0" err="1"/>
              <a:t>push</a:t>
            </a:r>
            <a:r>
              <a:rPr lang="ru-RU" dirty="0"/>
              <a:t>).</a:t>
            </a:r>
          </a:p>
          <a:p>
            <a:pPr>
              <a:buFont typeface="Arial" panose="020B0604020202020204" pitchFamily="34" charset="0"/>
              <a:buChar char="•"/>
            </a:pPr>
            <a:r>
              <a:rPr lang="ru-RU" b="1" dirty="0"/>
              <a:t>GOAWAY</a:t>
            </a:r>
            <a:r>
              <a:rPr lang="ru-RU" dirty="0"/>
              <a:t> — начало завершения соединения.</a:t>
            </a:r>
          </a:p>
          <a:p>
            <a:pPr>
              <a:buFont typeface="Arial" panose="020B0604020202020204" pitchFamily="34" charset="0"/>
              <a:buChar char="•"/>
            </a:pPr>
            <a:r>
              <a:rPr lang="ru-RU" b="1" dirty="0"/>
              <a:t>MAX_PUSH_ID</a:t>
            </a:r>
            <a:r>
              <a:rPr lang="ru-RU" dirty="0"/>
              <a:t> — контроль </a:t>
            </a:r>
            <a:r>
              <a:rPr lang="ru-RU" dirty="0" err="1"/>
              <a:t>push</a:t>
            </a:r>
            <a:r>
              <a:rPr lang="ru-RU" dirty="0"/>
              <a:t>-ресурсов.</a:t>
            </a:r>
          </a:p>
          <a:p>
            <a:r>
              <a:rPr lang="ru-RU" dirty="0"/>
              <a:t>Каждый кадр имеет заголовок, указывающий тип, длину и (для некоторых) идентификатор потока.</a:t>
            </a:r>
          </a:p>
          <a:p>
            <a:r>
              <a:rPr lang="ru-RU" b="1" dirty="0"/>
              <a:t>3.2. Потоки HTTP/3</a:t>
            </a:r>
          </a:p>
          <a:p>
            <a:r>
              <a:rPr lang="ru-RU" dirty="0"/>
              <a:t>HTTP/3 использует QUIC-потоки для мультиплексирования запросов/ответов. Правила:</a:t>
            </a:r>
          </a:p>
          <a:p>
            <a:pPr>
              <a:buFont typeface="Arial" panose="020B0604020202020204" pitchFamily="34" charset="0"/>
              <a:buChar char="•"/>
            </a:pPr>
            <a:r>
              <a:rPr lang="ru-RU" b="1" dirty="0"/>
              <a:t>Один HTTP-запрос и ответ занимают один или несколько потоков</a:t>
            </a:r>
            <a:r>
              <a:rPr lang="ru-RU" dirty="0"/>
              <a:t> (обычно один двунаправленный поток на запрос).</a:t>
            </a:r>
          </a:p>
          <a:p>
            <a:pPr>
              <a:buFont typeface="Arial" panose="020B0604020202020204" pitchFamily="34" charset="0"/>
              <a:buChar char="•"/>
            </a:pPr>
            <a:r>
              <a:rPr lang="ru-RU" dirty="0"/>
              <a:t>Потоки </a:t>
            </a:r>
            <a:r>
              <a:rPr lang="ru-RU" b="1" dirty="0"/>
              <a:t>независимы</a:t>
            </a:r>
            <a:r>
              <a:rPr lang="ru-RU" dirty="0"/>
              <a:t> — потеря пакета в одном потоке не блокирует другие.</a:t>
            </a:r>
          </a:p>
          <a:p>
            <a:pPr>
              <a:buFont typeface="Arial" panose="020B0604020202020204" pitchFamily="34" charset="0"/>
              <a:buChar char="•"/>
            </a:pPr>
            <a:r>
              <a:rPr lang="ru-RU" b="1" dirty="0"/>
              <a:t>Управляющие потоки</a:t>
            </a:r>
            <a:r>
              <a:rPr lang="ru-RU" dirty="0"/>
              <a:t> (отдельные, однонаправленные) используются для QPACK (</a:t>
            </a:r>
            <a:r>
              <a:rPr lang="ru-RU" dirty="0" err="1"/>
              <a:t>encoder</a:t>
            </a:r>
            <a:r>
              <a:rPr lang="ru-RU" dirty="0"/>
              <a:t> </a:t>
            </a:r>
            <a:r>
              <a:rPr lang="ru-RU" dirty="0" err="1"/>
              <a:t>stream</a:t>
            </a:r>
            <a:r>
              <a:rPr lang="ru-RU" dirty="0"/>
              <a:t>, </a:t>
            </a:r>
            <a:r>
              <a:rPr lang="ru-RU" dirty="0" err="1"/>
              <a:t>decoder</a:t>
            </a:r>
            <a:r>
              <a:rPr lang="ru-RU" dirty="0"/>
              <a:t> </a:t>
            </a:r>
            <a:r>
              <a:rPr lang="ru-RU" dirty="0" err="1"/>
              <a:t>stream</a:t>
            </a:r>
            <a:r>
              <a:rPr lang="ru-RU" dirty="0"/>
              <a:t>) и для других сигнальных целей.</a:t>
            </a:r>
          </a:p>
        </p:txBody>
      </p:sp>
    </p:spTree>
    <p:extLst>
      <p:ext uri="{BB962C8B-B14F-4D97-AF65-F5344CB8AC3E}">
        <p14:creationId xmlns:p14="http://schemas.microsoft.com/office/powerpoint/2010/main" val="170603097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7676B4A-4459-448F-A3D1-92C9C7AC44E3}"/>
              </a:ext>
            </a:extLst>
          </p:cNvPr>
          <p:cNvSpPr txBox="1"/>
          <p:nvPr/>
        </p:nvSpPr>
        <p:spPr>
          <a:xfrm>
            <a:off x="523875" y="835789"/>
            <a:ext cx="11353800" cy="1754326"/>
          </a:xfrm>
          <a:prstGeom prst="rect">
            <a:avLst/>
          </a:prstGeom>
          <a:noFill/>
        </p:spPr>
        <p:txBody>
          <a:bodyPr wrap="square">
            <a:spAutoFit/>
          </a:bodyPr>
          <a:lstStyle/>
          <a:p>
            <a:r>
              <a:rPr lang="ru-RU" b="1" dirty="0"/>
              <a:t>3.3. QPACK — сжатие заголовков</a:t>
            </a:r>
          </a:p>
          <a:p>
            <a:r>
              <a:rPr lang="ru-RU" dirty="0"/>
              <a:t>QPACK работает через два специальных QUIC-потока (однонаправленных):</a:t>
            </a:r>
          </a:p>
          <a:p>
            <a:pPr>
              <a:buFont typeface="Arial" panose="020B0604020202020204" pitchFamily="34" charset="0"/>
              <a:buChar char="•"/>
            </a:pPr>
            <a:r>
              <a:rPr lang="ru-RU" b="1" dirty="0" err="1"/>
              <a:t>Encoder</a:t>
            </a:r>
            <a:r>
              <a:rPr lang="ru-RU" b="1" dirty="0"/>
              <a:t> </a:t>
            </a:r>
            <a:r>
              <a:rPr lang="ru-RU" b="1" dirty="0" err="1"/>
              <a:t>stream</a:t>
            </a:r>
            <a:r>
              <a:rPr lang="ru-RU" dirty="0"/>
              <a:t> — передаёт инструкции по изменению динамической таблицы.</a:t>
            </a:r>
          </a:p>
          <a:p>
            <a:pPr>
              <a:buFont typeface="Arial" panose="020B0604020202020204" pitchFamily="34" charset="0"/>
              <a:buChar char="•"/>
            </a:pPr>
            <a:r>
              <a:rPr lang="ru-RU" b="1" dirty="0" err="1"/>
              <a:t>Decoder</a:t>
            </a:r>
            <a:r>
              <a:rPr lang="ru-RU" b="1" dirty="0"/>
              <a:t> </a:t>
            </a:r>
            <a:r>
              <a:rPr lang="ru-RU" b="1" dirty="0" err="1"/>
              <a:t>stream</a:t>
            </a:r>
            <a:r>
              <a:rPr lang="ru-RU" dirty="0"/>
              <a:t> — передаёт подтверждения и сигналы об ошибках.</a:t>
            </a:r>
          </a:p>
          <a:p>
            <a:r>
              <a:rPr lang="ru-RU" dirty="0"/>
              <a:t>Это позволяет избежать головной блокировки при сжатии, так как потеря пакета в управляющем потоке не останавливает обработку данных в основных потоках.</a:t>
            </a:r>
          </a:p>
        </p:txBody>
      </p:sp>
      <p:sp>
        <p:nvSpPr>
          <p:cNvPr id="7" name="Rectangle 4">
            <a:extLst>
              <a:ext uri="{FF2B5EF4-FFF2-40B4-BE49-F238E27FC236}">
                <a16:creationId xmlns:a16="http://schemas.microsoft.com/office/drawing/2014/main" id="{FA801B1A-7A6A-4691-8740-0E5128906198}"/>
              </a:ext>
            </a:extLst>
          </p:cNvPr>
          <p:cNvSpPr>
            <a:spLocks noChangeArrowheads="1"/>
          </p:cNvSpPr>
          <p:nvPr/>
        </p:nvSpPr>
        <p:spPr bwMode="auto">
          <a:xfrm>
            <a:off x="523875" y="3128977"/>
            <a:ext cx="1006792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3.4. Server Push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HTTP/3 </a:t>
            </a:r>
            <a:r>
              <a:rPr kumimoji="0" lang="en-US" altLang="en-US" b="0" i="0" u="none" strike="noStrike" cap="none" normalizeH="0" baseline="0" dirty="0" err="1">
                <a:ln>
                  <a:noFill/>
                </a:ln>
                <a:solidFill>
                  <a:schemeClr val="tx1"/>
                </a:solidFill>
                <a:effectLst/>
                <a:latin typeface="Arial" panose="020B0604020202020204" pitchFamily="34" charset="0"/>
              </a:rPr>
              <a:t>поддерживает</a:t>
            </a:r>
            <a:r>
              <a:rPr kumimoji="0" lang="en-US" altLang="en-US" b="0" i="0" u="none" strike="noStrike" cap="none" normalizeH="0" baseline="0" dirty="0">
                <a:ln>
                  <a:noFill/>
                </a:ln>
                <a:solidFill>
                  <a:schemeClr val="tx1"/>
                </a:solidFill>
                <a:effectLst/>
                <a:latin typeface="Arial" panose="020B0604020202020204" pitchFamily="34" charset="0"/>
              </a:rPr>
              <a:t> server push, </a:t>
            </a:r>
            <a:r>
              <a:rPr kumimoji="0" lang="en-US" altLang="en-US" b="0" i="0" u="none" strike="noStrike" cap="none" normalizeH="0" baseline="0" dirty="0" err="1">
                <a:ln>
                  <a:noFill/>
                </a:ln>
                <a:solidFill>
                  <a:schemeClr val="tx1"/>
                </a:solidFill>
                <a:effectLst/>
                <a:latin typeface="Arial" panose="020B0604020202020204" pitchFamily="34" charset="0"/>
              </a:rPr>
              <a:t>аналогично</a:t>
            </a:r>
            <a:r>
              <a:rPr kumimoji="0" lang="en-US" altLang="en-US" b="0" i="0" u="none" strike="noStrike" cap="none" normalizeH="0" baseline="0" dirty="0">
                <a:ln>
                  <a:noFill/>
                </a:ln>
                <a:solidFill>
                  <a:schemeClr val="tx1"/>
                </a:solidFill>
                <a:effectLst/>
                <a:latin typeface="Arial" panose="020B0604020202020204" pitchFamily="34" charset="0"/>
              </a:rPr>
              <a:t> HTTP/2. </a:t>
            </a:r>
            <a:r>
              <a:rPr kumimoji="0" lang="en-US" altLang="en-US" b="0" i="0" u="none" strike="noStrike" cap="none" normalizeH="0" baseline="0" dirty="0" err="1">
                <a:ln>
                  <a:noFill/>
                </a:ln>
                <a:solidFill>
                  <a:schemeClr val="tx1"/>
                </a:solidFill>
                <a:effectLst/>
                <a:latin typeface="Arial" panose="020B0604020202020204" pitchFamily="34" charset="0"/>
              </a:rPr>
              <a:t>Сервер</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может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отправить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PUSH_PROMISE</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кадр</a:t>
            </a:r>
            <a:r>
              <a:rPr kumimoji="0" lang="en-US" altLang="en-US" b="0" i="0" u="none" strike="noStrike" cap="none" normalizeH="0" baseline="0" dirty="0">
                <a:ln>
                  <a:noFill/>
                </a:ln>
                <a:solidFill>
                  <a:schemeClr val="tx1"/>
                </a:solidFill>
                <a:effectLst/>
              </a:rPr>
              <a:t> в </a:t>
            </a:r>
            <a:r>
              <a:rPr kumimoji="0" lang="en-US" altLang="en-US" b="0" i="0" u="none" strike="noStrike" cap="none" normalizeH="0" baseline="0" dirty="0" err="1">
                <a:ln>
                  <a:noFill/>
                </a:ln>
                <a:solidFill>
                  <a:schemeClr val="tx1"/>
                </a:solidFill>
                <a:effectLst/>
              </a:rPr>
              <a:t>ответ</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на</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запрос</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обещая</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ресурс</a:t>
            </a:r>
            <a:r>
              <a:rPr kumimoji="0" lang="en-US" altLang="en-US" b="0" i="0" u="none" strike="noStrike" cap="none" normalizeH="0" baseline="0" dirty="0">
                <a:ln>
                  <a:noFill/>
                </a:ln>
                <a:solidFill>
                  <a:schemeClr val="tx1"/>
                </a:solidFill>
                <a:effectLst/>
              </a:rPr>
              <a:t>, а </a:t>
            </a:r>
            <a:r>
              <a:rPr kumimoji="0" lang="en-US" altLang="en-US" b="0" i="0" u="none" strike="noStrike" cap="none" normalizeH="0" baseline="0" dirty="0" err="1">
                <a:ln>
                  <a:noFill/>
                </a:ln>
                <a:solidFill>
                  <a:schemeClr val="tx1"/>
                </a:solidFill>
                <a:effectLst/>
              </a:rPr>
              <a:t>затем</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передать</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его</a:t>
            </a:r>
            <a:r>
              <a:rPr kumimoji="0" lang="en-US" altLang="en-US" b="0" i="0" u="none" strike="noStrike" cap="none" normalizeH="0" baseline="0" dirty="0">
                <a:ln>
                  <a:noFill/>
                </a:ln>
                <a:solidFill>
                  <a:schemeClr val="tx1"/>
                </a:solidFill>
                <a:effectLst/>
              </a:rPr>
              <a:t> в </a:t>
            </a:r>
            <a:r>
              <a:rPr kumimoji="0" lang="en-US" altLang="en-US" b="0" i="0" u="none" strike="noStrike" cap="none" normalizeH="0" baseline="0" dirty="0" err="1">
                <a:ln>
                  <a:noFill/>
                </a:ln>
                <a:solidFill>
                  <a:schemeClr val="tx1"/>
                </a:solidFill>
                <a:effectLst/>
              </a:rPr>
              <a:t>отдельном</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потоке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Клиент</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контролирует</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количество</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обещанных</a:t>
            </a:r>
            <a:r>
              <a:rPr kumimoji="0" lang="en-US" altLang="en-US" b="0" i="0" u="none" strike="noStrike" cap="none" normalizeH="0" baseline="0" dirty="0">
                <a:ln>
                  <a:noFill/>
                </a:ln>
                <a:solidFill>
                  <a:schemeClr val="tx1"/>
                </a:solidFill>
                <a:effectLst/>
              </a:rPr>
              <a:t> push-</a:t>
            </a:r>
            <a:r>
              <a:rPr kumimoji="0" lang="en-US" altLang="en-US" b="0" i="0" u="none" strike="noStrike" cap="none" normalizeH="0" baseline="0" dirty="0" err="1">
                <a:ln>
                  <a:noFill/>
                </a:ln>
                <a:solidFill>
                  <a:schemeClr val="tx1"/>
                </a:solidFill>
                <a:effectLst/>
              </a:rPr>
              <a:t>ресурсов</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через</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MAX_PUSH_ID</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271475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DA3AE55-A2A5-44C4-887D-783ECF079A94}"/>
              </a:ext>
            </a:extLst>
          </p:cNvPr>
          <p:cNvSpPr txBox="1"/>
          <p:nvPr/>
        </p:nvSpPr>
        <p:spPr>
          <a:xfrm>
            <a:off x="695325" y="434459"/>
            <a:ext cx="6096000" cy="369332"/>
          </a:xfrm>
          <a:prstGeom prst="rect">
            <a:avLst/>
          </a:prstGeom>
          <a:noFill/>
        </p:spPr>
        <p:txBody>
          <a:bodyPr wrap="square">
            <a:spAutoFit/>
          </a:bodyPr>
          <a:lstStyle/>
          <a:p>
            <a:r>
              <a:rPr lang="ru-RU" b="1" dirty="0"/>
              <a:t>4. Иерархия потоков и соединений</a:t>
            </a:r>
          </a:p>
        </p:txBody>
      </p:sp>
      <p:pic>
        <p:nvPicPr>
          <p:cNvPr id="5" name="Рисунок 4">
            <a:extLst>
              <a:ext uri="{FF2B5EF4-FFF2-40B4-BE49-F238E27FC236}">
                <a16:creationId xmlns:a16="http://schemas.microsoft.com/office/drawing/2014/main" id="{FCECF375-433E-45D8-B3DF-7407766D8120}"/>
              </a:ext>
            </a:extLst>
          </p:cNvPr>
          <p:cNvPicPr>
            <a:picLocks noChangeAspect="1"/>
          </p:cNvPicPr>
          <p:nvPr/>
        </p:nvPicPr>
        <p:blipFill>
          <a:blip r:embed="rId2"/>
          <a:stretch>
            <a:fillRect/>
          </a:stretch>
        </p:blipFill>
        <p:spPr>
          <a:xfrm>
            <a:off x="523295" y="1009325"/>
            <a:ext cx="9668455" cy="5410787"/>
          </a:xfrm>
          <a:prstGeom prst="rect">
            <a:avLst/>
          </a:prstGeom>
        </p:spPr>
      </p:pic>
    </p:spTree>
    <p:extLst>
      <p:ext uri="{BB962C8B-B14F-4D97-AF65-F5344CB8AC3E}">
        <p14:creationId xmlns:p14="http://schemas.microsoft.com/office/powerpoint/2010/main" val="22565641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43CE20E-68D4-44F4-837D-5EB54BFBC616}"/>
              </a:ext>
            </a:extLst>
          </p:cNvPr>
          <p:cNvSpPr txBox="1"/>
          <p:nvPr/>
        </p:nvSpPr>
        <p:spPr>
          <a:xfrm>
            <a:off x="333375" y="889844"/>
            <a:ext cx="11468100" cy="3785652"/>
          </a:xfrm>
          <a:prstGeom prst="rect">
            <a:avLst/>
          </a:prstGeom>
          <a:noFill/>
        </p:spPr>
        <p:txBody>
          <a:bodyPr wrap="square">
            <a:spAutoFit/>
          </a:bodyPr>
          <a:lstStyle/>
          <a:p>
            <a:r>
              <a:rPr lang="ru-RU" sz="2000" b="1" dirty="0"/>
              <a:t>5. Жизненный цикл HTTP/3-соединения</a:t>
            </a:r>
          </a:p>
          <a:p>
            <a:pPr>
              <a:buFont typeface="+mj-lt"/>
              <a:buAutoNum type="arabicPeriod"/>
            </a:pPr>
            <a:r>
              <a:rPr lang="ru-RU" sz="2000" b="1" dirty="0"/>
              <a:t>Установка QUIC-соединения:</a:t>
            </a:r>
            <a:r>
              <a:rPr lang="ru-RU" sz="2000" dirty="0"/>
              <a:t> клиент и сервер выполняют рукопожатие QUIC (включая TLS 1.3), обмениваются параметрами.</a:t>
            </a:r>
          </a:p>
          <a:p>
            <a:pPr>
              <a:buFont typeface="+mj-lt"/>
              <a:buAutoNum type="arabicPeriod"/>
            </a:pPr>
            <a:r>
              <a:rPr lang="ru-RU" sz="2000" b="1" dirty="0"/>
              <a:t>Обмен SETTINGS:</a:t>
            </a:r>
            <a:r>
              <a:rPr lang="ru-RU" sz="2000" dirty="0"/>
              <a:t> после установки соединения стороны отправляют кадры SETTINGS в своих первых HTTP/3-потоках, согласовывая параметры (размер динамической таблицы, максимальное количество </a:t>
            </a:r>
            <a:r>
              <a:rPr lang="ru-RU" sz="2000" dirty="0" err="1"/>
              <a:t>push</a:t>
            </a:r>
            <a:r>
              <a:rPr lang="ru-RU" sz="2000" dirty="0"/>
              <a:t>-потоков и т.д.).</a:t>
            </a:r>
          </a:p>
          <a:p>
            <a:pPr>
              <a:buFont typeface="+mj-lt"/>
              <a:buAutoNum type="arabicPeriod"/>
            </a:pPr>
            <a:r>
              <a:rPr lang="ru-RU" sz="2000" b="1" dirty="0"/>
              <a:t>Обмен запросами-ответами:</a:t>
            </a:r>
            <a:r>
              <a:rPr lang="ru-RU" sz="2000" dirty="0"/>
              <a:t> на выделенных двунаправленных QUIC-потоках передаются кадры HEADERS и DATA.</a:t>
            </a:r>
          </a:p>
          <a:p>
            <a:pPr>
              <a:buFont typeface="+mj-lt"/>
              <a:buAutoNum type="arabicPeriod"/>
            </a:pPr>
            <a:r>
              <a:rPr lang="ru-RU" sz="2000" b="1" dirty="0" err="1"/>
              <a:t>Server</a:t>
            </a:r>
            <a:r>
              <a:rPr lang="ru-RU" sz="2000" b="1" dirty="0"/>
              <a:t> </a:t>
            </a:r>
            <a:r>
              <a:rPr lang="ru-RU" sz="2000" b="1" dirty="0" err="1"/>
              <a:t>push</a:t>
            </a:r>
            <a:r>
              <a:rPr lang="ru-RU" sz="2000" b="1" dirty="0"/>
              <a:t>:</a:t>
            </a:r>
            <a:r>
              <a:rPr lang="ru-RU" sz="2000" dirty="0"/>
              <a:t> при необходимости сервер отправляет PUSH_PROMISE и затем передаёт ресурсы в отдельных потоках.</a:t>
            </a:r>
          </a:p>
          <a:p>
            <a:pPr>
              <a:buFont typeface="+mj-lt"/>
              <a:buAutoNum type="arabicPeriod"/>
            </a:pPr>
            <a:r>
              <a:rPr lang="ru-RU" sz="2000" b="1" dirty="0"/>
              <a:t>Завершение:</a:t>
            </a:r>
            <a:r>
              <a:rPr lang="ru-RU" sz="2000" dirty="0"/>
              <a:t> любая сторона может отправить GOAWAY, после чего новые запросы не принимаются, а существующие потоки завершаются; затем QUIC-соединение закрывается.</a:t>
            </a:r>
          </a:p>
        </p:txBody>
      </p:sp>
    </p:spTree>
    <p:extLst>
      <p:ext uri="{BB962C8B-B14F-4D97-AF65-F5344CB8AC3E}">
        <p14:creationId xmlns:p14="http://schemas.microsoft.com/office/powerpoint/2010/main" val="216721399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D4253AD8-CE8D-4949-85D8-1BCA49BBDD6E}"/>
              </a:ext>
            </a:extLst>
          </p:cNvPr>
          <p:cNvPicPr>
            <a:picLocks noChangeAspect="1"/>
          </p:cNvPicPr>
          <p:nvPr/>
        </p:nvPicPr>
        <p:blipFill>
          <a:blip r:embed="rId2"/>
          <a:stretch>
            <a:fillRect/>
          </a:stretch>
        </p:blipFill>
        <p:spPr>
          <a:xfrm>
            <a:off x="1647204" y="1218891"/>
            <a:ext cx="8897592" cy="4420217"/>
          </a:xfrm>
          <a:prstGeom prst="rect">
            <a:avLst/>
          </a:prstGeom>
        </p:spPr>
      </p:pic>
    </p:spTree>
    <p:extLst>
      <p:ext uri="{BB962C8B-B14F-4D97-AF65-F5344CB8AC3E}">
        <p14:creationId xmlns:p14="http://schemas.microsoft.com/office/powerpoint/2010/main" val="262833887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166F01-E18B-4B97-9AE0-8BDA39500A22}"/>
              </a:ext>
            </a:extLst>
          </p:cNvPr>
          <p:cNvSpPr txBox="1"/>
          <p:nvPr/>
        </p:nvSpPr>
        <p:spPr>
          <a:xfrm>
            <a:off x="466725" y="361951"/>
            <a:ext cx="11020425" cy="4154984"/>
          </a:xfrm>
          <a:prstGeom prst="rect">
            <a:avLst/>
          </a:prstGeom>
          <a:noFill/>
        </p:spPr>
        <p:txBody>
          <a:bodyPr wrap="square">
            <a:spAutoFit/>
          </a:bodyPr>
          <a:lstStyle/>
          <a:p>
            <a:r>
              <a:rPr lang="ru-RU" sz="2200" dirty="0"/>
              <a:t>Структура HTTP/3 отражает современные требования к производительности, безопасности и надёжности в мобильных и облачных средах. За счёт использования QUIC протокол получает:</a:t>
            </a:r>
          </a:p>
          <a:p>
            <a:endParaRPr lang="ru-RU" sz="2200" dirty="0"/>
          </a:p>
          <a:p>
            <a:pPr>
              <a:buFont typeface="Arial" panose="020B0604020202020204" pitchFamily="34" charset="0"/>
              <a:buChar char="•"/>
            </a:pPr>
            <a:r>
              <a:rPr lang="ru-RU" sz="2200" b="1" dirty="0"/>
              <a:t>Независимые потоки</a:t>
            </a:r>
            <a:r>
              <a:rPr lang="ru-RU" sz="2200" dirty="0"/>
              <a:t> без головной блокировки.</a:t>
            </a:r>
          </a:p>
          <a:p>
            <a:pPr>
              <a:buFont typeface="Arial" panose="020B0604020202020204" pitchFamily="34" charset="0"/>
              <a:buChar char="•"/>
            </a:pPr>
            <a:r>
              <a:rPr lang="ru-RU" sz="2200" b="1" dirty="0"/>
              <a:t>Встроенную безопасность</a:t>
            </a:r>
            <a:r>
              <a:rPr lang="ru-RU" sz="2200" dirty="0"/>
              <a:t> (всё шифруется).</a:t>
            </a:r>
          </a:p>
          <a:p>
            <a:pPr>
              <a:buFont typeface="Arial" panose="020B0604020202020204" pitchFamily="34" charset="0"/>
              <a:buChar char="•"/>
            </a:pPr>
            <a:r>
              <a:rPr lang="ru-RU" sz="2200" b="1" dirty="0"/>
              <a:t>Гибкое управление потоком</a:t>
            </a:r>
            <a:r>
              <a:rPr lang="ru-RU" sz="2200" dirty="0"/>
              <a:t>.</a:t>
            </a:r>
          </a:p>
          <a:p>
            <a:pPr>
              <a:buFont typeface="Arial" panose="020B0604020202020204" pitchFamily="34" charset="0"/>
              <a:buChar char="•"/>
            </a:pPr>
            <a:r>
              <a:rPr lang="ru-RU" sz="2200" b="1" dirty="0"/>
              <a:t>Миграцию соединений</a:t>
            </a:r>
            <a:r>
              <a:rPr lang="ru-RU" sz="2200" dirty="0"/>
              <a:t>.</a:t>
            </a:r>
          </a:p>
          <a:p>
            <a:pPr>
              <a:buFont typeface="Arial" panose="020B0604020202020204" pitchFamily="34" charset="0"/>
              <a:buChar char="•"/>
            </a:pPr>
            <a:r>
              <a:rPr lang="ru-RU" sz="2200" b="1" dirty="0"/>
              <a:t>Адаптированное сжатие заголовков</a:t>
            </a:r>
            <a:r>
              <a:rPr lang="ru-RU" sz="2200" dirty="0"/>
              <a:t> QPACK, не нарушающее мультиплексирование.</a:t>
            </a:r>
          </a:p>
          <a:p>
            <a:endParaRPr lang="ru-RU" sz="2200" dirty="0"/>
          </a:p>
          <a:p>
            <a:r>
              <a:rPr lang="ru-RU" sz="2200" dirty="0"/>
              <a:t>Все эти уровни работают согласованно, чтобы HTTP/3 стал эффективной заменой HTTP/2 в условиях высоких задержек, потери пакетов и частой смены сетей.</a:t>
            </a:r>
          </a:p>
        </p:txBody>
      </p:sp>
    </p:spTree>
    <p:extLst>
      <p:ext uri="{BB962C8B-B14F-4D97-AF65-F5344CB8AC3E}">
        <p14:creationId xmlns:p14="http://schemas.microsoft.com/office/powerpoint/2010/main" val="361464623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B4B626-A424-4757-BD94-53964035F356}"/>
              </a:ext>
            </a:extLst>
          </p:cNvPr>
          <p:cNvSpPr txBox="1"/>
          <p:nvPr/>
        </p:nvSpPr>
        <p:spPr>
          <a:xfrm>
            <a:off x="542924" y="161836"/>
            <a:ext cx="11058525" cy="646331"/>
          </a:xfrm>
          <a:prstGeom prst="rect">
            <a:avLst/>
          </a:prstGeom>
          <a:noFill/>
        </p:spPr>
        <p:txBody>
          <a:bodyPr wrap="square">
            <a:spAutoFit/>
          </a:bodyPr>
          <a:lstStyle/>
          <a:p>
            <a:r>
              <a:rPr lang="ru-RU" b="1" dirty="0"/>
              <a:t>Преимущества HTTP/3 на практике</a:t>
            </a:r>
            <a:r>
              <a:rPr lang="ru-RU" dirty="0"/>
              <a:t> — это не просто теоретические улучшения протокола, а реальные эффекты, которые ощущают пользователи, разработчики и владельцы сервисов</a:t>
            </a:r>
            <a:endParaRPr lang="en-US" dirty="0"/>
          </a:p>
        </p:txBody>
      </p:sp>
      <p:sp>
        <p:nvSpPr>
          <p:cNvPr id="8" name="TextBox 7">
            <a:extLst>
              <a:ext uri="{FF2B5EF4-FFF2-40B4-BE49-F238E27FC236}">
                <a16:creationId xmlns:a16="http://schemas.microsoft.com/office/drawing/2014/main" id="{5DCB0CB5-44B2-4F68-AE9B-3C7260992566}"/>
              </a:ext>
            </a:extLst>
          </p:cNvPr>
          <p:cNvSpPr txBox="1"/>
          <p:nvPr/>
        </p:nvSpPr>
        <p:spPr>
          <a:xfrm>
            <a:off x="333375" y="751344"/>
            <a:ext cx="11401425" cy="3416320"/>
          </a:xfrm>
          <a:prstGeom prst="rect">
            <a:avLst/>
          </a:prstGeom>
          <a:noFill/>
        </p:spPr>
        <p:txBody>
          <a:bodyPr wrap="square">
            <a:spAutoFit/>
          </a:bodyPr>
          <a:lstStyle/>
          <a:p>
            <a:r>
              <a:rPr lang="ru-RU" b="1" dirty="0"/>
              <a:t>1. Более быстрая загрузка веб-страниц</a:t>
            </a:r>
          </a:p>
          <a:p>
            <a:r>
              <a:rPr lang="ru-RU" b="1" dirty="0"/>
              <a:t>В чём выражается:</a:t>
            </a:r>
            <a:endParaRPr lang="ru-RU" dirty="0"/>
          </a:p>
          <a:p>
            <a:pPr>
              <a:buFont typeface="Arial" panose="020B0604020202020204" pitchFamily="34" charset="0"/>
              <a:buChar char="•"/>
            </a:pPr>
            <a:r>
              <a:rPr lang="ru-RU" dirty="0"/>
              <a:t>Сокращение времени до первого байта (TTFB) благодаря </a:t>
            </a:r>
            <a:r>
              <a:rPr lang="ru-RU" b="1" dirty="0"/>
              <a:t>0-RTT</a:t>
            </a:r>
            <a:r>
              <a:rPr lang="ru-RU" dirty="0"/>
              <a:t> при повторных посещениях.</a:t>
            </a:r>
          </a:p>
          <a:p>
            <a:pPr>
              <a:buFont typeface="Arial" panose="020B0604020202020204" pitchFamily="34" charset="0"/>
              <a:buChar char="•"/>
            </a:pPr>
            <a:r>
              <a:rPr lang="ru-RU" dirty="0"/>
              <a:t>Уменьшение времени полной загрузки страницы за счёт устранения головной блокировки (</a:t>
            </a:r>
            <a:r>
              <a:rPr lang="ru-RU" dirty="0" err="1"/>
              <a:t>HoL</a:t>
            </a:r>
            <a:r>
              <a:rPr lang="ru-RU" dirty="0"/>
              <a:t> </a:t>
            </a:r>
            <a:r>
              <a:rPr lang="ru-RU" dirty="0" err="1"/>
              <a:t>blocking</a:t>
            </a:r>
            <a:r>
              <a:rPr lang="ru-RU" dirty="0"/>
              <a:t>) на транспорте.</a:t>
            </a:r>
          </a:p>
          <a:p>
            <a:r>
              <a:rPr lang="ru-RU" b="1" dirty="0"/>
              <a:t>Пример:</a:t>
            </a:r>
            <a:br>
              <a:rPr lang="ru-RU" dirty="0"/>
            </a:br>
            <a:r>
              <a:rPr lang="ru-RU" dirty="0"/>
              <a:t>Пользователь заходит на новостной сайт через мобильное соединение с RTT 100 </a:t>
            </a:r>
            <a:r>
              <a:rPr lang="ru-RU" dirty="0" err="1"/>
              <a:t>мс</a:t>
            </a:r>
            <a:r>
              <a:rPr lang="ru-RU" dirty="0"/>
              <a:t> и потерей пакетов 2%. При HTTP/2 потеря одного пакета может задержать всю страницу на ~200–300 </a:t>
            </a:r>
            <a:r>
              <a:rPr lang="ru-RU" dirty="0" err="1"/>
              <a:t>мс</a:t>
            </a:r>
            <a:r>
              <a:rPr lang="ru-RU" dirty="0"/>
              <a:t> (повторная передача). В HTTP/3 задерживается только тот ресурс, чей пакет потерян, остальные загружаются параллельно.</a:t>
            </a:r>
          </a:p>
          <a:p>
            <a:r>
              <a:rPr lang="ru-RU" b="1" dirty="0"/>
              <a:t>Данные:</a:t>
            </a:r>
            <a:br>
              <a:rPr lang="ru-RU" dirty="0"/>
            </a:br>
            <a:r>
              <a:rPr lang="ru-RU" dirty="0" err="1"/>
              <a:t>Cloudflare</a:t>
            </a:r>
            <a:r>
              <a:rPr lang="ru-RU" dirty="0"/>
              <a:t> в своих тестах зафиксировала сокращение времени загрузки страниц на </a:t>
            </a:r>
            <a:r>
              <a:rPr lang="ru-RU" b="1" dirty="0"/>
              <a:t>12–20%</a:t>
            </a:r>
            <a:r>
              <a:rPr lang="ru-RU" dirty="0"/>
              <a:t> для мобильных пользователей при использовании HTTP/3 по сравнению с HTTP/2.</a:t>
            </a:r>
          </a:p>
        </p:txBody>
      </p:sp>
      <p:sp>
        <p:nvSpPr>
          <p:cNvPr id="10" name="TextBox 9">
            <a:extLst>
              <a:ext uri="{FF2B5EF4-FFF2-40B4-BE49-F238E27FC236}">
                <a16:creationId xmlns:a16="http://schemas.microsoft.com/office/drawing/2014/main" id="{88D77E51-3D8E-4823-80E3-D820574DBCE0}"/>
              </a:ext>
            </a:extLst>
          </p:cNvPr>
          <p:cNvSpPr txBox="1"/>
          <p:nvPr/>
        </p:nvSpPr>
        <p:spPr>
          <a:xfrm>
            <a:off x="333375" y="4167664"/>
            <a:ext cx="11401425" cy="2585323"/>
          </a:xfrm>
          <a:prstGeom prst="rect">
            <a:avLst/>
          </a:prstGeom>
          <a:noFill/>
        </p:spPr>
        <p:txBody>
          <a:bodyPr wrap="square">
            <a:spAutoFit/>
          </a:bodyPr>
          <a:lstStyle/>
          <a:p>
            <a:r>
              <a:rPr lang="ru-RU" b="1" dirty="0"/>
              <a:t>2. Устойчивость к потере пакетов</a:t>
            </a:r>
          </a:p>
          <a:p>
            <a:r>
              <a:rPr lang="ru-RU" b="1" dirty="0"/>
              <a:t>В чём выражается:</a:t>
            </a:r>
            <a:br>
              <a:rPr lang="ru-RU" dirty="0"/>
            </a:br>
            <a:r>
              <a:rPr lang="ru-RU" dirty="0"/>
              <a:t>В условиях нестабильной сети (мобильная связь, </a:t>
            </a:r>
            <a:r>
              <a:rPr lang="ru-RU" dirty="0" err="1"/>
              <a:t>Wi-Fi</a:t>
            </a:r>
            <a:r>
              <a:rPr lang="ru-RU" dirty="0"/>
              <a:t> с помехами, перегруженные каналы) QUIC продолжает передачу данных в незатронутых потоках, тогда как TCP блокирует все данные до повторной отправки потерянного сегмента.</a:t>
            </a:r>
          </a:p>
          <a:p>
            <a:r>
              <a:rPr lang="ru-RU" b="1" dirty="0"/>
              <a:t>Пример:</a:t>
            </a:r>
            <a:br>
              <a:rPr lang="ru-RU" dirty="0"/>
            </a:br>
            <a:r>
              <a:rPr lang="ru-RU" dirty="0"/>
              <a:t>Видеозвонок (</a:t>
            </a:r>
            <a:r>
              <a:rPr lang="ru-RU" dirty="0" err="1"/>
              <a:t>WebRTC</a:t>
            </a:r>
            <a:r>
              <a:rPr lang="ru-RU" dirty="0"/>
              <a:t> поверх HTTP/3) при потере 5% пакетов остаётся плавным, так как видео-поток не ждёт восстановления пакета из аудио-потока. В TCP-сценарии (например, старые реализации видеоконференций) заметны «замирания» картинки и звука.</a:t>
            </a:r>
          </a:p>
        </p:txBody>
      </p:sp>
    </p:spTree>
    <p:extLst>
      <p:ext uri="{BB962C8B-B14F-4D97-AF65-F5344CB8AC3E}">
        <p14:creationId xmlns:p14="http://schemas.microsoft.com/office/powerpoint/2010/main" val="266014367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06916A-BDC9-46F5-A615-0F0BEB38D03F}"/>
              </a:ext>
            </a:extLst>
          </p:cNvPr>
          <p:cNvSpPr txBox="1"/>
          <p:nvPr/>
        </p:nvSpPr>
        <p:spPr>
          <a:xfrm>
            <a:off x="228600" y="204818"/>
            <a:ext cx="11725275" cy="3139321"/>
          </a:xfrm>
          <a:prstGeom prst="rect">
            <a:avLst/>
          </a:prstGeom>
          <a:noFill/>
        </p:spPr>
        <p:txBody>
          <a:bodyPr wrap="square">
            <a:spAutoFit/>
          </a:bodyPr>
          <a:lstStyle/>
          <a:p>
            <a:r>
              <a:rPr lang="ru-RU" b="1" dirty="0"/>
              <a:t>3. Бесшовная смена сети (миграция соединения)</a:t>
            </a:r>
          </a:p>
          <a:p>
            <a:r>
              <a:rPr lang="ru-RU" b="1" dirty="0"/>
              <a:t>В чём выражается:</a:t>
            </a:r>
            <a:br>
              <a:rPr lang="ru-RU" dirty="0"/>
            </a:br>
            <a:r>
              <a:rPr lang="ru-RU" dirty="0"/>
              <a:t>Пользователь переключается с </a:t>
            </a:r>
            <a:r>
              <a:rPr lang="ru-RU" dirty="0" err="1"/>
              <a:t>Wi-Fi</a:t>
            </a:r>
            <a:r>
              <a:rPr lang="ru-RU" dirty="0"/>
              <a:t> на мобильные данные (или наоборот) без разрыва соединения и потери данных. Видео не прерывается, файл продолжает загружаться, форма не сбрасывается.</a:t>
            </a:r>
          </a:p>
          <a:p>
            <a:r>
              <a:rPr lang="ru-RU" b="1" dirty="0"/>
              <a:t>Пример:</a:t>
            </a:r>
            <a:br>
              <a:rPr lang="ru-RU" dirty="0"/>
            </a:br>
            <a:r>
              <a:rPr lang="ru-RU" dirty="0"/>
              <a:t>Человек начинает смотреть видео в браузере на смартфоне дома через </a:t>
            </a:r>
            <a:r>
              <a:rPr lang="ru-RU" dirty="0" err="1"/>
              <a:t>Wi-Fi</a:t>
            </a:r>
            <a:r>
              <a:rPr lang="ru-RU" dirty="0"/>
              <a:t>, выходит на улицу — видео продолжает воспроизводиться без паузы и перезагрузки. При HTTP/2 и TCP произошёл бы обрыв соединения, требовалось бы переустановка TLS и повторный запрос.</a:t>
            </a:r>
          </a:p>
          <a:p>
            <a:r>
              <a:rPr lang="ru-RU" b="1" dirty="0"/>
              <a:t>Реальное внедрение:</a:t>
            </a:r>
            <a:br>
              <a:rPr lang="ru-RU" dirty="0"/>
            </a:br>
            <a:r>
              <a:rPr lang="ru-RU" dirty="0"/>
              <a:t>Это особенно ценно для мобильных операторов и сервисов с длительными сессиями (потоковое видео, онлайн-игры, </a:t>
            </a:r>
            <a:r>
              <a:rPr lang="ru-RU" dirty="0" err="1"/>
              <a:t>SaaS</a:t>
            </a:r>
            <a:r>
              <a:rPr lang="ru-RU" dirty="0"/>
              <a:t>-приложения).</a:t>
            </a:r>
          </a:p>
        </p:txBody>
      </p:sp>
      <p:sp>
        <p:nvSpPr>
          <p:cNvPr id="5" name="TextBox 4">
            <a:extLst>
              <a:ext uri="{FF2B5EF4-FFF2-40B4-BE49-F238E27FC236}">
                <a16:creationId xmlns:a16="http://schemas.microsoft.com/office/drawing/2014/main" id="{1E92652E-3C9E-4808-98AC-918224215E23}"/>
              </a:ext>
            </a:extLst>
          </p:cNvPr>
          <p:cNvSpPr txBox="1"/>
          <p:nvPr/>
        </p:nvSpPr>
        <p:spPr>
          <a:xfrm>
            <a:off x="238125" y="3344139"/>
            <a:ext cx="11715750" cy="3139321"/>
          </a:xfrm>
          <a:prstGeom prst="rect">
            <a:avLst/>
          </a:prstGeom>
          <a:noFill/>
        </p:spPr>
        <p:txBody>
          <a:bodyPr wrap="square">
            <a:spAutoFit/>
          </a:bodyPr>
          <a:lstStyle/>
          <a:p>
            <a:r>
              <a:rPr lang="ru-RU" b="1" dirty="0"/>
              <a:t>4. Улучшенная безопасность и приватность</a:t>
            </a:r>
          </a:p>
          <a:p>
            <a:r>
              <a:rPr lang="ru-RU" b="1" dirty="0"/>
              <a:t>В чём выражается:</a:t>
            </a:r>
            <a:endParaRPr lang="ru-RU" dirty="0"/>
          </a:p>
          <a:p>
            <a:pPr>
              <a:buFont typeface="Arial" panose="020B0604020202020204" pitchFamily="34" charset="0"/>
              <a:buChar char="•"/>
            </a:pPr>
            <a:r>
              <a:rPr lang="ru-RU" dirty="0"/>
              <a:t>Все данные шифруются (нет опции «</a:t>
            </a:r>
            <a:r>
              <a:rPr lang="ru-RU" dirty="0" err="1"/>
              <a:t>plain</a:t>
            </a:r>
            <a:r>
              <a:rPr lang="ru-RU" dirty="0"/>
              <a:t> HTTP/3»), включая заголовки и большую часть метаинформации.</a:t>
            </a:r>
          </a:p>
          <a:p>
            <a:pPr>
              <a:buFont typeface="Arial" panose="020B0604020202020204" pitchFamily="34" charset="0"/>
              <a:buChar char="•"/>
            </a:pPr>
            <a:r>
              <a:rPr lang="ru-RU" dirty="0"/>
              <a:t>Трафик QUIC сложнее для глубокой инспекции (DPI), что снижает возможности цензуры и прослушивания в публичных сетях.</a:t>
            </a:r>
          </a:p>
          <a:p>
            <a:r>
              <a:rPr lang="ru-RU" b="1" dirty="0"/>
              <a:t>Пример:</a:t>
            </a:r>
            <a:br>
              <a:rPr lang="ru-RU" dirty="0"/>
            </a:br>
            <a:r>
              <a:rPr lang="ru-RU" dirty="0"/>
              <a:t>В странах с ограничениями интернета использование HTTP/3 затрудняет блокировку по SNI или другим признакам, так как многие поля зашифрованы. Это повышает доступность информации для пользователей.</a:t>
            </a:r>
          </a:p>
          <a:p>
            <a:r>
              <a:rPr lang="ru-RU" b="1" dirty="0"/>
              <a:t>Для бизнеса:</a:t>
            </a:r>
            <a:br>
              <a:rPr lang="ru-RU" dirty="0"/>
            </a:br>
            <a:r>
              <a:rPr lang="ru-RU" dirty="0"/>
              <a:t>Снижается риск утечек данных через нешифрованные заголовки (в отличие от HTTP/2, где часть метаинформации может быть видна).</a:t>
            </a:r>
          </a:p>
        </p:txBody>
      </p:sp>
    </p:spTree>
    <p:extLst>
      <p:ext uri="{BB962C8B-B14F-4D97-AF65-F5344CB8AC3E}">
        <p14:creationId xmlns:p14="http://schemas.microsoft.com/office/powerpoint/2010/main" val="245758132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675376-E603-4587-9EFD-39F23C2EF925}"/>
              </a:ext>
            </a:extLst>
          </p:cNvPr>
          <p:cNvSpPr txBox="1"/>
          <p:nvPr/>
        </p:nvSpPr>
        <p:spPr>
          <a:xfrm>
            <a:off x="180975" y="114717"/>
            <a:ext cx="11734800" cy="2585323"/>
          </a:xfrm>
          <a:prstGeom prst="rect">
            <a:avLst/>
          </a:prstGeom>
          <a:noFill/>
        </p:spPr>
        <p:txBody>
          <a:bodyPr wrap="square">
            <a:spAutoFit/>
          </a:bodyPr>
          <a:lstStyle/>
          <a:p>
            <a:r>
              <a:rPr lang="ru-RU" b="1" dirty="0"/>
              <a:t>5. Снижение нагрузки на серверы и ускорение рукопожатий</a:t>
            </a:r>
          </a:p>
          <a:p>
            <a:r>
              <a:rPr lang="ru-RU" b="1" dirty="0"/>
              <a:t>В чём выражается:</a:t>
            </a:r>
            <a:endParaRPr lang="ru-RU" dirty="0"/>
          </a:p>
          <a:p>
            <a:pPr>
              <a:buFont typeface="Arial" panose="020B0604020202020204" pitchFamily="34" charset="0"/>
              <a:buChar char="•"/>
            </a:pPr>
            <a:r>
              <a:rPr lang="ru-RU" b="1" dirty="0"/>
              <a:t>0-RTT</a:t>
            </a:r>
            <a:r>
              <a:rPr lang="ru-RU" dirty="0"/>
              <a:t> позволяет клиентам отправлять запросы сразу, без ожидания завершения рукопожатия. Это экономит вычислительные ресурсы сервера и сокращает задержки.</a:t>
            </a:r>
          </a:p>
          <a:p>
            <a:pPr>
              <a:buFont typeface="Arial" panose="020B0604020202020204" pitchFamily="34" charset="0"/>
              <a:buChar char="•"/>
            </a:pPr>
            <a:r>
              <a:rPr lang="ru-RU" dirty="0"/>
              <a:t>Использование TLS 1.3 с более эффективным обменом ключами снижает CPU-затраты при установке соединений.</a:t>
            </a:r>
          </a:p>
          <a:p>
            <a:r>
              <a:rPr lang="ru-RU" b="1" dirty="0"/>
              <a:t>Пример:</a:t>
            </a:r>
            <a:br>
              <a:rPr lang="ru-RU" dirty="0"/>
            </a:br>
            <a:r>
              <a:rPr lang="ru-RU" dirty="0"/>
              <a:t>Крупный CDN (</a:t>
            </a:r>
            <a:r>
              <a:rPr lang="ru-RU" dirty="0" err="1"/>
              <a:t>Content</a:t>
            </a:r>
            <a:r>
              <a:rPr lang="ru-RU" dirty="0"/>
              <a:t> </a:t>
            </a:r>
            <a:r>
              <a:rPr lang="ru-RU" dirty="0" err="1"/>
              <a:t>Delivery</a:t>
            </a:r>
            <a:r>
              <a:rPr lang="ru-RU" dirty="0"/>
              <a:t> </a:t>
            </a:r>
            <a:r>
              <a:rPr lang="ru-RU" dirty="0" err="1"/>
              <a:t>Network</a:t>
            </a:r>
            <a:r>
              <a:rPr lang="ru-RU" dirty="0"/>
              <a:t>) обслуживает миллионы повторных запросов в день. Благодаря 0-RTT среднее время установки соединения сокращается с ~200–300 </a:t>
            </a:r>
            <a:r>
              <a:rPr lang="ru-RU" dirty="0" err="1"/>
              <a:t>мс</a:t>
            </a:r>
            <a:r>
              <a:rPr lang="ru-RU" dirty="0"/>
              <a:t> до ~10–50 </a:t>
            </a:r>
            <a:r>
              <a:rPr lang="ru-RU" dirty="0" err="1"/>
              <a:t>мс</a:t>
            </a:r>
            <a:r>
              <a:rPr lang="ru-RU" dirty="0"/>
              <a:t> для повторных визитов, что уменьшает количество одновременно открытых соединений и память на сервере.</a:t>
            </a:r>
          </a:p>
        </p:txBody>
      </p:sp>
      <p:sp>
        <p:nvSpPr>
          <p:cNvPr id="5" name="TextBox 4">
            <a:extLst>
              <a:ext uri="{FF2B5EF4-FFF2-40B4-BE49-F238E27FC236}">
                <a16:creationId xmlns:a16="http://schemas.microsoft.com/office/drawing/2014/main" id="{4A372AB9-BC08-4447-A81B-017AE71633B8}"/>
              </a:ext>
            </a:extLst>
          </p:cNvPr>
          <p:cNvSpPr txBox="1"/>
          <p:nvPr/>
        </p:nvSpPr>
        <p:spPr>
          <a:xfrm>
            <a:off x="276225" y="2865299"/>
            <a:ext cx="11382375" cy="2308324"/>
          </a:xfrm>
          <a:prstGeom prst="rect">
            <a:avLst/>
          </a:prstGeom>
          <a:noFill/>
        </p:spPr>
        <p:txBody>
          <a:bodyPr wrap="square">
            <a:spAutoFit/>
          </a:bodyPr>
          <a:lstStyle/>
          <a:p>
            <a:r>
              <a:rPr lang="ru-RU" b="1" dirty="0"/>
              <a:t>6. Эффективность для мобильных устройств и </a:t>
            </a:r>
            <a:r>
              <a:rPr lang="ru-RU" b="1" dirty="0" err="1"/>
              <a:t>IoT</a:t>
            </a:r>
            <a:endParaRPr lang="ru-RU" b="1" dirty="0"/>
          </a:p>
          <a:p>
            <a:r>
              <a:rPr lang="ru-RU" b="1" dirty="0"/>
              <a:t>В чём выражается:</a:t>
            </a:r>
            <a:br>
              <a:rPr lang="ru-RU" dirty="0"/>
            </a:br>
            <a:r>
              <a:rPr lang="ru-RU" dirty="0"/>
              <a:t>QUIC потребляет меньше энергии, чем TCP+TLS, благодаря уменьшению числа пакетов (объединённое рукопожатие) и более быстрому восстановлению после потерь. Это продлевает время работы батареи на мобильных устройствах.</a:t>
            </a:r>
          </a:p>
          <a:p>
            <a:r>
              <a:rPr lang="ru-RU" b="1" dirty="0"/>
              <a:t>Пример:</a:t>
            </a:r>
            <a:br>
              <a:rPr lang="ru-RU" dirty="0"/>
            </a:br>
            <a:r>
              <a:rPr lang="ru-RU" dirty="0" err="1"/>
              <a:t>IoT</a:t>
            </a:r>
            <a:r>
              <a:rPr lang="ru-RU" dirty="0"/>
              <a:t>-устройства с ограниченным питанием (датчики, носимые гаджеты) используют HTTP/3 для передачи телеметрии: сессии восстанавливаются после потери связи без повторных тяжёлых TLS-рукопожатий.</a:t>
            </a:r>
          </a:p>
        </p:txBody>
      </p:sp>
    </p:spTree>
    <p:extLst>
      <p:ext uri="{BB962C8B-B14F-4D97-AF65-F5344CB8AC3E}">
        <p14:creationId xmlns:p14="http://schemas.microsoft.com/office/powerpoint/2010/main" val="26242083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5DEABA-E863-4528-A7E3-CC66EC73BC43}"/>
              </a:ext>
            </a:extLst>
          </p:cNvPr>
          <p:cNvSpPr txBox="1"/>
          <p:nvPr/>
        </p:nvSpPr>
        <p:spPr>
          <a:xfrm>
            <a:off x="447675" y="289679"/>
            <a:ext cx="11582400" cy="2585323"/>
          </a:xfrm>
          <a:prstGeom prst="rect">
            <a:avLst/>
          </a:prstGeom>
          <a:noFill/>
        </p:spPr>
        <p:txBody>
          <a:bodyPr wrap="square">
            <a:spAutoFit/>
          </a:bodyPr>
          <a:lstStyle/>
          <a:p>
            <a:r>
              <a:rPr lang="ru-RU" b="1" dirty="0"/>
              <a:t>7. Гибкое управление приоритетами</a:t>
            </a:r>
          </a:p>
          <a:p>
            <a:r>
              <a:rPr lang="ru-RU" b="1" dirty="0"/>
              <a:t>В чём выражается:</a:t>
            </a:r>
            <a:br>
              <a:rPr lang="ru-RU" dirty="0"/>
            </a:br>
            <a:r>
              <a:rPr lang="ru-RU" dirty="0"/>
              <a:t>HTTP/3 (с QPACK и системой приоритетов </a:t>
            </a:r>
            <a:r>
              <a:rPr lang="ru-RU" dirty="0" err="1"/>
              <a:t>urgency</a:t>
            </a:r>
            <a:r>
              <a:rPr lang="ru-RU" dirty="0"/>
              <a:t>/</a:t>
            </a:r>
            <a:r>
              <a:rPr lang="ru-RU" dirty="0" err="1"/>
              <a:t>incremental</a:t>
            </a:r>
            <a:r>
              <a:rPr lang="ru-RU" dirty="0"/>
              <a:t>) позволяет браузерам точно указывать, какие ресурсы загружать в первую очередь. При этом приоритеты могут динамически меняться, а блокировка потоков не мешает более важным ресурсам.</a:t>
            </a:r>
          </a:p>
          <a:p>
            <a:r>
              <a:rPr lang="ru-RU" b="1" dirty="0"/>
              <a:t>Пример:</a:t>
            </a:r>
            <a:br>
              <a:rPr lang="ru-RU" dirty="0"/>
            </a:br>
            <a:r>
              <a:rPr lang="ru-RU" dirty="0"/>
              <a:t>При загрузке сайта браузер может установить высокий приоритет (</a:t>
            </a:r>
            <a:r>
              <a:rPr lang="ru-RU" dirty="0" err="1"/>
              <a:t>urgency</a:t>
            </a:r>
            <a:r>
              <a:rPr lang="ru-RU" dirty="0"/>
              <a:t> 0) для CSS и API, а для аналитики и изображений — низкий (</a:t>
            </a:r>
            <a:r>
              <a:rPr lang="ru-RU" dirty="0" err="1"/>
              <a:t>urgency</a:t>
            </a:r>
            <a:r>
              <a:rPr lang="ru-RU" dirty="0"/>
              <a:t> 5). Даже если изображение загружается медленно из-за потери пакетов, CSS получит полную полосу пропускания и отобразится вовремя.</a:t>
            </a:r>
          </a:p>
        </p:txBody>
      </p:sp>
      <p:sp>
        <p:nvSpPr>
          <p:cNvPr id="5" name="TextBox 4">
            <a:extLst>
              <a:ext uri="{FF2B5EF4-FFF2-40B4-BE49-F238E27FC236}">
                <a16:creationId xmlns:a16="http://schemas.microsoft.com/office/drawing/2014/main" id="{18873686-E56A-4C96-903C-1A396EB7BC58}"/>
              </a:ext>
            </a:extLst>
          </p:cNvPr>
          <p:cNvSpPr txBox="1"/>
          <p:nvPr/>
        </p:nvSpPr>
        <p:spPr>
          <a:xfrm>
            <a:off x="552449" y="3073390"/>
            <a:ext cx="10772775" cy="2308324"/>
          </a:xfrm>
          <a:prstGeom prst="rect">
            <a:avLst/>
          </a:prstGeom>
          <a:noFill/>
        </p:spPr>
        <p:txBody>
          <a:bodyPr wrap="square">
            <a:spAutoFit/>
          </a:bodyPr>
          <a:lstStyle/>
          <a:p>
            <a:r>
              <a:rPr lang="ru-RU" b="1" dirty="0"/>
              <a:t>8. Совместимость и постепенное внедрение</a:t>
            </a:r>
          </a:p>
          <a:p>
            <a:r>
              <a:rPr lang="ru-RU" b="1" dirty="0"/>
              <a:t>В чём выражается:</a:t>
            </a:r>
            <a:br>
              <a:rPr lang="ru-RU" dirty="0"/>
            </a:br>
            <a:r>
              <a:rPr lang="ru-RU" dirty="0"/>
              <a:t>HTTP/3 реализован поверх UDP, что позволяет работать через существующие сетевые устройства, а при блокировке UDP клиенты автоматически откатываются на HTTP/2 или HTTP/1.1.</a:t>
            </a:r>
          </a:p>
          <a:p>
            <a:r>
              <a:rPr lang="ru-RU" b="1" dirty="0"/>
              <a:t>Пример:</a:t>
            </a:r>
            <a:br>
              <a:rPr lang="ru-RU" dirty="0"/>
            </a:br>
            <a:r>
              <a:rPr lang="ru-RU" dirty="0"/>
              <a:t>В корпоративных сетях, где администраторы блокируют неизвестный UDP-трафик, браузеры (</a:t>
            </a:r>
            <a:r>
              <a:rPr lang="ru-RU" dirty="0" err="1"/>
              <a:t>Chrome</a:t>
            </a:r>
            <a:r>
              <a:rPr lang="ru-RU" dirty="0"/>
              <a:t>, </a:t>
            </a:r>
            <a:r>
              <a:rPr lang="ru-RU" dirty="0" err="1"/>
              <a:t>Firefox</a:t>
            </a:r>
            <a:r>
              <a:rPr lang="ru-RU" dirty="0"/>
              <a:t>) переключаются на HTTP/2 без потери функциональности. Это позволяет внедрять HTTP/3 без риска полной недоступности сервисов.</a:t>
            </a:r>
          </a:p>
        </p:txBody>
      </p:sp>
    </p:spTree>
    <p:extLst>
      <p:ext uri="{BB962C8B-B14F-4D97-AF65-F5344CB8AC3E}">
        <p14:creationId xmlns:p14="http://schemas.microsoft.com/office/powerpoint/2010/main" val="387722467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02CDF3B-0337-44CF-BF7A-33826B5FDE83}"/>
              </a:ext>
            </a:extLst>
          </p:cNvPr>
          <p:cNvSpPr txBox="1"/>
          <p:nvPr/>
        </p:nvSpPr>
        <p:spPr>
          <a:xfrm>
            <a:off x="447674" y="154365"/>
            <a:ext cx="11458575" cy="2308324"/>
          </a:xfrm>
          <a:prstGeom prst="rect">
            <a:avLst/>
          </a:prstGeom>
          <a:noFill/>
        </p:spPr>
        <p:txBody>
          <a:bodyPr wrap="square">
            <a:spAutoFit/>
          </a:bodyPr>
          <a:lstStyle/>
          <a:p>
            <a:r>
              <a:rPr lang="ru-RU" b="1" dirty="0"/>
              <a:t>9. Улучшение метрик </a:t>
            </a:r>
            <a:r>
              <a:rPr lang="ru-RU" b="1" dirty="0" err="1"/>
              <a:t>Core</a:t>
            </a:r>
            <a:r>
              <a:rPr lang="ru-RU" b="1" dirty="0"/>
              <a:t> </a:t>
            </a:r>
            <a:r>
              <a:rPr lang="ru-RU" b="1" dirty="0" err="1"/>
              <a:t>Web</a:t>
            </a:r>
            <a:r>
              <a:rPr lang="ru-RU" b="1" dirty="0"/>
              <a:t> </a:t>
            </a:r>
            <a:r>
              <a:rPr lang="ru-RU" b="1" dirty="0" err="1"/>
              <a:t>Vitals</a:t>
            </a:r>
            <a:endParaRPr lang="ru-RU" b="1" dirty="0"/>
          </a:p>
          <a:p>
            <a:r>
              <a:rPr lang="ru-RU" b="1" dirty="0"/>
              <a:t>В чём выражается:</a:t>
            </a:r>
            <a:br>
              <a:rPr lang="ru-RU" dirty="0"/>
            </a:br>
            <a:r>
              <a:rPr lang="ru-RU" dirty="0"/>
              <a:t>Сокращение времени загрузки, уменьшение задержек и стабильность при смене сети положительно влияют на показатели </a:t>
            </a:r>
            <a:r>
              <a:rPr lang="ru-RU" dirty="0" err="1"/>
              <a:t>Google</a:t>
            </a:r>
            <a:r>
              <a:rPr lang="ru-RU" dirty="0"/>
              <a:t> </a:t>
            </a:r>
            <a:r>
              <a:rPr lang="ru-RU" b="1" dirty="0" err="1"/>
              <a:t>Largest</a:t>
            </a:r>
            <a:r>
              <a:rPr lang="ru-RU" b="1" dirty="0"/>
              <a:t> </a:t>
            </a:r>
            <a:r>
              <a:rPr lang="ru-RU" b="1" dirty="0" err="1"/>
              <a:t>Contentful</a:t>
            </a:r>
            <a:r>
              <a:rPr lang="ru-RU" b="1" dirty="0"/>
              <a:t> </a:t>
            </a:r>
            <a:r>
              <a:rPr lang="ru-RU" b="1" dirty="0" err="1"/>
              <a:t>Paint</a:t>
            </a:r>
            <a:r>
              <a:rPr lang="ru-RU" b="1" dirty="0"/>
              <a:t> (LCP)</a:t>
            </a:r>
            <a:r>
              <a:rPr lang="ru-RU" dirty="0"/>
              <a:t> и </a:t>
            </a:r>
            <a:r>
              <a:rPr lang="ru-RU" b="1" dirty="0" err="1"/>
              <a:t>First</a:t>
            </a:r>
            <a:r>
              <a:rPr lang="ru-RU" b="1" dirty="0"/>
              <a:t> </a:t>
            </a:r>
            <a:r>
              <a:rPr lang="ru-RU" b="1" dirty="0" err="1"/>
              <a:t>Input</a:t>
            </a:r>
            <a:r>
              <a:rPr lang="ru-RU" b="1" dirty="0"/>
              <a:t> </a:t>
            </a:r>
            <a:r>
              <a:rPr lang="ru-RU" b="1" dirty="0" err="1"/>
              <a:t>Delay</a:t>
            </a:r>
            <a:r>
              <a:rPr lang="ru-RU" b="1" dirty="0"/>
              <a:t> (FID)</a:t>
            </a:r>
            <a:r>
              <a:rPr lang="ru-RU" dirty="0"/>
              <a:t>, что может улучшить ранжирование в поисковой выдаче.</a:t>
            </a:r>
          </a:p>
          <a:p>
            <a:r>
              <a:rPr lang="ru-RU" b="1" dirty="0"/>
              <a:t>Пример:</a:t>
            </a:r>
            <a:br>
              <a:rPr lang="ru-RU" dirty="0"/>
            </a:br>
            <a:r>
              <a:rPr lang="ru-RU" dirty="0"/>
              <a:t>Сайты, перешедшие на HTTP/3, зафиксировали улучшение LCP на 5–10% на мобильных устройствах, что привело к небольшому росту органического трафика.</a:t>
            </a:r>
          </a:p>
        </p:txBody>
      </p:sp>
      <p:sp>
        <p:nvSpPr>
          <p:cNvPr id="5" name="Rectangle 2">
            <a:extLst>
              <a:ext uri="{FF2B5EF4-FFF2-40B4-BE49-F238E27FC236}">
                <a16:creationId xmlns:a16="http://schemas.microsoft.com/office/drawing/2014/main" id="{1D3A601B-FCC5-4712-8226-7F785BAC3DF4}"/>
              </a:ext>
            </a:extLst>
          </p:cNvPr>
          <p:cNvSpPr>
            <a:spLocks noChangeArrowheads="1"/>
          </p:cNvSpPr>
          <p:nvPr/>
        </p:nvSpPr>
        <p:spPr bwMode="auto">
          <a:xfrm>
            <a:off x="447674" y="2367677"/>
            <a:ext cx="1033462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10. </a:t>
            </a:r>
            <a:r>
              <a:rPr kumimoji="0" lang="en-US" altLang="en-US" b="1" i="0" u="none" strike="noStrike" cap="none" normalizeH="0" baseline="0" dirty="0" err="1">
                <a:ln>
                  <a:noFill/>
                </a:ln>
                <a:solidFill>
                  <a:schemeClr val="tx1"/>
                </a:solidFill>
                <a:effectLst/>
                <a:latin typeface="Arial" panose="020B0604020202020204" pitchFamily="34" charset="0"/>
              </a:rPr>
              <a:t>Готовность</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экосистемы</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В </a:t>
            </a:r>
            <a:r>
              <a:rPr kumimoji="0" lang="en-US" altLang="en-US" b="1" i="0" u="none" strike="noStrike" cap="none" normalizeH="0" baseline="0" dirty="0" err="1">
                <a:ln>
                  <a:noFill/>
                </a:ln>
                <a:solidFill>
                  <a:schemeClr val="tx1"/>
                </a:solidFill>
                <a:effectLst/>
                <a:latin typeface="Arial" panose="020B0604020202020204" pitchFamily="34" charset="0"/>
              </a:rPr>
              <a:t>чём</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выражается</a:t>
            </a:r>
            <a:r>
              <a:rPr kumimoji="0" lang="en-US" altLang="en-US" b="1" i="0" u="none" strike="noStrike" cap="none" normalizeH="0" baseline="0" dirty="0">
                <a:ln>
                  <a:noFill/>
                </a:ln>
                <a:solidFill>
                  <a:schemeClr val="tx1"/>
                </a:solidFill>
                <a:effectLst/>
                <a:latin typeface="Arial" panose="020B0604020202020204" pitchFamily="34" charset="0"/>
              </a:rPr>
              <a:t>:</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Все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современные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браузеры</a:t>
            </a:r>
            <a:r>
              <a:rPr kumimoji="0" lang="en-US" altLang="en-US" b="0" i="0" u="none" strike="noStrike" cap="none" normalizeH="0" baseline="0" dirty="0">
                <a:ln>
                  <a:noFill/>
                </a:ln>
                <a:solidFill>
                  <a:schemeClr val="tx1"/>
                </a:solidFill>
                <a:effectLst/>
                <a:latin typeface="Arial" panose="020B0604020202020204" pitchFamily="34" charset="0"/>
              </a:rPr>
              <a:t> (Chrome, Firefox, Edge, Safari) </a:t>
            </a:r>
            <a:r>
              <a:rPr kumimoji="0" lang="en-US" altLang="en-US" b="0" i="0" u="none" strike="noStrike" cap="none" normalizeH="0" baseline="0" dirty="0" err="1">
                <a:ln>
                  <a:noFill/>
                </a:ln>
                <a:solidFill>
                  <a:schemeClr val="tx1"/>
                </a:solidFill>
                <a:effectLst/>
                <a:latin typeface="Arial" panose="020B0604020202020204" pitchFamily="34" charset="0"/>
              </a:rPr>
              <a:t>поддерживают</a:t>
            </a:r>
            <a:r>
              <a:rPr kumimoji="0" lang="en-US" altLang="en-US" b="0" i="0" u="none" strike="noStrike" cap="none" normalizeH="0" baseline="0" dirty="0">
                <a:ln>
                  <a:noFill/>
                </a:ln>
                <a:solidFill>
                  <a:schemeClr val="tx1"/>
                </a:solidFill>
                <a:effectLst/>
                <a:latin typeface="Arial" panose="020B0604020202020204" pitchFamily="34" charset="0"/>
              </a:rPr>
              <a:t> HTTP/3. </a:t>
            </a:r>
            <a:r>
              <a:rPr kumimoji="0" lang="en-US" altLang="en-US" b="0" i="0" u="none" strike="noStrike" cap="none" normalizeH="0" baseline="0" dirty="0" err="1">
                <a:ln>
                  <a:noFill/>
                </a:ln>
                <a:solidFill>
                  <a:schemeClr val="tx1"/>
                </a:solidFill>
                <a:effectLst/>
                <a:latin typeface="Arial" panose="020B0604020202020204" pitchFamily="34" charset="0"/>
              </a:rPr>
              <a:t>Крупные</a:t>
            </a:r>
            <a:r>
              <a:rPr kumimoji="0" lang="en-US" altLang="en-US" b="0" i="0" u="none" strike="noStrike" cap="none" normalizeH="0" baseline="0" dirty="0">
                <a:ln>
                  <a:noFill/>
                </a:ln>
                <a:solidFill>
                  <a:schemeClr val="tx1"/>
                </a:solidFill>
                <a:effectLst/>
                <a:latin typeface="Arial" panose="020B0604020202020204" pitchFamily="34" charset="0"/>
              </a:rPr>
              <a:t> CDN (Cloudflare, Fastly, Akamai), </a:t>
            </a:r>
            <a:r>
              <a:rPr kumimoji="0" lang="en-US" altLang="en-US" b="0" i="0" u="none" strike="noStrike" cap="none" normalizeH="0" baseline="0" dirty="0" err="1">
                <a:ln>
                  <a:noFill/>
                </a:ln>
                <a:solidFill>
                  <a:schemeClr val="tx1"/>
                </a:solidFill>
                <a:effectLst/>
                <a:latin typeface="Arial" panose="020B0604020202020204" pitchFamily="34" charset="0"/>
              </a:rPr>
              <a:t>веб-серверы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nginx</a:t>
            </a:r>
            <a:r>
              <a:rPr kumimoji="0" lang="en-US" altLang="en-US" b="0" i="0" u="none" strike="noStrike" cap="none" normalizeH="0" baseline="0" dirty="0">
                <a:ln>
                  <a:noFill/>
                </a:ln>
                <a:solidFill>
                  <a:schemeClr val="tx1"/>
                </a:solidFill>
                <a:effectLst/>
                <a:latin typeface="Arial" panose="020B0604020202020204" pitchFamily="34" charset="0"/>
              </a:rPr>
              <a:t>, Apache с mod_http3), </a:t>
            </a:r>
            <a:r>
              <a:rPr kumimoji="0" lang="en-US" altLang="en-US" b="0" i="0" u="none" strike="noStrike" cap="none" normalizeH="0" baseline="0" dirty="0" err="1">
                <a:ln>
                  <a:noFill/>
                </a:ln>
                <a:solidFill>
                  <a:schemeClr val="tx1"/>
                </a:solidFill>
                <a:effectLst/>
                <a:latin typeface="Arial" panose="020B0604020202020204" pitchFamily="34" charset="0"/>
              </a:rPr>
              <a:t>языковые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библиотеки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aioquic</a:t>
            </a:r>
            <a:r>
              <a:rPr kumimoji="0" lang="en-US" altLang="en-US" b="0" i="0" u="none" strike="noStrike" cap="none" normalizeH="0" baseline="0" dirty="0">
                <a:ln>
                  <a:noFill/>
                </a:ln>
                <a:solidFill>
                  <a:schemeClr val="tx1"/>
                </a:solidFill>
                <a:effectLst/>
                <a:latin typeface="Arial" panose="020B0604020202020204" pitchFamily="34" charset="0"/>
              </a:rPr>
              <a:t>, quiche) и </a:t>
            </a:r>
            <a:r>
              <a:rPr kumimoji="0" lang="en-US" altLang="en-US" b="0" i="0" u="none" strike="noStrike" cap="none" normalizeH="0" baseline="0" dirty="0" err="1">
                <a:ln>
                  <a:noFill/>
                </a:ln>
                <a:solidFill>
                  <a:schemeClr val="tx1"/>
                </a:solidFill>
                <a:effectLst/>
                <a:latin typeface="Arial" panose="020B0604020202020204" pitchFamily="34" charset="0"/>
              </a:rPr>
              <a:t>фреймворки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уже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имеют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зрелую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поддержку</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Пример</a:t>
            </a:r>
            <a:r>
              <a:rPr kumimoji="0" lang="en-US" altLang="en-US" b="1" i="0" u="none" strike="noStrike" cap="none" normalizeH="0" baseline="0" dirty="0">
                <a:ln>
                  <a:noFill/>
                </a:ln>
                <a:solidFill>
                  <a:schemeClr val="tx1"/>
                </a:solidFill>
                <a:effectLst/>
                <a:latin typeface="Arial" panose="020B0604020202020204" pitchFamily="34" charset="0"/>
              </a:rPr>
              <a:t>:</a:t>
            </a:r>
            <a:br>
              <a:rPr kumimoji="0" lang="en-US" altLang="en-US" b="0" i="0" u="none" strike="noStrike" cap="none" normalizeH="0" baseline="0" dirty="0">
                <a:ln>
                  <a:noFill/>
                </a:ln>
                <a:solidFill>
                  <a:schemeClr val="tx1"/>
                </a:solidFill>
                <a:effectLst/>
                <a:latin typeface="Arial" panose="020B0604020202020204" pitchFamily="34" charset="0"/>
              </a:rPr>
            </a:br>
            <a:r>
              <a:rPr kumimoji="0" lang="en-US" altLang="en-US" b="0" i="0" u="none" strike="noStrike" cap="none" normalizeH="0" baseline="0" dirty="0" err="1">
                <a:ln>
                  <a:noFill/>
                </a:ln>
                <a:solidFill>
                  <a:schemeClr val="tx1"/>
                </a:solidFill>
                <a:effectLst/>
                <a:latin typeface="Arial" panose="020B0604020202020204" pitchFamily="34" charset="0"/>
              </a:rPr>
              <a:t>Разработчики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могут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включить</a:t>
            </a:r>
            <a:r>
              <a:rPr kumimoji="0" lang="en-US" altLang="en-US" b="0" i="0" u="none" strike="noStrike" cap="none" normalizeH="0" baseline="0" dirty="0">
                <a:ln>
                  <a:noFill/>
                </a:ln>
                <a:solidFill>
                  <a:schemeClr val="tx1"/>
                </a:solidFill>
                <a:effectLst/>
                <a:latin typeface="Arial" panose="020B0604020202020204" pitchFamily="34" charset="0"/>
              </a:rPr>
              <a:t> HTTP/3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своих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сайтах</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добавив</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запись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Alt-Svc: h3=":443"; ma=86400</a:t>
            </a:r>
            <a:r>
              <a:rPr kumimoji="0" lang="en-US" altLang="en-US" b="0" i="0" u="none" strike="noStrike" cap="none" normalizeH="0" baseline="0" dirty="0">
                <a:ln>
                  <a:noFill/>
                </a:ln>
                <a:solidFill>
                  <a:schemeClr val="tx1"/>
                </a:solidFill>
                <a:effectLst/>
              </a:rPr>
              <a:t> в </a:t>
            </a:r>
            <a:r>
              <a:rPr kumimoji="0" lang="en-US" altLang="en-US" b="0" i="0" u="none" strike="noStrike" cap="none" normalizeH="0" baseline="0" dirty="0" err="1">
                <a:ln>
                  <a:noFill/>
                </a:ln>
                <a:solidFill>
                  <a:schemeClr val="tx1"/>
                </a:solidFill>
                <a:effectLst/>
              </a:rPr>
              <a:t>ответы</a:t>
            </a:r>
            <a:r>
              <a:rPr kumimoji="0" lang="en-US" altLang="en-US" b="0" i="0" u="none" strike="noStrike" cap="none" normalizeH="0" baseline="0" dirty="0">
                <a:ln>
                  <a:noFill/>
                </a:ln>
                <a:solidFill>
                  <a:schemeClr val="tx1"/>
                </a:solidFill>
                <a:effectLst/>
              </a:rPr>
              <a:t> HTTP/2, и </a:t>
            </a:r>
            <a:r>
              <a:rPr kumimoji="0" lang="en-US" altLang="en-US" b="0" i="0" u="none" strike="noStrike" cap="none" normalizeH="0" baseline="0" dirty="0" err="1">
                <a:ln>
                  <a:noFill/>
                </a:ln>
                <a:solidFill>
                  <a:schemeClr val="tx1"/>
                </a:solidFill>
                <a:effectLst/>
              </a:rPr>
              <a:t>браузеры</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автоматически</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начнут</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использовать</a:t>
            </a:r>
            <a:r>
              <a:rPr kumimoji="0" lang="en-US" altLang="en-US" b="0" i="0" u="none" strike="noStrike" cap="none" normalizeH="0" baseline="0" dirty="0">
                <a:ln>
                  <a:noFill/>
                </a:ln>
                <a:solidFill>
                  <a:schemeClr val="tx1"/>
                </a:solidFill>
                <a:effectLst/>
              </a:rPr>
              <a:t> HTTP/3 </a:t>
            </a:r>
            <a:r>
              <a:rPr kumimoji="0" lang="en-US" altLang="en-US" b="0" i="0" u="none" strike="noStrike" cap="none" normalizeH="0" baseline="0" dirty="0" err="1">
                <a:ln>
                  <a:noFill/>
                </a:ln>
                <a:solidFill>
                  <a:schemeClr val="tx1"/>
                </a:solidFill>
                <a:effectLst/>
              </a:rPr>
              <a:t>для</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последующих</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подключений</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457810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0A4DD8-E7F5-4298-9F06-D86D560FA55E}"/>
              </a:ext>
            </a:extLst>
          </p:cNvPr>
          <p:cNvSpPr txBox="1"/>
          <p:nvPr/>
        </p:nvSpPr>
        <p:spPr>
          <a:xfrm>
            <a:off x="438149" y="723900"/>
            <a:ext cx="11458574" cy="2585323"/>
          </a:xfrm>
          <a:prstGeom prst="rect">
            <a:avLst/>
          </a:prstGeom>
          <a:noFill/>
        </p:spPr>
        <p:txBody>
          <a:bodyPr wrap="square">
            <a:spAutoFit/>
          </a:bodyPr>
          <a:lstStyle/>
          <a:p>
            <a:r>
              <a:rPr lang="ru-RU" dirty="0"/>
              <a:t>На практике HTTP/3 даёт:</a:t>
            </a:r>
          </a:p>
          <a:p>
            <a:pPr>
              <a:buFont typeface="Arial" panose="020B0604020202020204" pitchFamily="34" charset="0"/>
              <a:buChar char="•"/>
            </a:pPr>
            <a:r>
              <a:rPr lang="ru-RU" b="1" dirty="0"/>
              <a:t>Пользователям</a:t>
            </a:r>
            <a:r>
              <a:rPr lang="ru-RU" dirty="0"/>
              <a:t> — более быструю загрузку, плавное видео, устойчивую связь при перемещении.</a:t>
            </a:r>
          </a:p>
          <a:p>
            <a:pPr>
              <a:buFont typeface="Arial" panose="020B0604020202020204" pitchFamily="34" charset="0"/>
              <a:buChar char="•"/>
            </a:pPr>
            <a:r>
              <a:rPr lang="ru-RU" b="1" dirty="0"/>
              <a:t>Владельцам сервисов</a:t>
            </a:r>
            <a:r>
              <a:rPr lang="ru-RU" dirty="0"/>
              <a:t> — снижение нагрузки на инфраструктуру, улучшение метрик вовлечённости, повышение конверсии за счёт скорости.</a:t>
            </a:r>
          </a:p>
          <a:p>
            <a:pPr>
              <a:buFont typeface="Arial" panose="020B0604020202020204" pitchFamily="34" charset="0"/>
              <a:buChar char="•"/>
            </a:pPr>
            <a:r>
              <a:rPr lang="ru-RU" b="1" dirty="0"/>
              <a:t>Разработчикам</a:t>
            </a:r>
            <a:r>
              <a:rPr lang="ru-RU" dirty="0"/>
              <a:t> — единый, безопасный и предсказуемый транспорт для веб-приложений, упрощение кода (не нужно управлять сложными </a:t>
            </a:r>
            <a:r>
              <a:rPr lang="ru-RU" dirty="0" err="1"/>
              <a:t>fallback</a:t>
            </a:r>
            <a:r>
              <a:rPr lang="ru-RU" dirty="0"/>
              <a:t>-схемами).</a:t>
            </a:r>
          </a:p>
          <a:p>
            <a:r>
              <a:rPr lang="ru-RU" dirty="0"/>
              <a:t>Хотя не все преимущества проявляются в идеальных условиях (например, при низких задержках и нулевых потерях пакетов разница с HTTP/2 минимальна), в реальном интернете с его неоднородностью HTTP/3 становится критически важным улучшением.</a:t>
            </a:r>
          </a:p>
        </p:txBody>
      </p:sp>
    </p:spTree>
    <p:extLst>
      <p:ext uri="{BB962C8B-B14F-4D97-AF65-F5344CB8AC3E}">
        <p14:creationId xmlns:p14="http://schemas.microsoft.com/office/powerpoint/2010/main" val="420158327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1641BA-9957-4FE0-91B5-CC9470B17CFB}"/>
              </a:ext>
            </a:extLst>
          </p:cNvPr>
          <p:cNvSpPr txBox="1"/>
          <p:nvPr/>
        </p:nvSpPr>
        <p:spPr>
          <a:xfrm>
            <a:off x="876300" y="453509"/>
            <a:ext cx="6096000" cy="369332"/>
          </a:xfrm>
          <a:prstGeom prst="rect">
            <a:avLst/>
          </a:prstGeom>
          <a:noFill/>
        </p:spPr>
        <p:txBody>
          <a:bodyPr wrap="square">
            <a:spAutoFit/>
          </a:bodyPr>
          <a:lstStyle/>
          <a:p>
            <a:r>
              <a:rPr lang="ru-RU" b="1" dirty="0"/>
              <a:t>Текущее внедрение</a:t>
            </a:r>
            <a:r>
              <a:rPr lang="en-US" b="1" dirty="0"/>
              <a:t> HTTP 3.0</a:t>
            </a:r>
            <a:endParaRPr lang="ru-RU" b="1" dirty="0"/>
          </a:p>
        </p:txBody>
      </p:sp>
      <p:sp>
        <p:nvSpPr>
          <p:cNvPr id="4" name="Rectangle 1">
            <a:extLst>
              <a:ext uri="{FF2B5EF4-FFF2-40B4-BE49-F238E27FC236}">
                <a16:creationId xmlns:a16="http://schemas.microsoft.com/office/drawing/2014/main" id="{F559A196-1EB4-47C8-8E74-7E17A96C54BE}"/>
              </a:ext>
            </a:extLst>
          </p:cNvPr>
          <p:cNvSpPr>
            <a:spLocks noChangeArrowheads="1"/>
          </p:cNvSpPr>
          <p:nvPr/>
        </p:nvSpPr>
        <p:spPr bwMode="auto">
          <a:xfrm>
            <a:off x="457200" y="1083241"/>
            <a:ext cx="9324975"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1. </a:t>
            </a:r>
            <a:r>
              <a:rPr kumimoji="0" lang="en-US" altLang="en-US" sz="2000" b="1" i="0" u="none" strike="noStrike" cap="none" normalizeH="0" baseline="0" dirty="0" err="1">
                <a:ln>
                  <a:noFill/>
                </a:ln>
                <a:solidFill>
                  <a:schemeClr val="tx1"/>
                </a:solidFill>
                <a:effectLst/>
                <a:latin typeface="Arial" panose="020B0604020202020204" pitchFamily="34" charset="0"/>
              </a:rPr>
              <a:t>Общая</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статистика</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внедрения</a:t>
            </a: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Arial" panose="020B0604020202020204" pitchFamily="34" charset="0"/>
              </a:rPr>
              <a:t>Согласно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данным</a:t>
            </a:r>
            <a:r>
              <a:rPr kumimoji="0" lang="en-US" altLang="en-US" sz="2000" b="0" i="0" u="none" strike="noStrike" cap="none" normalizeH="0" baseline="0" dirty="0">
                <a:ln>
                  <a:noFill/>
                </a:ln>
                <a:solidFill>
                  <a:schemeClr val="tx1"/>
                </a:solidFill>
                <a:effectLst/>
                <a:latin typeface="Arial" panose="020B0604020202020204" pitchFamily="34" charset="0"/>
              </a:rPr>
              <a:t> W3Techs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январь</a:t>
            </a:r>
            <a:r>
              <a:rPr kumimoji="0" lang="en-US" altLang="en-US" sz="2000" b="0" i="0" u="none" strike="noStrike" cap="none" normalizeH="0" baseline="0" dirty="0">
                <a:ln>
                  <a:noFill/>
                </a:ln>
                <a:solidFill>
                  <a:schemeClr val="tx1"/>
                </a:solidFill>
                <a:effectLst/>
                <a:latin typeface="Arial" panose="020B0604020202020204" pitchFamily="34" charset="0"/>
              </a:rPr>
              <a:t> 2026 </a:t>
            </a:r>
            <a:r>
              <a:rPr kumimoji="0" lang="en-US" altLang="en-US" sz="2000" b="0" i="0" u="none" strike="noStrike" cap="none" normalizeH="0" baseline="0" dirty="0" err="1">
                <a:ln>
                  <a:noFill/>
                </a:ln>
                <a:solidFill>
                  <a:schemeClr val="tx1"/>
                </a:solidFill>
                <a:effectLst/>
                <a:latin typeface="Arial" panose="020B0604020202020204" pitchFamily="34" charset="0"/>
              </a:rPr>
              <a:t>года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36.9% </a:t>
            </a:r>
            <a:r>
              <a:rPr kumimoji="0" lang="en-US" altLang="en-US" sz="2000" b="1" i="0" u="none" strike="noStrike" cap="none" normalizeH="0" baseline="0" dirty="0" err="1">
                <a:ln>
                  <a:noFill/>
                </a:ln>
                <a:solidFill>
                  <a:schemeClr val="tx1"/>
                </a:solidFill>
                <a:effectLst/>
                <a:latin typeface="Arial" panose="020B0604020202020204" pitchFamily="34" charset="0"/>
              </a:rPr>
              <a:t>всех</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веб-сайтов</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поддерживают</a:t>
            </a:r>
            <a:r>
              <a:rPr kumimoji="0" lang="en-US" altLang="en-US" sz="2000" b="0" i="0" u="none" strike="noStrike" cap="none" normalizeH="0" baseline="0" dirty="0">
                <a:ln>
                  <a:noFill/>
                </a:ln>
                <a:solidFill>
                  <a:schemeClr val="tx1"/>
                </a:solidFill>
                <a:effectLst/>
                <a:latin typeface="Arial" panose="020B0604020202020204" pitchFamily="34" charset="0"/>
              </a:rPr>
              <a:t> HTTP/3 . </a:t>
            </a:r>
            <a:r>
              <a:rPr kumimoji="0" lang="en-US" altLang="en-US" sz="2000" b="0" i="0" u="none" strike="noStrike" cap="none" normalizeH="0" baseline="0" dirty="0" err="1">
                <a:ln>
                  <a:noFill/>
                </a:ln>
                <a:solidFill>
                  <a:schemeClr val="tx1"/>
                </a:solidFill>
                <a:effectLst/>
                <a:latin typeface="Arial" panose="020B0604020202020204" pitchFamily="34" charset="0"/>
              </a:rPr>
              <a:t>Этот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показатель</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продолжает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расти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так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как</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протокол</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даёт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значительные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преимущества</a:t>
            </a:r>
            <a:r>
              <a:rPr kumimoji="0" lang="en-US" altLang="en-US" sz="2000" b="0" i="0" u="none" strike="noStrike" cap="none" normalizeH="0" baseline="0" dirty="0">
                <a:ln>
                  <a:noFill/>
                </a:ln>
                <a:solidFill>
                  <a:schemeClr val="tx1"/>
                </a:solidFill>
                <a:effectLst/>
                <a:latin typeface="Arial" panose="020B0604020202020204" pitchFamily="34" charset="0"/>
              </a:rPr>
              <a:t> в </a:t>
            </a:r>
            <a:r>
              <a:rPr kumimoji="0" lang="en-US" altLang="en-US" sz="2000" b="0" i="0" u="none" strike="noStrike" cap="none" normalizeH="0" baseline="0" dirty="0" err="1">
                <a:ln>
                  <a:noFill/>
                </a:ln>
                <a:solidFill>
                  <a:schemeClr val="tx1"/>
                </a:solidFill>
                <a:effectLst/>
                <a:latin typeface="Arial" panose="020B0604020202020204" pitchFamily="34" charset="0"/>
              </a:rPr>
              <a:t>скорости</a:t>
            </a:r>
            <a:r>
              <a:rPr kumimoji="0" lang="en-US" altLang="en-US" sz="2000" b="0" i="0" u="none" strike="noStrike" cap="none" normalizeH="0" baseline="0" dirty="0">
                <a:ln>
                  <a:noFill/>
                </a:ln>
                <a:solidFill>
                  <a:schemeClr val="tx1"/>
                </a:solidFill>
                <a:effectLst/>
                <a:latin typeface="Arial" panose="020B0604020202020204" pitchFamily="34" charset="0"/>
              </a:rPr>
              <a:t> и </a:t>
            </a:r>
            <a:r>
              <a:rPr kumimoji="0" lang="en-US" altLang="en-US" sz="2000" b="0" i="0" u="none" strike="noStrike" cap="none" normalizeH="0" baseline="0" dirty="0" err="1">
                <a:ln>
                  <a:noFill/>
                </a:ln>
                <a:solidFill>
                  <a:schemeClr val="tx1"/>
                </a:solidFill>
                <a:effectLst/>
                <a:latin typeface="Arial" panose="020B0604020202020204" pitchFamily="34" charset="0"/>
              </a:rPr>
              <a:t>надёжности</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Arial" panose="020B0604020202020204" pitchFamily="34" charset="0"/>
              </a:rPr>
              <a:t>Особенно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высока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доля</a:t>
            </a:r>
            <a:r>
              <a:rPr kumimoji="0" lang="en-US" altLang="en-US" sz="2000" b="0" i="0" u="none" strike="noStrike" cap="none" normalizeH="0" baseline="0" dirty="0">
                <a:ln>
                  <a:noFill/>
                </a:ln>
                <a:solidFill>
                  <a:schemeClr val="tx1"/>
                </a:solidFill>
                <a:effectLst/>
                <a:latin typeface="Arial" panose="020B0604020202020204" pitchFamily="34" charset="0"/>
              </a:rPr>
              <a:t> HTTP/3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крупных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ресурсах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использующих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сети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доставки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контента</a:t>
            </a:r>
            <a:r>
              <a:rPr kumimoji="0" lang="en-US" altLang="en-US" sz="2000" b="0" i="0" u="none" strike="noStrike" cap="none" normalizeH="0" baseline="0" dirty="0">
                <a:ln>
                  <a:noFill/>
                </a:ln>
                <a:solidFill>
                  <a:schemeClr val="tx1"/>
                </a:solidFill>
                <a:effectLst/>
                <a:latin typeface="Arial" panose="020B0604020202020204" pitchFamily="34" charset="0"/>
              </a:rPr>
              <a:t> (CDN). </a:t>
            </a:r>
            <a:r>
              <a:rPr kumimoji="0" lang="en-US" altLang="en-US" sz="20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2000" b="0" i="0" u="none" strike="noStrike" cap="none" normalizeH="0" baseline="0" dirty="0">
                <a:ln>
                  <a:noFill/>
                </a:ln>
                <a:solidFill>
                  <a:schemeClr val="tx1"/>
                </a:solidFill>
                <a:effectLst/>
                <a:latin typeface="Arial" panose="020B0604020202020204" pitchFamily="34" charset="0"/>
              </a:rPr>
              <a:t>, в </a:t>
            </a:r>
            <a:r>
              <a:rPr kumimoji="0" lang="en-US" altLang="en-US" sz="2000" b="0" i="0" u="none" strike="noStrike" cap="none" normalizeH="0" baseline="0" dirty="0" err="1">
                <a:ln>
                  <a:noFill/>
                </a:ln>
                <a:solidFill>
                  <a:schemeClr val="tx1"/>
                </a:solidFill>
                <a:effectLst/>
                <a:latin typeface="Arial" panose="020B0604020202020204" pitchFamily="34" charset="0"/>
              </a:rPr>
              <a:t>сети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a:ln>
                  <a:noFill/>
                </a:ln>
                <a:solidFill>
                  <a:schemeClr val="tx1"/>
                </a:solidFill>
                <a:effectLst/>
                <a:latin typeface="Arial" panose="020B0604020202020204" pitchFamily="34" charset="0"/>
              </a:rPr>
              <a:t>Cloudflare </a:t>
            </a:r>
            <a:r>
              <a:rPr kumimoji="0" lang="en-US" altLang="en-US" sz="2000" b="1" i="0" u="none" strike="noStrike" cap="none" normalizeH="0" baseline="0" dirty="0" err="1">
                <a:ln>
                  <a:noFill/>
                </a:ln>
                <a:solidFill>
                  <a:schemeClr val="tx1"/>
                </a:solidFill>
                <a:effectLst/>
                <a:latin typeface="Arial" panose="020B0604020202020204" pitchFamily="34" charset="0"/>
              </a:rPr>
              <a:t>более</a:t>
            </a:r>
            <a:r>
              <a:rPr kumimoji="0" lang="en-US" altLang="en-US" sz="2000" b="1" i="0" u="none" strike="noStrike" cap="none" normalizeH="0" baseline="0" dirty="0">
                <a:ln>
                  <a:noFill/>
                </a:ln>
                <a:solidFill>
                  <a:schemeClr val="tx1"/>
                </a:solidFill>
                <a:effectLst/>
                <a:latin typeface="Arial" panose="020B0604020202020204" pitchFamily="34" charset="0"/>
              </a:rPr>
              <a:t> 70% </a:t>
            </a:r>
            <a:r>
              <a:rPr kumimoji="0" lang="en-US" altLang="en-US" sz="2000" b="1" i="0" u="none" strike="noStrike" cap="none" normalizeH="0" baseline="0" dirty="0" err="1">
                <a:ln>
                  <a:noFill/>
                </a:ln>
                <a:solidFill>
                  <a:schemeClr val="tx1"/>
                </a:solidFill>
                <a:effectLst/>
                <a:latin typeface="Arial" panose="020B0604020202020204" pitchFamily="34" charset="0"/>
              </a:rPr>
              <a:t>всего</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трафика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уже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передаётся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через</a:t>
            </a:r>
            <a:r>
              <a:rPr kumimoji="0" lang="en-US" altLang="en-US" sz="2000" b="0" i="0" u="none" strike="noStrike" cap="none" normalizeH="0" baseline="0" dirty="0">
                <a:ln>
                  <a:noFill/>
                </a:ln>
                <a:solidFill>
                  <a:schemeClr val="tx1"/>
                </a:solidFill>
                <a:effectLst/>
                <a:latin typeface="Arial" panose="020B0604020202020204" pitchFamily="34" charset="0"/>
              </a:rPr>
              <a:t> HTTP/3 .</a:t>
            </a:r>
          </a:p>
        </p:txBody>
      </p:sp>
      <p:sp>
        <p:nvSpPr>
          <p:cNvPr id="6" name="Rectangle 3">
            <a:extLst>
              <a:ext uri="{FF2B5EF4-FFF2-40B4-BE49-F238E27FC236}">
                <a16:creationId xmlns:a16="http://schemas.microsoft.com/office/drawing/2014/main" id="{78EC10BF-31CC-4F2B-AA6F-99EA99DE44D5}"/>
              </a:ext>
            </a:extLst>
          </p:cNvPr>
          <p:cNvSpPr>
            <a:spLocks noChangeArrowheads="1"/>
          </p:cNvSpPr>
          <p:nvPr/>
        </p:nvSpPr>
        <p:spPr bwMode="auto">
          <a:xfrm>
            <a:off x="457199" y="3429000"/>
            <a:ext cx="932497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2. </a:t>
            </a:r>
            <a:r>
              <a:rPr kumimoji="0" lang="en-US" altLang="en-US" sz="2000" b="1" i="0" u="none" strike="noStrike" cap="none" normalizeH="0" baseline="0" dirty="0" err="1">
                <a:ln>
                  <a:noFill/>
                </a:ln>
                <a:solidFill>
                  <a:schemeClr val="tx1"/>
                </a:solidFill>
                <a:effectLst/>
                <a:latin typeface="Arial" panose="020B0604020202020204" pitchFamily="34" charset="0"/>
              </a:rPr>
              <a:t>Поддержка</a:t>
            </a:r>
            <a:r>
              <a:rPr kumimoji="0" lang="en-US" altLang="en-US" sz="2000" b="1" i="0" u="none" strike="noStrike" cap="none" normalizeH="0" baseline="0" dirty="0">
                <a:ln>
                  <a:noFill/>
                </a:ln>
                <a:solidFill>
                  <a:schemeClr val="tx1"/>
                </a:solidFill>
                <a:effectLst/>
                <a:latin typeface="Arial" panose="020B0604020202020204" pitchFamily="34" charset="0"/>
              </a:rPr>
              <a:t> в </a:t>
            </a:r>
            <a:r>
              <a:rPr kumimoji="0" lang="en-US" altLang="en-US" sz="2000" b="1" i="0" u="none" strike="noStrike" cap="none" normalizeH="0" baseline="0" dirty="0" err="1">
                <a:ln>
                  <a:noFill/>
                </a:ln>
                <a:solidFill>
                  <a:schemeClr val="tx1"/>
                </a:solidFill>
                <a:effectLst/>
                <a:latin typeface="Arial" panose="020B0604020202020204" pitchFamily="34" charset="0"/>
              </a:rPr>
              <a:t>браузерах</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Клиентская</a:t>
            </a:r>
            <a:r>
              <a:rPr kumimoji="0" lang="en-US" altLang="en-US" sz="2000" b="1" i="0" u="none" strike="noStrike" cap="none" normalizeH="0" baseline="0" dirty="0">
                <a:ln>
                  <a:noFill/>
                </a:ln>
                <a:solidFill>
                  <a:schemeClr val="tx1"/>
                </a:solidFill>
                <a:effectLst/>
                <a:latin typeface="Arial" panose="020B0604020202020204" pitchFamily="34" charset="0"/>
              </a:rPr>
              <a:t> </a:t>
            </a:r>
            <a:r>
              <a:rPr kumimoji="0" lang="en-US" altLang="en-US" sz="2000" b="1" i="0" u="none" strike="noStrike" cap="none" normalizeH="0" baseline="0" dirty="0" err="1">
                <a:ln>
                  <a:noFill/>
                </a:ln>
                <a:solidFill>
                  <a:schemeClr val="tx1"/>
                </a:solidFill>
                <a:effectLst/>
                <a:latin typeface="Arial" panose="020B0604020202020204" pitchFamily="34" charset="0"/>
              </a:rPr>
              <a:t>сторона</a:t>
            </a:r>
            <a:r>
              <a:rPr kumimoji="0" lang="en-US" altLang="en-US" sz="2000" b="1"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Arial" panose="020B0604020202020204" pitchFamily="34" charset="0"/>
              </a:rPr>
              <a:t>Все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современные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браузеры</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поддерживают</a:t>
            </a:r>
            <a:r>
              <a:rPr kumimoji="0" lang="en-US" altLang="en-US" sz="2000" b="0" i="0" u="none" strike="noStrike" cap="none" normalizeH="0" baseline="0" dirty="0">
                <a:ln>
                  <a:noFill/>
                </a:ln>
                <a:solidFill>
                  <a:schemeClr val="tx1"/>
                </a:solidFill>
                <a:effectLst/>
                <a:latin typeface="Arial" panose="020B0604020202020204" pitchFamily="34" charset="0"/>
              </a:rPr>
              <a:t> HTTP/3 «</a:t>
            </a:r>
            <a:r>
              <a:rPr kumimoji="0" lang="en-US" altLang="en-US" sz="2000" b="0" i="0" u="none" strike="noStrike" cap="none" normalizeH="0" baseline="0" dirty="0" err="1">
                <a:ln>
                  <a:noFill/>
                </a:ln>
                <a:solidFill>
                  <a:schemeClr val="tx1"/>
                </a:solidFill>
                <a:effectLst/>
                <a:latin typeface="Arial" panose="020B0604020202020204" pitchFamily="34" charset="0"/>
              </a:rPr>
              <a:t>из</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коробки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протяжении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нескольких</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лет</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Пользователям</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не</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нужно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ничего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настраивать</a:t>
            </a:r>
            <a:r>
              <a:rPr kumimoji="0" lang="en-US" altLang="en-US" sz="2000" b="0" i="0" u="none" strike="noStrike" cap="none" normalizeH="0" baseline="0" dirty="0">
                <a:ln>
                  <a:noFill/>
                </a:ln>
                <a:solidFill>
                  <a:schemeClr val="tx1"/>
                </a:solidFill>
                <a:effectLst/>
                <a:latin typeface="Arial" panose="020B0604020202020204" pitchFamily="34" charset="0"/>
              </a:rPr>
              <a:t> — </a:t>
            </a:r>
            <a:r>
              <a:rPr kumimoji="0" lang="en-US" altLang="en-US" sz="2000" b="0" i="0" u="none" strike="noStrike" cap="none" normalizeH="0" baseline="0" dirty="0" err="1">
                <a:ln>
                  <a:noFill/>
                </a:ln>
                <a:solidFill>
                  <a:schemeClr val="tx1"/>
                </a:solidFill>
                <a:effectLst/>
                <a:latin typeface="Arial" panose="020B0604020202020204" pitchFamily="34" charset="0"/>
              </a:rPr>
              <a:t>протокол</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включается</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автоматически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если</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сервер</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его</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err="1">
                <a:ln>
                  <a:noFill/>
                </a:ln>
                <a:solidFill>
                  <a:schemeClr val="tx1"/>
                </a:solidFill>
                <a:effectLst/>
                <a:latin typeface="Arial" panose="020B0604020202020204" pitchFamily="34" charset="0"/>
              </a:rPr>
              <a:t>поддерживает</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8747779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20BFECC5-13F8-4777-A6C2-EC588BD08738}"/>
              </a:ext>
            </a:extLst>
          </p:cNvPr>
          <p:cNvPicPr>
            <a:picLocks noChangeAspect="1"/>
          </p:cNvPicPr>
          <p:nvPr/>
        </p:nvPicPr>
        <p:blipFill>
          <a:blip r:embed="rId2"/>
          <a:stretch>
            <a:fillRect/>
          </a:stretch>
        </p:blipFill>
        <p:spPr>
          <a:xfrm>
            <a:off x="1199466" y="1390365"/>
            <a:ext cx="9793067" cy="4077269"/>
          </a:xfrm>
          <a:prstGeom prst="rect">
            <a:avLst/>
          </a:prstGeom>
        </p:spPr>
      </p:pic>
    </p:spTree>
    <p:extLst>
      <p:ext uri="{BB962C8B-B14F-4D97-AF65-F5344CB8AC3E}">
        <p14:creationId xmlns:p14="http://schemas.microsoft.com/office/powerpoint/2010/main" val="196196164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F1D8AF-DABF-4B42-8E8F-CA66CA6EFE1A}"/>
              </a:ext>
            </a:extLst>
          </p:cNvPr>
          <p:cNvSpPr>
            <a:spLocks noChangeArrowheads="1"/>
          </p:cNvSpPr>
          <p:nvPr/>
        </p:nvSpPr>
        <p:spPr bwMode="auto">
          <a:xfrm>
            <a:off x="476250" y="361861"/>
            <a:ext cx="1064895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3. </a:t>
            </a:r>
            <a:r>
              <a:rPr kumimoji="0" lang="en-US" altLang="en-US" b="1" i="0" u="none" strike="noStrike" cap="none" normalizeH="0" baseline="0" dirty="0" err="1">
                <a:ln>
                  <a:noFill/>
                </a:ln>
                <a:solidFill>
                  <a:schemeClr val="tx1"/>
                </a:solidFill>
                <a:effectLst/>
                <a:latin typeface="Arial" panose="020B0604020202020204" pitchFamily="34" charset="0"/>
              </a:rPr>
              <a:t>Поддержка</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на</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серверах</a:t>
            </a:r>
            <a:r>
              <a:rPr kumimoji="0" lang="en-US" altLang="en-US" b="1" i="0" u="none" strike="noStrike" cap="none" normalizeH="0" baseline="0" dirty="0">
                <a:ln>
                  <a:noFill/>
                </a:ln>
                <a:solidFill>
                  <a:schemeClr val="tx1"/>
                </a:solidFill>
                <a:effectLst/>
                <a:latin typeface="Arial" panose="020B0604020202020204" pitchFamily="34" charset="0"/>
              </a:rPr>
              <a:t> и в </a:t>
            </a:r>
            <a:r>
              <a:rPr kumimoji="0" lang="en-US" altLang="en-US" b="1" i="0" u="none" strike="noStrike" cap="none" normalizeH="0" baseline="0" dirty="0" err="1">
                <a:ln>
                  <a:noFill/>
                </a:ln>
                <a:solidFill>
                  <a:schemeClr val="tx1"/>
                </a:solidFill>
                <a:effectLst/>
                <a:latin typeface="Arial" panose="020B0604020202020204" pitchFamily="34" charset="0"/>
              </a:rPr>
              <a:t>инфраструктуре</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Крупнейшие</a:t>
            </a:r>
            <a:r>
              <a:rPr kumimoji="0" lang="en-US" altLang="en-US" b="1" i="0" u="none" strike="noStrike" cap="none" normalizeH="0" baseline="0" dirty="0">
                <a:ln>
                  <a:noFill/>
                </a:ln>
                <a:solidFill>
                  <a:schemeClr val="tx1"/>
                </a:solidFill>
                <a:effectLst/>
                <a:latin typeface="Arial" panose="020B0604020202020204" pitchFamily="34" charset="0"/>
              </a:rPr>
              <a:t> CDN-</a:t>
            </a:r>
            <a:r>
              <a:rPr kumimoji="0" lang="en-US" altLang="en-US" b="1" i="0" u="none" strike="noStrike" cap="none" normalizeH="0" baseline="0" dirty="0" err="1">
                <a:ln>
                  <a:noFill/>
                </a:ln>
                <a:solidFill>
                  <a:schemeClr val="tx1"/>
                </a:solidFill>
                <a:effectLst/>
                <a:latin typeface="Arial" panose="020B0604020202020204" pitchFamily="34" charset="0"/>
              </a:rPr>
              <a:t>провайдеры</a:t>
            </a: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Все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ведущие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сети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доставки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контента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только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поддерживают</a:t>
            </a:r>
            <a:r>
              <a:rPr kumimoji="0" lang="en-US" altLang="en-US" b="0" i="0" u="none" strike="noStrike" cap="none" normalizeH="0" baseline="0" dirty="0">
                <a:ln>
                  <a:noFill/>
                </a:ln>
                <a:solidFill>
                  <a:schemeClr val="tx1"/>
                </a:solidFill>
                <a:effectLst/>
                <a:latin typeface="Arial" panose="020B0604020202020204" pitchFamily="34" charset="0"/>
              </a:rPr>
              <a:t> HTTP/3, </a:t>
            </a:r>
            <a:r>
              <a:rPr kumimoji="0" lang="en-US" altLang="en-US" b="0" i="0" u="none" strike="noStrike" cap="none" normalizeH="0" baseline="0" dirty="0" err="1">
                <a:ln>
                  <a:noFill/>
                </a:ln>
                <a:solidFill>
                  <a:schemeClr val="tx1"/>
                </a:solidFill>
                <a:effectLst/>
                <a:latin typeface="Arial" panose="020B0604020202020204" pitchFamily="34" charset="0"/>
              </a:rPr>
              <a:t>но</a:t>
            </a:r>
            <a:r>
              <a:rPr kumimoji="0" lang="en-US" altLang="en-US" b="0" i="0" u="none" strike="noStrike" cap="none" normalizeH="0" baseline="0" dirty="0">
                <a:ln>
                  <a:noFill/>
                </a:ln>
                <a:solidFill>
                  <a:schemeClr val="tx1"/>
                </a:solidFill>
                <a:effectLst/>
                <a:latin typeface="Arial" panose="020B0604020202020204" pitchFamily="34" charset="0"/>
              </a:rPr>
              <a:t> и </a:t>
            </a:r>
            <a:r>
              <a:rPr kumimoji="0" lang="en-US" altLang="en-US" b="0" i="0" u="none" strike="noStrike" cap="none" normalizeH="0" baseline="0" dirty="0" err="1">
                <a:ln>
                  <a:noFill/>
                </a:ln>
                <a:solidFill>
                  <a:schemeClr val="tx1"/>
                </a:solidFill>
                <a:effectLst/>
                <a:latin typeface="Arial" panose="020B0604020202020204" pitchFamily="34" charset="0"/>
              </a:rPr>
              <a:t>активно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рекомендуют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его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повышения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производительности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особенно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для</a:t>
            </a:r>
            <a:r>
              <a:rPr kumimoji="0" lang="en-US" altLang="en-US" b="0" i="0" u="none" strike="noStrike" cap="none" normalizeH="0" baseline="0" dirty="0">
                <a:ln>
                  <a:noFill/>
                </a:ln>
                <a:solidFill>
                  <a:schemeClr val="tx1"/>
                </a:solidFill>
                <a:effectLst/>
                <a:latin typeface="Arial" panose="020B0604020202020204" pitchFamily="34" charset="0"/>
              </a:rPr>
              <a:t> 5G-приложений и </a:t>
            </a:r>
            <a:r>
              <a:rPr kumimoji="0" lang="en-US" altLang="en-US" b="0" i="0" u="none" strike="noStrike" cap="none" normalizeH="0" baseline="0" dirty="0" err="1">
                <a:ln>
                  <a:noFill/>
                </a:ln>
                <a:solidFill>
                  <a:schemeClr val="tx1"/>
                </a:solidFill>
                <a:effectLst/>
                <a:latin typeface="Arial" panose="020B0604020202020204" pitchFamily="34" charset="0"/>
              </a:rPr>
              <a:t>мобильного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трафика</a:t>
            </a:r>
            <a:r>
              <a:rPr kumimoji="0" lang="en-US" altLang="en-US"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Cloudflare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полная</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поддержка</a:t>
            </a:r>
            <a:r>
              <a:rPr kumimoji="0" lang="en-US" altLang="en-US" b="0" i="0" u="none" strike="noStrike" cap="none" normalizeH="0" baseline="0" dirty="0">
                <a:ln>
                  <a:noFill/>
                </a:ln>
                <a:solidFill>
                  <a:schemeClr val="tx1"/>
                </a:solidFill>
                <a:effectLst/>
                <a:latin typeface="Arial" panose="020B0604020202020204" pitchFamily="34" charset="0"/>
              </a:rPr>
              <a:t> HTTP/3 (IETF QUIC), </a:t>
            </a:r>
            <a:r>
              <a:rPr kumimoji="0" lang="en-US" altLang="en-US" b="0" i="0" u="none" strike="noStrike" cap="none" normalizeH="0" baseline="0" dirty="0" err="1">
                <a:ln>
                  <a:noFill/>
                </a:ln>
                <a:solidFill>
                  <a:schemeClr val="tx1"/>
                </a:solidFill>
                <a:effectLst/>
                <a:latin typeface="Arial" panose="020B0604020202020204" pitchFamily="34" charset="0"/>
              </a:rPr>
              <a:t>более</a:t>
            </a:r>
            <a:r>
              <a:rPr kumimoji="0" lang="en-US" altLang="en-US" b="0" i="0" u="none" strike="noStrike" cap="none" normalizeH="0" baseline="0" dirty="0">
                <a:ln>
                  <a:noFill/>
                </a:ln>
                <a:solidFill>
                  <a:schemeClr val="tx1"/>
                </a:solidFill>
                <a:effectLst/>
                <a:latin typeface="Arial" panose="020B0604020202020204" pitchFamily="34" charset="0"/>
              </a:rPr>
              <a:t> 70% </a:t>
            </a:r>
            <a:r>
              <a:rPr kumimoji="0" lang="en-US" altLang="en-US" b="0" i="0" u="none" strike="noStrike" cap="none" normalizeH="0" baseline="0" dirty="0" err="1">
                <a:ln>
                  <a:noFill/>
                </a:ln>
                <a:solidFill>
                  <a:schemeClr val="tx1"/>
                </a:solidFill>
                <a:effectLst/>
                <a:latin typeface="Arial" panose="020B0604020202020204" pitchFamily="34" charset="0"/>
              </a:rPr>
              <a:t>трафика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через</a:t>
            </a:r>
            <a:r>
              <a:rPr kumimoji="0" lang="en-US" altLang="en-US" b="0" i="0" u="none" strike="noStrike" cap="none" normalizeH="0" baseline="0" dirty="0">
                <a:ln>
                  <a:noFill/>
                </a:ln>
                <a:solidFill>
                  <a:schemeClr val="tx1"/>
                </a:solidFill>
                <a:effectLst/>
                <a:latin typeface="Arial" panose="020B0604020202020204" pitchFamily="34" charset="0"/>
              </a:rPr>
              <a:t> h3.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Fastly</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поддержка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через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собственный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высокопроизводительный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стек</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акцент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минимизацию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задержек</a:t>
            </a:r>
            <a:r>
              <a:rPr kumimoji="0" lang="en-US" altLang="en-US"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Akamai</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поддержка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через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реализацию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базе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протокола</a:t>
            </a:r>
            <a:r>
              <a:rPr kumimoji="0" lang="en-US" altLang="en-US" b="0" i="0" u="none" strike="noStrike" cap="none" normalizeH="0" baseline="0" dirty="0">
                <a:ln>
                  <a:noFill/>
                </a:ln>
                <a:solidFill>
                  <a:schemeClr val="tx1"/>
                </a:solidFill>
                <a:effectLst/>
                <a:latin typeface="Arial" panose="020B0604020202020204" pitchFamily="34" charset="0"/>
              </a:rPr>
              <a:t> Quiche.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latin typeface="Arial" panose="020B0604020202020204" pitchFamily="34" charset="0"/>
              </a:rPr>
              <a:t>Amazon CloudFront</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поддержка</a:t>
            </a:r>
            <a:r>
              <a:rPr kumimoji="0" lang="en-US" altLang="en-US" b="0" i="0" u="none" strike="noStrike" cap="none" normalizeH="0" baseline="0" dirty="0">
                <a:ln>
                  <a:noFill/>
                </a:ln>
                <a:solidFill>
                  <a:schemeClr val="tx1"/>
                </a:solidFill>
                <a:effectLst/>
                <a:latin typeface="Arial" panose="020B0604020202020204" pitchFamily="34" charset="0"/>
              </a:rPr>
              <a:t> HTTP/3 </a:t>
            </a:r>
            <a:r>
              <a:rPr kumimoji="0" lang="en-US" altLang="en-US" b="0" i="0" u="none" strike="noStrike" cap="none" normalizeH="0" baseline="0" dirty="0" err="1">
                <a:ln>
                  <a:noFill/>
                </a:ln>
                <a:solidFill>
                  <a:schemeClr val="tx1"/>
                </a:solidFill>
                <a:effectLst/>
                <a:latin typeface="Arial" panose="020B0604020202020204" pitchFamily="34" charset="0"/>
              </a:rPr>
              <a:t>через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глобальную</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сеть</a:t>
            </a:r>
            <a:r>
              <a:rPr kumimoji="0" lang="en-US" altLang="en-US" b="0" i="0" u="none" strike="noStrike" cap="none" normalizeH="0" baseline="0" dirty="0">
                <a:ln>
                  <a:noFill/>
                </a:ln>
                <a:solidFill>
                  <a:schemeClr val="tx1"/>
                </a:solidFill>
                <a:effectLst/>
                <a:latin typeface="Arial" panose="020B0604020202020204" pitchFamily="34" charset="0"/>
              </a:rPr>
              <a:t> AWS.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err="1">
                <a:ln>
                  <a:noFill/>
                </a:ln>
                <a:solidFill>
                  <a:schemeClr val="tx1"/>
                </a:solidFill>
                <a:effectLst/>
                <a:latin typeface="Arial" panose="020B0604020202020204" pitchFamily="34" charset="0"/>
              </a:rPr>
              <a:t>Корпоративный</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сектор</a:t>
            </a:r>
            <a:r>
              <a:rPr kumimoji="0" lang="en-US" altLang="en-US" b="1" i="0" u="none" strike="noStrike" cap="none" normalizeH="0" baseline="0" dirty="0">
                <a:ln>
                  <a:noFill/>
                </a:ln>
                <a:solidFill>
                  <a:schemeClr val="tx1"/>
                </a:solidFill>
                <a:effectLst/>
                <a:latin typeface="Arial" panose="020B0604020202020204" pitchFamily="34" charset="0"/>
              </a:rPr>
              <a:t> (Enterprise)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Java 26</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выпущенный</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марте</a:t>
            </a:r>
            <a:r>
              <a:rPr kumimoji="0" lang="en-US" altLang="en-US" b="0" i="0" u="none" strike="noStrike" cap="none" normalizeH="0" baseline="0" dirty="0">
                <a:ln>
                  <a:noFill/>
                </a:ln>
                <a:solidFill>
                  <a:schemeClr val="tx1"/>
                </a:solidFill>
                <a:effectLst/>
                <a:latin typeface="Arial" panose="020B0604020202020204" pitchFamily="34" charset="0"/>
              </a:rPr>
              <a:t> 2026 </a:t>
            </a:r>
            <a:r>
              <a:rPr kumimoji="0" lang="en-US" altLang="en-US" b="0" i="0" u="none" strike="noStrike" cap="none" normalizeH="0" baseline="0" dirty="0" err="1">
                <a:ln>
                  <a:noFill/>
                </a:ln>
                <a:solidFill>
                  <a:schemeClr val="tx1"/>
                </a:solidFill>
                <a:effectLst/>
                <a:latin typeface="Arial" panose="020B0604020202020204" pitchFamily="34" charset="0"/>
              </a:rPr>
              <a:t>года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стал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важной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вехой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он</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добавил</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встроенную</a:t>
            </a:r>
            <a:r>
              <a:rPr kumimoji="0" lang="en-US" altLang="en-US"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err="1">
                <a:ln>
                  <a:noFill/>
                </a:ln>
                <a:solidFill>
                  <a:schemeClr val="tx1"/>
                </a:solidFill>
                <a:effectLst/>
                <a:latin typeface="Arial" panose="020B0604020202020204" pitchFamily="34" charset="0"/>
              </a:rPr>
              <a:t>поддержку</a:t>
            </a:r>
            <a:r>
              <a:rPr kumimoji="0" lang="en-US" altLang="en-US" b="1" i="0" u="none" strike="noStrike" cap="none" normalizeH="0" baseline="0" dirty="0">
                <a:ln>
                  <a:noFill/>
                </a:ln>
                <a:solidFill>
                  <a:schemeClr val="tx1"/>
                </a:solidFill>
                <a:effectLst/>
                <a:latin typeface="Arial" panose="020B0604020202020204" pitchFamily="34" charset="0"/>
              </a:rPr>
              <a:t> HTTP/3</a:t>
            </a:r>
            <a:r>
              <a:rPr kumimoji="0" lang="en-US" altLang="en-US" b="0" i="0" u="none" strike="noStrike" cap="none" normalizeH="0" baseline="0" dirty="0">
                <a:ln>
                  <a:noFill/>
                </a:ln>
                <a:solidFill>
                  <a:schemeClr val="tx1"/>
                </a:solidFill>
                <a:effectLst/>
                <a:latin typeface="Arial" panose="020B0604020202020204" pitchFamily="34" charset="0"/>
              </a:rPr>
              <a:t> в </a:t>
            </a:r>
            <a:r>
              <a:rPr kumimoji="0" lang="en-US" altLang="en-US" b="0" i="0" u="none" strike="noStrike" cap="none" normalizeH="0" baseline="0" dirty="0" err="1">
                <a:ln>
                  <a:noFill/>
                </a:ln>
                <a:solidFill>
                  <a:schemeClr val="tx1"/>
                </a:solidFill>
                <a:effectLst/>
                <a:latin typeface="Arial" panose="020B0604020202020204" pitchFamily="34" charset="0"/>
              </a:rPr>
              <a:t>стандартный</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Unicode MS"/>
              </a:rPr>
              <a:t>HttpClient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Это</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позволяет</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корпоративным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приложениям</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на</a:t>
            </a:r>
            <a:r>
              <a:rPr kumimoji="0" lang="en-US" altLang="en-US" b="0" i="0" u="none" strike="noStrike" cap="none" normalizeH="0" baseline="0" dirty="0">
                <a:ln>
                  <a:noFill/>
                </a:ln>
                <a:solidFill>
                  <a:schemeClr val="tx1"/>
                </a:solidFill>
                <a:effectLst/>
                <a:latin typeface="Arial" panose="020B0604020202020204" pitchFamily="34" charset="0"/>
              </a:rPr>
              <a:t> Java </a:t>
            </a:r>
            <a:r>
              <a:rPr kumimoji="0" lang="en-US" altLang="en-US" b="0" i="0" u="none" strike="noStrike" cap="none" normalizeH="0" baseline="0" dirty="0" err="1">
                <a:ln>
                  <a:noFill/>
                </a:ln>
                <a:solidFill>
                  <a:schemeClr val="tx1"/>
                </a:solidFill>
                <a:effectLst/>
                <a:latin typeface="Arial" panose="020B0604020202020204" pitchFamily="34" charset="0"/>
              </a:rPr>
              <a:t>использовать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преимущества</a:t>
            </a:r>
            <a:r>
              <a:rPr kumimoji="0" lang="en-US" altLang="en-US" b="0" i="0" u="none" strike="noStrike" cap="none" normalizeH="0" baseline="0" dirty="0">
                <a:ln>
                  <a:noFill/>
                </a:ln>
                <a:solidFill>
                  <a:schemeClr val="tx1"/>
                </a:solidFill>
                <a:effectLst/>
                <a:latin typeface="Arial" panose="020B0604020202020204" pitchFamily="34" charset="0"/>
              </a:rPr>
              <a:t> QUIC </a:t>
            </a:r>
            <a:r>
              <a:rPr kumimoji="0" lang="en-US" altLang="en-US" b="0" i="0" u="none" strike="noStrike" cap="none" normalizeH="0" baseline="0" dirty="0" err="1">
                <a:ln>
                  <a:noFill/>
                </a:ln>
                <a:solidFill>
                  <a:schemeClr val="tx1"/>
                </a:solidFill>
                <a:effectLst/>
                <a:latin typeface="Arial" panose="020B0604020202020204" pitchFamily="34" charset="0"/>
              </a:rPr>
              <a:t>без</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необходимости</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подключать</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сторонние</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библиотеки</a:t>
            </a:r>
            <a:r>
              <a:rPr kumimoji="0" lang="en-US" altLang="en-US" b="0" i="0" u="none" strike="noStrike" cap="none" normalizeH="0" baseline="0" dirty="0">
                <a:ln>
                  <a:noFill/>
                </a:ln>
                <a:solidFill>
                  <a:schemeClr val="tx1"/>
                </a:solidFill>
                <a:effectLst/>
                <a:latin typeface="Arial" panose="020B0604020202020204" pitchFamily="34" charset="0"/>
              </a:rPr>
              <a:t>.</a:t>
            </a:r>
          </a:p>
        </p:txBody>
      </p:sp>
      <p:sp>
        <p:nvSpPr>
          <p:cNvPr id="4" name="TextBox 3">
            <a:extLst>
              <a:ext uri="{FF2B5EF4-FFF2-40B4-BE49-F238E27FC236}">
                <a16:creationId xmlns:a16="http://schemas.microsoft.com/office/drawing/2014/main" id="{AB76C27B-04FC-474D-AF6D-753C56B1B6FB}"/>
              </a:ext>
            </a:extLst>
          </p:cNvPr>
          <p:cNvSpPr txBox="1"/>
          <p:nvPr/>
        </p:nvSpPr>
        <p:spPr>
          <a:xfrm>
            <a:off x="542924" y="4150489"/>
            <a:ext cx="10648949" cy="2246769"/>
          </a:xfrm>
          <a:prstGeom prst="rect">
            <a:avLst/>
          </a:prstGeom>
          <a:noFill/>
        </p:spPr>
        <p:txBody>
          <a:bodyPr wrap="square">
            <a:spAutoFit/>
          </a:bodyPr>
          <a:lstStyle/>
          <a:p>
            <a:r>
              <a:rPr lang="ru-RU" sz="2000" b="1" dirty="0"/>
              <a:t>4. Экосистема и инструменты</a:t>
            </a:r>
          </a:p>
          <a:p>
            <a:pPr>
              <a:buFont typeface="Arial" panose="020B0604020202020204" pitchFamily="34" charset="0"/>
              <a:buChar char="•"/>
            </a:pPr>
            <a:r>
              <a:rPr lang="ru-RU" sz="2000" b="1" dirty="0"/>
              <a:t>Веб-серверы</a:t>
            </a:r>
            <a:r>
              <a:rPr lang="ru-RU" sz="2000" dirty="0"/>
              <a:t>: популярные серверы, такие как </a:t>
            </a:r>
            <a:r>
              <a:rPr lang="ru-RU" sz="2000" b="1" dirty="0" err="1"/>
              <a:t>Nginx</a:t>
            </a:r>
            <a:r>
              <a:rPr lang="ru-RU" sz="2000" dirty="0"/>
              <a:t> (с модулем </a:t>
            </a:r>
            <a:r>
              <a:rPr lang="ru-RU" sz="2000" dirty="0" err="1"/>
              <a:t>nginx-quic</a:t>
            </a:r>
            <a:r>
              <a:rPr lang="ru-RU" sz="2000" dirty="0"/>
              <a:t>) и </a:t>
            </a:r>
            <a:r>
              <a:rPr lang="ru-RU" sz="2000" b="1" dirty="0" err="1"/>
              <a:t>Apache</a:t>
            </a:r>
            <a:r>
              <a:rPr lang="ru-RU" sz="2000" dirty="0"/>
              <a:t> (с mod_http3), имеют стабильные реализации HTTP/3.</a:t>
            </a:r>
          </a:p>
          <a:p>
            <a:pPr>
              <a:buFont typeface="Arial" panose="020B0604020202020204" pitchFamily="34" charset="0"/>
              <a:buChar char="•"/>
            </a:pPr>
            <a:r>
              <a:rPr lang="ru-RU" sz="2000" b="1" dirty="0"/>
              <a:t>Платформы</a:t>
            </a:r>
            <a:r>
              <a:rPr lang="ru-RU" sz="2000" dirty="0"/>
              <a:t>: крупные платформы, включая </a:t>
            </a:r>
            <a:r>
              <a:rPr lang="ru-RU" sz="2000" b="1" dirty="0" err="1"/>
              <a:t>Google</a:t>
            </a:r>
            <a:r>
              <a:rPr lang="ru-RU" sz="2000" dirty="0"/>
              <a:t>, </a:t>
            </a:r>
            <a:r>
              <a:rPr lang="ru-RU" sz="2000" b="1" dirty="0" err="1"/>
              <a:t>Meta</a:t>
            </a:r>
            <a:r>
              <a:rPr lang="ru-RU" sz="2000" dirty="0"/>
              <a:t>, </a:t>
            </a:r>
            <a:r>
              <a:rPr lang="ru-RU" sz="2000" b="1" dirty="0" err="1"/>
              <a:t>Fastly</a:t>
            </a:r>
            <a:r>
              <a:rPr lang="ru-RU" sz="2000" dirty="0"/>
              <a:t>, </a:t>
            </a:r>
            <a:r>
              <a:rPr lang="ru-RU" sz="2000" b="1" dirty="0" err="1"/>
              <a:t>Akamai</a:t>
            </a:r>
            <a:r>
              <a:rPr lang="ru-RU" sz="2000" dirty="0"/>
              <a:t>, уже используют HTTP/3 в промышленных масштабах .</a:t>
            </a:r>
          </a:p>
          <a:p>
            <a:pPr>
              <a:buFont typeface="Arial" panose="020B0604020202020204" pitchFamily="34" charset="0"/>
              <a:buChar char="•"/>
            </a:pPr>
            <a:r>
              <a:rPr lang="ru-RU" sz="2000" b="1" dirty="0"/>
              <a:t>Языки программирования</a:t>
            </a:r>
            <a:r>
              <a:rPr lang="ru-RU" sz="2000" dirty="0"/>
              <a:t>: экосистемы </a:t>
            </a:r>
            <a:r>
              <a:rPr lang="ru-RU" sz="2000" dirty="0" err="1"/>
              <a:t>Go</a:t>
            </a:r>
            <a:r>
              <a:rPr lang="ru-RU" sz="2000" dirty="0"/>
              <a:t> (</a:t>
            </a:r>
            <a:r>
              <a:rPr lang="ru-RU" sz="2000" dirty="0" err="1"/>
              <a:t>quic-go</a:t>
            </a:r>
            <a:r>
              <a:rPr lang="ru-RU" sz="2000" dirty="0"/>
              <a:t>), </a:t>
            </a:r>
            <a:r>
              <a:rPr lang="ru-RU" sz="2000" dirty="0" err="1"/>
              <a:t>Rust</a:t>
            </a:r>
            <a:r>
              <a:rPr lang="ru-RU" sz="2000" dirty="0"/>
              <a:t> (</a:t>
            </a:r>
            <a:r>
              <a:rPr lang="ru-RU" sz="2000" dirty="0" err="1"/>
              <a:t>quiche</a:t>
            </a:r>
            <a:r>
              <a:rPr lang="ru-RU" sz="2000" dirty="0"/>
              <a:t>), </a:t>
            </a:r>
            <a:r>
              <a:rPr lang="ru-RU" sz="2000" dirty="0" err="1"/>
              <a:t>Python</a:t>
            </a:r>
            <a:r>
              <a:rPr lang="ru-RU" sz="2000" dirty="0"/>
              <a:t> (</a:t>
            </a:r>
            <a:r>
              <a:rPr lang="ru-RU" sz="2000" dirty="0" err="1"/>
              <a:t>aioquic</a:t>
            </a:r>
            <a:r>
              <a:rPr lang="ru-RU" sz="2000" dirty="0"/>
              <a:t>) и другие имеют зрелые библиотеки для работы с протоколом</a:t>
            </a:r>
            <a:r>
              <a:rPr lang="ru-RU" dirty="0"/>
              <a:t>.</a:t>
            </a:r>
          </a:p>
        </p:txBody>
      </p:sp>
    </p:spTree>
    <p:extLst>
      <p:ext uri="{BB962C8B-B14F-4D97-AF65-F5344CB8AC3E}">
        <p14:creationId xmlns:p14="http://schemas.microsoft.com/office/powerpoint/2010/main" val="105357287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D83A9A-06AA-472E-8F89-77E50772A47E}"/>
              </a:ext>
            </a:extLst>
          </p:cNvPr>
          <p:cNvSpPr txBox="1"/>
          <p:nvPr/>
        </p:nvSpPr>
        <p:spPr>
          <a:xfrm>
            <a:off x="247650" y="257592"/>
            <a:ext cx="11830050" cy="2585323"/>
          </a:xfrm>
          <a:prstGeom prst="rect">
            <a:avLst/>
          </a:prstGeom>
          <a:noFill/>
        </p:spPr>
        <p:txBody>
          <a:bodyPr wrap="square">
            <a:spAutoFit/>
          </a:bodyPr>
          <a:lstStyle/>
          <a:p>
            <a:r>
              <a:rPr lang="ru-RU" b="1" dirty="0"/>
              <a:t>5. Текущие вызовы и ограничения</a:t>
            </a:r>
          </a:p>
          <a:p>
            <a:r>
              <a:rPr lang="ru-RU" dirty="0"/>
              <a:t>Несмотря на высокий уровень внедрения, существуют нюансы:</a:t>
            </a:r>
          </a:p>
          <a:p>
            <a:pPr>
              <a:buFont typeface="+mj-lt"/>
              <a:buAutoNum type="arabicPeriod"/>
            </a:pPr>
            <a:r>
              <a:rPr lang="ru-RU" b="1" dirty="0"/>
              <a:t>Не везде включён по умолчанию</a:t>
            </a:r>
            <a:r>
              <a:rPr lang="ru-RU" dirty="0"/>
              <a:t>: как показано на примере </a:t>
            </a:r>
            <a:r>
              <a:rPr lang="ru-RU" dirty="0" err="1"/>
              <a:t>Java</a:t>
            </a:r>
            <a:r>
              <a:rPr lang="ru-RU" dirty="0"/>
              <a:t> 26, в некоторых средах HTTP/3 требует явного включения, так как он всё ещё считается "новым" по сравнению с проверенным HTTP/2 .</a:t>
            </a:r>
          </a:p>
          <a:p>
            <a:pPr>
              <a:buFont typeface="+mj-lt"/>
              <a:buAutoNum type="arabicPeriod"/>
            </a:pPr>
            <a:r>
              <a:rPr lang="ru-RU" b="1" dirty="0"/>
              <a:t>Корпоративные </a:t>
            </a:r>
            <a:r>
              <a:rPr lang="ru-RU" b="1" dirty="0" err="1"/>
              <a:t>фаерволы</a:t>
            </a:r>
            <a:r>
              <a:rPr lang="ru-RU" dirty="0"/>
              <a:t>: некоторые устаревшие системы безопасности, анализирующие трафик, могут блокировать или некорректно обрабатывать QUIC (UDP), что заставляет администраторов временно отключать протокол.</a:t>
            </a:r>
          </a:p>
          <a:p>
            <a:pPr>
              <a:buFont typeface="+mj-lt"/>
              <a:buAutoNum type="arabicPeriod"/>
            </a:pPr>
            <a:r>
              <a:rPr lang="ru-RU" b="1" dirty="0"/>
              <a:t>Сложность отладки</a:t>
            </a:r>
            <a:r>
              <a:rPr lang="ru-RU" dirty="0"/>
              <a:t>: трафик QUIC полностью зашифрован, что усложняет его анализ традиционными сетевыми инструментами.</a:t>
            </a:r>
          </a:p>
        </p:txBody>
      </p:sp>
      <p:pic>
        <p:nvPicPr>
          <p:cNvPr id="5" name="Рисунок 4">
            <a:extLst>
              <a:ext uri="{FF2B5EF4-FFF2-40B4-BE49-F238E27FC236}">
                <a16:creationId xmlns:a16="http://schemas.microsoft.com/office/drawing/2014/main" id="{8FC4699F-E8C7-4E0E-8222-F0F52066220E}"/>
              </a:ext>
            </a:extLst>
          </p:cNvPr>
          <p:cNvPicPr>
            <a:picLocks noChangeAspect="1"/>
          </p:cNvPicPr>
          <p:nvPr/>
        </p:nvPicPr>
        <p:blipFill>
          <a:blip r:embed="rId2"/>
          <a:stretch>
            <a:fillRect/>
          </a:stretch>
        </p:blipFill>
        <p:spPr>
          <a:xfrm>
            <a:off x="1256647" y="2875828"/>
            <a:ext cx="7985890" cy="3724580"/>
          </a:xfrm>
          <a:prstGeom prst="rect">
            <a:avLst/>
          </a:prstGeom>
        </p:spPr>
      </p:pic>
    </p:spTree>
    <p:extLst>
      <p:ext uri="{BB962C8B-B14F-4D97-AF65-F5344CB8AC3E}">
        <p14:creationId xmlns:p14="http://schemas.microsoft.com/office/powerpoint/2010/main" val="69264424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3752D6-A012-4496-8393-52E9BE1C1429}"/>
              </a:ext>
            </a:extLst>
          </p:cNvPr>
          <p:cNvSpPr txBox="1"/>
          <p:nvPr/>
        </p:nvSpPr>
        <p:spPr>
          <a:xfrm>
            <a:off x="457199" y="342036"/>
            <a:ext cx="11058525" cy="1323439"/>
          </a:xfrm>
          <a:prstGeom prst="rect">
            <a:avLst/>
          </a:prstGeom>
          <a:noFill/>
        </p:spPr>
        <p:txBody>
          <a:bodyPr wrap="square">
            <a:spAutoFit/>
          </a:bodyPr>
          <a:lstStyle/>
          <a:p>
            <a:r>
              <a:rPr lang="ru-RU" sz="2000" dirty="0"/>
              <a:t>HTTP/3 стал стандартом де-факто для современного высокопроизводительного веба. Если ваш проект (сайт, API, приложение) использует CDN или современный сервер, высока вероятность, что он уже работает через HTTP/3, обеспечивая пользователям более быструю загрузку и устойчивость к проблемам сети.</a:t>
            </a:r>
            <a:endParaRPr lang="en-US" sz="2000" dirty="0"/>
          </a:p>
        </p:txBody>
      </p:sp>
    </p:spTree>
    <p:extLst>
      <p:ext uri="{BB962C8B-B14F-4D97-AF65-F5344CB8AC3E}">
        <p14:creationId xmlns:p14="http://schemas.microsoft.com/office/powerpoint/2010/main" val="185148479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8E0A8E-6B9E-4BF2-B38E-9C8E5EA3EBBA}"/>
              </a:ext>
            </a:extLst>
          </p:cNvPr>
          <p:cNvSpPr>
            <a:spLocks noChangeArrowheads="1"/>
          </p:cNvSpPr>
          <p:nvPr/>
        </p:nvSpPr>
        <p:spPr bwMode="auto">
          <a:xfrm rot="10800000" flipV="1">
            <a:off x="914400" y="124215"/>
            <a:ext cx="103632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en-US" sz="1800" b="1" i="0" u="none" strike="noStrike" cap="none" normalizeH="0" baseline="0" dirty="0">
                <a:ln>
                  <a:noFill/>
                </a:ln>
                <a:solidFill>
                  <a:schemeClr val="tx1"/>
                </a:solidFill>
                <a:effectLst/>
                <a:latin typeface="Arial" panose="020B0604020202020204" pitchFamily="34" charset="0"/>
              </a:rPr>
              <a:t>Децентр</a:t>
            </a:r>
            <a:r>
              <a:rPr lang="ru-RU" altLang="en-US" b="1" dirty="0">
                <a:latin typeface="Arial" panose="020B0604020202020204" pitchFamily="34" charset="0"/>
              </a:rPr>
              <a:t>ализованный </a:t>
            </a:r>
            <a:r>
              <a:rPr lang="en-US" altLang="en-US" b="1" dirty="0">
                <a:latin typeface="Arial" panose="020B0604020202020204" pitchFamily="34" charset="0"/>
              </a:rPr>
              <a:t>DNS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err="1">
                <a:ln>
                  <a:noFill/>
                </a:ln>
                <a:solidFill>
                  <a:schemeClr val="tx1"/>
                </a:solidFill>
                <a:effectLst/>
                <a:latin typeface="Arial" panose="020B0604020202020204" pitchFamily="34" charset="0"/>
              </a:rPr>
              <a:t>Представьте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что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интернет</a:t>
            </a:r>
            <a:r>
              <a:rPr kumimoji="0" lang="en-US" altLang="en-US" sz="1800" b="0" i="0" u="none" strike="noStrike" cap="none" normalizeH="0" baseline="0" dirty="0">
                <a:ln>
                  <a:noFill/>
                </a:ln>
                <a:solidFill>
                  <a:schemeClr val="tx1"/>
                </a:solidFill>
                <a:effectLst/>
                <a:latin typeface="Arial" panose="020B0604020202020204" pitchFamily="34" charset="0"/>
              </a:rPr>
              <a:t> — </a:t>
            </a:r>
            <a:r>
              <a:rPr kumimoji="0" lang="en-US" altLang="en-US" sz="1800" b="0" i="0" u="none" strike="noStrike" cap="none" normalizeH="0" baseline="0" dirty="0" err="1">
                <a:ln>
                  <a:noFill/>
                </a:ln>
                <a:solidFill>
                  <a:schemeClr val="tx1"/>
                </a:solidFill>
                <a:effectLst/>
                <a:latin typeface="Arial" panose="020B0604020202020204" pitchFamily="34" charset="0"/>
              </a:rPr>
              <a:t>это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огромный</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город</a:t>
            </a:r>
            <a:r>
              <a:rPr kumimoji="0" lang="en-US" altLang="en-US" sz="1800" b="0" i="0" u="none" strike="noStrike" cap="none" normalizeH="0" baseline="0" dirty="0">
                <a:ln>
                  <a:noFill/>
                </a:ln>
                <a:solidFill>
                  <a:schemeClr val="tx1"/>
                </a:solidFill>
                <a:effectLst/>
                <a:latin typeface="Arial" panose="020B0604020202020204" pitchFamily="34" charset="0"/>
              </a:rPr>
              <a:t>, а DNS (Domain Name System) — </a:t>
            </a:r>
            <a:r>
              <a:rPr lang="en-US" altLang="en-US" dirty="0" err="1">
                <a:latin typeface="Arial" panose="020B0604020202020204" pitchFamily="34" charset="0"/>
              </a:rPr>
              <a:t>его</a:t>
            </a:r>
            <a:r>
              <a:rPr lang="en-US" altLang="en-US" dirty="0">
                <a:latin typeface="Arial" panose="020B0604020202020204" pitchFamily="34" charset="0"/>
              </a:rPr>
              <a:t> </a:t>
            </a:r>
            <a:r>
              <a:rPr lang="en-US" altLang="en-US" dirty="0" err="1">
                <a:latin typeface="Arial" panose="020B0604020202020204" pitchFamily="34" charset="0"/>
              </a:rPr>
              <a:t>главная</a:t>
            </a:r>
            <a:r>
              <a:rPr lang="en-US" altLang="en-US" dirty="0">
                <a:latin typeface="Arial" panose="020B0604020202020204" pitchFamily="34" charset="0"/>
              </a:rPr>
              <a:t> </a:t>
            </a:r>
            <a:r>
              <a:rPr lang="en-US" altLang="en-US" dirty="0" err="1">
                <a:latin typeface="Arial" panose="020B0604020202020204" pitchFamily="34" charset="0"/>
              </a:rPr>
              <a:t>адресная</a:t>
            </a:r>
            <a:r>
              <a:rPr lang="en-US" altLang="en-US" dirty="0">
                <a:latin typeface="Arial" panose="020B0604020202020204" pitchFamily="34" charset="0"/>
              </a:rPr>
              <a:t> </a:t>
            </a:r>
            <a:r>
              <a:rPr lang="en-US" altLang="en-US" dirty="0" err="1">
                <a:latin typeface="Arial" panose="020B0604020202020204" pitchFamily="34" charset="0"/>
              </a:rPr>
              <a:t>книга</a:t>
            </a:r>
            <a:r>
              <a:rPr lang="en-US" altLang="en-US" dirty="0">
                <a:latin typeface="Arial" panose="020B0604020202020204" pitchFamily="34" charset="0"/>
              </a:rPr>
              <a:t>, </a:t>
            </a:r>
            <a:r>
              <a:rPr lang="en-US" altLang="en-US" dirty="0" err="1">
                <a:latin typeface="Arial" panose="020B0604020202020204" pitchFamily="34" charset="0"/>
              </a:rPr>
              <a:t>которая</a:t>
            </a:r>
            <a:r>
              <a:rPr lang="en-US" altLang="en-US" dirty="0">
                <a:latin typeface="Arial" panose="020B0604020202020204" pitchFamily="34" charset="0"/>
              </a:rPr>
              <a:t> </a:t>
            </a:r>
            <a:r>
              <a:rPr lang="en-US" altLang="en-US" dirty="0" err="1">
                <a:latin typeface="Arial" panose="020B0604020202020204" pitchFamily="34" charset="0"/>
              </a:rPr>
              <a:t>превращает</a:t>
            </a:r>
            <a:r>
              <a:rPr lang="en-US" altLang="en-US" dirty="0">
                <a:latin typeface="Arial" panose="020B0604020202020204" pitchFamily="34" charset="0"/>
              </a:rPr>
              <a:t> </a:t>
            </a:r>
            <a:r>
              <a:rPr lang="en-US" altLang="en-US" dirty="0" err="1">
                <a:latin typeface="Arial" panose="020B0604020202020204" pitchFamily="34" charset="0"/>
              </a:rPr>
              <a:t>понятные</a:t>
            </a:r>
            <a:r>
              <a:rPr lang="en-US" altLang="en-US" dirty="0">
                <a:latin typeface="Arial" panose="020B0604020202020204" pitchFamily="34" charset="0"/>
              </a:rPr>
              <a:t> </a:t>
            </a:r>
            <a:r>
              <a:rPr lang="en-US" altLang="en-US" dirty="0" err="1">
                <a:latin typeface="Arial" panose="020B0604020202020204" pitchFamily="34" charset="0"/>
              </a:rPr>
              <a:t>нам</a:t>
            </a:r>
            <a:r>
              <a:rPr lang="en-US" altLang="en-US" dirty="0">
                <a:latin typeface="Arial" panose="020B0604020202020204" pitchFamily="34" charset="0"/>
              </a:rPr>
              <a:t> </a:t>
            </a:r>
            <a:r>
              <a:rPr lang="en-US" altLang="en-US" dirty="0" err="1">
                <a:latin typeface="Arial" panose="020B0604020202020204" pitchFamily="34" charset="0"/>
              </a:rPr>
              <a:t>имена</a:t>
            </a:r>
            <a:r>
              <a:rPr lang="en-US" altLang="en-US" dirty="0">
                <a:latin typeface="Arial" panose="020B0604020202020204" pitchFamily="34" charset="0"/>
              </a:rPr>
              <a:t> </a:t>
            </a:r>
            <a:r>
              <a:rPr lang="en-US" altLang="en-US" dirty="0" err="1">
                <a:latin typeface="Arial" panose="020B0604020202020204" pitchFamily="34" charset="0"/>
              </a:rPr>
              <a:t>сайтов</a:t>
            </a:r>
            <a:r>
              <a:rPr lang="en-US" altLang="en-US" dirty="0">
                <a:latin typeface="Arial" panose="020B0604020202020204" pitchFamily="34" charset="0"/>
              </a:rPr>
              <a:t> (</a:t>
            </a:r>
            <a:r>
              <a:rPr lang="en-US" altLang="en-US" dirty="0" err="1">
                <a:latin typeface="Arial" panose="020B0604020202020204" pitchFamily="34" charset="0"/>
              </a:rPr>
              <a:t>например</a:t>
            </a:r>
            <a:r>
              <a:rPr lang="en-US" altLang="en-US" dirty="0">
                <a:latin typeface="Arial" panose="020B0604020202020204" pitchFamily="34" charset="0"/>
              </a:rPr>
              <a:t>, yandex.ru) в </a:t>
            </a:r>
            <a:r>
              <a:rPr lang="en-US" altLang="en-US" dirty="0" err="1">
                <a:latin typeface="Arial" panose="020B0604020202020204" pitchFamily="34" charset="0"/>
              </a:rPr>
              <a:t>цифровые</a:t>
            </a:r>
            <a:r>
              <a:rPr lang="en-US" altLang="en-US" dirty="0">
                <a:latin typeface="Arial" panose="020B0604020202020204" pitchFamily="34" charset="0"/>
              </a:rPr>
              <a:t> IP-</a:t>
            </a:r>
            <a:r>
              <a:rPr lang="en-US" altLang="en-US" dirty="0" err="1">
                <a:latin typeface="Arial" panose="020B0604020202020204" pitchFamily="34" charset="0"/>
              </a:rPr>
              <a:t>адреса</a:t>
            </a:r>
            <a:r>
              <a:rPr lang="en-US" altLang="en-US" dirty="0">
                <a:latin typeface="Arial" panose="020B0604020202020204" pitchFamily="34" charset="0"/>
              </a:rPr>
              <a:t>, </a:t>
            </a:r>
            <a:r>
              <a:rPr lang="en-US" altLang="en-US" dirty="0" err="1">
                <a:latin typeface="Arial" panose="020B0604020202020204" pitchFamily="34" charset="0"/>
              </a:rPr>
              <a:t>понятные</a:t>
            </a:r>
            <a:r>
              <a:rPr lang="en-US" altLang="en-US" dirty="0">
                <a:latin typeface="Arial" panose="020B0604020202020204" pitchFamily="34" charset="0"/>
              </a:rPr>
              <a:t> </a:t>
            </a:r>
            <a:r>
              <a:rPr lang="en-US" altLang="en-US" dirty="0" err="1">
                <a:latin typeface="Arial" panose="020B0604020202020204" pitchFamily="34" charset="0"/>
              </a:rPr>
              <a:t>компьютерам</a:t>
            </a:r>
            <a:r>
              <a:rPr lang="en-US" altLang="en-US" dirty="0">
                <a:latin typeface="Arial" panose="020B0604020202020204" pitchFamily="34" charset="0"/>
              </a:rPr>
              <a:t>. </a:t>
            </a:r>
            <a:endParaRPr lang="ru-RU"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Arial" panose="020B0604020202020204" pitchFamily="34" charset="0"/>
              </a:rPr>
              <a:t>У </a:t>
            </a:r>
            <a:r>
              <a:rPr lang="en-US" altLang="en-US" dirty="0" err="1">
                <a:latin typeface="Arial" panose="020B0604020202020204" pitchFamily="34" charset="0"/>
              </a:rPr>
              <a:t>обычного</a:t>
            </a:r>
            <a:r>
              <a:rPr lang="en-US" altLang="en-US" dirty="0">
                <a:latin typeface="Arial" panose="020B0604020202020204" pitchFamily="34" charset="0"/>
              </a:rPr>
              <a:t> и </a:t>
            </a:r>
            <a:r>
              <a:rPr lang="en-US" altLang="en-US" dirty="0" err="1">
                <a:latin typeface="Arial" panose="020B0604020202020204" pitchFamily="34" charset="0"/>
              </a:rPr>
              <a:t>децентрализованного</a:t>
            </a:r>
            <a:r>
              <a:rPr lang="en-US" altLang="en-US" dirty="0">
                <a:latin typeface="Arial" panose="020B0604020202020204" pitchFamily="34" charset="0"/>
              </a:rPr>
              <a:t> DNS </a:t>
            </a:r>
            <a:r>
              <a:rPr lang="en-US" altLang="en-US" b="1" dirty="0" err="1">
                <a:latin typeface="Arial" panose="020B0604020202020204" pitchFamily="34" charset="0"/>
              </a:rPr>
              <a:t>есть</a:t>
            </a:r>
            <a:r>
              <a:rPr lang="en-US" altLang="en-US" b="1" dirty="0">
                <a:latin typeface="Arial" panose="020B0604020202020204" pitchFamily="34" charset="0"/>
              </a:rPr>
              <a:t> </a:t>
            </a:r>
            <a:r>
              <a:rPr lang="en-US" altLang="en-US" b="1" dirty="0" err="1">
                <a:latin typeface="Arial" panose="020B0604020202020204" pitchFamily="34" charset="0"/>
              </a:rPr>
              <a:t>ключевое</a:t>
            </a:r>
            <a:r>
              <a:rPr lang="en-US" altLang="en-US" b="1" dirty="0">
                <a:latin typeface="Arial" panose="020B0604020202020204" pitchFamily="34" charset="0"/>
              </a:rPr>
              <a:t> </a:t>
            </a:r>
            <a:r>
              <a:rPr lang="en-US" altLang="en-US" b="1" dirty="0" err="1">
                <a:latin typeface="Arial" panose="020B0604020202020204" pitchFamily="34" charset="0"/>
              </a:rPr>
              <a:t>различие</a:t>
            </a:r>
            <a:r>
              <a:rPr lang="en-US" altLang="en-US" b="1" dirty="0">
                <a:latin typeface="Arial" panose="020B0604020202020204" pitchFamily="34" charset="0"/>
              </a:rPr>
              <a:t> в </a:t>
            </a:r>
            <a:r>
              <a:rPr lang="en-US" altLang="en-US" b="1" dirty="0" err="1">
                <a:latin typeface="Arial" panose="020B0604020202020204" pitchFamily="34" charset="0"/>
              </a:rPr>
              <a:t>способе</a:t>
            </a:r>
            <a:r>
              <a:rPr lang="en-US" altLang="en-US" b="1" dirty="0">
                <a:latin typeface="Arial" panose="020B0604020202020204" pitchFamily="34" charset="0"/>
              </a:rPr>
              <a:t> </a:t>
            </a:r>
            <a:r>
              <a:rPr lang="en-US" altLang="en-US" b="1" dirty="0" err="1">
                <a:latin typeface="Arial" panose="020B0604020202020204" pitchFamily="34" charset="0"/>
              </a:rPr>
              <a:t>хранения</a:t>
            </a:r>
            <a:r>
              <a:rPr lang="en-US" altLang="en-US" b="1" dirty="0">
                <a:latin typeface="Arial" panose="020B0604020202020204" pitchFamily="34" charset="0"/>
              </a:rPr>
              <a:t> и </a:t>
            </a:r>
            <a:r>
              <a:rPr lang="en-US" altLang="en-US" b="1" dirty="0" err="1">
                <a:latin typeface="Arial" panose="020B0604020202020204" pitchFamily="34" charset="0"/>
              </a:rPr>
              <a:t>управления</a:t>
            </a:r>
            <a:r>
              <a:rPr lang="en-US" altLang="en-US" b="1" dirty="0">
                <a:latin typeface="Arial" panose="020B0604020202020204" pitchFamily="34" charset="0"/>
              </a:rPr>
              <a:t> </a:t>
            </a:r>
            <a:r>
              <a:rPr lang="en-US" altLang="en-US" b="1" dirty="0" err="1">
                <a:latin typeface="Arial" panose="020B0604020202020204" pitchFamily="34" charset="0"/>
              </a:rPr>
              <a:t>этой</a:t>
            </a:r>
            <a:r>
              <a:rPr lang="en-US" altLang="en-US" b="1" dirty="0">
                <a:latin typeface="Arial" panose="020B0604020202020204" pitchFamily="34" charset="0"/>
              </a:rPr>
              <a:t> </a:t>
            </a:r>
            <a:r>
              <a:rPr lang="en-US" altLang="en-US" b="1" dirty="0" err="1">
                <a:latin typeface="Arial" panose="020B0604020202020204" pitchFamily="34" charset="0"/>
              </a:rPr>
              <a:t>книгой</a:t>
            </a:r>
            <a:r>
              <a:rPr lang="en-US" altLang="en-US" dirty="0">
                <a:latin typeface="Arial" panose="020B0604020202020204" pitchFamily="34" charset="0"/>
              </a:rPr>
              <a:t>. </a:t>
            </a:r>
          </a:p>
        </p:txBody>
      </p:sp>
      <p:sp>
        <p:nvSpPr>
          <p:cNvPr id="4" name="TextBox 3">
            <a:extLst>
              <a:ext uri="{FF2B5EF4-FFF2-40B4-BE49-F238E27FC236}">
                <a16:creationId xmlns:a16="http://schemas.microsoft.com/office/drawing/2014/main" id="{946BE916-F8FF-4272-8669-DCB321F1E264}"/>
              </a:ext>
            </a:extLst>
          </p:cNvPr>
          <p:cNvSpPr txBox="1"/>
          <p:nvPr/>
        </p:nvSpPr>
        <p:spPr>
          <a:xfrm>
            <a:off x="1093694" y="2823900"/>
            <a:ext cx="9780493" cy="646331"/>
          </a:xfrm>
          <a:prstGeom prst="rect">
            <a:avLst/>
          </a:prstGeom>
          <a:noFill/>
        </p:spPr>
        <p:txBody>
          <a:bodyPr wrap="square">
            <a:spAutoFit/>
          </a:bodyPr>
          <a:lstStyle/>
          <a:p>
            <a:r>
              <a:rPr lang="ru-RU" b="1" dirty="0"/>
              <a:t>Сравнение двух систем</a:t>
            </a:r>
          </a:p>
          <a:p>
            <a:r>
              <a:rPr lang="ru-RU" dirty="0"/>
              <a:t>Эта таблица наглядно демонстрирует принципиальные отличия двух подходов.</a:t>
            </a:r>
          </a:p>
        </p:txBody>
      </p:sp>
    </p:spTree>
    <p:extLst>
      <p:ext uri="{BB962C8B-B14F-4D97-AF65-F5344CB8AC3E}">
        <p14:creationId xmlns:p14="http://schemas.microsoft.com/office/powerpoint/2010/main" val="411767968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68FD0792-F996-4494-A5F3-9471B091D8DE}"/>
              </a:ext>
            </a:extLst>
          </p:cNvPr>
          <p:cNvPicPr>
            <a:picLocks noChangeAspect="1"/>
          </p:cNvPicPr>
          <p:nvPr/>
        </p:nvPicPr>
        <p:blipFill>
          <a:blip r:embed="rId2"/>
          <a:stretch>
            <a:fillRect/>
          </a:stretch>
        </p:blipFill>
        <p:spPr>
          <a:xfrm>
            <a:off x="1757082" y="113837"/>
            <a:ext cx="8973671" cy="6630325"/>
          </a:xfrm>
          <a:prstGeom prst="rect">
            <a:avLst/>
          </a:prstGeom>
        </p:spPr>
      </p:pic>
    </p:spTree>
    <p:extLst>
      <p:ext uri="{BB962C8B-B14F-4D97-AF65-F5344CB8AC3E}">
        <p14:creationId xmlns:p14="http://schemas.microsoft.com/office/powerpoint/2010/main" val="99924770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ECFB59-5BFF-4793-9B56-7B174A4750D1}"/>
              </a:ext>
            </a:extLst>
          </p:cNvPr>
          <p:cNvSpPr txBox="1"/>
          <p:nvPr/>
        </p:nvSpPr>
        <p:spPr>
          <a:xfrm>
            <a:off x="578223" y="579201"/>
            <a:ext cx="11035553" cy="2308324"/>
          </a:xfrm>
          <a:prstGeom prst="rect">
            <a:avLst/>
          </a:prstGeom>
          <a:noFill/>
        </p:spPr>
        <p:txBody>
          <a:bodyPr wrap="square">
            <a:spAutoFit/>
          </a:bodyPr>
          <a:lstStyle/>
          <a:p>
            <a:r>
              <a:rPr lang="ru-RU" b="1" dirty="0"/>
              <a:t>Так в чем же главное отличие?</a:t>
            </a:r>
          </a:p>
          <a:p>
            <a:r>
              <a:rPr lang="ru-RU" dirty="0"/>
              <a:t>Если говорить просто, то ключевое отличие лежит в </a:t>
            </a:r>
            <a:r>
              <a:rPr lang="ru-RU" b="1" dirty="0"/>
              <a:t>модели доверия и управления</a:t>
            </a:r>
            <a:r>
              <a:rPr lang="ru-RU" dirty="0"/>
              <a:t>:</a:t>
            </a:r>
          </a:p>
          <a:p>
            <a:pPr>
              <a:buFont typeface="Arial" panose="020B0604020202020204" pitchFamily="34" charset="0"/>
              <a:buChar char="•"/>
            </a:pPr>
            <a:r>
              <a:rPr lang="ru-RU" b="1" dirty="0"/>
              <a:t>Обычный DNS</a:t>
            </a:r>
            <a:r>
              <a:rPr lang="ru-RU" dirty="0"/>
              <a:t> — это </a:t>
            </a:r>
            <a:r>
              <a:rPr lang="ru-RU" b="1" dirty="0"/>
              <a:t>иерархическая система, доверяющая посредникам</a:t>
            </a:r>
            <a:r>
              <a:rPr lang="ru-RU" dirty="0"/>
              <a:t>. Она похожа на систему паспортных столов. Чтобы зарегистрировать новое имя (адрес), вам нужно обратиться к уполномоченному органу (регистратору), который получил права от вышестоящей организации (ICANN).</a:t>
            </a:r>
          </a:p>
          <a:p>
            <a:pPr>
              <a:buFont typeface="Arial" panose="020B0604020202020204" pitchFamily="34" charset="0"/>
              <a:buChar char="•"/>
            </a:pPr>
            <a:r>
              <a:rPr lang="ru-RU" b="1" dirty="0"/>
              <a:t>Децентрализованный DNS</a:t>
            </a:r>
            <a:r>
              <a:rPr lang="ru-RU" dirty="0"/>
              <a:t> — это </a:t>
            </a:r>
            <a:r>
              <a:rPr lang="ru-RU" b="1" dirty="0"/>
              <a:t>одноранговая система, требующая доверия к протоколу</a:t>
            </a:r>
            <a:r>
              <a:rPr lang="ru-RU" dirty="0"/>
              <a:t>. Она напоминает запись в </a:t>
            </a:r>
            <a:r>
              <a:rPr lang="ru-RU" dirty="0" err="1"/>
              <a:t>блокчейне</a:t>
            </a:r>
            <a:r>
              <a:rPr lang="ru-RU" dirty="0"/>
              <a:t> криптовалюты. Вы сами создаете и контролируете свою запись, а сеть равноправных участников проверяет и хранит её у себя, не подчиняясь единому центру</a:t>
            </a:r>
          </a:p>
        </p:txBody>
      </p:sp>
      <p:sp>
        <p:nvSpPr>
          <p:cNvPr id="4" name="Rectangle 1">
            <a:extLst>
              <a:ext uri="{FF2B5EF4-FFF2-40B4-BE49-F238E27FC236}">
                <a16:creationId xmlns:a16="http://schemas.microsoft.com/office/drawing/2014/main" id="{068D26EC-1F4E-4D56-A0A7-B414210AC204}"/>
              </a:ext>
            </a:extLst>
          </p:cNvPr>
          <p:cNvSpPr>
            <a:spLocks noChangeArrowheads="1"/>
          </p:cNvSpPr>
          <p:nvPr/>
        </p:nvSpPr>
        <p:spPr bwMode="auto">
          <a:xfrm>
            <a:off x="398928" y="3007152"/>
            <a:ext cx="1161377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err="1">
                <a:latin typeface="Arial" panose="020B0604020202020204" pitchFamily="34" charset="0"/>
              </a:rPr>
              <a:t>Примеры</a:t>
            </a:r>
            <a:r>
              <a:rPr lang="en-US" altLang="en-US" b="1" dirty="0">
                <a:latin typeface="Arial" panose="020B0604020202020204" pitchFamily="34" charset="0"/>
              </a:rPr>
              <a:t> </a:t>
            </a:r>
            <a:r>
              <a:rPr lang="en-US" altLang="en-US" b="1" dirty="0" err="1">
                <a:latin typeface="Arial" panose="020B0604020202020204" pitchFamily="34" charset="0"/>
              </a:rPr>
              <a:t>децентрализованных</a:t>
            </a:r>
            <a:r>
              <a:rPr lang="en-US" altLang="en-US" b="1" dirty="0">
                <a:latin typeface="Arial" panose="020B0604020202020204" pitchFamily="34" charset="0"/>
              </a:rPr>
              <a:t> </a:t>
            </a:r>
            <a:r>
              <a:rPr lang="en-US" altLang="en-US" b="1" dirty="0" err="1">
                <a:latin typeface="Arial" panose="020B0604020202020204" pitchFamily="34" charset="0"/>
              </a:rPr>
              <a:t>систем</a:t>
            </a: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ENS (Ethereum Name Service)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Использует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блокчейн</a:t>
            </a:r>
            <a:r>
              <a:rPr kumimoji="0" lang="en-US" altLang="en-US" sz="1800" b="0" i="0" u="none" strike="noStrike" cap="none" normalizeH="0" baseline="0" dirty="0">
                <a:ln>
                  <a:noFill/>
                </a:ln>
                <a:solidFill>
                  <a:schemeClr val="tx1"/>
                </a:solidFill>
                <a:effectLst/>
                <a:latin typeface="Arial" panose="020B0604020202020204" pitchFamily="34" charset="0"/>
              </a:rPr>
              <a:t> Ethereum, </a:t>
            </a:r>
            <a:r>
              <a:rPr kumimoji="0" lang="en-US" altLang="en-US" sz="1800" b="0" i="0" u="none" strike="noStrike" cap="none" normalizeH="0" baseline="0" dirty="0" err="1">
                <a:ln>
                  <a:noFill/>
                </a:ln>
                <a:solidFill>
                  <a:schemeClr val="tx1"/>
                </a:solidFill>
                <a:effectLst/>
                <a:latin typeface="Arial" panose="020B0604020202020204" pitchFamily="34" charset="0"/>
              </a:rPr>
              <a:t>чтобы</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привязывать</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короткие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имена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dirty="0" err="1">
                <a:latin typeface="Arial" panose="020B0604020202020204" pitchFamily="34" charset="0"/>
              </a:rPr>
              <a:t>yourname.eth</a:t>
            </a:r>
            <a:r>
              <a:rPr lang="en-US" altLang="en-US" dirty="0">
                <a:latin typeface="Arial" panose="020B0604020202020204" pitchFamily="34" charset="0"/>
              </a:rPr>
              <a:t>) </a:t>
            </a:r>
            <a:r>
              <a:rPr lang="en-US" altLang="en-US" dirty="0" err="1">
                <a:latin typeface="Arial" panose="020B0604020202020204" pitchFamily="34" charset="0"/>
              </a:rPr>
              <a:t>не</a:t>
            </a:r>
            <a:r>
              <a:rPr lang="en-US" altLang="en-US" dirty="0">
                <a:latin typeface="Arial" panose="020B0604020202020204" pitchFamily="34" charset="0"/>
              </a:rPr>
              <a:t> </a:t>
            </a:r>
            <a:r>
              <a:rPr lang="en-US" altLang="en-US" dirty="0" err="1">
                <a:latin typeface="Arial" panose="020B0604020202020204" pitchFamily="34" charset="0"/>
              </a:rPr>
              <a:t>только</a:t>
            </a:r>
            <a:r>
              <a:rPr lang="en-US" altLang="en-US" dirty="0">
                <a:latin typeface="Arial" panose="020B0604020202020204" pitchFamily="34" charset="0"/>
              </a:rPr>
              <a:t> к </a:t>
            </a:r>
            <a:r>
              <a:rPr lang="en-US" altLang="en-US" dirty="0" err="1">
                <a:latin typeface="Arial" panose="020B0604020202020204" pitchFamily="34" charset="0"/>
              </a:rPr>
              <a:t>веб-сайтам</a:t>
            </a:r>
            <a:r>
              <a:rPr lang="en-US" altLang="en-US" dirty="0">
                <a:latin typeface="Arial" panose="020B0604020202020204" pitchFamily="34" charset="0"/>
              </a:rPr>
              <a:t>, </a:t>
            </a:r>
            <a:r>
              <a:rPr lang="en-US" altLang="en-US" dirty="0" err="1">
                <a:latin typeface="Arial" panose="020B0604020202020204" pitchFamily="34" charset="0"/>
              </a:rPr>
              <a:t>но</a:t>
            </a:r>
            <a:r>
              <a:rPr lang="en-US" altLang="en-US" dirty="0">
                <a:latin typeface="Arial" panose="020B0604020202020204" pitchFamily="34" charset="0"/>
              </a:rPr>
              <a:t> и к </a:t>
            </a:r>
            <a:r>
              <a:rPr lang="en-US" altLang="en-US" dirty="0" err="1">
                <a:latin typeface="Arial" panose="020B0604020202020204" pitchFamily="34" charset="0"/>
              </a:rPr>
              <a:t>адресам</a:t>
            </a:r>
            <a:r>
              <a:rPr lang="en-US" altLang="en-US" dirty="0">
                <a:latin typeface="Arial" panose="020B0604020202020204" pitchFamily="34" charset="0"/>
              </a:rPr>
              <a:t> </a:t>
            </a:r>
            <a:r>
              <a:rPr lang="en-US" altLang="en-US" dirty="0" err="1">
                <a:latin typeface="Arial" panose="020B0604020202020204" pitchFamily="34" charset="0"/>
              </a:rPr>
              <a:t>криптокошельков</a:t>
            </a:r>
            <a:r>
              <a:rPr lang="en-US" altLang="en-US" dirty="0">
                <a:latin typeface="Arial" panose="020B0604020202020204" pitchFamily="34" charset="0"/>
              </a:rPr>
              <a:t> и </a:t>
            </a:r>
            <a:r>
              <a:rPr lang="en-US" altLang="en-US" dirty="0" err="1">
                <a:latin typeface="Arial" panose="020B0604020202020204" pitchFamily="34" charset="0"/>
              </a:rPr>
              <a:t>децентрализованным</a:t>
            </a:r>
            <a:r>
              <a:rPr lang="en-US" altLang="en-US" dirty="0">
                <a:latin typeface="Arial" panose="020B0604020202020204" pitchFamily="34" charset="0"/>
              </a:rPr>
              <a:t> </a:t>
            </a:r>
            <a:r>
              <a:rPr lang="en-US" altLang="en-US" dirty="0" err="1">
                <a:latin typeface="Arial" panose="020B0604020202020204" pitchFamily="34" charset="0"/>
              </a:rPr>
              <a:t>приложениям</a:t>
            </a:r>
            <a:r>
              <a:rPr lang="en-US" altLang="en-US" dirty="0">
                <a:latin typeface="Arial" panose="020B0604020202020204" pitchFamily="34" charset="0"/>
              </a:rPr>
              <a:t>. </a:t>
            </a:r>
            <a:r>
              <a:rPr lang="en-US" altLang="en-US" dirty="0" err="1">
                <a:latin typeface="Arial" panose="020B0604020202020204" pitchFamily="34" charset="0"/>
              </a:rPr>
              <a:t>Сам</a:t>
            </a:r>
            <a:r>
              <a:rPr lang="en-US" altLang="en-US" dirty="0">
                <a:latin typeface="Arial" panose="020B0604020202020204" pitchFamily="34" charset="0"/>
              </a:rPr>
              <a:t> </a:t>
            </a:r>
            <a:r>
              <a:rPr lang="en-US" altLang="en-US" dirty="0" err="1">
                <a:latin typeface="Arial" panose="020B0604020202020204" pitchFamily="34" charset="0"/>
              </a:rPr>
              <a:t>домен</a:t>
            </a:r>
            <a:r>
              <a:rPr lang="en-US" altLang="en-US" dirty="0">
                <a:latin typeface="Arial" panose="020B0604020202020204" pitchFamily="34" charset="0"/>
              </a:rPr>
              <a:t> </a:t>
            </a:r>
            <a:r>
              <a:rPr lang="en-US" altLang="en-US" dirty="0" err="1">
                <a:latin typeface="Arial" panose="020B0604020202020204" pitchFamily="34" charset="0"/>
              </a:rPr>
              <a:t>является</a:t>
            </a:r>
            <a:r>
              <a:rPr lang="en-US" altLang="en-US" dirty="0">
                <a:latin typeface="Arial" panose="020B0604020202020204" pitchFamily="34" charset="0"/>
              </a:rPr>
              <a:t> NFT-</a:t>
            </a:r>
            <a:r>
              <a:rPr lang="en-US" altLang="en-US" dirty="0" err="1">
                <a:latin typeface="Arial" panose="020B0604020202020204" pitchFamily="34" charset="0"/>
              </a:rPr>
              <a:t>токеном</a:t>
            </a:r>
            <a:r>
              <a:rPr lang="en-US" altLang="en-US" dirty="0">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a:latin typeface="Arial" panose="020B0604020202020204" pitchFamily="34" charset="0"/>
              </a:rPr>
              <a:t>Handshake:</a:t>
            </a:r>
            <a:r>
              <a:rPr lang="en-US" altLang="en-US" dirty="0">
                <a:latin typeface="Arial" panose="020B0604020202020204" pitchFamily="34" charset="0"/>
              </a:rPr>
              <a:t> </a:t>
            </a:r>
            <a:r>
              <a:rPr lang="en-US" altLang="en-US" dirty="0" err="1">
                <a:latin typeface="Arial" panose="020B0604020202020204" pitchFamily="34" charset="0"/>
              </a:rPr>
              <a:t>Этот</a:t>
            </a:r>
            <a:r>
              <a:rPr lang="en-US" altLang="en-US" dirty="0">
                <a:latin typeface="Arial" panose="020B0604020202020204" pitchFamily="34" charset="0"/>
              </a:rPr>
              <a:t> </a:t>
            </a:r>
            <a:r>
              <a:rPr lang="en-US" altLang="en-US" dirty="0" err="1">
                <a:latin typeface="Arial" panose="020B0604020202020204" pitchFamily="34" charset="0"/>
              </a:rPr>
              <a:t>проект</a:t>
            </a:r>
            <a:r>
              <a:rPr lang="en-US" altLang="en-US" dirty="0">
                <a:latin typeface="Arial" panose="020B0604020202020204" pitchFamily="34" charset="0"/>
              </a:rPr>
              <a:t> </a:t>
            </a:r>
            <a:r>
              <a:rPr lang="en-US" altLang="en-US" dirty="0" err="1">
                <a:latin typeface="Arial" panose="020B0604020202020204" pitchFamily="34" charset="0"/>
              </a:rPr>
              <a:t>нацелен</a:t>
            </a:r>
            <a:r>
              <a:rPr lang="en-US" altLang="en-US" dirty="0">
                <a:latin typeface="Arial" panose="020B0604020202020204" pitchFamily="34" charset="0"/>
              </a:rPr>
              <a:t> </a:t>
            </a:r>
            <a:r>
              <a:rPr lang="en-US" altLang="en-US" dirty="0" err="1">
                <a:latin typeface="Arial" panose="020B0604020202020204" pitchFamily="34" charset="0"/>
              </a:rPr>
              <a:t>на</a:t>
            </a:r>
            <a:r>
              <a:rPr lang="en-US" altLang="en-US" dirty="0">
                <a:latin typeface="Arial" panose="020B0604020202020204" pitchFamily="34" charset="0"/>
              </a:rPr>
              <a:t> </a:t>
            </a:r>
            <a:r>
              <a:rPr lang="en-US" altLang="en-US" dirty="0" err="1">
                <a:latin typeface="Arial" panose="020B0604020202020204" pitchFamily="34" charset="0"/>
              </a:rPr>
              <a:t>создание</a:t>
            </a:r>
            <a:r>
              <a:rPr lang="en-US" altLang="en-US" dirty="0">
                <a:latin typeface="Arial" panose="020B0604020202020204" pitchFamily="34" charset="0"/>
              </a:rPr>
              <a:t> </a:t>
            </a:r>
            <a:r>
              <a:rPr lang="en-US" altLang="en-US" dirty="0" err="1">
                <a:latin typeface="Arial" panose="020B0604020202020204" pitchFamily="34" charset="0"/>
              </a:rPr>
              <a:t>полностью</a:t>
            </a:r>
            <a:r>
              <a:rPr lang="en-US" altLang="en-US" dirty="0">
                <a:latin typeface="Arial" panose="020B0604020202020204" pitchFamily="34" charset="0"/>
              </a:rPr>
              <a:t> </a:t>
            </a:r>
            <a:r>
              <a:rPr lang="en-US" altLang="en-US" dirty="0" err="1">
                <a:latin typeface="Arial" panose="020B0604020202020204" pitchFamily="34" charset="0"/>
              </a:rPr>
              <a:t>независимой</a:t>
            </a:r>
            <a:r>
              <a:rPr lang="en-US" altLang="en-US" dirty="0">
                <a:latin typeface="Arial" panose="020B0604020202020204" pitchFamily="34" charset="0"/>
              </a:rPr>
              <a:t> </a:t>
            </a:r>
            <a:r>
              <a:rPr lang="en-US" altLang="en-US" dirty="0" err="1">
                <a:latin typeface="Arial" panose="020B0604020202020204" pitchFamily="34" charset="0"/>
              </a:rPr>
              <a:t>корневой</a:t>
            </a:r>
            <a:r>
              <a:rPr lang="en-US" altLang="en-US" dirty="0">
                <a:latin typeface="Arial" panose="020B0604020202020204" pitchFamily="34" charset="0"/>
              </a:rPr>
              <a:t> </a:t>
            </a:r>
            <a:r>
              <a:rPr lang="en-US" altLang="en-US" dirty="0" err="1">
                <a:latin typeface="Arial" panose="020B0604020202020204" pitchFamily="34" charset="0"/>
              </a:rPr>
              <a:t>зоны</a:t>
            </a:r>
            <a:r>
              <a:rPr lang="en-US" altLang="en-US" dirty="0">
                <a:latin typeface="Arial" panose="020B0604020202020204" pitchFamily="34" charset="0"/>
              </a:rPr>
              <a:t> DNS. </a:t>
            </a:r>
            <a:r>
              <a:rPr lang="en-US" altLang="en-US" dirty="0" err="1">
                <a:latin typeface="Arial" panose="020B0604020202020204" pitchFamily="34" charset="0"/>
              </a:rPr>
              <a:t>Он</a:t>
            </a:r>
            <a:r>
              <a:rPr lang="en-US" altLang="en-US" dirty="0">
                <a:latin typeface="Arial" panose="020B0604020202020204" pitchFamily="34" charset="0"/>
              </a:rPr>
              <a:t> </a:t>
            </a:r>
            <a:r>
              <a:rPr lang="en-US" altLang="en-US" dirty="0" err="1">
                <a:latin typeface="Arial" panose="020B0604020202020204" pitchFamily="34" charset="0"/>
              </a:rPr>
              <a:t>позволяет</a:t>
            </a:r>
            <a:r>
              <a:rPr lang="en-US" altLang="en-US" dirty="0">
                <a:latin typeface="Arial" panose="020B0604020202020204" pitchFamily="34" charset="0"/>
              </a:rPr>
              <a:t> </a:t>
            </a:r>
            <a:r>
              <a:rPr lang="en-US" altLang="en-US" dirty="0" err="1">
                <a:latin typeface="Arial" panose="020B0604020202020204" pitchFamily="34" charset="0"/>
              </a:rPr>
              <a:t>любому</a:t>
            </a:r>
            <a:r>
              <a:rPr lang="en-US" altLang="en-US" dirty="0">
                <a:latin typeface="Arial" panose="020B0604020202020204" pitchFamily="34" charset="0"/>
              </a:rPr>
              <a:t> </a:t>
            </a:r>
            <a:r>
              <a:rPr lang="en-US" altLang="en-US" dirty="0" err="1">
                <a:latin typeface="Arial" panose="020B0604020202020204" pitchFamily="34" charset="0"/>
              </a:rPr>
              <a:t>желающему</a:t>
            </a:r>
            <a:r>
              <a:rPr lang="en-US" altLang="en-US" dirty="0">
                <a:latin typeface="Arial" panose="020B0604020202020204" pitchFamily="34" charset="0"/>
              </a:rPr>
              <a:t> </a:t>
            </a:r>
            <a:r>
              <a:rPr lang="en-US" altLang="en-US" dirty="0" err="1">
                <a:latin typeface="Arial" panose="020B0604020202020204" pitchFamily="34" charset="0"/>
              </a:rPr>
              <a:t>создать</a:t>
            </a:r>
            <a:r>
              <a:rPr lang="en-US" altLang="en-US" dirty="0">
                <a:latin typeface="Arial" panose="020B0604020202020204" pitchFamily="34" charset="0"/>
              </a:rPr>
              <a:t> и </a:t>
            </a:r>
            <a:r>
              <a:rPr lang="en-US" altLang="en-US" dirty="0" err="1">
                <a:latin typeface="Arial" panose="020B0604020202020204" pitchFamily="34" charset="0"/>
              </a:rPr>
              <a:t>полностью</a:t>
            </a:r>
            <a:r>
              <a:rPr lang="en-US" altLang="en-US" dirty="0">
                <a:latin typeface="Arial" panose="020B0604020202020204" pitchFamily="34" charset="0"/>
              </a:rPr>
              <a:t> </a:t>
            </a:r>
            <a:r>
              <a:rPr lang="en-US" altLang="en-US" dirty="0" err="1">
                <a:latin typeface="Arial" panose="020B0604020202020204" pitchFamily="34" charset="0"/>
              </a:rPr>
              <a:t>контролировать</a:t>
            </a:r>
            <a:r>
              <a:rPr lang="en-US" altLang="en-US" dirty="0">
                <a:latin typeface="Arial" panose="020B0604020202020204" pitchFamily="34" charset="0"/>
              </a:rPr>
              <a:t> </a:t>
            </a:r>
            <a:r>
              <a:rPr lang="en-US" altLang="en-US" dirty="0" err="1">
                <a:latin typeface="Arial" panose="020B0604020202020204" pitchFamily="34" charset="0"/>
              </a:rPr>
              <a:t>свой</a:t>
            </a:r>
            <a:r>
              <a:rPr lang="en-US" altLang="en-US" dirty="0">
                <a:latin typeface="Arial" panose="020B0604020202020204" pitchFamily="34" charset="0"/>
              </a:rPr>
              <a:t> </a:t>
            </a:r>
            <a:r>
              <a:rPr lang="en-US" altLang="en-US" dirty="0" err="1">
                <a:latin typeface="Arial" panose="020B0604020202020204" pitchFamily="34" charset="0"/>
              </a:rPr>
              <a:t>домен</a:t>
            </a:r>
            <a:r>
              <a:rPr lang="en-US" altLang="en-US" dirty="0">
                <a:latin typeface="Arial" panose="020B0604020202020204" pitchFamily="34" charset="0"/>
              </a:rPr>
              <a:t> </a:t>
            </a:r>
            <a:r>
              <a:rPr lang="en-US" altLang="en-US" dirty="0" err="1">
                <a:latin typeface="Arial" panose="020B0604020202020204" pitchFamily="34" charset="0"/>
              </a:rPr>
              <a:t>верхнего</a:t>
            </a:r>
            <a:r>
              <a:rPr lang="en-US" altLang="en-US" dirty="0">
                <a:latin typeface="Arial" panose="020B0604020202020204" pitchFamily="34" charset="0"/>
              </a:rPr>
              <a:t> </a:t>
            </a:r>
            <a:r>
              <a:rPr lang="en-US" altLang="en-US" dirty="0" err="1">
                <a:latin typeface="Arial" panose="020B0604020202020204" pitchFamily="34" charset="0"/>
              </a:rPr>
              <a:t>уровня</a:t>
            </a:r>
            <a:r>
              <a:rPr lang="en-US" altLang="en-US" dirty="0">
                <a:latin typeface="Arial" panose="020B0604020202020204" pitchFamily="34" charset="0"/>
              </a:rPr>
              <a:t> (</a:t>
            </a:r>
            <a:r>
              <a:rPr lang="en-US" altLang="en-US" dirty="0" err="1">
                <a:latin typeface="Arial" panose="020B0604020202020204" pitchFamily="34" charset="0"/>
              </a:rPr>
              <a:t>например</a:t>
            </a:r>
            <a:r>
              <a:rPr lang="en-US" altLang="en-US" dirty="0">
                <a:latin typeface="Arial" panose="020B0604020202020204" pitchFamily="34" charset="0"/>
              </a:rPr>
              <a:t>, .</a:t>
            </a:r>
            <a:r>
              <a:rPr lang="en-US" altLang="en-US" dirty="0" err="1">
                <a:latin typeface="Arial" panose="020B0604020202020204" pitchFamily="34" charset="0"/>
              </a:rPr>
              <a:t>mybrand</a:t>
            </a:r>
            <a:r>
              <a:rPr lang="en-US" altLang="en-US" dirty="0">
                <a:latin typeface="Arial" panose="020B0604020202020204" pitchFamily="34" charset="0"/>
              </a:rPr>
              <a:t> </a:t>
            </a:r>
            <a:r>
              <a:rPr lang="en-US" altLang="en-US" dirty="0" err="1">
                <a:latin typeface="Arial" panose="020B0604020202020204" pitchFamily="34" charset="0"/>
              </a:rPr>
              <a:t>или</a:t>
            </a:r>
            <a:r>
              <a:rPr lang="en-US" altLang="en-US" dirty="0">
                <a:latin typeface="Arial" panose="020B0604020202020204" pitchFamily="34" charset="0"/>
              </a:rPr>
              <a:t> .company) </a:t>
            </a:r>
            <a:r>
              <a:rPr lang="en-US" altLang="en-US" dirty="0" err="1">
                <a:latin typeface="Arial" panose="020B0604020202020204" pitchFamily="34" charset="0"/>
              </a:rPr>
              <a:t>без</a:t>
            </a:r>
            <a:r>
              <a:rPr lang="en-US" altLang="en-US" dirty="0">
                <a:latin typeface="Arial" panose="020B0604020202020204" pitchFamily="34" charset="0"/>
              </a:rPr>
              <a:t> </a:t>
            </a:r>
            <a:r>
              <a:rPr lang="en-US" altLang="en-US" dirty="0" err="1">
                <a:latin typeface="Arial" panose="020B0604020202020204" pitchFamily="34" charset="0"/>
              </a:rPr>
              <a:t>участия</a:t>
            </a:r>
            <a:r>
              <a:rPr lang="en-US" altLang="en-US" dirty="0">
                <a:latin typeface="Arial" panose="020B0604020202020204" pitchFamily="34" charset="0"/>
              </a:rPr>
              <a:t> ICANN.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Namecoin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Один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из</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самых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ранних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проектов</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основанный</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отдельном</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блокчейне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позволяет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регистрировать</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домены</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dirty="0">
                <a:latin typeface="Arial" panose="020B0604020202020204" pitchFamily="34" charset="0"/>
              </a:rPr>
              <a:t>в </a:t>
            </a:r>
            <a:r>
              <a:rPr lang="en-US" altLang="en-US" dirty="0" err="1">
                <a:latin typeface="Arial" panose="020B0604020202020204" pitchFamily="34" charset="0"/>
              </a:rPr>
              <a:t>зоне</a:t>
            </a:r>
            <a:r>
              <a:rPr lang="en-US" altLang="en-US" dirty="0">
                <a:latin typeface="Arial" panose="020B0604020202020204" pitchFamily="34" charset="0"/>
              </a:rPr>
              <a:t> .bit, </a:t>
            </a:r>
            <a:r>
              <a:rPr lang="en-US" altLang="en-US" dirty="0" err="1">
                <a:latin typeface="Arial" panose="020B0604020202020204" pitchFamily="34" charset="0"/>
              </a:rPr>
              <a:t>которые</a:t>
            </a:r>
            <a:r>
              <a:rPr lang="en-US" altLang="en-US" dirty="0">
                <a:latin typeface="Arial" panose="020B0604020202020204" pitchFamily="34" charset="0"/>
              </a:rPr>
              <a:t> </a:t>
            </a:r>
            <a:r>
              <a:rPr lang="en-US" altLang="en-US" dirty="0" err="1">
                <a:latin typeface="Arial" panose="020B0604020202020204" pitchFamily="34" charset="0"/>
              </a:rPr>
              <a:t>крайне</a:t>
            </a:r>
            <a:r>
              <a:rPr lang="en-US" altLang="en-US" dirty="0">
                <a:latin typeface="Arial" panose="020B0604020202020204" pitchFamily="34" charset="0"/>
              </a:rPr>
              <a:t> </a:t>
            </a:r>
            <a:r>
              <a:rPr lang="en-US" altLang="en-US" dirty="0" err="1">
                <a:latin typeface="Arial" panose="020B0604020202020204" pitchFamily="34" charset="0"/>
              </a:rPr>
              <a:t>устойчивы</a:t>
            </a:r>
            <a:r>
              <a:rPr lang="en-US" altLang="en-US" dirty="0">
                <a:latin typeface="Arial" panose="020B0604020202020204" pitchFamily="34" charset="0"/>
              </a:rPr>
              <a:t> к </a:t>
            </a:r>
            <a:r>
              <a:rPr lang="en-US" altLang="en-US" dirty="0" err="1">
                <a:latin typeface="Arial" panose="020B0604020202020204" pitchFamily="34" charset="0"/>
              </a:rPr>
              <a:t>цензуре</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0914684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09A119-FE04-4B6B-A18C-5AD09BC0E69F}"/>
              </a:ext>
            </a:extLst>
          </p:cNvPr>
          <p:cNvSpPr txBox="1"/>
          <p:nvPr/>
        </p:nvSpPr>
        <p:spPr>
          <a:xfrm>
            <a:off x="618564" y="364048"/>
            <a:ext cx="11340353" cy="2862322"/>
          </a:xfrm>
          <a:prstGeom prst="rect">
            <a:avLst/>
          </a:prstGeom>
          <a:noFill/>
        </p:spPr>
        <p:txBody>
          <a:bodyPr wrap="square">
            <a:spAutoFit/>
          </a:bodyPr>
          <a:lstStyle/>
          <a:p>
            <a:r>
              <a:rPr lang="ru-RU" b="1" dirty="0"/>
              <a:t>Зачем это нужно?</a:t>
            </a:r>
          </a:p>
          <a:p>
            <a:r>
              <a:rPr lang="ru-RU" dirty="0"/>
              <a:t>Основная мотивация перехода к децентрализованному DNS — это решение фундаментальных проблем традиционной системы:</a:t>
            </a:r>
          </a:p>
          <a:p>
            <a:pPr>
              <a:buFont typeface="Arial" panose="020B0604020202020204" pitchFamily="34" charset="0"/>
              <a:buChar char="•"/>
            </a:pPr>
            <a:r>
              <a:rPr lang="ru-RU" b="1" dirty="0"/>
              <a:t>Устранить "единую точку отказа" (SPOF)</a:t>
            </a:r>
            <a:r>
              <a:rPr lang="ru-RU" dirty="0"/>
              <a:t>: В традиционном DNS выход из строя нескольких корневых серверов может парализовать работу огромных сегментов интернета.</a:t>
            </a:r>
          </a:p>
          <a:p>
            <a:pPr>
              <a:buFont typeface="Arial" panose="020B0604020202020204" pitchFamily="34" charset="0"/>
              <a:buChar char="•"/>
            </a:pPr>
            <a:r>
              <a:rPr lang="ru-RU" b="1" dirty="0"/>
              <a:t>Гарантировать устойчивость к цензуре</a:t>
            </a:r>
            <a:r>
              <a:rPr lang="ru-RU" dirty="0"/>
              <a:t>: В некоторых странах государственные органы могут блокировать целые сайты на уровне DNS. Децентрализованная система делает такую блокировку практически невозможной.</a:t>
            </a:r>
          </a:p>
          <a:p>
            <a:pPr>
              <a:buFont typeface="Arial" panose="020B0604020202020204" pitchFamily="34" charset="0"/>
              <a:buChar char="•"/>
            </a:pPr>
            <a:r>
              <a:rPr lang="ru-RU" b="1" dirty="0"/>
              <a:t>Повысить безопасность</a:t>
            </a:r>
            <a:r>
              <a:rPr lang="ru-RU" dirty="0"/>
              <a:t>: </a:t>
            </a:r>
            <a:r>
              <a:rPr lang="ru-RU" dirty="0" err="1"/>
              <a:t>Блокчейн</a:t>
            </a:r>
            <a:r>
              <a:rPr lang="ru-RU" dirty="0"/>
              <a:t>-проекты используют криптографию, чтобы гарантировать неизменность записей. Это делает крайне затруднительными атаки по подмене IP-адреса сайта (например, для перехвата данных)</a:t>
            </a:r>
          </a:p>
        </p:txBody>
      </p:sp>
      <p:sp>
        <p:nvSpPr>
          <p:cNvPr id="5" name="TextBox 4">
            <a:extLst>
              <a:ext uri="{FF2B5EF4-FFF2-40B4-BE49-F238E27FC236}">
                <a16:creationId xmlns:a16="http://schemas.microsoft.com/office/drawing/2014/main" id="{66942F85-F4A4-4AEE-BF2D-DB3A754577E6}"/>
              </a:ext>
            </a:extLst>
          </p:cNvPr>
          <p:cNvSpPr txBox="1"/>
          <p:nvPr/>
        </p:nvSpPr>
        <p:spPr>
          <a:xfrm>
            <a:off x="484094" y="3631631"/>
            <a:ext cx="11098306" cy="2031325"/>
          </a:xfrm>
          <a:prstGeom prst="rect">
            <a:avLst/>
          </a:prstGeom>
          <a:noFill/>
        </p:spPr>
        <p:txBody>
          <a:bodyPr wrap="square">
            <a:spAutoFit/>
          </a:bodyPr>
          <a:lstStyle/>
          <a:p>
            <a:r>
              <a:rPr lang="ru-RU" b="1" dirty="0"/>
              <a:t>Итог: Будущее или утопия?</a:t>
            </a:r>
          </a:p>
          <a:p>
            <a:r>
              <a:rPr lang="ru-RU" dirty="0"/>
              <a:t>На данный момент децентрализованный DNS — это экспериментальная, но быстро развивающаяся технология, которая предлагает решение реальных проблем безопасности и свободы в интернете.</a:t>
            </a:r>
          </a:p>
          <a:p>
            <a:r>
              <a:rPr lang="ru-RU" dirty="0"/>
              <a:t>Однако выбирать между ними пока не приходится. У большинства людей в браузере по умолчанию настроен обычный DNS, который стабильно работает для подавляющего большинства сайтов. Децентрализованные системы, такие как ENS или </a:t>
            </a:r>
            <a:r>
              <a:rPr lang="ru-RU" dirty="0" err="1"/>
              <a:t>Handshake</a:t>
            </a:r>
            <a:r>
              <a:rPr lang="ru-RU" dirty="0"/>
              <a:t>, пока используются для специфических задач, чаще всего связанных с миром Web3 и криптовалют</a:t>
            </a:r>
          </a:p>
        </p:txBody>
      </p:sp>
    </p:spTree>
    <p:extLst>
      <p:ext uri="{BB962C8B-B14F-4D97-AF65-F5344CB8AC3E}">
        <p14:creationId xmlns:p14="http://schemas.microsoft.com/office/powerpoint/2010/main" val="427368828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FE83194-342E-406D-987B-C6F71FB67C6D}"/>
              </a:ext>
            </a:extLst>
          </p:cNvPr>
          <p:cNvSpPr txBox="1"/>
          <p:nvPr/>
        </p:nvSpPr>
        <p:spPr>
          <a:xfrm>
            <a:off x="627529" y="382884"/>
            <a:ext cx="10650070" cy="5632311"/>
          </a:xfrm>
          <a:prstGeom prst="rect">
            <a:avLst/>
          </a:prstGeom>
          <a:noFill/>
        </p:spPr>
        <p:txBody>
          <a:bodyPr wrap="square">
            <a:spAutoFit/>
          </a:bodyPr>
          <a:lstStyle/>
          <a:p>
            <a:r>
              <a:rPr lang="ru-RU" sz="2400" b="1" dirty="0"/>
              <a:t>Децентрализованный DNS — архитектура, записи, примеры и применение</a:t>
            </a:r>
            <a:endParaRPr lang="en-US" sz="2400" b="1" dirty="0"/>
          </a:p>
          <a:p>
            <a:endParaRPr lang="ru-RU" sz="2400" b="1" dirty="0"/>
          </a:p>
          <a:p>
            <a:r>
              <a:rPr lang="ru-RU" sz="2400" b="1" dirty="0"/>
              <a:t>1. Введение: проблема классического DNS</a:t>
            </a:r>
          </a:p>
          <a:p>
            <a:r>
              <a:rPr lang="ru-RU" sz="2400" b="1" dirty="0"/>
              <a:t>Классический DNS</a:t>
            </a:r>
            <a:r>
              <a:rPr lang="ru-RU" sz="2400" dirty="0"/>
              <a:t> — это иерархическая система: корневые серверы → TLD-серверы (.</a:t>
            </a:r>
            <a:r>
              <a:rPr lang="ru-RU" sz="2400" dirty="0" err="1"/>
              <a:t>com</a:t>
            </a:r>
            <a:r>
              <a:rPr lang="ru-RU" sz="2400" dirty="0"/>
              <a:t>, .</a:t>
            </a:r>
            <a:r>
              <a:rPr lang="ru-RU" sz="2400" dirty="0" err="1"/>
              <a:t>org</a:t>
            </a:r>
            <a:r>
              <a:rPr lang="ru-RU" sz="2400" dirty="0"/>
              <a:t>) → </a:t>
            </a:r>
            <a:r>
              <a:rPr lang="ru-RU" sz="2400" dirty="0" err="1"/>
              <a:t>авторитативные</a:t>
            </a:r>
            <a:r>
              <a:rPr lang="ru-RU" sz="2400" dirty="0"/>
              <a:t> DNS-серверы. Она централизована на уровне управления (ICANN, правительства, регистраторы).</a:t>
            </a:r>
            <a:endParaRPr lang="en-US" sz="2400" dirty="0"/>
          </a:p>
          <a:p>
            <a:endParaRPr lang="ru-RU" sz="2400" dirty="0"/>
          </a:p>
          <a:p>
            <a:r>
              <a:rPr lang="ru-RU" sz="2400" b="1" dirty="0"/>
              <a:t>Главные недостатки</a:t>
            </a:r>
            <a:r>
              <a:rPr lang="ru-RU" sz="2400" dirty="0"/>
              <a:t>:</a:t>
            </a:r>
          </a:p>
          <a:p>
            <a:pPr>
              <a:buFont typeface="Arial" panose="020B0604020202020204" pitchFamily="34" charset="0"/>
              <a:buChar char="•"/>
            </a:pPr>
            <a:r>
              <a:rPr lang="ru-RU" sz="2400" b="1" dirty="0"/>
              <a:t>Цензура</a:t>
            </a:r>
            <a:r>
              <a:rPr lang="ru-RU" sz="2400" dirty="0"/>
              <a:t>: любая страна может приказать удалить домен или заблокировать его на своих </a:t>
            </a:r>
            <a:r>
              <a:rPr lang="ru-RU" sz="2400" dirty="0" err="1"/>
              <a:t>резолверах</a:t>
            </a:r>
            <a:r>
              <a:rPr lang="ru-RU" sz="2400" dirty="0"/>
              <a:t>.</a:t>
            </a:r>
          </a:p>
          <a:p>
            <a:pPr>
              <a:buFont typeface="Arial" panose="020B0604020202020204" pitchFamily="34" charset="0"/>
              <a:buChar char="•"/>
            </a:pPr>
            <a:r>
              <a:rPr lang="ru-RU" sz="2400" b="1" dirty="0"/>
              <a:t>Единая точка отказа</a:t>
            </a:r>
            <a:r>
              <a:rPr lang="ru-RU" sz="2400" dirty="0"/>
              <a:t>: </a:t>
            </a:r>
            <a:r>
              <a:rPr lang="ru-RU" sz="2400" dirty="0" err="1"/>
              <a:t>DDoS</a:t>
            </a:r>
            <a:r>
              <a:rPr lang="ru-RU" sz="2400" dirty="0"/>
              <a:t> на корневые серверы парализует огромные зоны.</a:t>
            </a:r>
          </a:p>
          <a:p>
            <a:pPr>
              <a:buFont typeface="Arial" panose="020B0604020202020204" pitchFamily="34" charset="0"/>
              <a:buChar char="•"/>
            </a:pPr>
            <a:r>
              <a:rPr lang="ru-RU" sz="2400" b="1" dirty="0"/>
              <a:t>Высокая стоимость и бюрократия</a:t>
            </a:r>
            <a:r>
              <a:rPr lang="ru-RU" sz="2400" dirty="0"/>
              <a:t>: владельцем домена формально являетесь не вы, а регистратор.</a:t>
            </a:r>
          </a:p>
          <a:p>
            <a:r>
              <a:rPr lang="ru-RU" sz="2400" b="1" dirty="0"/>
              <a:t>Децентрализованный DNS</a:t>
            </a:r>
            <a:r>
              <a:rPr lang="ru-RU" sz="2400" dirty="0"/>
              <a:t> решает это, храня данные о доменах в </a:t>
            </a:r>
            <a:r>
              <a:rPr lang="ru-RU" sz="2400" b="1" dirty="0" err="1"/>
              <a:t>блокчейне</a:t>
            </a:r>
            <a:r>
              <a:rPr lang="ru-RU" sz="2400" dirty="0"/>
              <a:t> или </a:t>
            </a:r>
            <a:r>
              <a:rPr lang="ru-RU" sz="2400" b="1" dirty="0"/>
              <a:t>распределённой хеш-таблице (DHT)</a:t>
            </a:r>
            <a:r>
              <a:rPr lang="ru-RU" sz="2400" dirty="0"/>
              <a:t>.</a:t>
            </a:r>
          </a:p>
        </p:txBody>
      </p:sp>
    </p:spTree>
    <p:extLst>
      <p:ext uri="{BB962C8B-B14F-4D97-AF65-F5344CB8AC3E}">
        <p14:creationId xmlns:p14="http://schemas.microsoft.com/office/powerpoint/2010/main" val="367863877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AFFB271-D9DF-488F-954E-A57EA108EBF4}"/>
              </a:ext>
            </a:extLst>
          </p:cNvPr>
          <p:cNvSpPr>
            <a:spLocks noChangeArrowheads="1"/>
          </p:cNvSpPr>
          <p:nvPr/>
        </p:nvSpPr>
        <p:spPr bwMode="auto">
          <a:xfrm>
            <a:off x="412376" y="551399"/>
            <a:ext cx="1177962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err="1">
                <a:latin typeface="Arial" panose="020B0604020202020204" pitchFamily="34" charset="0"/>
              </a:rPr>
              <a:t>Основные</a:t>
            </a:r>
            <a:r>
              <a:rPr lang="en-US" altLang="en-US" sz="2400" b="1" dirty="0">
                <a:latin typeface="Arial" panose="020B0604020202020204" pitchFamily="34" charset="0"/>
              </a:rPr>
              <a:t> </a:t>
            </a:r>
            <a:r>
              <a:rPr lang="en-US" altLang="en-US" sz="2400" b="1" dirty="0" err="1">
                <a:latin typeface="Arial" panose="020B0604020202020204" pitchFamily="34" charset="0"/>
              </a:rPr>
              <a:t>особенности</a:t>
            </a:r>
            <a:endParaRPr lang="en-US" altLang="en-US" sz="2400"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altLang="en-US" sz="2400" b="1" dirty="0" err="1">
                <a:latin typeface="Arial" panose="020B0604020202020204" pitchFamily="34" charset="0"/>
              </a:rPr>
              <a:t>Отсутствие</a:t>
            </a:r>
            <a:r>
              <a:rPr lang="en-US" altLang="en-US" sz="2400" b="1" dirty="0">
                <a:latin typeface="Arial" panose="020B0604020202020204" pitchFamily="34" charset="0"/>
              </a:rPr>
              <a:t> </a:t>
            </a:r>
            <a:r>
              <a:rPr lang="en-US" altLang="en-US" sz="2400" b="1" dirty="0" err="1">
                <a:latin typeface="Arial" panose="020B0604020202020204" pitchFamily="34" charset="0"/>
              </a:rPr>
              <a:t>корневого</a:t>
            </a:r>
            <a:r>
              <a:rPr lang="en-US" altLang="en-US" sz="2400" b="1" dirty="0">
                <a:latin typeface="Arial" panose="020B0604020202020204" pitchFamily="34" charset="0"/>
              </a:rPr>
              <a:t> </a:t>
            </a:r>
            <a:r>
              <a:rPr lang="en-US" altLang="en-US" sz="2400" b="1" dirty="0" err="1">
                <a:latin typeface="Arial" panose="020B0604020202020204" pitchFamily="34" charset="0"/>
              </a:rPr>
              <a:t>центра</a:t>
            </a:r>
            <a:r>
              <a:rPr lang="en-US" altLang="en-US" sz="2400" b="1" dirty="0">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каждый</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участник</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сети</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хранит</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копию</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реестра</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или</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его</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часть</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400" b="1" i="0" u="none" strike="noStrike" cap="none" normalizeH="0" baseline="0" dirty="0" err="1">
                <a:ln>
                  <a:noFill/>
                </a:ln>
                <a:solidFill>
                  <a:schemeClr val="tx1"/>
                </a:solidFill>
                <a:effectLst/>
                <a:latin typeface="Arial" panose="020B0604020202020204" pitchFamily="34" charset="0"/>
              </a:rPr>
              <a:t>Криптографическая</a:t>
            </a: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подпись</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err="1">
                <a:ln>
                  <a:noFill/>
                </a:ln>
                <a:solidFill>
                  <a:schemeClr val="tx1"/>
                </a:solidFill>
                <a:effectLst/>
                <a:latin typeface="Arial" panose="020B0604020202020204" pitchFamily="34" charset="0"/>
              </a:rPr>
              <a:t>запись</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действительна</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если</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подписана</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приватным</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ключом</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владельца</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400" b="1" i="0" u="none" strike="noStrike" cap="none" normalizeH="0" baseline="0" dirty="0" err="1">
                <a:ln>
                  <a:noFill/>
                </a:ln>
                <a:solidFill>
                  <a:schemeClr val="tx1"/>
                </a:solidFill>
                <a:effectLst/>
                <a:latin typeface="Arial" panose="020B0604020202020204" pitchFamily="34" charset="0"/>
              </a:rPr>
              <a:t>Неизменяемость</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err="1">
                <a:ln>
                  <a:noFill/>
                </a:ln>
                <a:solidFill>
                  <a:schemeClr val="tx1"/>
                </a:solidFill>
                <a:effectLst/>
                <a:latin typeface="Arial" panose="020B0604020202020204" pitchFamily="34" charset="0"/>
              </a:rPr>
              <a:t>история</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изменений</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сохраняется</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навсегда</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2400" b="1" i="0" u="none" strike="noStrike" cap="none" normalizeH="0" baseline="0" dirty="0" err="1">
                <a:ln>
                  <a:noFill/>
                </a:ln>
                <a:solidFill>
                  <a:schemeClr val="tx1"/>
                </a:solidFill>
                <a:effectLst/>
                <a:latin typeface="Arial" panose="020B0604020202020204" pitchFamily="34" charset="0"/>
              </a:rPr>
              <a:t>Устойчивость</a:t>
            </a:r>
            <a:r>
              <a:rPr kumimoji="0" lang="en-US" altLang="en-US" sz="2400" b="1" i="0" u="none" strike="noStrike" cap="none" normalizeH="0" baseline="0" dirty="0">
                <a:ln>
                  <a:noFill/>
                </a:ln>
                <a:solidFill>
                  <a:schemeClr val="tx1"/>
                </a:solidFill>
                <a:effectLst/>
                <a:latin typeface="Arial" panose="020B0604020202020204" pitchFamily="34" charset="0"/>
              </a:rPr>
              <a:t> к DDoS</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err="1">
                <a:ln>
                  <a:noFill/>
                </a:ln>
                <a:solidFill>
                  <a:schemeClr val="tx1"/>
                </a:solidFill>
                <a:effectLst/>
                <a:latin typeface="Arial" panose="020B0604020202020204" pitchFamily="34" charset="0"/>
              </a:rPr>
              <a:t>атаковать</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тысячи</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узлов</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одновременно</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почти</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err="1">
                <a:ln>
                  <a:noFill/>
                </a:ln>
                <a:solidFill>
                  <a:schemeClr val="tx1"/>
                </a:solidFill>
                <a:effectLst/>
                <a:latin typeface="Arial" panose="020B0604020202020204" pitchFamily="34" charset="0"/>
              </a:rPr>
              <a:t>невозможно</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altLang="en-US" sz="2400" b="1" i="0" u="none" strike="noStrike" cap="none" normalizeH="0" baseline="0" dirty="0" err="1">
                <a:ln>
                  <a:noFill/>
                </a:ln>
                <a:solidFill>
                  <a:schemeClr val="tx1"/>
                </a:solidFill>
                <a:effectLst/>
                <a:latin typeface="Arial" panose="020B0604020202020204" pitchFamily="34" charset="0"/>
              </a:rPr>
              <a:t>Возможность</a:t>
            </a: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создания</a:t>
            </a: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собственных</a:t>
            </a:r>
            <a:r>
              <a:rPr kumimoji="0" lang="en-US" altLang="en-US" sz="2400" b="1" i="0" u="none" strike="noStrike" cap="none" normalizeH="0" baseline="0" dirty="0">
                <a:ln>
                  <a:noFill/>
                </a:ln>
                <a:solidFill>
                  <a:schemeClr val="tx1"/>
                </a:solidFill>
                <a:effectLst/>
                <a:latin typeface="Arial" panose="020B0604020202020204" pitchFamily="34" charset="0"/>
              </a:rPr>
              <a:t> TLD</a:t>
            </a:r>
            <a:r>
              <a:rPr kumimoji="0" lang="en-US" altLang="en-US" sz="2400" b="0" i="0" u="none" strike="noStrike" cap="none" normalizeH="0" baseline="0" dirty="0">
                <a:ln>
                  <a:noFill/>
                </a:ln>
                <a:solidFill>
                  <a:schemeClr val="tx1"/>
                </a:solidFill>
                <a:effectLst/>
                <a:latin typeface="Arial" panose="020B0604020202020204" pitchFamily="34" charset="0"/>
              </a:rPr>
              <a:t> – </a:t>
            </a:r>
            <a:r>
              <a:rPr kumimoji="0" lang="en-US" altLang="en-US" sz="2400" b="0" i="0" u="none" strike="noStrike" cap="none" normalizeH="0" baseline="0" dirty="0" err="1">
                <a:ln>
                  <a:noFill/>
                </a:ln>
                <a:solidFill>
                  <a:schemeClr val="tx1"/>
                </a:solidFill>
                <a:effectLst/>
                <a:latin typeface="Arial" panose="020B0604020202020204" pitchFamily="34" charset="0"/>
              </a:rPr>
              <a:t>например</a:t>
            </a:r>
            <a:r>
              <a:rPr kumimoji="0" lang="en-US" altLang="en-US" sz="2400" b="0" i="0" u="none" strike="noStrike" cap="none" normalizeH="0" baseline="0" dirty="0">
                <a:ln>
                  <a:noFill/>
                </a:ln>
                <a:solidFill>
                  <a:schemeClr val="tx1"/>
                </a:solidFill>
                <a:effectLst/>
                <a:latin typeface="Arial" panose="020B0604020202020204" pitchFamily="34" charset="0"/>
              </a:rPr>
              <a:t>, </a:t>
            </a:r>
            <a:r>
              <a:rPr lang="en-US" altLang="en-US" sz="2400" dirty="0">
                <a:latin typeface="Arial" panose="020B0604020202020204" pitchFamily="34" charset="0"/>
              </a:rPr>
              <a:t>.bit, .eth, .coin, .</a:t>
            </a:r>
            <a:r>
              <a:rPr lang="en-US" altLang="en-US" sz="2400" dirty="0" err="1">
                <a:latin typeface="Arial" panose="020B0604020202020204" pitchFamily="34" charset="0"/>
              </a:rPr>
              <a:t>zil</a:t>
            </a:r>
            <a:r>
              <a:rPr lang="en-US" altLang="en-US" sz="2400" dirty="0">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3490184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2E2FC5-38BD-4B81-BE27-1F5F846FE553}"/>
              </a:ext>
            </a:extLst>
          </p:cNvPr>
          <p:cNvSpPr txBox="1"/>
          <p:nvPr/>
        </p:nvSpPr>
        <p:spPr>
          <a:xfrm>
            <a:off x="537883" y="308846"/>
            <a:ext cx="6096000" cy="646331"/>
          </a:xfrm>
          <a:prstGeom prst="rect">
            <a:avLst/>
          </a:prstGeom>
          <a:noFill/>
        </p:spPr>
        <p:txBody>
          <a:bodyPr wrap="square">
            <a:spAutoFit/>
          </a:bodyPr>
          <a:lstStyle/>
          <a:p>
            <a:r>
              <a:rPr lang="ru-RU" b="1" dirty="0"/>
              <a:t>Механизм работы (пошагово)</a:t>
            </a:r>
          </a:p>
          <a:p>
            <a:r>
              <a:rPr lang="ru-RU" b="1" dirty="0"/>
              <a:t>Схема взаимодействия (ASCII)</a:t>
            </a:r>
          </a:p>
        </p:txBody>
      </p:sp>
      <p:pic>
        <p:nvPicPr>
          <p:cNvPr id="5" name="Рисунок 4">
            <a:extLst>
              <a:ext uri="{FF2B5EF4-FFF2-40B4-BE49-F238E27FC236}">
                <a16:creationId xmlns:a16="http://schemas.microsoft.com/office/drawing/2014/main" id="{3A011817-8FEA-4BBD-8CE9-3BBB5E7E56F8}"/>
              </a:ext>
            </a:extLst>
          </p:cNvPr>
          <p:cNvPicPr>
            <a:picLocks noChangeAspect="1"/>
          </p:cNvPicPr>
          <p:nvPr/>
        </p:nvPicPr>
        <p:blipFill>
          <a:blip r:embed="rId2"/>
          <a:stretch>
            <a:fillRect/>
          </a:stretch>
        </p:blipFill>
        <p:spPr>
          <a:xfrm>
            <a:off x="4287326" y="308846"/>
            <a:ext cx="6477845" cy="2048436"/>
          </a:xfrm>
          <a:prstGeom prst="rect">
            <a:avLst/>
          </a:prstGeom>
        </p:spPr>
      </p:pic>
      <p:pic>
        <p:nvPicPr>
          <p:cNvPr id="7" name="Рисунок 6">
            <a:extLst>
              <a:ext uri="{FF2B5EF4-FFF2-40B4-BE49-F238E27FC236}">
                <a16:creationId xmlns:a16="http://schemas.microsoft.com/office/drawing/2014/main" id="{AB06C11E-58FF-461E-A259-6D43BE52D10A}"/>
              </a:ext>
            </a:extLst>
          </p:cNvPr>
          <p:cNvPicPr>
            <a:picLocks noChangeAspect="1"/>
          </p:cNvPicPr>
          <p:nvPr/>
        </p:nvPicPr>
        <p:blipFill>
          <a:blip r:embed="rId3"/>
          <a:stretch>
            <a:fillRect/>
          </a:stretch>
        </p:blipFill>
        <p:spPr>
          <a:xfrm>
            <a:off x="174375" y="1575732"/>
            <a:ext cx="7006354" cy="5165571"/>
          </a:xfrm>
          <a:prstGeom prst="rect">
            <a:avLst/>
          </a:prstGeom>
        </p:spPr>
      </p:pic>
    </p:spTree>
    <p:extLst>
      <p:ext uri="{BB962C8B-B14F-4D97-AF65-F5344CB8AC3E}">
        <p14:creationId xmlns:p14="http://schemas.microsoft.com/office/powerpoint/2010/main" val="694367760"/>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3A7D5F8D-8459-4D1A-9FA2-A79C402E7912}"/>
              </a:ext>
            </a:extLst>
          </p:cNvPr>
          <p:cNvPicPr>
            <a:picLocks noChangeAspect="1"/>
          </p:cNvPicPr>
          <p:nvPr/>
        </p:nvPicPr>
        <p:blipFill>
          <a:blip r:embed="rId2"/>
          <a:stretch>
            <a:fillRect/>
          </a:stretch>
        </p:blipFill>
        <p:spPr>
          <a:xfrm>
            <a:off x="2047310" y="313890"/>
            <a:ext cx="8097380" cy="6230219"/>
          </a:xfrm>
          <a:prstGeom prst="rect">
            <a:avLst/>
          </a:prstGeom>
        </p:spPr>
      </p:pic>
    </p:spTree>
    <p:extLst>
      <p:ext uri="{BB962C8B-B14F-4D97-AF65-F5344CB8AC3E}">
        <p14:creationId xmlns:p14="http://schemas.microsoft.com/office/powerpoint/2010/main" val="121160319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E7DF64-117B-49AF-8787-B6593947A156}"/>
              </a:ext>
            </a:extLst>
          </p:cNvPr>
          <p:cNvSpPr txBox="1"/>
          <p:nvPr/>
        </p:nvSpPr>
        <p:spPr>
          <a:xfrm>
            <a:off x="681318" y="483204"/>
            <a:ext cx="6096000" cy="369332"/>
          </a:xfrm>
          <a:prstGeom prst="rect">
            <a:avLst/>
          </a:prstGeom>
          <a:noFill/>
        </p:spPr>
        <p:txBody>
          <a:bodyPr wrap="square">
            <a:spAutoFit/>
          </a:bodyPr>
          <a:lstStyle/>
          <a:p>
            <a:r>
              <a:rPr lang="ru-RU" b="1" dirty="0"/>
              <a:t>Пример записи в </a:t>
            </a:r>
            <a:r>
              <a:rPr lang="ru-RU" b="1" dirty="0" err="1"/>
              <a:t>Namecoin</a:t>
            </a:r>
            <a:r>
              <a:rPr lang="ru-RU" b="1" dirty="0"/>
              <a:t> (JSON)</a:t>
            </a:r>
          </a:p>
        </p:txBody>
      </p:sp>
      <p:pic>
        <p:nvPicPr>
          <p:cNvPr id="5" name="Рисунок 4">
            <a:extLst>
              <a:ext uri="{FF2B5EF4-FFF2-40B4-BE49-F238E27FC236}">
                <a16:creationId xmlns:a16="http://schemas.microsoft.com/office/drawing/2014/main" id="{4ADB40B6-6A4E-47AD-A776-4BE3F0DF426E}"/>
              </a:ext>
            </a:extLst>
          </p:cNvPr>
          <p:cNvPicPr>
            <a:picLocks noChangeAspect="1"/>
          </p:cNvPicPr>
          <p:nvPr/>
        </p:nvPicPr>
        <p:blipFill>
          <a:blip r:embed="rId2"/>
          <a:stretch>
            <a:fillRect/>
          </a:stretch>
        </p:blipFill>
        <p:spPr>
          <a:xfrm>
            <a:off x="952455" y="1218498"/>
            <a:ext cx="9377726" cy="4043783"/>
          </a:xfrm>
          <a:prstGeom prst="rect">
            <a:avLst/>
          </a:prstGeom>
        </p:spPr>
      </p:pic>
    </p:spTree>
    <p:extLst>
      <p:ext uri="{BB962C8B-B14F-4D97-AF65-F5344CB8AC3E}">
        <p14:creationId xmlns:p14="http://schemas.microsoft.com/office/powerpoint/2010/main" val="161352020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921AFD-F8D6-436C-9534-6FF58EF7C822}"/>
              </a:ext>
            </a:extLst>
          </p:cNvPr>
          <p:cNvSpPr txBox="1"/>
          <p:nvPr/>
        </p:nvSpPr>
        <p:spPr>
          <a:xfrm>
            <a:off x="753035" y="519064"/>
            <a:ext cx="6096000" cy="369332"/>
          </a:xfrm>
          <a:prstGeom prst="rect">
            <a:avLst/>
          </a:prstGeom>
          <a:noFill/>
        </p:spPr>
        <p:txBody>
          <a:bodyPr wrap="square">
            <a:spAutoFit/>
          </a:bodyPr>
          <a:lstStyle/>
          <a:p>
            <a:r>
              <a:rPr lang="ru-RU" b="1" dirty="0"/>
              <a:t>Примеры работы </a:t>
            </a:r>
          </a:p>
        </p:txBody>
      </p:sp>
      <p:pic>
        <p:nvPicPr>
          <p:cNvPr id="6" name="Рисунок 5">
            <a:extLst>
              <a:ext uri="{FF2B5EF4-FFF2-40B4-BE49-F238E27FC236}">
                <a16:creationId xmlns:a16="http://schemas.microsoft.com/office/drawing/2014/main" id="{C832AF63-1D3A-4076-A6C1-5BE784582CE8}"/>
              </a:ext>
            </a:extLst>
          </p:cNvPr>
          <p:cNvPicPr>
            <a:picLocks noChangeAspect="1"/>
          </p:cNvPicPr>
          <p:nvPr/>
        </p:nvPicPr>
        <p:blipFill>
          <a:blip r:embed="rId2"/>
          <a:stretch>
            <a:fillRect/>
          </a:stretch>
        </p:blipFill>
        <p:spPr>
          <a:xfrm>
            <a:off x="617100" y="1170911"/>
            <a:ext cx="8017637" cy="2423936"/>
          </a:xfrm>
          <a:prstGeom prst="rect">
            <a:avLst/>
          </a:prstGeom>
        </p:spPr>
      </p:pic>
      <p:pic>
        <p:nvPicPr>
          <p:cNvPr id="8" name="Рисунок 7">
            <a:extLst>
              <a:ext uri="{FF2B5EF4-FFF2-40B4-BE49-F238E27FC236}">
                <a16:creationId xmlns:a16="http://schemas.microsoft.com/office/drawing/2014/main" id="{408FACED-DDB6-4950-8553-0068D3FE9076}"/>
              </a:ext>
            </a:extLst>
          </p:cNvPr>
          <p:cNvPicPr>
            <a:picLocks noChangeAspect="1"/>
          </p:cNvPicPr>
          <p:nvPr/>
        </p:nvPicPr>
        <p:blipFill>
          <a:blip r:embed="rId3"/>
          <a:stretch>
            <a:fillRect/>
          </a:stretch>
        </p:blipFill>
        <p:spPr>
          <a:xfrm>
            <a:off x="685761" y="3774141"/>
            <a:ext cx="7123100" cy="2423936"/>
          </a:xfrm>
          <a:prstGeom prst="rect">
            <a:avLst/>
          </a:prstGeom>
        </p:spPr>
      </p:pic>
      <p:pic>
        <p:nvPicPr>
          <p:cNvPr id="10" name="Рисунок 9">
            <a:extLst>
              <a:ext uri="{FF2B5EF4-FFF2-40B4-BE49-F238E27FC236}">
                <a16:creationId xmlns:a16="http://schemas.microsoft.com/office/drawing/2014/main" id="{8C3C3B39-2346-45EA-A8C9-77DC02A67118}"/>
              </a:ext>
            </a:extLst>
          </p:cNvPr>
          <p:cNvPicPr>
            <a:picLocks noChangeAspect="1"/>
          </p:cNvPicPr>
          <p:nvPr/>
        </p:nvPicPr>
        <p:blipFill>
          <a:blip r:embed="rId4"/>
          <a:stretch>
            <a:fillRect/>
          </a:stretch>
        </p:blipFill>
        <p:spPr>
          <a:xfrm>
            <a:off x="596281" y="6119830"/>
            <a:ext cx="5551407" cy="603699"/>
          </a:xfrm>
          <a:prstGeom prst="rect">
            <a:avLst/>
          </a:prstGeom>
        </p:spPr>
      </p:pic>
    </p:spTree>
    <p:extLst>
      <p:ext uri="{BB962C8B-B14F-4D97-AF65-F5344CB8AC3E}">
        <p14:creationId xmlns:p14="http://schemas.microsoft.com/office/powerpoint/2010/main" val="324256626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B47AEE9E-45DF-44F5-BEF4-75336D702BDD}"/>
              </a:ext>
            </a:extLst>
          </p:cNvPr>
          <p:cNvPicPr>
            <a:picLocks noChangeAspect="1"/>
          </p:cNvPicPr>
          <p:nvPr/>
        </p:nvPicPr>
        <p:blipFill>
          <a:blip r:embed="rId2"/>
          <a:stretch>
            <a:fillRect/>
          </a:stretch>
        </p:blipFill>
        <p:spPr>
          <a:xfrm>
            <a:off x="938771" y="493006"/>
            <a:ext cx="6271992" cy="1183394"/>
          </a:xfrm>
          <a:prstGeom prst="rect">
            <a:avLst/>
          </a:prstGeom>
        </p:spPr>
      </p:pic>
      <p:pic>
        <p:nvPicPr>
          <p:cNvPr id="5" name="Рисунок 4">
            <a:extLst>
              <a:ext uri="{FF2B5EF4-FFF2-40B4-BE49-F238E27FC236}">
                <a16:creationId xmlns:a16="http://schemas.microsoft.com/office/drawing/2014/main" id="{F0C19D14-F6BE-4DD7-8039-A8AB911EB96C}"/>
              </a:ext>
            </a:extLst>
          </p:cNvPr>
          <p:cNvPicPr>
            <a:picLocks noChangeAspect="1"/>
          </p:cNvPicPr>
          <p:nvPr/>
        </p:nvPicPr>
        <p:blipFill>
          <a:blip r:embed="rId3"/>
          <a:stretch>
            <a:fillRect/>
          </a:stretch>
        </p:blipFill>
        <p:spPr>
          <a:xfrm>
            <a:off x="1085803" y="1925112"/>
            <a:ext cx="8391012" cy="1503888"/>
          </a:xfrm>
          <a:prstGeom prst="rect">
            <a:avLst/>
          </a:prstGeom>
        </p:spPr>
      </p:pic>
      <p:pic>
        <p:nvPicPr>
          <p:cNvPr id="7" name="Рисунок 6">
            <a:extLst>
              <a:ext uri="{FF2B5EF4-FFF2-40B4-BE49-F238E27FC236}">
                <a16:creationId xmlns:a16="http://schemas.microsoft.com/office/drawing/2014/main" id="{9C724113-FCA1-4BF3-AE33-55516E59450D}"/>
              </a:ext>
            </a:extLst>
          </p:cNvPr>
          <p:cNvPicPr>
            <a:picLocks noChangeAspect="1"/>
          </p:cNvPicPr>
          <p:nvPr/>
        </p:nvPicPr>
        <p:blipFill>
          <a:blip r:embed="rId4"/>
          <a:stretch>
            <a:fillRect/>
          </a:stretch>
        </p:blipFill>
        <p:spPr>
          <a:xfrm>
            <a:off x="1291081" y="3915278"/>
            <a:ext cx="9116942" cy="2191718"/>
          </a:xfrm>
          <a:prstGeom prst="rect">
            <a:avLst/>
          </a:prstGeom>
        </p:spPr>
      </p:pic>
    </p:spTree>
    <p:extLst>
      <p:ext uri="{BB962C8B-B14F-4D97-AF65-F5344CB8AC3E}">
        <p14:creationId xmlns:p14="http://schemas.microsoft.com/office/powerpoint/2010/main" val="241535738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52FC29-330C-4249-8D77-9F6AB4CF015F}"/>
              </a:ext>
            </a:extLst>
          </p:cNvPr>
          <p:cNvSpPr txBox="1"/>
          <p:nvPr/>
        </p:nvSpPr>
        <p:spPr>
          <a:xfrm>
            <a:off x="502023" y="375628"/>
            <a:ext cx="10300448" cy="1477328"/>
          </a:xfrm>
          <a:prstGeom prst="rect">
            <a:avLst/>
          </a:prstGeom>
          <a:noFill/>
        </p:spPr>
        <p:txBody>
          <a:bodyPr wrap="square">
            <a:spAutoFit/>
          </a:bodyPr>
          <a:lstStyle/>
          <a:p>
            <a:r>
              <a:rPr lang="ru-RU" b="1" dirty="0"/>
              <a:t>Пример 3. </a:t>
            </a:r>
            <a:r>
              <a:rPr lang="ru-RU" b="1" dirty="0" err="1"/>
              <a:t>Handshake</a:t>
            </a:r>
            <a:r>
              <a:rPr lang="ru-RU" b="1" dirty="0"/>
              <a:t> – создание своей TLD</a:t>
            </a:r>
            <a:endParaRPr lang="en-US" b="1" dirty="0"/>
          </a:p>
          <a:p>
            <a:endParaRPr lang="en-US" b="1" dirty="0"/>
          </a:p>
          <a:p>
            <a:r>
              <a:rPr kumimoji="0" lang="en-US" altLang="en-US" b="0" i="0" u="none" strike="noStrike" cap="none" normalizeH="0" baseline="0" dirty="0" err="1">
                <a:ln>
                  <a:noFill/>
                </a:ln>
                <a:solidFill>
                  <a:schemeClr val="tx1"/>
                </a:solidFill>
                <a:effectLst/>
                <a:latin typeface="Arial" panose="020B0604020202020204" pitchFamily="34" charset="0"/>
              </a:rPr>
              <a:t>Вы</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владелец</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домена</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Unicode MS"/>
              </a:rPr>
              <a:t>mycompany</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Продаёте</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поддомены</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latin typeface="Arial Unicode MS"/>
              </a:rPr>
              <a:t>shop.mycompany</a:t>
            </a:r>
            <a:r>
              <a:rPr kumimoji="0" lang="en-US" altLang="en-US" b="0" i="0" u="none" strike="noStrike" cap="none" normalizeH="0" baseline="0" dirty="0">
                <a:ln>
                  <a:noFill/>
                </a:ln>
                <a:solidFill>
                  <a:schemeClr val="tx1"/>
                </a:solidFill>
                <a:effectLst/>
              </a:rPr>
              <a:t> и </a:t>
            </a:r>
            <a:r>
              <a:rPr kumimoji="0" lang="en-US" altLang="en-US" b="0" i="0" u="none" strike="noStrike" cap="none" normalizeH="0" baseline="0" dirty="0" err="1">
                <a:ln>
                  <a:noFill/>
                </a:ln>
                <a:solidFill>
                  <a:schemeClr val="tx1"/>
                </a:solidFill>
                <a:effectLst/>
                <a:latin typeface="Arial Unicode MS"/>
              </a:rPr>
              <a:t>support.mycompany</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Запись</a:t>
            </a:r>
            <a:r>
              <a:rPr kumimoji="0" lang="en-US" altLang="en-US" b="0" i="0" u="none" strike="noStrike" cap="none" normalizeH="0" baseline="0" dirty="0">
                <a:ln>
                  <a:noFill/>
                </a:ln>
                <a:solidFill>
                  <a:schemeClr val="tx1"/>
                </a:solidFill>
                <a:effectLst/>
              </a:rPr>
              <a:t> в Handshake:</a:t>
            </a:r>
            <a:endParaRPr kumimoji="0" lang="en-US" altLang="en-US" b="0" i="0" u="none" strike="noStrike" cap="none" normalizeH="0" baseline="0" dirty="0">
              <a:ln>
                <a:noFill/>
              </a:ln>
              <a:solidFill>
                <a:schemeClr val="tx1"/>
              </a:solidFill>
              <a:effectLst/>
              <a:latin typeface="Arial" panose="020B0604020202020204" pitchFamily="34" charset="0"/>
            </a:endParaRPr>
          </a:p>
          <a:p>
            <a:endParaRPr lang="ru-RU" b="1" dirty="0"/>
          </a:p>
        </p:txBody>
      </p:sp>
      <p:pic>
        <p:nvPicPr>
          <p:cNvPr id="6" name="Рисунок 5">
            <a:extLst>
              <a:ext uri="{FF2B5EF4-FFF2-40B4-BE49-F238E27FC236}">
                <a16:creationId xmlns:a16="http://schemas.microsoft.com/office/drawing/2014/main" id="{97EA7911-F5C8-411B-AF80-E7C402C7A83F}"/>
              </a:ext>
            </a:extLst>
          </p:cNvPr>
          <p:cNvPicPr>
            <a:picLocks noChangeAspect="1"/>
          </p:cNvPicPr>
          <p:nvPr/>
        </p:nvPicPr>
        <p:blipFill>
          <a:blip r:embed="rId2"/>
          <a:stretch>
            <a:fillRect/>
          </a:stretch>
        </p:blipFill>
        <p:spPr>
          <a:xfrm>
            <a:off x="848249" y="1956704"/>
            <a:ext cx="8206103" cy="3161509"/>
          </a:xfrm>
          <a:prstGeom prst="rect">
            <a:avLst/>
          </a:prstGeom>
        </p:spPr>
      </p:pic>
      <p:pic>
        <p:nvPicPr>
          <p:cNvPr id="8" name="Рисунок 7">
            <a:extLst>
              <a:ext uri="{FF2B5EF4-FFF2-40B4-BE49-F238E27FC236}">
                <a16:creationId xmlns:a16="http://schemas.microsoft.com/office/drawing/2014/main" id="{9B3A1CA3-8F34-4FB0-A7B4-48472BE2DD34}"/>
              </a:ext>
            </a:extLst>
          </p:cNvPr>
          <p:cNvPicPr>
            <a:picLocks noChangeAspect="1"/>
          </p:cNvPicPr>
          <p:nvPr/>
        </p:nvPicPr>
        <p:blipFill>
          <a:blip r:embed="rId3"/>
          <a:stretch>
            <a:fillRect/>
          </a:stretch>
        </p:blipFill>
        <p:spPr>
          <a:xfrm>
            <a:off x="848248" y="5295572"/>
            <a:ext cx="9003963" cy="695422"/>
          </a:xfrm>
          <a:prstGeom prst="rect">
            <a:avLst/>
          </a:prstGeom>
        </p:spPr>
      </p:pic>
    </p:spTree>
    <p:extLst>
      <p:ext uri="{BB962C8B-B14F-4D97-AF65-F5344CB8AC3E}">
        <p14:creationId xmlns:p14="http://schemas.microsoft.com/office/powerpoint/2010/main" val="299619350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0520F230-68AF-4999-A810-E5135DE1934F}"/>
              </a:ext>
            </a:extLst>
          </p:cNvPr>
          <p:cNvPicPr>
            <a:picLocks noChangeAspect="1"/>
          </p:cNvPicPr>
          <p:nvPr/>
        </p:nvPicPr>
        <p:blipFill>
          <a:blip r:embed="rId2"/>
          <a:stretch>
            <a:fillRect/>
          </a:stretch>
        </p:blipFill>
        <p:spPr>
          <a:xfrm>
            <a:off x="648338" y="554756"/>
            <a:ext cx="10833174" cy="4833031"/>
          </a:xfrm>
          <a:prstGeom prst="rect">
            <a:avLst/>
          </a:prstGeom>
        </p:spPr>
      </p:pic>
    </p:spTree>
    <p:extLst>
      <p:ext uri="{BB962C8B-B14F-4D97-AF65-F5344CB8AC3E}">
        <p14:creationId xmlns:p14="http://schemas.microsoft.com/office/powerpoint/2010/main" val="213043674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8E79CA-A0B0-43A9-96C8-3665F71BCF32}"/>
              </a:ext>
            </a:extLst>
          </p:cNvPr>
          <p:cNvSpPr>
            <a:spLocks noChangeArrowheads="1"/>
          </p:cNvSpPr>
          <p:nvPr/>
        </p:nvSpPr>
        <p:spPr bwMode="auto">
          <a:xfrm>
            <a:off x="277907" y="403464"/>
            <a:ext cx="11842376" cy="276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err="1">
                <a:ln>
                  <a:noFill/>
                </a:ln>
                <a:solidFill>
                  <a:schemeClr val="tx1"/>
                </a:solidFill>
                <a:effectLst/>
                <a:latin typeface="Arial" panose="020B0604020202020204" pitchFamily="34" charset="0"/>
              </a:rPr>
              <a:t>Ограничения</a:t>
            </a: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b="1" dirty="0" err="1">
                <a:latin typeface="Arial" panose="020B0604020202020204" pitchFamily="34" charset="0"/>
              </a:rPr>
              <a:t>Латентность</a:t>
            </a:r>
            <a:r>
              <a:rPr lang="en-US" altLang="en-US" b="1" dirty="0">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разрешение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имени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может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занимать</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несколько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секунд</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ожидание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подтверждения</a:t>
            </a:r>
            <a:r>
              <a:rPr kumimoji="0" lang="en-US" altLang="en-US" sz="1800" b="0" i="0" u="none" strike="noStrike" cap="none" normalizeH="0" baseline="0" dirty="0">
                <a:ln>
                  <a:noFill/>
                </a:ln>
                <a:solidFill>
                  <a:schemeClr val="tx1"/>
                </a:solidFill>
                <a:effectLst/>
                <a:latin typeface="Arial" panose="020B0604020202020204" pitchFamily="34" charset="0"/>
              </a:rPr>
              <a:t> в </a:t>
            </a:r>
            <a:r>
              <a:rPr kumimoji="0" lang="en-US" altLang="en-US" sz="1800" b="0" i="0" u="none" strike="noStrike" cap="none" normalizeH="0" baseline="0" dirty="0" err="1">
                <a:ln>
                  <a:noFill/>
                </a:ln>
                <a:solidFill>
                  <a:schemeClr val="tx1"/>
                </a:solidFill>
                <a:effectLst/>
                <a:latin typeface="Arial" panose="020B0604020202020204" pitchFamily="34" charset="0"/>
              </a:rPr>
              <a:t>блокчейне</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Стоимость</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газа</a:t>
            </a:r>
            <a:r>
              <a:rPr kumimoji="0" lang="en-US" altLang="en-US" sz="1800" b="0" i="0" u="none" strike="noStrike" cap="none" normalizeH="0" baseline="0" dirty="0">
                <a:ln>
                  <a:noFill/>
                </a:ln>
                <a:solidFill>
                  <a:schemeClr val="tx1"/>
                </a:solidFill>
                <a:effectLst/>
                <a:latin typeface="Arial" panose="020B0604020202020204" pitchFamily="34" charset="0"/>
              </a:rPr>
              <a:t>: в Ethereum </a:t>
            </a:r>
            <a:r>
              <a:rPr kumimoji="0" lang="en-US" altLang="en-US" sz="1800" b="0" i="0" u="none" strike="noStrike" cap="none" normalizeH="0" baseline="0" dirty="0" err="1">
                <a:ln>
                  <a:noFill/>
                </a:ln>
                <a:solidFill>
                  <a:schemeClr val="tx1"/>
                </a:solidFill>
                <a:effectLst/>
                <a:latin typeface="Arial" panose="020B0604020202020204" pitchFamily="34" charset="0"/>
              </a:rPr>
              <a:t>регистрация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домена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стоит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комиссии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особенно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высокой</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нагрузке</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Отсутствие</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универсального</a:t>
            </a:r>
            <a:r>
              <a:rPr kumimoji="0" lang="en-US" altLang="en-US" sz="1800" b="1" i="0" u="none" strike="noStrike" cap="none" normalizeH="0" baseline="0" dirty="0">
                <a:ln>
                  <a:noFill/>
                </a:ln>
                <a:solidFill>
                  <a:schemeClr val="tx1"/>
                </a:solidFill>
                <a:effectLst/>
                <a:latin typeface="Arial" panose="020B0604020202020204" pitchFamily="34" charset="0"/>
              </a:rPr>
              <a:t> ПО</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обычный</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браузер</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без</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расширений</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не</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откроет</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a:rPr>
              <a:t>.bit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err="1">
                <a:ln>
                  <a:noFill/>
                </a:ln>
                <a:solidFill>
                  <a:schemeClr val="tx1"/>
                </a:solidFill>
                <a:effectLst/>
              </a:rPr>
              <a:t>или</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a:rPr>
              <a:t>.eth</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Потеря</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ключей</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если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вы</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потеряли</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приватный</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ключ</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домен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теряется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навсегда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восстановления</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через</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админа</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нет</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985191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a:extLst>
              <a:ext uri="{FF2B5EF4-FFF2-40B4-BE49-F238E27FC236}">
                <a16:creationId xmlns:a16="http://schemas.microsoft.com/office/drawing/2014/main" id="{D9E71B71-3D39-420B-8525-A292ACF9B0BC}"/>
              </a:ext>
            </a:extLst>
          </p:cNvPr>
          <p:cNvPicPr>
            <a:picLocks noChangeAspect="1"/>
          </p:cNvPicPr>
          <p:nvPr/>
        </p:nvPicPr>
        <p:blipFill>
          <a:blip r:embed="rId2"/>
          <a:stretch>
            <a:fillRect/>
          </a:stretch>
        </p:blipFill>
        <p:spPr>
          <a:xfrm>
            <a:off x="993640" y="533415"/>
            <a:ext cx="7092525" cy="5846937"/>
          </a:xfrm>
          <a:prstGeom prst="rect">
            <a:avLst/>
          </a:prstGeom>
        </p:spPr>
      </p:pic>
    </p:spTree>
    <p:extLst>
      <p:ext uri="{BB962C8B-B14F-4D97-AF65-F5344CB8AC3E}">
        <p14:creationId xmlns:p14="http://schemas.microsoft.com/office/powerpoint/2010/main" val="2220353700"/>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8388D7-E03F-4C13-A213-36DB1145FD83}"/>
              </a:ext>
            </a:extLst>
          </p:cNvPr>
          <p:cNvSpPr>
            <a:spLocks noChangeArrowheads="1"/>
          </p:cNvSpPr>
          <p:nvPr/>
        </p:nvSpPr>
        <p:spPr bwMode="auto">
          <a:xfrm>
            <a:off x="797858" y="781924"/>
            <a:ext cx="10883153" cy="2739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200" b="1" i="0" u="none" strike="noStrike" cap="none" normalizeH="0" baseline="0" dirty="0" err="1">
                <a:ln>
                  <a:noFill/>
                </a:ln>
                <a:solidFill>
                  <a:schemeClr val="tx1"/>
                </a:solidFill>
                <a:effectLst/>
                <a:latin typeface="Arial" panose="020B0604020202020204" pitchFamily="34" charset="0"/>
              </a:rPr>
              <a:t>для</a:t>
            </a:r>
            <a:r>
              <a:rPr kumimoji="0" lang="en-US" altLang="en-US" sz="2200" b="1" i="0" u="none" strike="noStrike" cap="none" normalizeH="0" baseline="0" dirty="0">
                <a:ln>
                  <a:noFill/>
                </a:ln>
                <a:solidFill>
                  <a:schemeClr val="tx1"/>
                </a:solidFill>
                <a:effectLst/>
                <a:latin typeface="Arial" panose="020B0604020202020204" pitchFamily="34" charset="0"/>
              </a:rPr>
              <a:t> </a:t>
            </a:r>
            <a:r>
              <a:rPr kumimoji="0" lang="en-US" altLang="en-US" sz="2200" b="1" i="0" u="none" strike="noStrike" cap="none" normalizeH="0" baseline="0" dirty="0" err="1">
                <a:ln>
                  <a:noFill/>
                </a:ln>
                <a:solidFill>
                  <a:schemeClr val="tx1"/>
                </a:solidFill>
                <a:effectLst/>
                <a:latin typeface="Arial" panose="020B0604020202020204" pitchFamily="34" charset="0"/>
              </a:rPr>
              <a:t>самостоятельной</a:t>
            </a:r>
            <a:r>
              <a:rPr kumimoji="0" lang="en-US" altLang="en-US" sz="2200" b="1" i="0" u="none" strike="noStrike" cap="none" normalizeH="0" baseline="0" dirty="0">
                <a:ln>
                  <a:noFill/>
                </a:ln>
                <a:solidFill>
                  <a:schemeClr val="tx1"/>
                </a:solidFill>
                <a:effectLst/>
                <a:latin typeface="Arial" panose="020B0604020202020204" pitchFamily="34" charset="0"/>
              </a:rPr>
              <a:t> </a:t>
            </a:r>
            <a:r>
              <a:rPr kumimoji="0" lang="en-US" altLang="en-US" sz="2200" b="1" i="0" u="none" strike="noStrike" cap="none" normalizeH="0" baseline="0" dirty="0" err="1">
                <a:ln>
                  <a:noFill/>
                </a:ln>
                <a:solidFill>
                  <a:schemeClr val="tx1"/>
                </a:solidFill>
                <a:effectLst/>
                <a:latin typeface="Arial" panose="020B0604020202020204" pitchFamily="34" charset="0"/>
              </a:rPr>
              <a:t>работы</a:t>
            </a:r>
            <a:endParaRPr kumimoji="0" lang="en-US" altLang="en-US" sz="2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2200" b="1" i="0" u="none" strike="noStrike" cap="none" normalizeH="0" baseline="0" dirty="0" err="1">
                <a:ln>
                  <a:noFill/>
                </a:ln>
                <a:solidFill>
                  <a:schemeClr val="tx1"/>
                </a:solidFill>
                <a:effectLst/>
                <a:latin typeface="Arial" panose="020B0604020202020204" pitchFamily="34" charset="0"/>
              </a:rPr>
              <a:t>Установите</a:t>
            </a:r>
            <a:r>
              <a:rPr kumimoji="0" lang="en-US" altLang="en-US" sz="2200" b="0" i="0" u="none" strike="noStrike" cap="none" normalizeH="0" baseline="0" dirty="0">
                <a:ln>
                  <a:noFill/>
                </a:ln>
                <a:solidFill>
                  <a:schemeClr val="tx1"/>
                </a:solidFill>
                <a:effectLst/>
                <a:latin typeface="Arial" panose="020B0604020202020204" pitchFamily="34" charset="0"/>
              </a:rPr>
              <a:t> Handshake CLI и </a:t>
            </a:r>
            <a:r>
              <a:rPr kumimoji="0" lang="en-US" altLang="en-US" sz="2200" b="0" i="0" u="none" strike="noStrike" cap="none" normalizeH="0" baseline="0" dirty="0" err="1">
                <a:ln>
                  <a:noFill/>
                </a:ln>
                <a:solidFill>
                  <a:schemeClr val="tx1"/>
                </a:solidFill>
                <a:effectLst/>
                <a:latin typeface="Arial" panose="020B0604020202020204" pitchFamily="34" charset="0"/>
              </a:rPr>
              <a:t>зарегистрируйте</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тестовое</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имя</a:t>
            </a:r>
            <a:r>
              <a:rPr kumimoji="0" lang="en-US" altLang="en-US" sz="2200" b="0" i="0" u="none" strike="noStrike" cap="none" normalizeH="0" baseline="0" dirty="0">
                <a:ln>
                  <a:noFill/>
                </a:ln>
                <a:solidFill>
                  <a:schemeClr val="tx1"/>
                </a:solidFill>
                <a:effectLst/>
                <a:latin typeface="Arial" panose="020B0604020202020204" pitchFamily="34" charset="0"/>
              </a:rPr>
              <a:t> в </a:t>
            </a:r>
            <a:r>
              <a:rPr kumimoji="0" lang="en-US" altLang="en-US" sz="2200" b="0" i="0" u="none" strike="noStrike" cap="none" normalizeH="0" baseline="0" dirty="0" err="1">
                <a:ln>
                  <a:noFill/>
                </a:ln>
                <a:solidFill>
                  <a:schemeClr val="tx1"/>
                </a:solidFill>
                <a:effectLst/>
                <a:latin typeface="Arial" panose="020B0604020202020204" pitchFamily="34" charset="0"/>
              </a:rPr>
              <a:t>реестре</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hns</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Используйте</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testnet</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если</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не</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хотите</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тратить</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монеты</a:t>
            </a:r>
            <a:r>
              <a:rPr kumimoji="0" lang="en-US" altLang="en-US" sz="22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1" i="0" u="none" strike="noStrike" cap="none" normalizeH="0" baseline="0" dirty="0" err="1">
                <a:ln>
                  <a:noFill/>
                </a:ln>
                <a:solidFill>
                  <a:schemeClr val="tx1"/>
                </a:solidFill>
                <a:effectLst/>
                <a:latin typeface="Arial" panose="020B0604020202020204" pitchFamily="34" charset="0"/>
              </a:rPr>
              <a:t>Проверьте</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любой</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a:ln>
                  <a:noFill/>
                </a:ln>
                <a:solidFill>
                  <a:schemeClr val="tx1"/>
                </a:solidFill>
                <a:effectLst/>
                <a:latin typeface="Arial Unicode MS"/>
              </a:rPr>
              <a:t>.eth</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домен</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через</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публичный</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резолвер</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err="1">
                <a:ln>
                  <a:noFill/>
                </a:ln>
                <a:solidFill>
                  <a:schemeClr val="tx1"/>
                </a:solidFill>
                <a:effectLst/>
              </a:rPr>
              <a:t>например</a:t>
            </a:r>
            <a:r>
              <a:rPr kumimoji="0" lang="en-US" altLang="en-US" sz="2200" b="0" i="0" u="none" strike="noStrike" cap="none" normalizeH="0" baseline="0" dirty="0">
                <a:ln>
                  <a:noFill/>
                </a:ln>
                <a:solidFill>
                  <a:schemeClr val="tx1"/>
                </a:solidFill>
                <a:effectLst/>
              </a:rPr>
              <a:t>, </a:t>
            </a:r>
            <a:r>
              <a:rPr kumimoji="0" lang="en-US" altLang="en-US" sz="2200" b="0" i="0" u="none" strike="noStrike" cap="none" normalizeH="0" baseline="0" dirty="0">
                <a:ln>
                  <a:noFill/>
                </a:ln>
                <a:solidFill>
                  <a:schemeClr val="tx1"/>
                </a:solidFill>
                <a:effectLst/>
                <a:latin typeface="Arial Unicode MS"/>
              </a:rPr>
              <a:t>https://ens.app</a:t>
            </a:r>
            <a:r>
              <a:rPr kumimoji="0" lang="en-US" altLang="en-US" sz="2200" b="0" i="0" u="none" strike="noStrike" cap="none" normalizeH="0" baseline="0" dirty="0">
                <a:ln>
                  <a:noFill/>
                </a:ln>
                <a:solidFill>
                  <a:schemeClr val="tx1"/>
                </a:solidFill>
                <a:effectLst/>
              </a:rPr>
              <a:t>).</a:t>
            </a: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1" i="0" u="none" strike="noStrike" cap="none" normalizeH="0" baseline="0" dirty="0" err="1">
                <a:ln>
                  <a:noFill/>
                </a:ln>
                <a:solidFill>
                  <a:schemeClr val="tx1"/>
                </a:solidFill>
                <a:effectLst/>
                <a:latin typeface="Arial" panose="020B0604020202020204" pitchFamily="34" charset="0"/>
              </a:rPr>
              <a:t>Напишите</a:t>
            </a:r>
            <a:r>
              <a:rPr kumimoji="0" lang="en-US" altLang="en-US" sz="2200" b="0" i="0" u="none" strike="noStrike" cap="none" normalizeH="0" baseline="0" dirty="0">
                <a:ln>
                  <a:noFill/>
                </a:ln>
                <a:solidFill>
                  <a:schemeClr val="tx1"/>
                </a:solidFill>
                <a:effectLst/>
                <a:latin typeface="Arial" panose="020B0604020202020204" pitchFamily="34" charset="0"/>
              </a:rPr>
              <a:t> TXT-</a:t>
            </a:r>
            <a:r>
              <a:rPr kumimoji="0" lang="en-US" altLang="en-US" sz="2200" b="0" i="0" u="none" strike="noStrike" cap="none" normalizeH="0" baseline="0" dirty="0" err="1">
                <a:ln>
                  <a:noFill/>
                </a:ln>
                <a:solidFill>
                  <a:schemeClr val="tx1"/>
                </a:solidFill>
                <a:effectLst/>
                <a:latin typeface="Arial" panose="020B0604020202020204" pitchFamily="34" charset="0"/>
              </a:rPr>
              <a:t>запись</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для</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своего</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децентрализованного</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домена</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содержащую</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ваш</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OpenPGP-ключ</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или</a:t>
            </a:r>
            <a:r>
              <a:rPr kumimoji="0" lang="en-US" altLang="en-US" sz="2200" b="0" i="0" u="none" strike="noStrike" cap="none" normalizeH="0" baseline="0" dirty="0">
                <a:ln>
                  <a:noFill/>
                </a:ln>
                <a:solidFill>
                  <a:schemeClr val="tx1"/>
                </a:solidFill>
                <a:effectLst/>
                <a:latin typeface="Arial" panose="020B0604020202020204" pitchFamily="34" charset="0"/>
              </a:rPr>
              <a:t> </a:t>
            </a:r>
            <a:r>
              <a:rPr kumimoji="0" lang="en-US" altLang="en-US" sz="2200" b="0" i="0" u="none" strike="noStrike" cap="none" normalizeH="0" baseline="0" dirty="0" err="1">
                <a:ln>
                  <a:noFill/>
                </a:ln>
                <a:solidFill>
                  <a:schemeClr val="tx1"/>
                </a:solidFill>
                <a:effectLst/>
                <a:latin typeface="Arial" panose="020B0604020202020204" pitchFamily="34" charset="0"/>
              </a:rPr>
              <a:t>контактный</a:t>
            </a:r>
            <a:r>
              <a:rPr kumimoji="0" lang="en-US" altLang="en-US" sz="2200" b="0" i="0" u="none" strike="noStrike" cap="none" normalizeH="0" baseline="0" dirty="0">
                <a:ln>
                  <a:noFill/>
                </a:ln>
                <a:solidFill>
                  <a:schemeClr val="tx1"/>
                </a:solidFill>
                <a:effectLst/>
                <a:latin typeface="Arial" panose="020B0604020202020204" pitchFamily="34" charset="0"/>
              </a:rPr>
              <a:t> email.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83324102"/>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57913F60-B30A-4409-952E-E6B5B794F1B5}"/>
              </a:ext>
            </a:extLst>
          </p:cNvPr>
          <p:cNvPicPr>
            <a:picLocks noChangeAspect="1"/>
          </p:cNvPicPr>
          <p:nvPr/>
        </p:nvPicPr>
        <p:blipFill>
          <a:blip r:embed="rId2"/>
          <a:stretch>
            <a:fillRect/>
          </a:stretch>
        </p:blipFill>
        <p:spPr>
          <a:xfrm>
            <a:off x="2084859" y="224118"/>
            <a:ext cx="7760116" cy="6633882"/>
          </a:xfrm>
          <a:prstGeom prst="rect">
            <a:avLst/>
          </a:prstGeom>
        </p:spPr>
      </p:pic>
    </p:spTree>
    <p:extLst>
      <p:ext uri="{BB962C8B-B14F-4D97-AF65-F5344CB8AC3E}">
        <p14:creationId xmlns:p14="http://schemas.microsoft.com/office/powerpoint/2010/main" val="307691149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6812640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065785C-B7B2-4A5F-95EF-637BECB6750E}"/>
              </a:ext>
            </a:extLst>
          </p:cNvPr>
          <p:cNvSpPr txBox="1"/>
          <p:nvPr/>
        </p:nvSpPr>
        <p:spPr>
          <a:xfrm>
            <a:off x="659167" y="286706"/>
            <a:ext cx="10935070" cy="923330"/>
          </a:xfrm>
          <a:prstGeom prst="rect">
            <a:avLst/>
          </a:prstGeom>
          <a:noFill/>
        </p:spPr>
        <p:txBody>
          <a:bodyPr wrap="square">
            <a:spAutoFit/>
          </a:bodyPr>
          <a:lstStyle/>
          <a:p>
            <a:pPr algn="l" fontAlgn="base"/>
            <a:r>
              <a:rPr lang="ru-RU" b="0" i="0" dirty="0">
                <a:solidFill>
                  <a:srgbClr val="092433"/>
                </a:solidFill>
                <a:effectLst/>
                <a:latin typeface="CoilTrail"/>
              </a:rPr>
              <a:t>Как выглядит FTP в графическом интерфейсе ОС</a:t>
            </a:r>
          </a:p>
          <a:p>
            <a:pPr algn="l" fontAlgn="base"/>
            <a:r>
              <a:rPr lang="ru-RU" b="0" i="0" dirty="0">
                <a:solidFill>
                  <a:srgbClr val="092433"/>
                </a:solidFill>
                <a:effectLst/>
                <a:latin typeface="Manrope"/>
              </a:rPr>
              <a:t>Для взаимодействия с удаленным сервером можно использовать либо командную строку (терминал), либо специализированные приложения. В </a:t>
            </a:r>
            <a:r>
              <a:rPr lang="ru-RU" b="0" i="0" dirty="0" err="1">
                <a:solidFill>
                  <a:srgbClr val="092433"/>
                </a:solidFill>
                <a:effectLst/>
                <a:latin typeface="Manrope"/>
              </a:rPr>
              <a:t>Windows</a:t>
            </a:r>
            <a:r>
              <a:rPr lang="ru-RU" b="0" i="0" dirty="0">
                <a:solidFill>
                  <a:srgbClr val="092433"/>
                </a:solidFill>
                <a:effectLst/>
                <a:latin typeface="Manrope"/>
              </a:rPr>
              <a:t> интерфейс выглядит следующим образом:</a:t>
            </a:r>
          </a:p>
        </p:txBody>
      </p:sp>
      <p:pic>
        <p:nvPicPr>
          <p:cNvPr id="3074" name="Picture 2" descr="Интерфейс в Windows">
            <a:extLst>
              <a:ext uri="{FF2B5EF4-FFF2-40B4-BE49-F238E27FC236}">
                <a16:creationId xmlns:a16="http://schemas.microsoft.com/office/drawing/2014/main" id="{E5BD6ACA-33A7-4A5B-B7C0-3274BD6CB2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630" y="1789591"/>
            <a:ext cx="9324975"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524293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D2369D-B5F4-4460-BAE4-274771490A68}"/>
              </a:ext>
            </a:extLst>
          </p:cNvPr>
          <p:cNvSpPr txBox="1"/>
          <p:nvPr/>
        </p:nvSpPr>
        <p:spPr>
          <a:xfrm>
            <a:off x="756822" y="272533"/>
            <a:ext cx="6094520" cy="369332"/>
          </a:xfrm>
          <a:prstGeom prst="rect">
            <a:avLst/>
          </a:prstGeom>
          <a:noFill/>
        </p:spPr>
        <p:txBody>
          <a:bodyPr wrap="square">
            <a:spAutoFit/>
          </a:bodyPr>
          <a:lstStyle/>
          <a:p>
            <a:pPr algn="l" fontAlgn="base"/>
            <a:r>
              <a:rPr lang="ru-RU" b="0" i="0" dirty="0">
                <a:solidFill>
                  <a:srgbClr val="092433"/>
                </a:solidFill>
                <a:effectLst/>
                <a:latin typeface="CoilTrail"/>
              </a:rPr>
              <a:t>команд</a:t>
            </a:r>
            <a:r>
              <a:rPr lang="ru-RU" dirty="0">
                <a:solidFill>
                  <a:srgbClr val="092433"/>
                </a:solidFill>
                <a:latin typeface="CoilTrail"/>
              </a:rPr>
              <a:t>ы</a:t>
            </a:r>
            <a:r>
              <a:rPr lang="ru-RU" b="0" i="0" dirty="0">
                <a:solidFill>
                  <a:srgbClr val="092433"/>
                </a:solidFill>
                <a:effectLst/>
                <a:latin typeface="CoilTrail"/>
              </a:rPr>
              <a:t> FTP для командной строки </a:t>
            </a:r>
            <a:r>
              <a:rPr lang="ru-RU" b="0" i="0" dirty="0" err="1">
                <a:solidFill>
                  <a:srgbClr val="092433"/>
                </a:solidFill>
                <a:effectLst/>
                <a:latin typeface="CoilTrail"/>
              </a:rPr>
              <a:t>Windows</a:t>
            </a:r>
            <a:r>
              <a:rPr lang="ru-RU" b="0" i="0" dirty="0">
                <a:solidFill>
                  <a:srgbClr val="092433"/>
                </a:solidFill>
                <a:effectLst/>
                <a:latin typeface="CoilTrail"/>
              </a:rPr>
              <a:t> и </a:t>
            </a:r>
            <a:r>
              <a:rPr lang="ru-RU" b="0" i="0" dirty="0" err="1">
                <a:solidFill>
                  <a:srgbClr val="092433"/>
                </a:solidFill>
                <a:effectLst/>
                <a:latin typeface="CoilTrail"/>
              </a:rPr>
              <a:t>Linux</a:t>
            </a:r>
            <a:endParaRPr lang="ru-RU" b="0" i="0" dirty="0">
              <a:solidFill>
                <a:srgbClr val="092433"/>
              </a:solidFill>
              <a:effectLst/>
              <a:latin typeface="CoilTrail"/>
            </a:endParaRPr>
          </a:p>
        </p:txBody>
      </p:sp>
      <p:pic>
        <p:nvPicPr>
          <p:cNvPr id="5" name="Рисунок 4">
            <a:extLst>
              <a:ext uri="{FF2B5EF4-FFF2-40B4-BE49-F238E27FC236}">
                <a16:creationId xmlns:a16="http://schemas.microsoft.com/office/drawing/2014/main" id="{F1FCE0D3-A627-4917-8A85-43A9957518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197" y="725687"/>
            <a:ext cx="9596761" cy="5859780"/>
          </a:xfrm>
          <a:prstGeom prst="rect">
            <a:avLst/>
          </a:prstGeom>
        </p:spPr>
      </p:pic>
    </p:spTree>
    <p:extLst>
      <p:ext uri="{BB962C8B-B14F-4D97-AF65-F5344CB8AC3E}">
        <p14:creationId xmlns:p14="http://schemas.microsoft.com/office/powerpoint/2010/main" val="225737098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1B7767-B3D9-4AEE-9A22-5F83CBCA424B}"/>
              </a:ext>
            </a:extLst>
          </p:cNvPr>
          <p:cNvSpPr txBox="1"/>
          <p:nvPr/>
        </p:nvSpPr>
        <p:spPr>
          <a:xfrm>
            <a:off x="301839" y="117693"/>
            <a:ext cx="11585361" cy="6186309"/>
          </a:xfrm>
          <a:prstGeom prst="rect">
            <a:avLst/>
          </a:prstGeom>
          <a:noFill/>
        </p:spPr>
        <p:txBody>
          <a:bodyPr wrap="square">
            <a:spAutoFit/>
          </a:bodyPr>
          <a:lstStyle/>
          <a:p>
            <a:pPr algn="l" fontAlgn="base"/>
            <a:r>
              <a:rPr lang="ru-RU" b="0" i="0" dirty="0">
                <a:solidFill>
                  <a:srgbClr val="092433"/>
                </a:solidFill>
                <a:effectLst/>
                <a:latin typeface="CoilTrail"/>
              </a:rPr>
              <a:t>Какие сервисы лучше использовать для FTP-протокола</a:t>
            </a:r>
          </a:p>
          <a:p>
            <a:pPr algn="l" fontAlgn="base">
              <a:buFont typeface="Arial" panose="020B0604020202020204" pitchFamily="34" charset="0"/>
              <a:buChar char="•"/>
            </a:pPr>
            <a:r>
              <a:rPr lang="ru-RU" b="0" i="0" dirty="0" err="1">
                <a:solidFill>
                  <a:srgbClr val="092433"/>
                </a:solidFill>
                <a:effectLst/>
                <a:latin typeface="Manrope"/>
              </a:rPr>
              <a:t>FileZilla</a:t>
            </a:r>
            <a:r>
              <a:rPr lang="ru-RU" b="0" i="0" dirty="0">
                <a:solidFill>
                  <a:srgbClr val="092433"/>
                </a:solidFill>
                <a:effectLst/>
                <a:latin typeface="Manrope"/>
              </a:rPr>
              <a:t> — это бесплатная FTP-утилита с открытым исходным кодом, которая дает пользователю возможность передавать файлы с локального компьютера на удаленный. </a:t>
            </a:r>
            <a:r>
              <a:rPr lang="ru-RU" b="0" i="0" dirty="0" err="1">
                <a:solidFill>
                  <a:srgbClr val="092433"/>
                </a:solidFill>
                <a:effectLst/>
                <a:latin typeface="Manrope"/>
              </a:rPr>
              <a:t>FileZilla</a:t>
            </a:r>
            <a:r>
              <a:rPr lang="ru-RU" b="0" i="0" dirty="0">
                <a:solidFill>
                  <a:srgbClr val="092433"/>
                </a:solidFill>
                <a:effectLst/>
                <a:latin typeface="Manrope"/>
              </a:rPr>
              <a:t> доступна в виде клиентской и серверной версий. Работает под ОС </a:t>
            </a:r>
            <a:r>
              <a:rPr lang="ru-RU" b="0" i="0" dirty="0" err="1">
                <a:solidFill>
                  <a:srgbClr val="092433"/>
                </a:solidFill>
                <a:effectLst/>
                <a:latin typeface="Manrope"/>
              </a:rPr>
              <a:t>Windows</a:t>
            </a:r>
            <a:r>
              <a:rPr lang="ru-RU" b="0" i="0" dirty="0">
                <a:solidFill>
                  <a:srgbClr val="092433"/>
                </a:solidFill>
                <a:effectLst/>
                <a:latin typeface="Manrope"/>
              </a:rPr>
              <a:t>, </a:t>
            </a:r>
            <a:r>
              <a:rPr lang="ru-RU" b="0" i="0" dirty="0" err="1">
                <a:solidFill>
                  <a:srgbClr val="092433"/>
                </a:solidFill>
                <a:effectLst/>
                <a:latin typeface="Manrope"/>
              </a:rPr>
              <a:t>MacOS</a:t>
            </a:r>
            <a:r>
              <a:rPr lang="ru-RU" b="0" i="0" dirty="0">
                <a:solidFill>
                  <a:srgbClr val="092433"/>
                </a:solidFill>
                <a:effectLst/>
                <a:latin typeface="Manrope"/>
              </a:rPr>
              <a:t> и </a:t>
            </a:r>
            <a:r>
              <a:rPr lang="ru-RU" b="0" i="0" dirty="0" err="1">
                <a:solidFill>
                  <a:srgbClr val="092433"/>
                </a:solidFill>
                <a:effectLst/>
                <a:latin typeface="Manrope"/>
              </a:rPr>
              <a:t>Linux</a:t>
            </a:r>
            <a:r>
              <a:rPr lang="ru-RU" b="0" i="0" dirty="0">
                <a:solidFill>
                  <a:srgbClr val="092433"/>
                </a:solidFill>
                <a:effectLst/>
                <a:latin typeface="Manrope"/>
              </a:rPr>
              <a:t>.</a:t>
            </a:r>
          </a:p>
          <a:p>
            <a:pPr algn="l" fontAlgn="base">
              <a:buFont typeface="Arial" panose="020B0604020202020204" pitchFamily="34" charset="0"/>
              <a:buChar char="•"/>
            </a:pPr>
            <a:r>
              <a:rPr lang="ru-RU" b="0" i="0" dirty="0" err="1">
                <a:solidFill>
                  <a:srgbClr val="092433"/>
                </a:solidFill>
                <a:effectLst/>
                <a:latin typeface="Manrope"/>
              </a:rPr>
              <a:t>WinSCP</a:t>
            </a:r>
            <a:r>
              <a:rPr lang="ru-RU" b="0" i="0" dirty="0">
                <a:solidFill>
                  <a:srgbClr val="092433"/>
                </a:solidFill>
                <a:effectLst/>
                <a:latin typeface="Manrope"/>
              </a:rPr>
              <a:t> — это бесплатный SFTP-, </a:t>
            </a:r>
            <a:r>
              <a:rPr lang="ru-RU" b="0" i="0" dirty="0" err="1">
                <a:solidFill>
                  <a:srgbClr val="092433"/>
                </a:solidFill>
                <a:effectLst/>
                <a:latin typeface="Manrope"/>
              </a:rPr>
              <a:t>WebDAV</a:t>
            </a:r>
            <a:r>
              <a:rPr lang="ru-RU" b="0" i="0" dirty="0">
                <a:solidFill>
                  <a:srgbClr val="092433"/>
                </a:solidFill>
                <a:effectLst/>
                <a:latin typeface="Manrope"/>
              </a:rPr>
              <a:t>-, S3-, SCP- и FTP-клиент для </a:t>
            </a:r>
            <a:r>
              <a:rPr lang="ru-RU" b="0" i="0" dirty="0" err="1">
                <a:solidFill>
                  <a:srgbClr val="092433"/>
                </a:solidFill>
                <a:effectLst/>
                <a:latin typeface="Manrope"/>
              </a:rPr>
              <a:t>Windows</a:t>
            </a:r>
            <a:r>
              <a:rPr lang="ru-RU" b="0" i="0" dirty="0">
                <a:solidFill>
                  <a:srgbClr val="092433"/>
                </a:solidFill>
                <a:effectLst/>
                <a:latin typeface="Manrope"/>
              </a:rPr>
              <a:t> с открытым исходным кодом. Работает только на ОС </a:t>
            </a:r>
            <a:r>
              <a:rPr lang="ru-RU" b="0" i="0" dirty="0" err="1">
                <a:solidFill>
                  <a:srgbClr val="092433"/>
                </a:solidFill>
                <a:effectLst/>
                <a:latin typeface="Manrope"/>
              </a:rPr>
              <a:t>Windows</a:t>
            </a:r>
            <a:r>
              <a:rPr lang="ru-RU" b="0" i="0" dirty="0">
                <a:solidFill>
                  <a:srgbClr val="092433"/>
                </a:solidFill>
                <a:effectLst/>
                <a:latin typeface="Manrope"/>
              </a:rPr>
              <a:t>.</a:t>
            </a:r>
          </a:p>
          <a:p>
            <a:pPr algn="l" fontAlgn="base">
              <a:buFont typeface="Arial" panose="020B0604020202020204" pitchFamily="34" charset="0"/>
              <a:buChar char="•"/>
            </a:pPr>
            <a:r>
              <a:rPr lang="ru-RU" b="0" i="0" dirty="0" err="1">
                <a:solidFill>
                  <a:srgbClr val="092433"/>
                </a:solidFill>
                <a:effectLst/>
                <a:latin typeface="Manrope"/>
              </a:rPr>
              <a:t>Cyberduck</a:t>
            </a:r>
            <a:r>
              <a:rPr lang="ru-RU" b="0" i="0" dirty="0">
                <a:solidFill>
                  <a:srgbClr val="092433"/>
                </a:solidFill>
                <a:effectLst/>
                <a:latin typeface="Manrope"/>
              </a:rPr>
              <a:t> — это FTP-клиент с бесплатными облачными возможностями и поддержкой систем </a:t>
            </a:r>
            <a:r>
              <a:rPr lang="ru-RU" b="0" i="0" dirty="0" err="1">
                <a:solidFill>
                  <a:srgbClr val="092433"/>
                </a:solidFill>
                <a:effectLst/>
                <a:latin typeface="Manrope"/>
              </a:rPr>
              <a:t>Windows</a:t>
            </a:r>
            <a:r>
              <a:rPr lang="ru-RU" b="0" i="0" dirty="0">
                <a:solidFill>
                  <a:srgbClr val="092433"/>
                </a:solidFill>
                <a:effectLst/>
                <a:latin typeface="Manrope"/>
              </a:rPr>
              <a:t> и </a:t>
            </a:r>
            <a:r>
              <a:rPr lang="ru-RU" b="0" i="0" dirty="0" err="1">
                <a:solidFill>
                  <a:srgbClr val="092433"/>
                </a:solidFill>
                <a:effectLst/>
                <a:latin typeface="Manrope"/>
              </a:rPr>
              <a:t>Mac</a:t>
            </a:r>
            <a:r>
              <a:rPr lang="ru-RU" b="0" i="0" dirty="0">
                <a:solidFill>
                  <a:srgbClr val="092433"/>
                </a:solidFill>
                <a:effectLst/>
                <a:latin typeface="Manrope"/>
              </a:rPr>
              <a:t> OS X. </a:t>
            </a:r>
            <a:r>
              <a:rPr lang="ru-RU" b="0" i="0" dirty="0" err="1">
                <a:solidFill>
                  <a:srgbClr val="092433"/>
                </a:solidFill>
                <a:effectLst/>
                <a:latin typeface="Manrope"/>
              </a:rPr>
              <a:t>Cyberduck</a:t>
            </a:r>
            <a:r>
              <a:rPr lang="ru-RU" b="0" i="0" dirty="0">
                <a:solidFill>
                  <a:srgbClr val="092433"/>
                </a:solidFill>
                <a:effectLst/>
                <a:latin typeface="Manrope"/>
              </a:rPr>
              <a:t> использует графический интерфейс пользователя (GUI) для предоставления доступа к файлам с серверов и для иного управления данными в различных местах, включая их редактирование и хранение.</a:t>
            </a:r>
          </a:p>
          <a:p>
            <a:pPr algn="l" fontAlgn="base">
              <a:buFont typeface="Arial" panose="020B0604020202020204" pitchFamily="34" charset="0"/>
              <a:buChar char="•"/>
            </a:pPr>
            <a:r>
              <a:rPr lang="ru-RU" b="0" i="0" dirty="0" err="1">
                <a:solidFill>
                  <a:srgbClr val="092433"/>
                </a:solidFill>
                <a:effectLst/>
                <a:latin typeface="Manrope"/>
              </a:rPr>
              <a:t>Transmit</a:t>
            </a:r>
            <a:r>
              <a:rPr lang="ru-RU" b="0" i="0" dirty="0">
                <a:solidFill>
                  <a:srgbClr val="092433"/>
                </a:solidFill>
                <a:effectLst/>
                <a:latin typeface="Manrope"/>
              </a:rPr>
              <a:t> — это приложение для </a:t>
            </a:r>
            <a:r>
              <a:rPr lang="ru-RU" b="0" i="0" dirty="0" err="1">
                <a:solidFill>
                  <a:srgbClr val="092433"/>
                </a:solidFill>
                <a:effectLst/>
                <a:latin typeface="Manrope"/>
              </a:rPr>
              <a:t>MacOS</a:t>
            </a:r>
            <a:r>
              <a:rPr lang="ru-RU" b="0" i="0" dirty="0">
                <a:solidFill>
                  <a:srgbClr val="092433"/>
                </a:solidFill>
                <a:effectLst/>
                <a:latin typeface="Manrope"/>
              </a:rPr>
              <a:t>, позволяющее работать с FTP, SFTP и множеством других протоколов. Отличается удобным дизайном и высокой скоростью работы.</a:t>
            </a:r>
          </a:p>
          <a:p>
            <a:pPr algn="l" fontAlgn="base">
              <a:buFont typeface="Arial" panose="020B0604020202020204" pitchFamily="34" charset="0"/>
              <a:buChar char="•"/>
            </a:pPr>
            <a:r>
              <a:rPr lang="ru-RU" b="0" i="0" dirty="0" err="1">
                <a:solidFill>
                  <a:srgbClr val="092433"/>
                </a:solidFill>
                <a:effectLst/>
                <a:latin typeface="Manrope"/>
              </a:rPr>
              <a:t>CrossFTP</a:t>
            </a:r>
            <a:r>
              <a:rPr lang="ru-RU" b="0" i="0" dirty="0">
                <a:solidFill>
                  <a:srgbClr val="092433"/>
                </a:solidFill>
                <a:effectLst/>
                <a:latin typeface="Manrope"/>
              </a:rPr>
              <a:t> — это приложение для ОС </a:t>
            </a:r>
            <a:r>
              <a:rPr lang="ru-RU" b="0" i="0" dirty="0" err="1">
                <a:solidFill>
                  <a:srgbClr val="092433"/>
                </a:solidFill>
                <a:effectLst/>
                <a:latin typeface="Manrope"/>
              </a:rPr>
              <a:t>Windows</a:t>
            </a:r>
            <a:r>
              <a:rPr lang="ru-RU" b="0" i="0" dirty="0">
                <a:solidFill>
                  <a:srgbClr val="092433"/>
                </a:solidFill>
                <a:effectLst/>
                <a:latin typeface="Manrope"/>
              </a:rPr>
              <a:t>, </a:t>
            </a:r>
            <a:r>
              <a:rPr lang="ru-RU" b="0" i="0" dirty="0" err="1">
                <a:solidFill>
                  <a:srgbClr val="092433"/>
                </a:solidFill>
                <a:effectLst/>
                <a:latin typeface="Manrope"/>
              </a:rPr>
              <a:t>MacOS</a:t>
            </a:r>
            <a:r>
              <a:rPr lang="ru-RU" b="0" i="0" dirty="0">
                <a:solidFill>
                  <a:srgbClr val="092433"/>
                </a:solidFill>
                <a:effectLst/>
                <a:latin typeface="Manrope"/>
              </a:rPr>
              <a:t> и </a:t>
            </a:r>
            <a:r>
              <a:rPr lang="ru-RU" b="0" i="0" dirty="0" err="1">
                <a:solidFill>
                  <a:srgbClr val="092433"/>
                </a:solidFill>
                <a:effectLst/>
                <a:latin typeface="Manrope"/>
              </a:rPr>
              <a:t>Linux</a:t>
            </a:r>
            <a:r>
              <a:rPr lang="ru-RU" b="0" i="0" dirty="0">
                <a:solidFill>
                  <a:srgbClr val="092433"/>
                </a:solidFill>
                <a:effectLst/>
                <a:latin typeface="Manrope"/>
              </a:rPr>
              <a:t>, поддерживающее множество протоколов, включая </a:t>
            </a:r>
            <a:r>
              <a:rPr lang="ru-RU" b="0" i="0" dirty="0" err="1">
                <a:solidFill>
                  <a:srgbClr val="092433"/>
                </a:solidFill>
                <a:effectLst/>
                <a:latin typeface="Manrope"/>
              </a:rPr>
              <a:t>WebDav</a:t>
            </a:r>
            <a:r>
              <a:rPr lang="ru-RU" b="0" i="0" dirty="0">
                <a:solidFill>
                  <a:srgbClr val="092433"/>
                </a:solidFill>
                <a:effectLst/>
                <a:latin typeface="Manrope"/>
              </a:rPr>
              <a:t>, SFTP, </a:t>
            </a:r>
            <a:r>
              <a:rPr lang="ru-RU" b="0" i="0" dirty="0" err="1">
                <a:solidFill>
                  <a:srgbClr val="092433"/>
                </a:solidFill>
                <a:effectLst/>
                <a:latin typeface="Manrope"/>
              </a:rPr>
              <a:t>Amazon</a:t>
            </a:r>
            <a:r>
              <a:rPr lang="ru-RU" b="0" i="0" dirty="0">
                <a:solidFill>
                  <a:srgbClr val="092433"/>
                </a:solidFill>
                <a:effectLst/>
                <a:latin typeface="Manrope"/>
              </a:rPr>
              <a:t> S3 и прочие.</a:t>
            </a:r>
          </a:p>
          <a:p>
            <a:pPr algn="l" fontAlgn="base">
              <a:buFont typeface="Arial" panose="020B0604020202020204" pitchFamily="34" charset="0"/>
              <a:buChar char="•"/>
            </a:pPr>
            <a:r>
              <a:rPr lang="ru-RU" b="0" i="0" dirty="0" err="1">
                <a:solidFill>
                  <a:srgbClr val="092433"/>
                </a:solidFill>
                <a:effectLst/>
                <a:latin typeface="Manrope"/>
              </a:rPr>
              <a:t>Nautilus</a:t>
            </a:r>
            <a:r>
              <a:rPr lang="ru-RU" b="0" i="0" dirty="0">
                <a:solidFill>
                  <a:srgbClr val="092433"/>
                </a:solidFill>
                <a:effectLst/>
                <a:latin typeface="Manrope"/>
              </a:rPr>
              <a:t> — это менеджер файлов для ОС </a:t>
            </a:r>
            <a:r>
              <a:rPr lang="ru-RU" b="0" i="0" dirty="0" err="1">
                <a:solidFill>
                  <a:srgbClr val="092433"/>
                </a:solidFill>
                <a:effectLst/>
                <a:latin typeface="Manrope"/>
              </a:rPr>
              <a:t>Linux</a:t>
            </a:r>
            <a:r>
              <a:rPr lang="ru-RU" b="0" i="0" dirty="0">
                <a:solidFill>
                  <a:srgbClr val="092433"/>
                </a:solidFill>
                <a:effectLst/>
                <a:latin typeface="Manrope"/>
              </a:rPr>
              <a:t>, работающих на основе окружения </a:t>
            </a:r>
            <a:r>
              <a:rPr lang="ru-RU" b="0" i="0" dirty="0" err="1">
                <a:solidFill>
                  <a:srgbClr val="092433"/>
                </a:solidFill>
                <a:effectLst/>
                <a:latin typeface="Manrope"/>
              </a:rPr>
              <a:t>Gnome</a:t>
            </a:r>
            <a:r>
              <a:rPr lang="ru-RU" b="0" i="0" dirty="0">
                <a:solidFill>
                  <a:srgbClr val="092433"/>
                </a:solidFill>
                <a:effectLst/>
                <a:latin typeface="Manrope"/>
              </a:rPr>
              <a:t>. Основным его плюсом является то, что он уже встроен в систему. Позволяет работать с протоколами FTP(S), SMB, NFS, SSH и прочими.</a:t>
            </a:r>
          </a:p>
          <a:p>
            <a:pPr algn="l" fontAlgn="base">
              <a:buFont typeface="Arial" panose="020B0604020202020204" pitchFamily="34" charset="0"/>
              <a:buChar char="•"/>
            </a:pPr>
            <a:r>
              <a:rPr lang="ru-RU" b="0" i="0" dirty="0" err="1">
                <a:solidFill>
                  <a:srgbClr val="092433"/>
                </a:solidFill>
                <a:effectLst/>
                <a:latin typeface="Manrope"/>
              </a:rPr>
              <a:t>AndFTP</a:t>
            </a:r>
            <a:r>
              <a:rPr lang="ru-RU" b="0" i="0" dirty="0">
                <a:solidFill>
                  <a:srgbClr val="092433"/>
                </a:solidFill>
                <a:effectLst/>
                <a:latin typeface="Manrope"/>
              </a:rPr>
              <a:t> — популярный FTP-клиент для ОС </a:t>
            </a:r>
            <a:r>
              <a:rPr lang="ru-RU" b="0" i="0" dirty="0" err="1">
                <a:solidFill>
                  <a:srgbClr val="092433"/>
                </a:solidFill>
                <a:effectLst/>
                <a:latin typeface="Manrope"/>
              </a:rPr>
              <a:t>Android</a:t>
            </a:r>
            <a:r>
              <a:rPr lang="ru-RU" b="0" i="0" dirty="0">
                <a:solidFill>
                  <a:srgbClr val="092433"/>
                </a:solidFill>
                <a:effectLst/>
                <a:latin typeface="Manrope"/>
              </a:rPr>
              <a:t>. Обладает несколько нагруженным интерфейсом, однако он дает пользователю те же функции, что и полноценные десктопные приложения.</a:t>
            </a:r>
          </a:p>
          <a:p>
            <a:pPr algn="l" fontAlgn="base">
              <a:buFont typeface="Arial" panose="020B0604020202020204" pitchFamily="34" charset="0"/>
              <a:buChar char="•"/>
            </a:pPr>
            <a:r>
              <a:rPr lang="ru-RU" b="0" i="0" dirty="0">
                <a:solidFill>
                  <a:srgbClr val="092433"/>
                </a:solidFill>
                <a:effectLst/>
                <a:latin typeface="Manrope"/>
              </a:rPr>
              <a:t>X-</a:t>
            </a:r>
            <a:r>
              <a:rPr lang="ru-RU" b="0" i="0" dirty="0" err="1">
                <a:solidFill>
                  <a:srgbClr val="092433"/>
                </a:solidFill>
                <a:effectLst/>
                <a:latin typeface="Manrope"/>
              </a:rPr>
              <a:t>plore</a:t>
            </a:r>
            <a:r>
              <a:rPr lang="ru-RU" b="0" i="0" dirty="0">
                <a:solidFill>
                  <a:srgbClr val="092433"/>
                </a:solidFill>
                <a:effectLst/>
                <a:latin typeface="Manrope"/>
              </a:rPr>
              <a:t> </a:t>
            </a:r>
            <a:r>
              <a:rPr lang="ru-RU" b="0" i="0" dirty="0" err="1">
                <a:solidFill>
                  <a:srgbClr val="092433"/>
                </a:solidFill>
                <a:effectLst/>
                <a:latin typeface="Manrope"/>
              </a:rPr>
              <a:t>File</a:t>
            </a:r>
            <a:r>
              <a:rPr lang="ru-RU" b="0" i="0" dirty="0">
                <a:solidFill>
                  <a:srgbClr val="092433"/>
                </a:solidFill>
                <a:effectLst/>
                <a:latin typeface="Manrope"/>
              </a:rPr>
              <a:t> </a:t>
            </a:r>
            <a:r>
              <a:rPr lang="ru-RU" b="0" i="0" dirty="0" err="1">
                <a:solidFill>
                  <a:srgbClr val="092433"/>
                </a:solidFill>
                <a:effectLst/>
                <a:latin typeface="Manrope"/>
              </a:rPr>
              <a:t>Manager</a:t>
            </a:r>
            <a:r>
              <a:rPr lang="ru-RU" b="0" i="0" dirty="0">
                <a:solidFill>
                  <a:srgbClr val="092433"/>
                </a:solidFill>
                <a:effectLst/>
                <a:latin typeface="Manrope"/>
              </a:rPr>
              <a:t> — это FTP-клиент для ОС </a:t>
            </a:r>
            <a:r>
              <a:rPr lang="ru-RU" b="0" i="0" dirty="0" err="1">
                <a:solidFill>
                  <a:srgbClr val="092433"/>
                </a:solidFill>
                <a:effectLst/>
                <a:latin typeface="Manrope"/>
              </a:rPr>
              <a:t>Android</a:t>
            </a:r>
            <a:r>
              <a:rPr lang="ru-RU" b="0" i="0" dirty="0">
                <a:solidFill>
                  <a:srgbClr val="092433"/>
                </a:solidFill>
                <a:effectLst/>
                <a:latin typeface="Manrope"/>
              </a:rPr>
              <a:t>, аналог </a:t>
            </a:r>
            <a:r>
              <a:rPr lang="ru-RU" b="0" i="0" dirty="0" err="1">
                <a:solidFill>
                  <a:srgbClr val="092433"/>
                </a:solidFill>
                <a:effectLst/>
                <a:latin typeface="Manrope"/>
              </a:rPr>
              <a:t>AndFTP</a:t>
            </a:r>
            <a:r>
              <a:rPr lang="ru-RU" b="0" i="0" dirty="0">
                <a:solidFill>
                  <a:srgbClr val="092433"/>
                </a:solidFill>
                <a:effectLst/>
                <a:latin typeface="Manrope"/>
              </a:rPr>
              <a:t>.</a:t>
            </a:r>
          </a:p>
          <a:p>
            <a:pPr algn="l" fontAlgn="base">
              <a:buFont typeface="Arial" panose="020B0604020202020204" pitchFamily="34" charset="0"/>
              <a:buChar char="•"/>
            </a:pPr>
            <a:r>
              <a:rPr lang="ru-RU" b="0" i="0" dirty="0">
                <a:solidFill>
                  <a:srgbClr val="092433"/>
                </a:solidFill>
                <a:effectLst/>
                <a:latin typeface="Manrope"/>
              </a:rPr>
              <a:t>FTP-</a:t>
            </a:r>
            <a:r>
              <a:rPr lang="ru-RU" b="0" i="0" dirty="0" err="1">
                <a:solidFill>
                  <a:srgbClr val="092433"/>
                </a:solidFill>
                <a:effectLst/>
                <a:latin typeface="Manrope"/>
              </a:rPr>
              <a:t>manager</a:t>
            </a:r>
            <a:r>
              <a:rPr lang="ru-RU" b="0" i="0" dirty="0">
                <a:solidFill>
                  <a:srgbClr val="092433"/>
                </a:solidFill>
                <a:effectLst/>
                <a:latin typeface="Manrope"/>
              </a:rPr>
              <a:t> — это FTP-клиент для </a:t>
            </a:r>
            <a:r>
              <a:rPr lang="ru-RU" b="0" i="0" dirty="0" err="1">
                <a:solidFill>
                  <a:srgbClr val="092433"/>
                </a:solidFill>
                <a:effectLst/>
                <a:latin typeface="Manrope"/>
              </a:rPr>
              <a:t>iOS</a:t>
            </a:r>
            <a:r>
              <a:rPr lang="ru-RU" b="0" i="0" dirty="0">
                <a:solidFill>
                  <a:srgbClr val="092433"/>
                </a:solidFill>
                <a:effectLst/>
                <a:latin typeface="Manrope"/>
              </a:rPr>
              <a:t>, позволяющий копировать, перемещать и удалять файлы между устройством и сервером. Плюсами данного приложения является возможность использовать </a:t>
            </a:r>
            <a:r>
              <a:rPr lang="ru-RU" b="0" i="0" dirty="0" err="1">
                <a:solidFill>
                  <a:srgbClr val="092433"/>
                </a:solidFill>
                <a:effectLst/>
                <a:latin typeface="Manrope"/>
              </a:rPr>
              <a:t>многооконность</a:t>
            </a:r>
            <a:r>
              <a:rPr lang="ru-RU" b="0" i="0" dirty="0">
                <a:solidFill>
                  <a:srgbClr val="092433"/>
                </a:solidFill>
                <a:effectLst/>
                <a:latin typeface="Manrope"/>
              </a:rPr>
              <a:t> на </a:t>
            </a:r>
            <a:r>
              <a:rPr lang="ru-RU" b="0" i="0" dirty="0" err="1">
                <a:solidFill>
                  <a:srgbClr val="092433"/>
                </a:solidFill>
                <a:effectLst/>
                <a:latin typeface="Manrope"/>
              </a:rPr>
              <a:t>iPad</a:t>
            </a:r>
            <a:r>
              <a:rPr lang="ru-RU" b="0" i="0" dirty="0">
                <a:solidFill>
                  <a:srgbClr val="092433"/>
                </a:solidFill>
                <a:effectLst/>
                <a:latin typeface="Manrope"/>
              </a:rPr>
              <a:t>, просматривать различные типы файлов на устройстве, а также вносить изменения в код через специальный редактор.</a:t>
            </a:r>
          </a:p>
        </p:txBody>
      </p:sp>
    </p:spTree>
    <p:extLst>
      <p:ext uri="{BB962C8B-B14F-4D97-AF65-F5344CB8AC3E}">
        <p14:creationId xmlns:p14="http://schemas.microsoft.com/office/powerpoint/2010/main" val="103155032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582FF3-745A-4443-894E-C48ECAA625CD}"/>
              </a:ext>
            </a:extLst>
          </p:cNvPr>
          <p:cNvSpPr txBox="1"/>
          <p:nvPr/>
        </p:nvSpPr>
        <p:spPr>
          <a:xfrm>
            <a:off x="559293" y="567093"/>
            <a:ext cx="9818703" cy="5078313"/>
          </a:xfrm>
          <a:prstGeom prst="rect">
            <a:avLst/>
          </a:prstGeom>
          <a:noFill/>
        </p:spPr>
        <p:txBody>
          <a:bodyPr wrap="square">
            <a:spAutoFit/>
          </a:bodyPr>
          <a:lstStyle/>
          <a:p>
            <a:pPr algn="l" fontAlgn="base"/>
            <a:r>
              <a:rPr lang="ru-RU" b="1" i="0" dirty="0">
                <a:solidFill>
                  <a:srgbClr val="092433"/>
                </a:solidFill>
                <a:effectLst/>
                <a:latin typeface="CoilTrail"/>
              </a:rPr>
              <a:t>В чем назначение безопасного FTP-протокола</a:t>
            </a:r>
          </a:p>
          <a:p>
            <a:pPr algn="l" fontAlgn="base"/>
            <a:r>
              <a:rPr lang="ru-RU" b="0" i="0" dirty="0">
                <a:solidFill>
                  <a:srgbClr val="092433"/>
                </a:solidFill>
                <a:effectLst/>
                <a:latin typeface="Manrope"/>
              </a:rPr>
              <a:t>Изначально FTP не создавался с учетом требований безопасности. Считается, что это небезопасный протокол, поскольку для аутентификации он полагается на имя пользователя и пароль в открытом виде и не использует шифрование. А значит, отправляемые по FTP данные уязвимы для перехвата.</a:t>
            </a:r>
          </a:p>
          <a:p>
            <a:pPr algn="l" fontAlgn="base"/>
            <a:endParaRPr lang="ru-RU" b="0" i="0" dirty="0">
              <a:solidFill>
                <a:srgbClr val="092433"/>
              </a:solidFill>
              <a:effectLst/>
              <a:latin typeface="Manrope"/>
            </a:endParaRPr>
          </a:p>
          <a:p>
            <a:pPr algn="l" fontAlgn="base"/>
            <a:r>
              <a:rPr lang="ru-RU" b="0" i="0" dirty="0">
                <a:solidFill>
                  <a:srgbClr val="092433"/>
                </a:solidFill>
                <a:effectLst/>
                <a:latin typeface="Manrope"/>
              </a:rPr>
              <a:t>Однако существует несколько общих принципов, позволяющие обеспечить безопасное использование протокола, — FTPS  и SFTP.</a:t>
            </a:r>
          </a:p>
          <a:p>
            <a:pPr algn="l" fontAlgn="base"/>
            <a:r>
              <a:rPr lang="ru-RU" b="1" i="0" dirty="0">
                <a:solidFill>
                  <a:srgbClr val="092433"/>
                </a:solidFill>
                <a:effectLst/>
                <a:latin typeface="Manrope"/>
              </a:rPr>
              <a:t>FTPS</a:t>
            </a:r>
          </a:p>
          <a:p>
            <a:pPr algn="l" fontAlgn="base"/>
            <a:r>
              <a:rPr lang="ru-RU" b="0" i="0" dirty="0">
                <a:solidFill>
                  <a:srgbClr val="092433"/>
                </a:solidFill>
                <a:effectLst/>
                <a:latin typeface="Manrope"/>
              </a:rPr>
              <a:t>FTPS, или FTP с использование </a:t>
            </a:r>
            <a:r>
              <a:rPr lang="ru-RU" b="0" i="0" dirty="0" err="1">
                <a:solidFill>
                  <a:srgbClr val="092433"/>
                </a:solidFill>
                <a:effectLst/>
                <a:latin typeface="Manrope"/>
              </a:rPr>
              <a:t>Secure</a:t>
            </a:r>
            <a:r>
              <a:rPr lang="ru-RU" b="0" i="0" dirty="0">
                <a:solidFill>
                  <a:srgbClr val="092433"/>
                </a:solidFill>
                <a:effectLst/>
                <a:latin typeface="Manrope"/>
              </a:rPr>
              <a:t> </a:t>
            </a:r>
            <a:r>
              <a:rPr lang="ru-RU" b="0" i="0" dirty="0" err="1">
                <a:solidFill>
                  <a:srgbClr val="092433"/>
                </a:solidFill>
                <a:effectLst/>
                <a:latin typeface="Manrope"/>
              </a:rPr>
              <a:t>Socket</a:t>
            </a:r>
            <a:r>
              <a:rPr lang="ru-RU" b="0" i="0" dirty="0">
                <a:solidFill>
                  <a:srgbClr val="092433"/>
                </a:solidFill>
                <a:effectLst/>
                <a:latin typeface="Manrope"/>
              </a:rPr>
              <a:t> </a:t>
            </a:r>
            <a:r>
              <a:rPr lang="ru-RU" b="0" i="0" dirty="0" err="1">
                <a:solidFill>
                  <a:srgbClr val="092433"/>
                </a:solidFill>
                <a:effectLst/>
                <a:latin typeface="Manrope"/>
              </a:rPr>
              <a:t>Layer</a:t>
            </a:r>
            <a:r>
              <a:rPr lang="ru-RU" b="0" i="0" dirty="0">
                <a:solidFill>
                  <a:srgbClr val="092433"/>
                </a:solidFill>
                <a:effectLst/>
                <a:latin typeface="Manrope"/>
              </a:rPr>
              <a:t>, — это метод, который позволяет выполнять шифрование соединения по требованию пользователя. FTPS был предложен в качестве альтернативы в RFC 2228.</a:t>
            </a:r>
          </a:p>
          <a:p>
            <a:pPr algn="l" fontAlgn="base"/>
            <a:r>
              <a:rPr lang="ru-RU" b="0" i="0" dirty="0">
                <a:solidFill>
                  <a:srgbClr val="092433"/>
                </a:solidFill>
                <a:effectLst/>
                <a:latin typeface="Manrope"/>
              </a:rPr>
              <a:t>FTPS был введен на серверах </a:t>
            </a:r>
            <a:r>
              <a:rPr lang="ru-RU" b="0" i="0" dirty="0" err="1">
                <a:solidFill>
                  <a:srgbClr val="092433"/>
                </a:solidFill>
                <a:effectLst/>
                <a:latin typeface="Manrope"/>
              </a:rPr>
              <a:t>Windows</a:t>
            </a:r>
            <a:r>
              <a:rPr lang="ru-RU" b="0" i="0" dirty="0">
                <a:solidFill>
                  <a:srgbClr val="092433"/>
                </a:solidFill>
                <a:effectLst/>
                <a:latin typeface="Manrope"/>
              </a:rPr>
              <a:t>, начиная с IIS 7.0. IIS, или </a:t>
            </a:r>
            <a:r>
              <a:rPr lang="ru-RU" b="0" i="0" dirty="0" err="1">
                <a:solidFill>
                  <a:srgbClr val="092433"/>
                </a:solidFill>
                <a:effectLst/>
                <a:latin typeface="Manrope"/>
              </a:rPr>
              <a:t>Internet</a:t>
            </a:r>
            <a:r>
              <a:rPr lang="ru-RU" b="0" i="0" dirty="0">
                <a:solidFill>
                  <a:srgbClr val="092433"/>
                </a:solidFill>
                <a:effectLst/>
                <a:latin typeface="Manrope"/>
              </a:rPr>
              <a:t> </a:t>
            </a:r>
            <a:r>
              <a:rPr lang="ru-RU" b="0" i="0" dirty="0" err="1">
                <a:solidFill>
                  <a:srgbClr val="092433"/>
                </a:solidFill>
                <a:effectLst/>
                <a:latin typeface="Manrope"/>
              </a:rPr>
              <a:t>Information</a:t>
            </a:r>
            <a:r>
              <a:rPr lang="ru-RU" b="0" i="0" dirty="0">
                <a:solidFill>
                  <a:srgbClr val="092433"/>
                </a:solidFill>
                <a:effectLst/>
                <a:latin typeface="Manrope"/>
              </a:rPr>
              <a:t> </a:t>
            </a:r>
            <a:r>
              <a:rPr lang="ru-RU" b="0" i="0" dirty="0" err="1">
                <a:solidFill>
                  <a:srgbClr val="092433"/>
                </a:solidFill>
                <a:effectLst/>
                <a:latin typeface="Manrope"/>
              </a:rPr>
              <a:t>Services</a:t>
            </a:r>
            <a:r>
              <a:rPr lang="ru-RU" b="0" i="0" dirty="0">
                <a:solidFill>
                  <a:srgbClr val="092433"/>
                </a:solidFill>
                <a:effectLst/>
                <a:latin typeface="Manrope"/>
              </a:rPr>
              <a:t>, — набор инструментов </a:t>
            </a:r>
            <a:r>
              <a:rPr lang="ru-RU" b="0" i="0" dirty="0" err="1">
                <a:solidFill>
                  <a:srgbClr val="092433"/>
                </a:solidFill>
                <a:effectLst/>
                <a:latin typeface="Manrope"/>
              </a:rPr>
              <a:t>Windows</a:t>
            </a:r>
            <a:r>
              <a:rPr lang="ru-RU" b="0" i="0" dirty="0">
                <a:solidFill>
                  <a:srgbClr val="092433"/>
                </a:solidFill>
                <a:effectLst/>
                <a:latin typeface="Manrope"/>
              </a:rPr>
              <a:t>, позволяющих развертывать </a:t>
            </a:r>
            <a:r>
              <a:rPr lang="ru-RU" b="0" i="0" dirty="0" err="1">
                <a:solidFill>
                  <a:srgbClr val="092433"/>
                </a:solidFill>
                <a:effectLst/>
                <a:latin typeface="Manrope"/>
              </a:rPr>
              <a:t>web</a:t>
            </a:r>
            <a:r>
              <a:rPr lang="ru-RU" b="0" i="0" dirty="0">
                <a:solidFill>
                  <a:srgbClr val="092433"/>
                </a:solidFill>
                <a:effectLst/>
                <a:latin typeface="Manrope"/>
              </a:rPr>
              <a:t>-сервер.</a:t>
            </a:r>
          </a:p>
          <a:p>
            <a:pPr algn="l" fontAlgn="base"/>
            <a:r>
              <a:rPr lang="ru-RU" b="0" i="0" dirty="0">
                <a:solidFill>
                  <a:srgbClr val="092433"/>
                </a:solidFill>
                <a:effectLst/>
                <a:latin typeface="Manrope"/>
              </a:rPr>
              <a:t>В IIS 7.0 FTPS-протокол был автономным дополнительным элементом и требовал отдельной загрузки. IIS 7.5 и каждая последующая версия имеют функциональность FTPS из «коробки». Следовательно, чтобы настроить безопасное FTP-соединение, необходимо установить только IIS </a:t>
            </a:r>
            <a:r>
              <a:rPr lang="ru-RU" b="0" i="0" dirty="0" err="1">
                <a:solidFill>
                  <a:srgbClr val="092433"/>
                </a:solidFill>
                <a:effectLst/>
                <a:latin typeface="Manrope"/>
              </a:rPr>
              <a:t>Manager</a:t>
            </a:r>
            <a:r>
              <a:rPr lang="ru-RU" b="0" i="0" dirty="0">
                <a:solidFill>
                  <a:srgbClr val="092433"/>
                </a:solidFill>
                <a:effectLst/>
                <a:latin typeface="Manrope"/>
              </a:rPr>
              <a:t> и/или FTP-сервис, который входит в пакет IIS.</a:t>
            </a:r>
          </a:p>
        </p:txBody>
      </p:sp>
    </p:spTree>
    <p:extLst>
      <p:ext uri="{BB962C8B-B14F-4D97-AF65-F5344CB8AC3E}">
        <p14:creationId xmlns:p14="http://schemas.microsoft.com/office/powerpoint/2010/main" val="417281298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B45C66-B4E1-4166-B075-2A31640FEF4D}"/>
              </a:ext>
            </a:extLst>
          </p:cNvPr>
          <p:cNvSpPr txBox="1"/>
          <p:nvPr/>
        </p:nvSpPr>
        <p:spPr>
          <a:xfrm>
            <a:off x="577048" y="197346"/>
            <a:ext cx="10555549" cy="5078313"/>
          </a:xfrm>
          <a:prstGeom prst="rect">
            <a:avLst/>
          </a:prstGeom>
          <a:noFill/>
        </p:spPr>
        <p:txBody>
          <a:bodyPr wrap="square">
            <a:spAutoFit/>
          </a:bodyPr>
          <a:lstStyle/>
          <a:p>
            <a:pPr algn="l" fontAlgn="base"/>
            <a:r>
              <a:rPr lang="ru-RU" b="0" i="0" dirty="0">
                <a:solidFill>
                  <a:srgbClr val="092433"/>
                </a:solidFill>
                <a:effectLst/>
                <a:latin typeface="Manrope"/>
              </a:rPr>
              <a:t>Как работает FTPS</a:t>
            </a:r>
          </a:p>
          <a:p>
            <a:pPr algn="l" fontAlgn="base"/>
            <a:endParaRPr lang="ru-RU" b="0" i="0" dirty="0">
              <a:solidFill>
                <a:srgbClr val="092433"/>
              </a:solidFill>
              <a:effectLst/>
              <a:latin typeface="Manrope"/>
            </a:endParaRPr>
          </a:p>
          <a:p>
            <a:pPr algn="l" fontAlgn="base"/>
            <a:r>
              <a:rPr lang="ru-RU" b="0" i="0" dirty="0">
                <a:solidFill>
                  <a:srgbClr val="092433"/>
                </a:solidFill>
                <a:effectLst/>
                <a:latin typeface="Manrope"/>
              </a:rPr>
              <a:t>Как и FTP, FTPS работает по модели клиент-сервер, используя канал управления и канал передачи данных для обмена командами FTP и данными во время клиентского сеанса FTPS.</a:t>
            </a:r>
          </a:p>
          <a:p>
            <a:pPr algn="l" fontAlgn="base"/>
            <a:r>
              <a:rPr lang="ru-RU" b="0" i="0" dirty="0">
                <a:solidFill>
                  <a:srgbClr val="092433"/>
                </a:solidFill>
                <a:effectLst/>
                <a:latin typeface="Manrope"/>
              </a:rPr>
              <a:t>Сессия FTPS аутентифицируется при помощи логина, пароля и сертификата открытого ключа (аналогично тому, как работает  HTTPS). Инструменты, такие как </a:t>
            </a:r>
            <a:r>
              <a:rPr lang="ru-RU" b="0" i="0" dirty="0" err="1">
                <a:solidFill>
                  <a:srgbClr val="092433"/>
                </a:solidFill>
                <a:effectLst/>
                <a:latin typeface="Manrope"/>
              </a:rPr>
              <a:t>OpenSSL</a:t>
            </a:r>
            <a:r>
              <a:rPr lang="ru-RU" b="0" i="0" dirty="0">
                <a:solidFill>
                  <a:srgbClr val="092433"/>
                </a:solidFill>
                <a:effectLst/>
                <a:latin typeface="Manrope"/>
              </a:rPr>
              <a:t>, позволяют запрашивать и создавать сертификат ключа. При соединении с сервером FTPS клиент сначала проверяет надежность сертификата сервера, после чего осуществляет подключение. Когда доверенный центр сертификации (CA) подписывает эти сертификаты, он гарантирует, что клиент подключен к надежному и безопасному серверу. Это помогает защититься от ряда атак, в том числе от атак посредника.</a:t>
            </a:r>
          </a:p>
          <a:p>
            <a:pPr algn="l" fontAlgn="base"/>
            <a:r>
              <a:rPr lang="ru-RU" b="0" i="0" dirty="0">
                <a:solidFill>
                  <a:srgbClr val="092433"/>
                </a:solidFill>
                <a:effectLst/>
                <a:latin typeface="Manrope"/>
              </a:rPr>
              <a:t>Сертификаты, не подписанные СА, которые известны как </a:t>
            </a:r>
            <a:r>
              <a:rPr lang="ru-RU" b="0" i="0" dirty="0" err="1">
                <a:solidFill>
                  <a:srgbClr val="092433"/>
                </a:solidFill>
                <a:effectLst/>
                <a:latin typeface="Manrope"/>
              </a:rPr>
              <a:t>самозаверяющие</a:t>
            </a:r>
            <a:r>
              <a:rPr lang="ru-RU" b="0" i="0" dirty="0">
                <a:solidFill>
                  <a:srgbClr val="092433"/>
                </a:solidFill>
                <a:effectLst/>
                <a:latin typeface="Manrope"/>
              </a:rPr>
              <a:t> сертификаты, могут побудить клиента FTPS создать уведомление о том, что сертификат не является подлинным. После этого пользователь может либо подтвердить действие и осуществить подключение или отклонить его.</a:t>
            </a:r>
          </a:p>
          <a:p>
            <a:pPr algn="l" fontAlgn="base"/>
            <a:r>
              <a:rPr lang="ru-RU" b="0" i="0" dirty="0">
                <a:solidFill>
                  <a:srgbClr val="092433"/>
                </a:solidFill>
                <a:effectLst/>
                <a:latin typeface="Manrope"/>
              </a:rPr>
              <a:t>FTPS (через SSL) использует сертификаты X.509 для аутентификации. Эти цифровые сертификаты содержат в себе открытый ключ шифрования и информацию о том, кто является его владельцем. Открытый ключ выполняет две основные функции: проверку подлинности и шифрование данных. Открытый ключ имеет связанный с ним закрытый ключ. Он находится отдельно от открытого ключа, и его главное предназначение — расшифровка сообщений, зашифрованных при помощи открытого ключа.</a:t>
            </a:r>
          </a:p>
        </p:txBody>
      </p:sp>
    </p:spTree>
    <p:extLst>
      <p:ext uri="{BB962C8B-B14F-4D97-AF65-F5344CB8AC3E}">
        <p14:creationId xmlns:p14="http://schemas.microsoft.com/office/powerpoint/2010/main" val="89309215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789F11-2D5C-4CAE-9606-CCAEB194779C}"/>
              </a:ext>
            </a:extLst>
          </p:cNvPr>
          <p:cNvSpPr txBox="1"/>
          <p:nvPr/>
        </p:nvSpPr>
        <p:spPr>
          <a:xfrm>
            <a:off x="301841" y="435007"/>
            <a:ext cx="10919534" cy="2031325"/>
          </a:xfrm>
          <a:prstGeom prst="rect">
            <a:avLst/>
          </a:prstGeom>
          <a:noFill/>
        </p:spPr>
        <p:txBody>
          <a:bodyPr wrap="square">
            <a:spAutoFit/>
          </a:bodyPr>
          <a:lstStyle/>
          <a:p>
            <a:pPr algn="l" fontAlgn="base"/>
            <a:r>
              <a:rPr lang="ru-RU" b="0" i="0" dirty="0">
                <a:solidFill>
                  <a:srgbClr val="092433"/>
                </a:solidFill>
                <a:effectLst/>
                <a:latin typeface="Manrope"/>
              </a:rPr>
              <a:t>SFTP</a:t>
            </a:r>
          </a:p>
          <a:p>
            <a:pPr algn="l" fontAlgn="base"/>
            <a:r>
              <a:rPr lang="ru-RU" b="0" i="0" dirty="0">
                <a:solidFill>
                  <a:srgbClr val="092433"/>
                </a:solidFill>
                <a:effectLst/>
                <a:latin typeface="Manrope"/>
              </a:rPr>
              <a:t>Также для обеспечения безопасности соединения существует SFTP, или SSH (</a:t>
            </a:r>
            <a:r>
              <a:rPr lang="ru-RU" b="0" i="0" dirty="0" err="1">
                <a:solidFill>
                  <a:srgbClr val="092433"/>
                </a:solidFill>
                <a:effectLst/>
                <a:latin typeface="Manrope"/>
              </a:rPr>
              <a:t>Secure</a:t>
            </a:r>
            <a:r>
              <a:rPr lang="ru-RU" b="0" i="0" dirty="0">
                <a:solidFill>
                  <a:srgbClr val="092433"/>
                </a:solidFill>
                <a:effectLst/>
                <a:latin typeface="Manrope"/>
              </a:rPr>
              <a:t> </a:t>
            </a:r>
            <a:r>
              <a:rPr lang="ru-RU" b="0" i="0" dirty="0" err="1">
                <a:solidFill>
                  <a:srgbClr val="092433"/>
                </a:solidFill>
                <a:effectLst/>
                <a:latin typeface="Manrope"/>
              </a:rPr>
              <a:t>Shell</a:t>
            </a:r>
            <a:r>
              <a:rPr lang="ru-RU" b="0" i="0" dirty="0">
                <a:solidFill>
                  <a:srgbClr val="092433"/>
                </a:solidFill>
                <a:effectLst/>
                <a:latin typeface="Manrope"/>
              </a:rPr>
              <a:t>) FTP, — это протокол прикладного уровня модели OSI. Он является частью SSH и не относится к протоколу FTP напрямую. При его работе происходит шифрование данных при помощи SSH, установка соединения осуществляется через порт 22. Это отличает его от FTPS, который осуществляет открытие порта каждый раз при взаимодействии с файлом. Аутентификация может происходить как при помощи логина и пароля, так и при помощи SSH-ключа.</a:t>
            </a:r>
          </a:p>
        </p:txBody>
      </p:sp>
    </p:spTree>
    <p:extLst>
      <p:ext uri="{BB962C8B-B14F-4D97-AF65-F5344CB8AC3E}">
        <p14:creationId xmlns:p14="http://schemas.microsoft.com/office/powerpoint/2010/main" val="75596298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CP и UDP">
            <a:extLst>
              <a:ext uri="{FF2B5EF4-FFF2-40B4-BE49-F238E27FC236}">
                <a16:creationId xmlns:a16="http://schemas.microsoft.com/office/drawing/2014/main" id="{4A60B5EB-0421-4177-B4B5-D7087A6891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2474" y="371475"/>
            <a:ext cx="9989690" cy="5993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11451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51B0C8-67DC-4727-8D47-85848A0B8AE6}"/>
              </a:ext>
            </a:extLst>
          </p:cNvPr>
          <p:cNvSpPr txBox="1"/>
          <p:nvPr/>
        </p:nvSpPr>
        <p:spPr>
          <a:xfrm>
            <a:off x="372863" y="197346"/>
            <a:ext cx="11114842" cy="6463308"/>
          </a:xfrm>
          <a:prstGeom prst="rect">
            <a:avLst/>
          </a:prstGeom>
          <a:noFill/>
        </p:spPr>
        <p:txBody>
          <a:bodyPr wrap="square">
            <a:spAutoFit/>
          </a:bodyPr>
          <a:lstStyle/>
          <a:p>
            <a:pPr algn="l"/>
            <a:r>
              <a:rPr lang="ru-RU" b="0" i="0" dirty="0">
                <a:solidFill>
                  <a:srgbClr val="0F1B46"/>
                </a:solidFill>
                <a:effectLst/>
                <a:latin typeface="IBM Plex Sans"/>
              </a:rPr>
              <a:t>Надо заметить, что различия между TCP и UDP в стеке IP найти трудно. Во время передачи они инкапсулируются в IP-пакеты, которыми могут пользоваться приложения. Порты есть и там, и там. Поэтому для поиска отличий необходимо заглянуть в сами TCP- и UDP-пакеты.</a:t>
            </a:r>
          </a:p>
          <a:p>
            <a:pPr algn="l"/>
            <a:r>
              <a:rPr lang="ru-RU" b="0" i="0" dirty="0">
                <a:solidFill>
                  <a:srgbClr val="0F1B46"/>
                </a:solidFill>
                <a:effectLst/>
                <a:latin typeface="IBM Plex Sans"/>
              </a:rPr>
              <a:t>Например, UDP содержит одну лишь контрольную сумму, которая выражает длину пакета. А в TCP лежит гораздо больше данных. </a:t>
            </a:r>
            <a:r>
              <a:rPr lang="ru-RU" b="1" i="0" dirty="0">
                <a:solidFill>
                  <a:srgbClr val="FF0000"/>
                </a:solidFill>
                <a:effectLst/>
                <a:latin typeface="IBM Plex Sans"/>
              </a:rPr>
              <a:t>Там указываются окно, </a:t>
            </a:r>
            <a:r>
              <a:rPr lang="ru-RU" b="1" i="0" dirty="0" err="1">
                <a:solidFill>
                  <a:srgbClr val="FF0000"/>
                </a:solidFill>
                <a:effectLst/>
                <a:latin typeface="IBM Plex Sans"/>
              </a:rPr>
              <a:t>acknowledgement</a:t>
            </a:r>
            <a:r>
              <a:rPr lang="ru-RU" b="1" i="0" dirty="0">
                <a:solidFill>
                  <a:srgbClr val="FF0000"/>
                </a:solidFill>
                <a:effectLst/>
                <a:latin typeface="IBM Plex Sans"/>
              </a:rPr>
              <a:t>, </a:t>
            </a:r>
            <a:r>
              <a:rPr lang="ru-RU" b="1" i="0" dirty="0" err="1">
                <a:solidFill>
                  <a:srgbClr val="FF0000"/>
                </a:solidFill>
                <a:effectLst/>
                <a:latin typeface="IBM Plex Sans"/>
              </a:rPr>
              <a:t>sequence</a:t>
            </a:r>
            <a:r>
              <a:rPr lang="ru-RU" b="1" i="0" dirty="0">
                <a:solidFill>
                  <a:srgbClr val="FF0000"/>
                </a:solidFill>
                <a:effectLst/>
                <a:latin typeface="IBM Plex Sans"/>
              </a:rPr>
              <a:t> </a:t>
            </a:r>
            <a:r>
              <a:rPr lang="ru-RU" b="0" i="0" dirty="0">
                <a:solidFill>
                  <a:srgbClr val="0F1B46"/>
                </a:solidFill>
                <a:effectLst/>
                <a:latin typeface="IBM Plex Sans"/>
              </a:rPr>
              <a:t>и другие сведения. Получается, что технически TCP сложнее, и при этом обеспечивает более надёжную доставку.</a:t>
            </a:r>
          </a:p>
          <a:p>
            <a:pPr algn="l"/>
            <a:r>
              <a:rPr lang="ru-RU" b="1" i="0" dirty="0">
                <a:solidFill>
                  <a:srgbClr val="0F1B46"/>
                </a:solidFill>
                <a:effectLst/>
                <a:latin typeface="IBM Plex Sans"/>
              </a:rPr>
              <a:t>Что такое TCP и UDP</a:t>
            </a:r>
          </a:p>
          <a:p>
            <a:pPr algn="l"/>
            <a:r>
              <a:rPr lang="ru-RU" b="0" i="0" dirty="0">
                <a:solidFill>
                  <a:srgbClr val="0F1B46"/>
                </a:solidFill>
                <a:effectLst/>
                <a:latin typeface="IBM Plex Sans"/>
              </a:rPr>
              <a:t>TCP (</a:t>
            </a:r>
            <a:r>
              <a:rPr lang="ru-RU" b="0" i="0" dirty="0" err="1">
                <a:solidFill>
                  <a:srgbClr val="0F1B46"/>
                </a:solidFill>
                <a:effectLst/>
                <a:latin typeface="IBM Plex Sans"/>
              </a:rPr>
              <a:t>Transmission</a:t>
            </a:r>
            <a:r>
              <a:rPr lang="ru-RU" b="0" i="0" dirty="0">
                <a:solidFill>
                  <a:srgbClr val="0F1B46"/>
                </a:solidFill>
                <a:effectLst/>
                <a:latin typeface="IBM Plex Sans"/>
              </a:rPr>
              <a:t> </a:t>
            </a:r>
            <a:r>
              <a:rPr lang="ru-RU" b="0" i="0" dirty="0" err="1">
                <a:solidFill>
                  <a:srgbClr val="0F1B46"/>
                </a:solidFill>
                <a:effectLst/>
                <a:latin typeface="IBM Plex Sans"/>
              </a:rPr>
              <a:t>Control</a:t>
            </a:r>
            <a:r>
              <a:rPr lang="ru-RU" b="0" i="0" dirty="0">
                <a:solidFill>
                  <a:srgbClr val="0F1B46"/>
                </a:solidFill>
                <a:effectLst/>
                <a:latin typeface="IBM Plex Sans"/>
              </a:rPr>
              <a:t> </a:t>
            </a:r>
            <a:r>
              <a:rPr lang="ru-RU" b="0" i="0" dirty="0" err="1">
                <a:solidFill>
                  <a:srgbClr val="0F1B46"/>
                </a:solidFill>
                <a:effectLst/>
                <a:latin typeface="IBM Plex Sans"/>
              </a:rPr>
              <a:t>Protocol</a:t>
            </a:r>
            <a:r>
              <a:rPr lang="ru-RU" b="0" i="0" dirty="0">
                <a:solidFill>
                  <a:srgbClr val="0F1B46"/>
                </a:solidFill>
                <a:effectLst/>
                <a:latin typeface="IBM Plex Sans"/>
              </a:rPr>
              <a:t>) — протокол сквозной связи, созданный в 1974 году и до сих пор востребованный в мире. Только вдумайтесь, почти 50 лет прошло, везде мобильный интернет и беспроводные сети, а TCP остаётся неизменным.</a:t>
            </a:r>
          </a:p>
          <a:p>
            <a:pPr algn="l"/>
            <a:r>
              <a:rPr lang="ru-RU" b="0" i="0" dirty="0">
                <a:solidFill>
                  <a:srgbClr val="0F1B46"/>
                </a:solidFill>
                <a:effectLst/>
                <a:latin typeface="IBM Plex Sans"/>
              </a:rPr>
              <a:t>А всё потому, что TCP изначально был создан для надёжного соединения. Перед тем, как начинать передачу данных, протокол используется протокол рукопожатия для установления соединения, и лишь затем начинает передачу пакетов. Надёжность протокола объясняется тем, что он не теряет пакеты информации во время передачи, отправляя запрос на подтверждение получения. Если требуется, данные будут отправлены повторно. Тут надо уточнить, что очерёдность отправки пакетов сохраняется.</a:t>
            </a:r>
          </a:p>
          <a:p>
            <a:pPr algn="l"/>
            <a:r>
              <a:rPr lang="ru-RU" b="0" i="0" dirty="0">
                <a:solidFill>
                  <a:srgbClr val="0F1B46"/>
                </a:solidFill>
                <a:effectLst/>
                <a:latin typeface="IBM Plex Sans"/>
              </a:rPr>
              <a:t>Из недостатков протокола можно выделить низкую скорость работы протокола. Это объясняется сложностью обеспечения надёжной передачи данных с упорядочиванием пакетов.</a:t>
            </a:r>
          </a:p>
          <a:p>
            <a:pPr algn="l"/>
            <a:r>
              <a:rPr lang="ru-RU" b="0" i="0" dirty="0">
                <a:solidFill>
                  <a:srgbClr val="0F1B46"/>
                </a:solidFill>
                <a:effectLst/>
                <a:latin typeface="IBM Plex Sans"/>
              </a:rPr>
              <a:t>UDP (</a:t>
            </a:r>
            <a:r>
              <a:rPr lang="ru-RU" b="0" i="0" dirty="0" err="1">
                <a:solidFill>
                  <a:srgbClr val="0F1B46"/>
                </a:solidFill>
                <a:effectLst/>
                <a:latin typeface="IBM Plex Sans"/>
              </a:rPr>
              <a:t>User</a:t>
            </a:r>
            <a:r>
              <a:rPr lang="ru-RU" b="0" i="0" dirty="0">
                <a:solidFill>
                  <a:srgbClr val="0F1B46"/>
                </a:solidFill>
                <a:effectLst/>
                <a:latin typeface="IBM Plex Sans"/>
              </a:rPr>
              <a:t> </a:t>
            </a:r>
            <a:r>
              <a:rPr lang="ru-RU" b="0" i="0" dirty="0" err="1">
                <a:solidFill>
                  <a:srgbClr val="0F1B46"/>
                </a:solidFill>
                <a:effectLst/>
                <a:latin typeface="IBM Plex Sans"/>
              </a:rPr>
              <a:t>Datagram</a:t>
            </a:r>
            <a:r>
              <a:rPr lang="ru-RU" b="0" i="0" dirty="0">
                <a:solidFill>
                  <a:srgbClr val="0F1B46"/>
                </a:solidFill>
                <a:effectLst/>
                <a:latin typeface="IBM Plex Sans"/>
              </a:rPr>
              <a:t> </a:t>
            </a:r>
            <a:r>
              <a:rPr lang="ru-RU" b="0" i="0" dirty="0" err="1">
                <a:solidFill>
                  <a:srgbClr val="0F1B46"/>
                </a:solidFill>
                <a:effectLst/>
                <a:latin typeface="IBM Plex Sans"/>
              </a:rPr>
              <a:t>Protocol</a:t>
            </a:r>
            <a:r>
              <a:rPr lang="ru-RU" b="0" i="0" dirty="0">
                <a:solidFill>
                  <a:srgbClr val="0F1B46"/>
                </a:solidFill>
                <a:effectLst/>
                <a:latin typeface="IBM Plex Sans"/>
              </a:rPr>
              <a:t>) создан в 1980 году. Это более простой протокол, который не требует установки соединения между хостами для передачи данных. Пакеты отправляются сразу, без проверки клиента на предмет готовности принимать данные. Из-за такого подхода протокол менее надёжен — пакеты легко могут потеряться. А ещё отсутствует порядок отправки пакетов с данными, из-за чего получатель принимает неупорядоченную информацию. Зато передача данных происходит намного быстрее, если сравнивать с TCP.</a:t>
            </a:r>
          </a:p>
          <a:p>
            <a:pPr algn="l"/>
            <a:endParaRPr lang="ru-RU" b="0" i="0" dirty="0">
              <a:solidFill>
                <a:srgbClr val="0F1B46"/>
              </a:solidFill>
              <a:effectLst/>
              <a:latin typeface="IBM Plex Sans"/>
            </a:endParaRPr>
          </a:p>
        </p:txBody>
      </p:sp>
    </p:spTree>
    <p:extLst>
      <p:ext uri="{BB962C8B-B14F-4D97-AF65-F5344CB8AC3E}">
        <p14:creationId xmlns:p14="http://schemas.microsoft.com/office/powerpoint/2010/main" val="95419589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TCP и UDP2">
            <a:extLst>
              <a:ext uri="{FF2B5EF4-FFF2-40B4-BE49-F238E27FC236}">
                <a16:creationId xmlns:a16="http://schemas.microsoft.com/office/drawing/2014/main" id="{648AD027-5296-4BB4-97FD-BB0E29757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783" y="1047750"/>
            <a:ext cx="9858467" cy="54769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568503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E9EE39-5258-440B-843F-C57A4E8A6FA2}"/>
              </a:ext>
            </a:extLst>
          </p:cNvPr>
          <p:cNvSpPr txBox="1"/>
          <p:nvPr/>
        </p:nvSpPr>
        <p:spPr>
          <a:xfrm>
            <a:off x="423168" y="655868"/>
            <a:ext cx="11487705" cy="3693319"/>
          </a:xfrm>
          <a:prstGeom prst="rect">
            <a:avLst/>
          </a:prstGeom>
          <a:noFill/>
        </p:spPr>
        <p:txBody>
          <a:bodyPr wrap="square">
            <a:spAutoFit/>
          </a:bodyPr>
          <a:lstStyle/>
          <a:p>
            <a:pPr algn="l"/>
            <a:r>
              <a:rPr lang="ru-RU" b="1" i="0" dirty="0">
                <a:solidFill>
                  <a:srgbClr val="0F1B46"/>
                </a:solidFill>
                <a:effectLst/>
                <a:latin typeface="IBM Plex Sans"/>
              </a:rPr>
              <a:t>Основные отличия TCP и UDP</a:t>
            </a:r>
          </a:p>
          <a:p>
            <a:pPr algn="l"/>
            <a:r>
              <a:rPr lang="ru-RU" b="0" i="0" dirty="0">
                <a:solidFill>
                  <a:srgbClr val="0F1B46"/>
                </a:solidFill>
                <a:effectLst/>
                <a:latin typeface="IBM Plex Sans"/>
              </a:rPr>
              <a:t>Итак, как вы уже поняли, UDP — быстрый протокол, но у TCP есть гарантия получения и упорядоченность данных. Давайте коротко сформулируем отличия этих двух протоколов:</a:t>
            </a:r>
          </a:p>
          <a:p>
            <a:pPr algn="l">
              <a:buFont typeface="Arial" panose="020B0604020202020204" pitchFamily="34" charset="0"/>
              <a:buChar char="•"/>
            </a:pPr>
            <a:r>
              <a:rPr lang="ru-RU" b="1" i="0" dirty="0">
                <a:solidFill>
                  <a:srgbClr val="0F1B46"/>
                </a:solidFill>
                <a:effectLst/>
                <a:latin typeface="IBM Plex Sans"/>
              </a:rPr>
              <a:t>Надёжность</a:t>
            </a:r>
            <a:r>
              <a:rPr lang="ru-RU" b="0" i="0" dirty="0">
                <a:solidFill>
                  <a:srgbClr val="0F1B46"/>
                </a:solidFill>
                <a:effectLst/>
                <a:latin typeface="IBM Plex Sans"/>
              </a:rPr>
              <a:t>. TCP надёжнее, так как использует тайм-ауты, требует подтверждения получения данных и повторно отправляет данные при необходимости. У протокола UDP ничего такого нет, а данные нередко теряются на этапе доставки к хосту-получателю.</a:t>
            </a:r>
          </a:p>
          <a:p>
            <a:pPr algn="l">
              <a:buFont typeface="Arial" panose="020B0604020202020204" pitchFamily="34" charset="0"/>
              <a:buChar char="•"/>
            </a:pPr>
            <a:r>
              <a:rPr lang="ru-RU" b="1" i="0" dirty="0">
                <a:solidFill>
                  <a:srgbClr val="0F1B46"/>
                </a:solidFill>
                <a:effectLst/>
                <a:latin typeface="IBM Plex Sans"/>
              </a:rPr>
              <a:t>Упорядоченность</a:t>
            </a:r>
            <a:r>
              <a:rPr lang="ru-RU" b="0" i="0" dirty="0">
                <a:solidFill>
                  <a:srgbClr val="0F1B46"/>
                </a:solidFill>
                <a:effectLst/>
                <a:latin typeface="IBM Plex Sans"/>
              </a:rPr>
              <a:t>. Здесь выигрывает TCP, который гарантированно передаёт пакеты данных именно в той последовательности, которая была задана изначально. В UDP такие возможности не реализованы.</a:t>
            </a:r>
          </a:p>
          <a:p>
            <a:pPr algn="l">
              <a:buFont typeface="Arial" panose="020B0604020202020204" pitchFamily="34" charset="0"/>
              <a:buChar char="•"/>
            </a:pPr>
            <a:r>
              <a:rPr lang="ru-RU" b="1" i="0" dirty="0">
                <a:solidFill>
                  <a:srgbClr val="0F1B46"/>
                </a:solidFill>
                <a:effectLst/>
                <a:latin typeface="IBM Plex Sans"/>
              </a:rPr>
              <a:t>Скорость</a:t>
            </a:r>
            <a:r>
              <a:rPr lang="ru-RU" b="0" i="0" dirty="0">
                <a:solidFill>
                  <a:srgbClr val="0F1B46"/>
                </a:solidFill>
                <a:effectLst/>
                <a:latin typeface="IBM Plex Sans"/>
              </a:rPr>
              <a:t>. По этому критерию выигрывает UDP, который значительно быстрее тяжеловесного TCP, нуждающегося в установлении надёжного соединения и других необходимых для передачи данных условий.</a:t>
            </a:r>
          </a:p>
          <a:p>
            <a:pPr algn="l">
              <a:buFont typeface="Arial" panose="020B0604020202020204" pitchFamily="34" charset="0"/>
              <a:buChar char="•"/>
            </a:pPr>
            <a:r>
              <a:rPr lang="ru-RU" b="1" i="0" dirty="0">
                <a:solidFill>
                  <a:srgbClr val="0F1B46"/>
                </a:solidFill>
                <a:effectLst/>
                <a:latin typeface="IBM Plex Sans"/>
              </a:rPr>
              <a:t>Метод передачи данных</a:t>
            </a:r>
            <a:r>
              <a:rPr lang="ru-RU" b="0" i="0" dirty="0">
                <a:solidFill>
                  <a:srgbClr val="0F1B46"/>
                </a:solidFill>
                <a:effectLst/>
                <a:latin typeface="IBM Plex Sans"/>
              </a:rPr>
              <a:t>. TCP предполагает потоковую передачу данных, границы фрагментов данных не обозначены. UDP использует метод </a:t>
            </a:r>
            <a:r>
              <a:rPr lang="ru-RU" b="0" i="0" dirty="0" err="1">
                <a:solidFill>
                  <a:srgbClr val="0F1B46"/>
                </a:solidFill>
                <a:effectLst/>
                <a:latin typeface="IBM Plex Sans"/>
              </a:rPr>
              <a:t>датаграмм</a:t>
            </a:r>
            <a:r>
              <a:rPr lang="ru-RU" b="0" i="0" dirty="0">
                <a:solidFill>
                  <a:srgbClr val="0F1B46"/>
                </a:solidFill>
                <a:effectLst/>
                <a:latin typeface="IBM Plex Sans"/>
              </a:rPr>
              <a:t>, когда получатель проверяет целостность пакетов лишь при получении сообщения. Пакеты данных в данном случае имеют обозначения границ.</a:t>
            </a:r>
          </a:p>
        </p:txBody>
      </p:sp>
      <p:sp>
        <p:nvSpPr>
          <p:cNvPr id="5" name="TextBox 4">
            <a:extLst>
              <a:ext uri="{FF2B5EF4-FFF2-40B4-BE49-F238E27FC236}">
                <a16:creationId xmlns:a16="http://schemas.microsoft.com/office/drawing/2014/main" id="{99D4B5DF-24F4-428B-B841-C31B594670C8}"/>
              </a:ext>
            </a:extLst>
          </p:cNvPr>
          <p:cNvSpPr txBox="1"/>
          <p:nvPr/>
        </p:nvSpPr>
        <p:spPr>
          <a:xfrm>
            <a:off x="517123" y="4724804"/>
            <a:ext cx="10730883" cy="1477328"/>
          </a:xfrm>
          <a:prstGeom prst="rect">
            <a:avLst/>
          </a:prstGeom>
          <a:noFill/>
        </p:spPr>
        <p:txBody>
          <a:bodyPr wrap="square">
            <a:spAutoFit/>
          </a:bodyPr>
          <a:lstStyle/>
          <a:p>
            <a:r>
              <a:rPr lang="ru-RU" b="0" i="0" dirty="0">
                <a:solidFill>
                  <a:srgbClr val="0F1B46"/>
                </a:solidFill>
                <a:effectLst/>
                <a:latin typeface="IBM Plex Sans"/>
              </a:rPr>
              <a:t>Если подытожить, в чём разница между TCP и UDP, то можно сказать следующее: протокол TCP нужен в ситуациях, когда требуется точная передача данных с подтверждением получения. Это может быть отправка медиаконтента, обычная интернет-переписка. UDP подойдёт для передачи голосовых сообщений и потокового видео с IP-камер, например. Каждый протокол полезен и нужен, они отлично дополняют друг друга. Просто TCP больше подходит для длительных сеансов, а UDP — для коротких сеансов.</a:t>
            </a:r>
            <a:endParaRPr lang="en-US" dirty="0"/>
          </a:p>
        </p:txBody>
      </p:sp>
    </p:spTree>
    <p:extLst>
      <p:ext uri="{BB962C8B-B14F-4D97-AF65-F5344CB8AC3E}">
        <p14:creationId xmlns:p14="http://schemas.microsoft.com/office/powerpoint/2010/main" val="83379250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Таблица сравнения TCP и UDP">
            <a:extLst>
              <a:ext uri="{FF2B5EF4-FFF2-40B4-BE49-F238E27FC236}">
                <a16:creationId xmlns:a16="http://schemas.microsoft.com/office/drawing/2014/main" id="{6C419E07-A3F9-4536-B781-392362A7C6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0663" y="90005"/>
            <a:ext cx="7028848" cy="667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92233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1F7C6B-B75F-4E86-9672-914A75E69FA7}"/>
              </a:ext>
            </a:extLst>
          </p:cNvPr>
          <p:cNvSpPr txBox="1"/>
          <p:nvPr/>
        </p:nvSpPr>
        <p:spPr>
          <a:xfrm>
            <a:off x="399495" y="452761"/>
            <a:ext cx="11319029" cy="2585323"/>
          </a:xfrm>
          <a:prstGeom prst="rect">
            <a:avLst/>
          </a:prstGeom>
          <a:noFill/>
        </p:spPr>
        <p:txBody>
          <a:bodyPr wrap="square">
            <a:spAutoFit/>
          </a:bodyPr>
          <a:lstStyle/>
          <a:p>
            <a:pPr algn="l"/>
            <a:r>
              <a:rPr lang="ru-RU" b="1" i="0" dirty="0">
                <a:solidFill>
                  <a:srgbClr val="444444"/>
                </a:solidFill>
                <a:effectLst/>
                <a:latin typeface="Open Sans"/>
              </a:rPr>
              <a:t>По своей сути TCP </a:t>
            </a:r>
            <a:r>
              <a:rPr lang="ru-RU" b="0" i="0" dirty="0">
                <a:solidFill>
                  <a:srgbClr val="444444"/>
                </a:solidFill>
                <a:effectLst/>
                <a:latin typeface="Open Sans"/>
              </a:rPr>
              <a:t>является протоколом транспортного уровня. </a:t>
            </a:r>
          </a:p>
          <a:p>
            <a:pPr algn="l"/>
            <a:r>
              <a:rPr lang="ru-RU" b="0" i="0" dirty="0">
                <a:solidFill>
                  <a:srgbClr val="444444"/>
                </a:solidFill>
                <a:effectLst/>
                <a:latin typeface="Open Sans"/>
              </a:rPr>
              <a:t>Он позволяет осуществить соединение одного сокета (IP-адрес + порт) хоста источника с сокетом хоста назначения. Заголовок IP будет содержать информацию, связанную с IP-адресами, а заголовок TCP — информацию о порте.</a:t>
            </a:r>
          </a:p>
          <a:p>
            <a:pPr algn="l"/>
            <a:r>
              <a:rPr lang="ru-RU" b="0" i="0" dirty="0">
                <a:solidFill>
                  <a:srgbClr val="444444"/>
                </a:solidFill>
                <a:effectLst/>
                <a:latin typeface="Open Sans"/>
              </a:rPr>
              <a:t>Заголовок TCP</a:t>
            </a:r>
          </a:p>
          <a:p>
            <a:pPr algn="l"/>
            <a:r>
              <a:rPr lang="ru-RU" b="0" i="0" dirty="0">
                <a:solidFill>
                  <a:srgbClr val="444444"/>
                </a:solidFill>
                <a:effectLst/>
                <a:latin typeface="Open Sans"/>
              </a:rPr>
              <a:t>Заголовки TCP перемещаются по сети для установления, поддержки и завершения TCP-соединений, а также передачи данных.</a:t>
            </a:r>
          </a:p>
          <a:p>
            <a:br>
              <a:rPr lang="ru-RU" dirty="0"/>
            </a:br>
            <a:endParaRPr lang="en-US" dirty="0"/>
          </a:p>
        </p:txBody>
      </p:sp>
      <p:pic>
        <p:nvPicPr>
          <p:cNvPr id="1026" name="Picture 2" descr="Заголовок TCP">
            <a:extLst>
              <a:ext uri="{FF2B5EF4-FFF2-40B4-BE49-F238E27FC236}">
                <a16:creationId xmlns:a16="http://schemas.microsoft.com/office/drawing/2014/main" id="{18072D73-1BA0-4A18-9E93-1EADD884A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3681" y="2678683"/>
            <a:ext cx="10780147" cy="34291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242357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DB9805F-F7C1-45CE-9F53-C495A7FA28FD}"/>
              </a:ext>
            </a:extLst>
          </p:cNvPr>
          <p:cNvSpPr txBox="1"/>
          <p:nvPr/>
        </p:nvSpPr>
        <p:spPr>
          <a:xfrm>
            <a:off x="674703" y="320191"/>
            <a:ext cx="11638626" cy="5632311"/>
          </a:xfrm>
          <a:prstGeom prst="rect">
            <a:avLst/>
          </a:prstGeom>
          <a:noFill/>
        </p:spPr>
        <p:txBody>
          <a:bodyPr wrap="square">
            <a:spAutoFit/>
          </a:bodyPr>
          <a:lstStyle/>
          <a:p>
            <a:pPr algn="l"/>
            <a:r>
              <a:rPr lang="ru-RU" b="0" i="0" dirty="0">
                <a:solidFill>
                  <a:srgbClr val="444444"/>
                </a:solidFill>
                <a:effectLst/>
                <a:latin typeface="Open Sans"/>
              </a:rPr>
              <a:t>В заголовке TCP содержаться следующие поля:</a:t>
            </a:r>
          </a:p>
          <a:p>
            <a:pPr algn="l">
              <a:buFont typeface="Arial" panose="020B0604020202020204" pitchFamily="34" charset="0"/>
              <a:buChar char="•"/>
            </a:pPr>
            <a:r>
              <a:rPr lang="ru-RU" b="1" i="0" dirty="0" err="1">
                <a:solidFill>
                  <a:srgbClr val="444444"/>
                </a:solidFill>
                <a:effectLst/>
                <a:latin typeface="Open Sans"/>
              </a:rPr>
              <a:t>Source</a:t>
            </a:r>
            <a:r>
              <a:rPr lang="ru-RU" b="1" i="0" dirty="0">
                <a:solidFill>
                  <a:srgbClr val="444444"/>
                </a:solidFill>
                <a:effectLst/>
                <a:latin typeface="Open Sans"/>
              </a:rPr>
              <a:t> </a:t>
            </a:r>
            <a:r>
              <a:rPr lang="ru-RU" b="1" i="0" dirty="0" err="1">
                <a:solidFill>
                  <a:srgbClr val="444444"/>
                </a:solidFill>
                <a:effectLst/>
                <a:latin typeface="Open Sans"/>
              </a:rPr>
              <a:t>port</a:t>
            </a:r>
            <a:r>
              <a:rPr lang="ru-RU" b="1" i="0" dirty="0">
                <a:solidFill>
                  <a:srgbClr val="444444"/>
                </a:solidFill>
                <a:effectLst/>
                <a:latin typeface="Open Sans"/>
              </a:rPr>
              <a:t> (</a:t>
            </a:r>
            <a:r>
              <a:rPr lang="ru-RU" b="0" i="0" dirty="0">
                <a:solidFill>
                  <a:srgbClr val="444444"/>
                </a:solidFill>
                <a:effectLst/>
                <a:latin typeface="Open Sans"/>
              </a:rPr>
              <a:t>16 бит): порт источника. Порт хоста, от которого исходит запрос.</a:t>
            </a:r>
          </a:p>
          <a:p>
            <a:pPr algn="l">
              <a:buFont typeface="Arial" panose="020B0604020202020204" pitchFamily="34" charset="0"/>
              <a:buChar char="•"/>
            </a:pPr>
            <a:r>
              <a:rPr lang="ru-RU" b="1" i="0" dirty="0" err="1">
                <a:solidFill>
                  <a:srgbClr val="444444"/>
                </a:solidFill>
                <a:effectLst/>
                <a:latin typeface="Open Sans"/>
              </a:rPr>
              <a:t>Destination</a:t>
            </a:r>
            <a:r>
              <a:rPr lang="ru-RU" b="1" i="0" dirty="0">
                <a:solidFill>
                  <a:srgbClr val="444444"/>
                </a:solidFill>
                <a:effectLst/>
                <a:latin typeface="Open Sans"/>
              </a:rPr>
              <a:t> </a:t>
            </a:r>
            <a:r>
              <a:rPr lang="ru-RU" b="1" i="0" dirty="0" err="1">
                <a:solidFill>
                  <a:srgbClr val="444444"/>
                </a:solidFill>
                <a:effectLst/>
                <a:latin typeface="Open Sans"/>
              </a:rPr>
              <a:t>port</a:t>
            </a:r>
            <a:r>
              <a:rPr lang="ru-RU" b="1" i="0" dirty="0">
                <a:solidFill>
                  <a:srgbClr val="444444"/>
                </a:solidFill>
                <a:effectLst/>
                <a:latin typeface="Open Sans"/>
              </a:rPr>
              <a:t> </a:t>
            </a:r>
            <a:r>
              <a:rPr lang="ru-RU" b="0" i="0" dirty="0">
                <a:solidFill>
                  <a:srgbClr val="444444"/>
                </a:solidFill>
                <a:effectLst/>
                <a:latin typeface="Open Sans"/>
              </a:rPr>
              <a:t>(16 бит): порт назначения. Порт хоста, куда направляется запрос.</a:t>
            </a:r>
          </a:p>
          <a:p>
            <a:pPr algn="l">
              <a:buFont typeface="Arial" panose="020B0604020202020204" pitchFamily="34" charset="0"/>
              <a:buChar char="•"/>
            </a:pPr>
            <a:r>
              <a:rPr lang="ru-RU" b="1" i="0" dirty="0" err="1">
                <a:solidFill>
                  <a:srgbClr val="444444"/>
                </a:solidFill>
                <a:effectLst/>
                <a:latin typeface="Open Sans"/>
              </a:rPr>
              <a:t>Sequence</a:t>
            </a:r>
            <a:r>
              <a:rPr lang="ru-RU" b="1" i="0" dirty="0">
                <a:solidFill>
                  <a:srgbClr val="444444"/>
                </a:solidFill>
                <a:effectLst/>
                <a:latin typeface="Open Sans"/>
              </a:rPr>
              <a:t> </a:t>
            </a:r>
            <a:r>
              <a:rPr lang="ru-RU" b="1" i="0" dirty="0" err="1">
                <a:solidFill>
                  <a:srgbClr val="444444"/>
                </a:solidFill>
                <a:effectLst/>
                <a:latin typeface="Open Sans"/>
              </a:rPr>
              <a:t>number</a:t>
            </a:r>
            <a:r>
              <a:rPr lang="ru-RU" b="0" i="0" dirty="0">
                <a:solidFill>
                  <a:srgbClr val="444444"/>
                </a:solidFill>
                <a:effectLst/>
                <a:latin typeface="Open Sans"/>
              </a:rPr>
              <a:t>, SYN (32 бита): порядковый номер. Позволяет контролировать порядок сообщений. </a:t>
            </a:r>
          </a:p>
          <a:p>
            <a:pPr algn="l"/>
            <a:endParaRPr lang="ru-RU" dirty="0">
              <a:solidFill>
                <a:srgbClr val="444444"/>
              </a:solidFill>
              <a:latin typeface="Open Sans"/>
            </a:endParaRPr>
          </a:p>
          <a:p>
            <a:pPr algn="l"/>
            <a:r>
              <a:rPr lang="ru-RU" b="0" i="0" dirty="0">
                <a:solidFill>
                  <a:srgbClr val="444444"/>
                </a:solidFill>
                <a:effectLst/>
                <a:latin typeface="Open Sans"/>
              </a:rPr>
              <a:t>Каждая конечная точка (как порт источника, так и порт назначения) будут поддерживать свой уникальный порядковый номер для отправляемых сообщений. При установлении соединения TCP (используется сообщение с установленным флагом SYN) в качестве изначального порядкового номера будет сгенерировано случайное число. Вернее, не совсем случайно сгенерировано, а будет содержать конкретное 32-битное число, то есть в пределах от 0 до 4294967295 (или 2 в 32-ой степени возможных вариантов), которое будет соответствовать времени, прошедшему после перегрузки системы отправителя (из расчета +1 за каждые прошедшие 4 микросекунды), а также увеличенное на 64000 каждый раз при установлении нового соединения. Так как сгенерированное число будет уникальным для периода времени почти в пять часов (если при этом никакие соединения не устанавливались), то такой подход к выбору порядкового номера позволяет избежать случайных коллизий при передаче данных, когда для нескольких пакетов из разных соединений будет совпадать порядковый номер. В дальнейшем, при отправке следующих пакетов, значение порядкового номера будет увеличиваться на +1 для всех пакетов с флагом SYN, пакетов с флагом FIN и для каждого байта отправленных данных. Это позволяет принимающей системе обрабатывать пакеты в правильной последовательности, как они были сформированы при отправлении, а не в том порядке, как они были получены.</a:t>
            </a:r>
          </a:p>
        </p:txBody>
      </p:sp>
    </p:spTree>
    <p:extLst>
      <p:ext uri="{BB962C8B-B14F-4D97-AF65-F5344CB8AC3E}">
        <p14:creationId xmlns:p14="http://schemas.microsoft.com/office/powerpoint/2010/main" val="3265988587"/>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A818FE1-267D-44CF-8434-DCE0331656BE}"/>
              </a:ext>
            </a:extLst>
          </p:cNvPr>
          <p:cNvSpPr txBox="1"/>
          <p:nvPr/>
        </p:nvSpPr>
        <p:spPr>
          <a:xfrm>
            <a:off x="266330" y="186431"/>
            <a:ext cx="11683014" cy="1477328"/>
          </a:xfrm>
          <a:prstGeom prst="rect">
            <a:avLst/>
          </a:prstGeom>
          <a:noFill/>
        </p:spPr>
        <p:txBody>
          <a:bodyPr wrap="square">
            <a:spAutoFit/>
          </a:bodyPr>
          <a:lstStyle/>
          <a:p>
            <a:r>
              <a:rPr lang="ru-RU" b="0" i="0" dirty="0" err="1">
                <a:solidFill>
                  <a:srgbClr val="444444"/>
                </a:solidFill>
                <a:effectLst/>
                <a:latin typeface="Open Sans"/>
              </a:rPr>
              <a:t>Acknowledgement</a:t>
            </a:r>
            <a:r>
              <a:rPr lang="ru-RU" b="0" i="0" dirty="0">
                <a:solidFill>
                  <a:srgbClr val="444444"/>
                </a:solidFill>
                <a:effectLst/>
                <a:latin typeface="Open Sans"/>
              </a:rPr>
              <a:t> </a:t>
            </a:r>
            <a:r>
              <a:rPr lang="ru-RU" b="0" i="0" dirty="0" err="1">
                <a:solidFill>
                  <a:srgbClr val="444444"/>
                </a:solidFill>
                <a:effectLst/>
                <a:latin typeface="Open Sans"/>
              </a:rPr>
              <a:t>number</a:t>
            </a:r>
            <a:r>
              <a:rPr lang="ru-RU" b="0" i="0" dirty="0">
                <a:solidFill>
                  <a:srgbClr val="444444"/>
                </a:solidFill>
                <a:effectLst/>
                <a:latin typeface="Open Sans"/>
              </a:rPr>
              <a:t>, ACK (32 бита): номер подтверждения. Когда сообщение содержит флаг ACK, то значение в номере подтверждения должно соответствовать следующему порядковому номеру (SYN), которое отправитель сообщения с флагом ACK ожидает получить от передающей системы. Таким образом, отправка одного номера подтверждения способна подтвердить получение всех байтов с информацией, полученных до этого. </a:t>
            </a:r>
            <a:endParaRPr lang="en-US" dirty="0"/>
          </a:p>
        </p:txBody>
      </p:sp>
      <p:sp>
        <p:nvSpPr>
          <p:cNvPr id="6" name="TextBox 5">
            <a:extLst>
              <a:ext uri="{FF2B5EF4-FFF2-40B4-BE49-F238E27FC236}">
                <a16:creationId xmlns:a16="http://schemas.microsoft.com/office/drawing/2014/main" id="{18F9E5B6-4BE6-49EA-A1B1-C282F68352CC}"/>
              </a:ext>
            </a:extLst>
          </p:cNvPr>
          <p:cNvSpPr txBox="1"/>
          <p:nvPr/>
        </p:nvSpPr>
        <p:spPr>
          <a:xfrm>
            <a:off x="266329" y="1748900"/>
            <a:ext cx="11390051" cy="1754326"/>
          </a:xfrm>
          <a:prstGeom prst="rect">
            <a:avLst/>
          </a:prstGeom>
          <a:noFill/>
        </p:spPr>
        <p:txBody>
          <a:bodyPr wrap="square">
            <a:spAutoFit/>
          </a:bodyPr>
          <a:lstStyle/>
          <a:p>
            <a:pPr algn="l">
              <a:buFont typeface="Arial" panose="020B0604020202020204" pitchFamily="34" charset="0"/>
              <a:buChar char="•"/>
            </a:pPr>
            <a:r>
              <a:rPr lang="ru-RU" b="0" i="0" dirty="0" err="1">
                <a:solidFill>
                  <a:srgbClr val="444444"/>
                </a:solidFill>
                <a:effectLst/>
                <a:latin typeface="Open Sans"/>
              </a:rPr>
              <a:t>Data</a:t>
            </a:r>
            <a:r>
              <a:rPr lang="ru-RU" b="0" i="0" dirty="0">
                <a:solidFill>
                  <a:srgbClr val="444444"/>
                </a:solidFill>
                <a:effectLst/>
                <a:latin typeface="Open Sans"/>
              </a:rPr>
              <a:t> </a:t>
            </a:r>
            <a:r>
              <a:rPr lang="ru-RU" b="0" i="0" dirty="0" err="1">
                <a:solidFill>
                  <a:srgbClr val="444444"/>
                </a:solidFill>
                <a:effectLst/>
                <a:latin typeface="Open Sans"/>
              </a:rPr>
              <a:t>offset</a:t>
            </a:r>
            <a:r>
              <a:rPr lang="ru-RU" b="0" i="0" dirty="0">
                <a:solidFill>
                  <a:srgbClr val="444444"/>
                </a:solidFill>
                <a:effectLst/>
                <a:latin typeface="Open Sans"/>
              </a:rPr>
              <a:t> (4 бита): длина заголовка, известная также как смещение данных. Содержит размер заголовка TCP, измеряемый в 32-битных сегментах. Минимальный размер заголовка TCP составляет пять 32-битных сегментов (всего 20 байт), а максимальный — пятнадцать 32-битных сегмента (или 60 байт).</a:t>
            </a:r>
          </a:p>
          <a:p>
            <a:pPr algn="l">
              <a:buFont typeface="Arial" panose="020B0604020202020204" pitchFamily="34" charset="0"/>
              <a:buChar char="•"/>
            </a:pPr>
            <a:r>
              <a:rPr lang="ru-RU" b="0" i="0" dirty="0" err="1">
                <a:solidFill>
                  <a:srgbClr val="444444"/>
                </a:solidFill>
                <a:effectLst/>
                <a:latin typeface="Open Sans"/>
              </a:rPr>
              <a:t>Reserved</a:t>
            </a:r>
            <a:r>
              <a:rPr lang="ru-RU" b="0" i="0" dirty="0">
                <a:solidFill>
                  <a:srgbClr val="444444"/>
                </a:solidFill>
                <a:effectLst/>
                <a:latin typeface="Open Sans"/>
              </a:rPr>
              <a:t> (3 бита): зарезервировано. Зарезервировано для будущего использования, пока просто забивается нулями. На данный момент осталось три незадействованных бита, в то время как еще три ранее зарезервированных бита уже используются как флаги.</a:t>
            </a:r>
          </a:p>
        </p:txBody>
      </p:sp>
    </p:spTree>
    <p:extLst>
      <p:ext uri="{BB962C8B-B14F-4D97-AF65-F5344CB8AC3E}">
        <p14:creationId xmlns:p14="http://schemas.microsoft.com/office/powerpoint/2010/main" val="101522193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40DF78-D43C-4342-B326-E70CF372A65E}"/>
              </a:ext>
            </a:extLst>
          </p:cNvPr>
          <p:cNvSpPr txBox="1"/>
          <p:nvPr/>
        </p:nvSpPr>
        <p:spPr>
          <a:xfrm>
            <a:off x="266330" y="474695"/>
            <a:ext cx="11336784" cy="5355312"/>
          </a:xfrm>
          <a:prstGeom prst="rect">
            <a:avLst/>
          </a:prstGeom>
          <a:noFill/>
        </p:spPr>
        <p:txBody>
          <a:bodyPr wrap="square">
            <a:spAutoFit/>
          </a:bodyPr>
          <a:lstStyle/>
          <a:p>
            <a:pPr algn="l">
              <a:buFont typeface="Arial" panose="020B0604020202020204" pitchFamily="34" charset="0"/>
              <a:buChar char="•"/>
            </a:pPr>
            <a:r>
              <a:rPr lang="ru-RU" b="0" i="0" dirty="0" err="1">
                <a:solidFill>
                  <a:srgbClr val="444444"/>
                </a:solidFill>
                <a:effectLst/>
                <a:latin typeface="Open Sans"/>
              </a:rPr>
              <a:t>Flags</a:t>
            </a:r>
            <a:r>
              <a:rPr lang="ru-RU" b="0" i="0" dirty="0">
                <a:solidFill>
                  <a:srgbClr val="444444"/>
                </a:solidFill>
                <a:effectLst/>
                <a:latin typeface="Open Sans"/>
              </a:rPr>
              <a:t>, 9 бит (флаги или управляющие биты):NS (1 бит): одноразовая сумма (</a:t>
            </a:r>
            <a:r>
              <a:rPr lang="ru-RU" b="0" i="0" dirty="0" err="1">
                <a:solidFill>
                  <a:srgbClr val="444444"/>
                </a:solidFill>
                <a:effectLst/>
                <a:latin typeface="Open Sans"/>
              </a:rPr>
              <a:t>Nonce</a:t>
            </a:r>
            <a:r>
              <a:rPr lang="ru-RU" b="0" i="0" dirty="0">
                <a:solidFill>
                  <a:srgbClr val="444444"/>
                </a:solidFill>
                <a:effectLst/>
                <a:latin typeface="Open Sans"/>
              </a:rPr>
              <a:t> </a:t>
            </a:r>
            <a:r>
              <a:rPr lang="ru-RU" b="0" i="0" dirty="0" err="1">
                <a:solidFill>
                  <a:srgbClr val="444444"/>
                </a:solidFill>
                <a:effectLst/>
                <a:latin typeface="Open Sans"/>
              </a:rPr>
              <a:t>Sum</a:t>
            </a:r>
            <a:r>
              <a:rPr lang="ru-RU" b="0" i="0" dirty="0">
                <a:solidFill>
                  <a:srgbClr val="444444"/>
                </a:solidFill>
                <a:effectLst/>
                <a:latin typeface="Open Sans"/>
              </a:rPr>
              <a:t>). Используется для улучшения работы механизма явного уведомления о перегрузке (</a:t>
            </a:r>
            <a:r>
              <a:rPr lang="ru-RU" b="0" i="0" dirty="0" err="1">
                <a:solidFill>
                  <a:srgbClr val="444444"/>
                </a:solidFill>
                <a:effectLst/>
                <a:latin typeface="Open Sans"/>
              </a:rPr>
              <a:t>Explicit</a:t>
            </a:r>
            <a:r>
              <a:rPr lang="ru-RU" b="0" i="0" dirty="0">
                <a:solidFill>
                  <a:srgbClr val="444444"/>
                </a:solidFill>
                <a:effectLst/>
                <a:latin typeface="Open Sans"/>
              </a:rPr>
              <a:t> </a:t>
            </a:r>
            <a:r>
              <a:rPr lang="ru-RU" b="0" i="0" dirty="0" err="1">
                <a:solidFill>
                  <a:srgbClr val="444444"/>
                </a:solidFill>
                <a:effectLst/>
                <a:latin typeface="Open Sans"/>
              </a:rPr>
              <a:t>Congestion</a:t>
            </a:r>
            <a:r>
              <a:rPr lang="ru-RU" b="0" i="0" dirty="0">
                <a:solidFill>
                  <a:srgbClr val="444444"/>
                </a:solidFill>
                <a:effectLst/>
                <a:latin typeface="Open Sans"/>
              </a:rPr>
              <a:t> </a:t>
            </a:r>
            <a:r>
              <a:rPr lang="ru-RU" b="0" i="0" dirty="0" err="1">
                <a:solidFill>
                  <a:srgbClr val="444444"/>
                </a:solidFill>
                <a:effectLst/>
                <a:latin typeface="Open Sans"/>
              </a:rPr>
              <a:t>Notification</a:t>
            </a:r>
            <a:r>
              <a:rPr lang="ru-RU" b="0" i="0" dirty="0">
                <a:solidFill>
                  <a:srgbClr val="444444"/>
                </a:solidFill>
                <a:effectLst/>
                <a:latin typeface="Open Sans"/>
              </a:rPr>
              <a:t>, ECN).</a:t>
            </a:r>
          </a:p>
          <a:p>
            <a:pPr algn="l">
              <a:buFont typeface="Arial" panose="020B0604020202020204" pitchFamily="34" charset="0"/>
              <a:buChar char="•"/>
            </a:pPr>
            <a:r>
              <a:rPr lang="ru-RU" b="0" i="0" dirty="0">
                <a:solidFill>
                  <a:srgbClr val="444444"/>
                </a:solidFill>
                <a:effectLst/>
                <a:latin typeface="Open Sans"/>
              </a:rPr>
              <a:t>CWR (1 бит): окно перегрузки уменьшено (</a:t>
            </a:r>
            <a:r>
              <a:rPr lang="ru-RU" b="0" i="0" dirty="0" err="1">
                <a:solidFill>
                  <a:srgbClr val="444444"/>
                </a:solidFill>
                <a:effectLst/>
                <a:latin typeface="Open Sans"/>
              </a:rPr>
              <a:t>Congestion</a:t>
            </a:r>
            <a:r>
              <a:rPr lang="ru-RU" b="0" i="0" dirty="0">
                <a:solidFill>
                  <a:srgbClr val="444444"/>
                </a:solidFill>
                <a:effectLst/>
                <a:latin typeface="Open Sans"/>
              </a:rPr>
              <a:t> </a:t>
            </a:r>
            <a:r>
              <a:rPr lang="ru-RU" b="0" i="0" dirty="0" err="1">
                <a:solidFill>
                  <a:srgbClr val="444444"/>
                </a:solidFill>
                <a:effectLst/>
                <a:latin typeface="Open Sans"/>
              </a:rPr>
              <a:t>Window</a:t>
            </a:r>
            <a:r>
              <a:rPr lang="ru-RU" b="0" i="0" dirty="0">
                <a:solidFill>
                  <a:srgbClr val="444444"/>
                </a:solidFill>
                <a:effectLst/>
                <a:latin typeface="Open Sans"/>
              </a:rPr>
              <a:t> </a:t>
            </a:r>
            <a:r>
              <a:rPr lang="ru-RU" b="0" i="0" dirty="0" err="1">
                <a:solidFill>
                  <a:srgbClr val="444444"/>
                </a:solidFill>
                <a:effectLst/>
                <a:latin typeface="Open Sans"/>
              </a:rPr>
              <a:t>Reduced</a:t>
            </a:r>
            <a:r>
              <a:rPr lang="ru-RU" b="0" i="0" dirty="0">
                <a:solidFill>
                  <a:srgbClr val="444444"/>
                </a:solidFill>
                <a:effectLst/>
                <a:latin typeface="Open Sans"/>
              </a:rPr>
              <a:t>). Данный флаг устанавливается отправителем, чтобы показать, что TCP-фрагмент был получен с установленным полем ECE. Таким образом, это является подтверждением получения пакета данных с флажком ECE от хоста получателя и включением отправителем механизма уменьшения перегрузки (</a:t>
            </a:r>
            <a:r>
              <a:rPr lang="ru-RU" b="0" i="0" dirty="0" err="1">
                <a:solidFill>
                  <a:srgbClr val="444444"/>
                </a:solidFill>
                <a:effectLst/>
                <a:latin typeface="Open Sans"/>
              </a:rPr>
              <a:t>Congestion</a:t>
            </a:r>
            <a:r>
              <a:rPr lang="ru-RU" b="0" i="0" dirty="0">
                <a:solidFill>
                  <a:srgbClr val="444444"/>
                </a:solidFill>
                <a:effectLst/>
                <a:latin typeface="Open Sans"/>
              </a:rPr>
              <a:t> </a:t>
            </a:r>
            <a:r>
              <a:rPr lang="ru-RU" b="0" i="0" dirty="0" err="1">
                <a:solidFill>
                  <a:srgbClr val="444444"/>
                </a:solidFill>
                <a:effectLst/>
                <a:latin typeface="Open Sans"/>
              </a:rPr>
              <a:t>Control</a:t>
            </a:r>
            <a:r>
              <a:rPr lang="ru-RU" b="0" i="0" dirty="0">
                <a:solidFill>
                  <a:srgbClr val="444444"/>
                </a:solidFill>
                <a:effectLst/>
                <a:latin typeface="Open Sans"/>
              </a:rPr>
              <a:t>), позволяющим оптимизировать отправку пакетов с данными в перегруженных сетях, избежав серьезных задержек из-за отбрасывания пакетов.</a:t>
            </a:r>
          </a:p>
          <a:p>
            <a:pPr algn="l">
              <a:buFont typeface="Arial" panose="020B0604020202020204" pitchFamily="34" charset="0"/>
              <a:buChar char="•"/>
            </a:pPr>
            <a:r>
              <a:rPr lang="ru-RU" b="0" i="0" dirty="0">
                <a:solidFill>
                  <a:srgbClr val="444444"/>
                </a:solidFill>
                <a:effectLst/>
                <a:latin typeface="Open Sans"/>
              </a:rPr>
              <a:t>ECE (1 бит): ECN-Эхо (ECN-</a:t>
            </a:r>
            <a:r>
              <a:rPr lang="ru-RU" b="0" i="0" dirty="0" err="1">
                <a:solidFill>
                  <a:srgbClr val="444444"/>
                </a:solidFill>
                <a:effectLst/>
                <a:latin typeface="Open Sans"/>
              </a:rPr>
              <a:t>Echo</a:t>
            </a:r>
            <a:r>
              <a:rPr lang="ru-RU" b="0" i="0" dirty="0">
                <a:solidFill>
                  <a:srgbClr val="444444"/>
                </a:solidFill>
                <a:effectLst/>
                <a:latin typeface="Open Sans"/>
              </a:rPr>
              <a:t>). Выполняет двойственную роль, в зависимости от значения флага SYN. При установленном флаге SYN это указывает на то, что отправитель пакета поддерживает ECN. Если флаг SYN сброшен (SYN=0), а ECE установлен, то это означает, что пакет с установленным флагом CE (</a:t>
            </a:r>
            <a:r>
              <a:rPr lang="ru-RU" b="0" i="0" dirty="0" err="1">
                <a:solidFill>
                  <a:srgbClr val="444444"/>
                </a:solidFill>
                <a:effectLst/>
                <a:latin typeface="Open Sans"/>
              </a:rPr>
              <a:t>Congestion</a:t>
            </a:r>
            <a:r>
              <a:rPr lang="ru-RU" b="0" i="0" dirty="0">
                <a:solidFill>
                  <a:srgbClr val="444444"/>
                </a:solidFill>
                <a:effectLst/>
                <a:latin typeface="Open Sans"/>
              </a:rPr>
              <a:t> </a:t>
            </a:r>
            <a:r>
              <a:rPr lang="ru-RU" b="0" i="0" dirty="0" err="1">
                <a:solidFill>
                  <a:srgbClr val="444444"/>
                </a:solidFill>
                <a:effectLst/>
                <a:latin typeface="Open Sans"/>
              </a:rPr>
              <a:t>Experienced</a:t>
            </a:r>
            <a:r>
              <a:rPr lang="ru-RU" b="0" i="0" dirty="0">
                <a:solidFill>
                  <a:srgbClr val="444444"/>
                </a:solidFill>
                <a:effectLst/>
                <a:latin typeface="Open Sans"/>
              </a:rPr>
              <a:t>, Подтвержденная перегрузка) был получен в заголовке IP во время обычной передачи. Таким образом, это служит индикатором перегрузки сети (или предстоящей перегрузки) для TCP-отправителя.</a:t>
            </a:r>
          </a:p>
          <a:p>
            <a:pPr algn="l">
              <a:buFont typeface="Arial" panose="020B0604020202020204" pitchFamily="34" charset="0"/>
              <a:buChar char="•"/>
            </a:pPr>
            <a:r>
              <a:rPr lang="ru-RU" b="0" i="0" dirty="0">
                <a:solidFill>
                  <a:srgbClr val="444444"/>
                </a:solidFill>
                <a:effectLst/>
                <a:latin typeface="Open Sans"/>
              </a:rPr>
              <a:t>URG (1 бит). Устанавливается, если необходимо передать ссылку на поле указателя срочности (</a:t>
            </a:r>
            <a:r>
              <a:rPr lang="ru-RU" b="0" i="0" dirty="0" err="1">
                <a:solidFill>
                  <a:srgbClr val="444444"/>
                </a:solidFill>
                <a:effectLst/>
                <a:latin typeface="Open Sans"/>
              </a:rPr>
              <a:t>Urgent</a:t>
            </a:r>
            <a:r>
              <a:rPr lang="ru-RU" b="0" i="0" dirty="0">
                <a:solidFill>
                  <a:srgbClr val="444444"/>
                </a:solidFill>
                <a:effectLst/>
                <a:latin typeface="Open Sans"/>
              </a:rPr>
              <a:t> </a:t>
            </a:r>
            <a:r>
              <a:rPr lang="ru-RU" b="0" i="0" dirty="0" err="1">
                <a:solidFill>
                  <a:srgbClr val="444444"/>
                </a:solidFill>
                <a:effectLst/>
                <a:latin typeface="Open Sans"/>
              </a:rPr>
              <a:t>pointer</a:t>
            </a:r>
            <a:r>
              <a:rPr lang="ru-RU" b="0" i="0" dirty="0">
                <a:solidFill>
                  <a:srgbClr val="444444"/>
                </a:solidFill>
                <a:effectLst/>
                <a:latin typeface="Open Sans"/>
              </a:rPr>
              <a:t>).</a:t>
            </a:r>
          </a:p>
          <a:p>
            <a:pPr algn="l">
              <a:buFont typeface="Arial" panose="020B0604020202020204" pitchFamily="34" charset="0"/>
              <a:buChar char="•"/>
            </a:pPr>
            <a:r>
              <a:rPr lang="ru-RU" b="0" i="0" dirty="0">
                <a:solidFill>
                  <a:srgbClr val="444444"/>
                </a:solidFill>
                <a:effectLst/>
                <a:latin typeface="Open Sans"/>
              </a:rPr>
              <a:t>ACK (1 бит). Устанавливается, когда пакет содержит значение номера подтверждения в поле подтверждения. Все пакеты после стартового пакета SYN будут иметь установленный флаг ACK.</a:t>
            </a:r>
          </a:p>
        </p:txBody>
      </p:sp>
    </p:spTree>
    <p:extLst>
      <p:ext uri="{BB962C8B-B14F-4D97-AF65-F5344CB8AC3E}">
        <p14:creationId xmlns:p14="http://schemas.microsoft.com/office/powerpoint/2010/main" val="295559429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3E1B98-5147-4B10-895F-DA698F8908D3}"/>
              </a:ext>
            </a:extLst>
          </p:cNvPr>
          <p:cNvSpPr txBox="1"/>
          <p:nvPr/>
        </p:nvSpPr>
        <p:spPr>
          <a:xfrm>
            <a:off x="319595" y="840470"/>
            <a:ext cx="11301275" cy="4247317"/>
          </a:xfrm>
          <a:prstGeom prst="rect">
            <a:avLst/>
          </a:prstGeom>
          <a:noFill/>
        </p:spPr>
        <p:txBody>
          <a:bodyPr wrap="square">
            <a:spAutoFit/>
          </a:bodyPr>
          <a:lstStyle/>
          <a:p>
            <a:pPr algn="l">
              <a:buFont typeface="Arial" panose="020B0604020202020204" pitchFamily="34" charset="0"/>
              <a:buChar char="•"/>
            </a:pPr>
            <a:r>
              <a:rPr lang="ru-RU" b="0" i="0" dirty="0">
                <a:solidFill>
                  <a:srgbClr val="444444"/>
                </a:solidFill>
                <a:effectLst/>
                <a:latin typeface="Open Sans"/>
              </a:rPr>
              <a:t>PSH (1 бит). Делает этот пакет пакетом PUSH (проталкивания). При нормальном потоке передачи данных система получателя не будет подтверждать получение каждого пакета сразу же после его получения. Вместо этого система получателя в течении некоторого времени будет собирать и хранить полученные данные в буфере, пока не передаст их приложению пользователя. Пакет PUSH инструктирует систему получателя немедленно передать все полученные ранее данные из буфера в приложение пользователя и сразу же отправить сообщение с подтверждением.</a:t>
            </a:r>
          </a:p>
          <a:p>
            <a:pPr algn="l">
              <a:buFont typeface="Arial" panose="020B0604020202020204" pitchFamily="34" charset="0"/>
              <a:buChar char="•"/>
            </a:pPr>
            <a:r>
              <a:rPr lang="ru-RU" b="0" i="0" dirty="0">
                <a:solidFill>
                  <a:srgbClr val="444444"/>
                </a:solidFill>
                <a:effectLst/>
                <a:latin typeface="Open Sans"/>
              </a:rPr>
              <a:t>RST (1 бит): сброс данного соединения. Отправкой пакета RST одна из сторон сообщает о немедленном разрыве соединения. При этом соединение обрывается, а буфер очищается. Самые распространенные причины отправки пакета с установленным флагом RST — ответ на пакет, полученный для закрытого сокета; пользователь сам прервал соединение (например, закрыв браузер, не дожидаясь ответа); соединение не было нормально закрыто, но находится в неактивном состоянии некоторое время.</a:t>
            </a:r>
          </a:p>
          <a:p>
            <a:pPr algn="l">
              <a:buFont typeface="Arial" panose="020B0604020202020204" pitchFamily="34" charset="0"/>
              <a:buChar char="•"/>
            </a:pPr>
            <a:r>
              <a:rPr lang="ru-RU" b="0" i="0" dirty="0">
                <a:solidFill>
                  <a:srgbClr val="444444"/>
                </a:solidFill>
                <a:effectLst/>
                <a:latin typeface="Open Sans"/>
              </a:rPr>
              <a:t>SYN (1 бит). Начинает соединение и синхронизирует порядковые номера. Первый пакет, отправленный с каждой стороны, должен в обязательном порядке иметь установленным этот флаг.</a:t>
            </a:r>
          </a:p>
          <a:p>
            <a:pPr algn="l">
              <a:buFont typeface="Arial" panose="020B0604020202020204" pitchFamily="34" charset="0"/>
              <a:buChar char="•"/>
            </a:pPr>
            <a:r>
              <a:rPr lang="ru-RU" b="0" i="0" dirty="0">
                <a:solidFill>
                  <a:srgbClr val="444444"/>
                </a:solidFill>
                <a:effectLst/>
                <a:latin typeface="Open Sans"/>
              </a:rPr>
              <a:t>FIN (1 бит). Одна из конечных точек отправляет пакет с установленным флагом FIN для другой конечной точки, чтобы сообщить, что все пакеты были отправлены, и соединение пора завершить.</a:t>
            </a:r>
          </a:p>
        </p:txBody>
      </p:sp>
    </p:spTree>
    <p:extLst>
      <p:ext uri="{BB962C8B-B14F-4D97-AF65-F5344CB8AC3E}">
        <p14:creationId xmlns:p14="http://schemas.microsoft.com/office/powerpoint/2010/main" val="235931361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2DA428E-AE01-4208-90DA-00483BE32178}"/>
              </a:ext>
            </a:extLst>
          </p:cNvPr>
          <p:cNvSpPr txBox="1"/>
          <p:nvPr/>
        </p:nvSpPr>
        <p:spPr>
          <a:xfrm>
            <a:off x="615888" y="282307"/>
            <a:ext cx="10511161" cy="2862322"/>
          </a:xfrm>
          <a:prstGeom prst="rect">
            <a:avLst/>
          </a:prstGeom>
          <a:noFill/>
        </p:spPr>
        <p:txBody>
          <a:bodyPr wrap="square">
            <a:spAutoFit/>
          </a:bodyPr>
          <a:lstStyle/>
          <a:p>
            <a:pPr algn="l">
              <a:buFont typeface="Arial" panose="020B0604020202020204" pitchFamily="34" charset="0"/>
              <a:buChar char="•"/>
            </a:pPr>
            <a:r>
              <a:rPr lang="ru-RU" b="0" i="0" dirty="0" err="1">
                <a:solidFill>
                  <a:srgbClr val="444444"/>
                </a:solidFill>
                <a:effectLst/>
                <a:latin typeface="Open Sans"/>
              </a:rPr>
              <a:t>Window</a:t>
            </a:r>
            <a:r>
              <a:rPr lang="ru-RU" b="0" i="0" dirty="0">
                <a:solidFill>
                  <a:srgbClr val="444444"/>
                </a:solidFill>
                <a:effectLst/>
                <a:latin typeface="Open Sans"/>
              </a:rPr>
              <a:t> </a:t>
            </a:r>
            <a:r>
              <a:rPr lang="ru-RU" b="0" i="0" dirty="0" err="1">
                <a:solidFill>
                  <a:srgbClr val="444444"/>
                </a:solidFill>
                <a:effectLst/>
                <a:latin typeface="Open Sans"/>
              </a:rPr>
              <a:t>size</a:t>
            </a:r>
            <a:r>
              <a:rPr lang="ru-RU" b="0" i="0" dirty="0">
                <a:solidFill>
                  <a:srgbClr val="444444"/>
                </a:solidFill>
                <a:effectLst/>
                <a:latin typeface="Open Sans"/>
              </a:rPr>
              <a:t> (16 бит): размер окна приема. В нем указывается количество байт данных, считая от последнего номера подтверждения, которые готов принять отправитель данного пакета. Другими словами, отправитель данного пакета в этом поле сообщает другой стороне, каким доступным на данный момент размером буфера приема данных он располагает.</a:t>
            </a:r>
          </a:p>
          <a:p>
            <a:pPr algn="l">
              <a:buFont typeface="Arial" panose="020B0604020202020204" pitchFamily="34" charset="0"/>
              <a:buChar char="•"/>
            </a:pPr>
            <a:r>
              <a:rPr lang="ru-RU" b="0" i="0" dirty="0" err="1">
                <a:solidFill>
                  <a:srgbClr val="444444"/>
                </a:solidFill>
                <a:effectLst/>
                <a:latin typeface="Open Sans"/>
              </a:rPr>
              <a:t>Checksum</a:t>
            </a:r>
            <a:r>
              <a:rPr lang="ru-RU" b="0" i="0" dirty="0">
                <a:solidFill>
                  <a:srgbClr val="444444"/>
                </a:solidFill>
                <a:effectLst/>
                <a:latin typeface="Open Sans"/>
              </a:rPr>
              <a:t> (16 бит): контрольная сумма. Используется для проверки на наличие ошибок при передаче и/или приеме отправленного пакета. Рассчитывается с учетом заголовка (все поля заголовка, кроме самой контрольной суммы), полезной нагрузки (неслужебные данные с полезной информацией, которая, собственно, и передается), а также псевдо-заголовка (IP-адрес источника, IP-адрес назначения, номер протокола и длина TCP-сегмента, в которой учитывается как длина полей заголовка, так и длина данных полезной нагрузки)</a:t>
            </a:r>
          </a:p>
        </p:txBody>
      </p:sp>
      <p:sp>
        <p:nvSpPr>
          <p:cNvPr id="5" name="TextBox 4">
            <a:extLst>
              <a:ext uri="{FF2B5EF4-FFF2-40B4-BE49-F238E27FC236}">
                <a16:creationId xmlns:a16="http://schemas.microsoft.com/office/drawing/2014/main" id="{43B0D0D9-0336-4BBE-A60C-BB312120DECD}"/>
              </a:ext>
            </a:extLst>
          </p:cNvPr>
          <p:cNvSpPr txBox="1"/>
          <p:nvPr/>
        </p:nvSpPr>
        <p:spPr>
          <a:xfrm>
            <a:off x="615888" y="3287243"/>
            <a:ext cx="10907328" cy="3139321"/>
          </a:xfrm>
          <a:prstGeom prst="rect">
            <a:avLst/>
          </a:prstGeom>
          <a:noFill/>
        </p:spPr>
        <p:txBody>
          <a:bodyPr wrap="square">
            <a:spAutoFit/>
          </a:bodyPr>
          <a:lstStyle/>
          <a:p>
            <a:r>
              <a:rPr lang="ru-RU" b="0" i="0" dirty="0" err="1">
                <a:solidFill>
                  <a:srgbClr val="444444"/>
                </a:solidFill>
                <a:effectLst/>
                <a:latin typeface="Open Sans"/>
              </a:rPr>
              <a:t>Urgent</a:t>
            </a:r>
            <a:r>
              <a:rPr lang="ru-RU" b="0" i="0" dirty="0">
                <a:solidFill>
                  <a:srgbClr val="444444"/>
                </a:solidFill>
                <a:effectLst/>
                <a:latin typeface="Open Sans"/>
              </a:rPr>
              <a:t> </a:t>
            </a:r>
            <a:r>
              <a:rPr lang="ru-RU" b="0" i="0" dirty="0" err="1">
                <a:solidFill>
                  <a:srgbClr val="444444"/>
                </a:solidFill>
                <a:effectLst/>
                <a:latin typeface="Open Sans"/>
              </a:rPr>
              <a:t>pointer</a:t>
            </a:r>
            <a:r>
              <a:rPr lang="ru-RU" b="0" i="0" dirty="0">
                <a:solidFill>
                  <a:srgbClr val="444444"/>
                </a:solidFill>
                <a:effectLst/>
                <a:latin typeface="Open Sans"/>
              </a:rPr>
              <a:t> (16 бит): указатель срочности. Если установлен флаг URG, то это означает, что поле указателя срочности содержит численное значение положительного смещения от порядкового номера в сообщении, указывающее на последний байт срочных данных. После получения TCP-сегмента с флагом URG, установленным в значение «1», приемное устройство смотрит на поле указателя срочности и по его значению определяет, какие данные в сегменте являются срочными. Затем эти срочные данные сразу же направляются в приложение пользователя с указанием того, что отправитель пометил данные как срочные. Остальные данные в данном сегменте, как, к слову, и накопившиеся до этого в буфере приема, обрабатываются в нормальном режиме. Этим принцип обработки в сообщении флага URG отличается от обработки флага PSH, при получении которого вся информация из буфера, а не только срочная из сообщения, немедленно передается в приложение пользователя.</a:t>
            </a:r>
            <a:endParaRPr lang="en-US" dirty="0"/>
          </a:p>
        </p:txBody>
      </p:sp>
    </p:spTree>
    <p:extLst>
      <p:ext uri="{BB962C8B-B14F-4D97-AF65-F5344CB8AC3E}">
        <p14:creationId xmlns:p14="http://schemas.microsoft.com/office/powerpoint/2010/main" val="187396927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FDB00F-7684-4730-8FB2-B6C9875450DE}"/>
              </a:ext>
            </a:extLst>
          </p:cNvPr>
          <p:cNvSpPr txBox="1"/>
          <p:nvPr/>
        </p:nvSpPr>
        <p:spPr>
          <a:xfrm>
            <a:off x="310717" y="177554"/>
            <a:ext cx="11816179" cy="2862322"/>
          </a:xfrm>
          <a:prstGeom prst="rect">
            <a:avLst/>
          </a:prstGeom>
          <a:noFill/>
        </p:spPr>
        <p:txBody>
          <a:bodyPr wrap="square">
            <a:spAutoFit/>
          </a:bodyPr>
          <a:lstStyle/>
          <a:p>
            <a:pPr algn="l"/>
            <a:r>
              <a:rPr lang="ru-RU" b="0" i="0" dirty="0">
                <a:solidFill>
                  <a:srgbClr val="444444"/>
                </a:solidFill>
                <a:effectLst/>
                <a:latin typeface="Open Sans"/>
              </a:rPr>
              <a:t>Механизм передачи сообщений TCP</a:t>
            </a:r>
          </a:p>
          <a:p>
            <a:pPr algn="l"/>
            <a:r>
              <a:rPr lang="ru-RU" b="0" i="0" dirty="0">
                <a:solidFill>
                  <a:srgbClr val="444444"/>
                </a:solidFill>
                <a:effectLst/>
                <a:latin typeface="Open Sans"/>
              </a:rPr>
              <a:t>Перед тем, как данные могут быть переданы между двумя узлами, в TCP, в отличие от UDP, предусмотрена стадия установки соединения. Также, после того, как все данные были переданы, наступает стадия завершения соединения. Таким образом, осуществление каждого TCP-соединения можно условно разделить на три фазы:</a:t>
            </a:r>
          </a:p>
          <a:p>
            <a:pPr algn="l">
              <a:buFont typeface="+mj-lt"/>
              <a:buAutoNum type="arabicPeriod"/>
            </a:pPr>
            <a:r>
              <a:rPr lang="ru-RU" b="0" i="0" dirty="0">
                <a:solidFill>
                  <a:srgbClr val="444444"/>
                </a:solidFill>
                <a:effectLst/>
                <a:latin typeface="Open Sans"/>
              </a:rPr>
              <a:t>Инициализация соединения.</a:t>
            </a:r>
          </a:p>
          <a:p>
            <a:pPr algn="l"/>
            <a:r>
              <a:rPr lang="ru-RU" b="0" i="0" dirty="0">
                <a:solidFill>
                  <a:srgbClr val="444444"/>
                </a:solidFill>
                <a:effectLst/>
                <a:latin typeface="Open Sans"/>
              </a:rPr>
              <a:t>Установка соединения осуществляется с помощью, так называемого трехстороннего рукопожатия TCP. Инициатором соединения может выступать любая сторона. Однако чтобы упростить рассмотрения данного вопроса в рамках данной статьи, мы рассмотрим пример, когда клиент инициализирует соединение с сервером.</a:t>
            </a:r>
          </a:p>
        </p:txBody>
      </p:sp>
    </p:spTree>
    <p:extLst>
      <p:ext uri="{BB962C8B-B14F-4D97-AF65-F5344CB8AC3E}">
        <p14:creationId xmlns:p14="http://schemas.microsoft.com/office/powerpoint/2010/main" val="24865294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Трехстороннее рукопожатие TCP">
            <a:extLst>
              <a:ext uri="{FF2B5EF4-FFF2-40B4-BE49-F238E27FC236}">
                <a16:creationId xmlns:a16="http://schemas.microsoft.com/office/drawing/2014/main" id="{33D76617-3E8B-475C-9BF8-A3352899B5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3907" y="757409"/>
            <a:ext cx="8353425" cy="534318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5FB98E5-7ABD-4F38-AC7F-33EC90878D11}"/>
              </a:ext>
            </a:extLst>
          </p:cNvPr>
          <p:cNvSpPr txBox="1"/>
          <p:nvPr/>
        </p:nvSpPr>
        <p:spPr>
          <a:xfrm>
            <a:off x="4068192" y="111078"/>
            <a:ext cx="6094520" cy="646331"/>
          </a:xfrm>
          <a:prstGeom prst="rect">
            <a:avLst/>
          </a:prstGeom>
          <a:noFill/>
        </p:spPr>
        <p:txBody>
          <a:bodyPr wrap="square">
            <a:spAutoFit/>
          </a:bodyPr>
          <a:lstStyle/>
          <a:p>
            <a:pPr algn="l"/>
            <a:endParaRPr lang="ru-RU" dirty="0">
              <a:solidFill>
                <a:srgbClr val="444444"/>
              </a:solidFill>
              <a:latin typeface="Open Sans"/>
            </a:endParaRPr>
          </a:p>
          <a:p>
            <a:pPr algn="l"/>
            <a:r>
              <a:rPr lang="ru-RU" dirty="0">
                <a:solidFill>
                  <a:srgbClr val="444444"/>
                </a:solidFill>
                <a:latin typeface="Open Sans"/>
              </a:rPr>
              <a:t>Трехстороннее рукопожатие ТСР</a:t>
            </a:r>
            <a:endParaRPr lang="ru-RU" b="0" i="0" dirty="0">
              <a:solidFill>
                <a:srgbClr val="444444"/>
              </a:solidFill>
              <a:effectLst/>
              <a:latin typeface="Open Sans"/>
            </a:endParaRPr>
          </a:p>
        </p:txBody>
      </p:sp>
    </p:spTree>
    <p:extLst>
      <p:ext uri="{BB962C8B-B14F-4D97-AF65-F5344CB8AC3E}">
        <p14:creationId xmlns:p14="http://schemas.microsoft.com/office/powerpoint/2010/main" val="270767368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D44B37-05A9-4700-88FB-3D04D93F6D35}"/>
              </a:ext>
            </a:extLst>
          </p:cNvPr>
          <p:cNvSpPr txBox="1"/>
          <p:nvPr/>
        </p:nvSpPr>
        <p:spPr>
          <a:xfrm>
            <a:off x="923279" y="552881"/>
            <a:ext cx="9845336" cy="4801314"/>
          </a:xfrm>
          <a:prstGeom prst="rect">
            <a:avLst/>
          </a:prstGeom>
          <a:noFill/>
        </p:spPr>
        <p:txBody>
          <a:bodyPr wrap="square">
            <a:spAutoFit/>
          </a:bodyPr>
          <a:lstStyle/>
          <a:p>
            <a:pPr algn="l"/>
            <a:r>
              <a:rPr lang="ru-RU" b="0" i="0" dirty="0">
                <a:solidFill>
                  <a:srgbClr val="444444"/>
                </a:solidFill>
                <a:effectLst/>
                <a:latin typeface="Open Sans"/>
              </a:rPr>
              <a:t>(Пакет №1). Клиент отправляет пакет с установленным флагом SYN и случайным числом («R1»), включенным в поле порядкового номера (</a:t>
            </a:r>
            <a:r>
              <a:rPr lang="ru-RU" b="0" i="0" dirty="0" err="1">
                <a:solidFill>
                  <a:srgbClr val="444444"/>
                </a:solidFill>
                <a:effectLst/>
                <a:latin typeface="Open Sans"/>
              </a:rPr>
              <a:t>sequence</a:t>
            </a:r>
            <a:r>
              <a:rPr lang="ru-RU" b="0" i="0" dirty="0">
                <a:solidFill>
                  <a:srgbClr val="444444"/>
                </a:solidFill>
                <a:effectLst/>
                <a:latin typeface="Open Sans"/>
              </a:rPr>
              <a:t> </a:t>
            </a:r>
            <a:r>
              <a:rPr lang="ru-RU" b="0" i="0" dirty="0" err="1">
                <a:solidFill>
                  <a:srgbClr val="444444"/>
                </a:solidFill>
                <a:effectLst/>
                <a:latin typeface="Open Sans"/>
              </a:rPr>
              <a:t>number</a:t>
            </a:r>
            <a:r>
              <a:rPr lang="ru-RU" b="0" i="0" dirty="0">
                <a:solidFill>
                  <a:srgbClr val="444444"/>
                </a:solidFill>
                <a:effectLst/>
                <a:latin typeface="Open Sans"/>
              </a:rPr>
              <a:t>).</a:t>
            </a:r>
          </a:p>
          <a:p>
            <a:pPr algn="l"/>
            <a:r>
              <a:rPr lang="ru-RU" b="0" i="0" dirty="0">
                <a:solidFill>
                  <a:srgbClr val="444444"/>
                </a:solidFill>
                <a:effectLst/>
                <a:latin typeface="Open Sans"/>
              </a:rPr>
              <a:t>(Пакет №2). При получении пакета №1 сервер в ответ отправляет пакет с установленным флагом SYN, а также с установленным флагом ACK. Поле порядкового номера будет содержать новое случайное число («R2»), а поле номера подтверждения будет содержать значение порядкового номера клиента, увеличенного на единицу (то есть «R1 + 1»). Таким образом, он будет соответствовать следующему порядковому номеру, который сервер ожидает получить от клиента.</a:t>
            </a:r>
          </a:p>
          <a:p>
            <a:pPr algn="l"/>
            <a:r>
              <a:rPr lang="ru-RU" b="0" i="0" dirty="0">
                <a:solidFill>
                  <a:srgbClr val="444444"/>
                </a:solidFill>
                <a:effectLst/>
                <a:latin typeface="Open Sans"/>
              </a:rPr>
              <a:t>(Пакет №3). В ответ на пакет SYN от сервера (пакет №2) клиент отправляет пакет с установленным флагом ACK и полем номера подтверждения с числом «R2 + 1». По аналогии, это число будет соответствовать следующему порядковому номеру, который клиент ожидает получить от сервера.</a:t>
            </a:r>
          </a:p>
          <a:p>
            <a:pPr algn="l">
              <a:buFont typeface="+mj-lt"/>
              <a:buAutoNum type="arabicPeriod" startAt="2"/>
            </a:pPr>
            <a:r>
              <a:rPr lang="ru-RU" b="0" i="0" dirty="0">
                <a:solidFill>
                  <a:srgbClr val="444444"/>
                </a:solidFill>
                <a:effectLst/>
                <a:latin typeface="Open Sans"/>
              </a:rPr>
              <a:t>Загрузка данных.</a:t>
            </a:r>
          </a:p>
          <a:p>
            <a:pPr algn="l"/>
            <a:r>
              <a:rPr lang="ru-RU" b="0" i="0" dirty="0">
                <a:solidFill>
                  <a:srgbClr val="444444"/>
                </a:solidFill>
                <a:effectLst/>
                <a:latin typeface="Open Sans"/>
              </a:rPr>
              <a:t>После инициализации соединения полезная нагрузка будет перемещаться в обоих направлениях TCP-соединения. Все пакеты в обязательном порядке будут содержать установленный флаг ACK. Другие флаги, такие как, например, PSH или URG, могут быть, а могут и не быть установленными.</a:t>
            </a:r>
          </a:p>
        </p:txBody>
      </p:sp>
    </p:spTree>
    <p:extLst>
      <p:ext uri="{BB962C8B-B14F-4D97-AF65-F5344CB8AC3E}">
        <p14:creationId xmlns:p14="http://schemas.microsoft.com/office/powerpoint/2010/main" val="60835123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FD70FA-A4D3-4831-B0B8-FC4F7ECC3C63}"/>
              </a:ext>
            </a:extLst>
          </p:cNvPr>
          <p:cNvSpPr txBox="1"/>
          <p:nvPr/>
        </p:nvSpPr>
        <p:spPr>
          <a:xfrm>
            <a:off x="408374" y="279348"/>
            <a:ext cx="11105965" cy="5909310"/>
          </a:xfrm>
          <a:prstGeom prst="rect">
            <a:avLst/>
          </a:prstGeom>
          <a:noFill/>
        </p:spPr>
        <p:txBody>
          <a:bodyPr wrap="square">
            <a:spAutoFit/>
          </a:bodyPr>
          <a:lstStyle/>
          <a:p>
            <a:pPr algn="l">
              <a:buFont typeface="+mj-lt"/>
              <a:buAutoNum type="arabicPeriod" startAt="3"/>
            </a:pPr>
            <a:r>
              <a:rPr lang="ru-RU" b="0" i="0" dirty="0">
                <a:solidFill>
                  <a:srgbClr val="444444"/>
                </a:solidFill>
                <a:effectLst/>
                <a:latin typeface="Open Sans"/>
              </a:rPr>
              <a:t>Завершение соединения.</a:t>
            </a:r>
          </a:p>
          <a:p>
            <a:pPr algn="l"/>
            <a:r>
              <a:rPr lang="ru-RU" b="0" i="0" dirty="0">
                <a:solidFill>
                  <a:srgbClr val="444444"/>
                </a:solidFill>
                <a:effectLst/>
                <a:latin typeface="Open Sans"/>
              </a:rPr>
              <a:t>При нормальном завершении TCP-соединения в большинстве случаев инициализируется процедура, называемая двухсторонним рукопожатием, в ходе которой каждая сторона закрывает свой конец виртуального канала и освобождает все задействованные ресурсы. Обычно эта фаза начинается с того, что один из задействованных процессов приложения сигнализирует своему уровню TCP, что сеанс связи больше не нужен. Со стороны этого устройства отправляется сообщение с установленным флагом FIN (отметим, что этот пакет не обязательно должен быть пустым, он также может содержать полезную нагрузку), чтобы сообщить другому устройству о своем желании завершить открытое соединение. Затем получение этого сообщения подтверждается (сообщение от отвечающего устройства с установленным флагом ACK, говорящем о получении сообщения FIN). Когда отвечающее устройство готово, оно также отправляет сообщение с установленным флагом FIN, и, после получения в ответ подтверждающего получение сообщения с установленным флагом ACK или ожидания определенного периода времени, предусмотренного для получения ACK, сеанс полностью закрывается. Состояния, через которые проходят два соединенных устройства во время обычного завершения соединения, отличаются, потому что устройство, инициирующее завершение сеанса, ведет себя несколько иначе, чем устройство, которое получает запрос на завершение. В частности, TCP на устройстве, получающем начальный запрос на завершение, должен сразу информировать об этом процесс своего приложения и дождаться от него сигнала о том, что приложение готово к этой процедуре. Инициирующему устройству не нужно это делать, поскольку именно приложение и выступило инициатором. </a:t>
            </a:r>
          </a:p>
          <a:p>
            <a:pPr algn="l"/>
            <a:endParaRPr lang="ru-RU" b="0" i="0" dirty="0">
              <a:solidFill>
                <a:srgbClr val="444444"/>
              </a:solidFill>
              <a:effectLst/>
              <a:latin typeface="Open Sans"/>
            </a:endParaRPr>
          </a:p>
        </p:txBody>
      </p:sp>
    </p:spTree>
    <p:extLst>
      <p:ext uri="{BB962C8B-B14F-4D97-AF65-F5344CB8AC3E}">
        <p14:creationId xmlns:p14="http://schemas.microsoft.com/office/powerpoint/2010/main" val="299353087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Завершение TCP-соединения">
            <a:extLst>
              <a:ext uri="{FF2B5EF4-FFF2-40B4-BE49-F238E27FC236}">
                <a16:creationId xmlns:a16="http://schemas.microsoft.com/office/drawing/2014/main" id="{0B4687C8-7D6D-4BBB-8079-EB6EB34338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4175" y="781050"/>
            <a:ext cx="6343650" cy="52959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731BD72-2900-4CBA-8974-AF5AE04610FE}"/>
              </a:ext>
            </a:extLst>
          </p:cNvPr>
          <p:cNvSpPr txBox="1"/>
          <p:nvPr/>
        </p:nvSpPr>
        <p:spPr>
          <a:xfrm>
            <a:off x="4467687" y="325800"/>
            <a:ext cx="6094520" cy="369332"/>
          </a:xfrm>
          <a:prstGeom prst="rect">
            <a:avLst/>
          </a:prstGeom>
          <a:noFill/>
        </p:spPr>
        <p:txBody>
          <a:bodyPr wrap="square">
            <a:spAutoFit/>
          </a:bodyPr>
          <a:lstStyle/>
          <a:p>
            <a:r>
              <a:rPr lang="ru-RU" dirty="0">
                <a:solidFill>
                  <a:srgbClr val="444444"/>
                </a:solidFill>
                <a:latin typeface="Open Sans"/>
              </a:rPr>
              <a:t>Завершение </a:t>
            </a:r>
            <a:r>
              <a:rPr lang="en-US" dirty="0">
                <a:solidFill>
                  <a:srgbClr val="444444"/>
                </a:solidFill>
                <a:latin typeface="Open Sans"/>
              </a:rPr>
              <a:t>TCP-</a:t>
            </a:r>
            <a:r>
              <a:rPr lang="ru-RU" dirty="0">
                <a:solidFill>
                  <a:srgbClr val="444444"/>
                </a:solidFill>
                <a:latin typeface="Open Sans"/>
              </a:rPr>
              <a:t>соединения</a:t>
            </a:r>
            <a:endParaRPr lang="en-US" dirty="0"/>
          </a:p>
        </p:txBody>
      </p:sp>
    </p:spTree>
    <p:extLst>
      <p:ext uri="{BB962C8B-B14F-4D97-AF65-F5344CB8AC3E}">
        <p14:creationId xmlns:p14="http://schemas.microsoft.com/office/powerpoint/2010/main" val="387803008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2C0A1B-4ABB-407D-BCD9-0B85BB94630A}"/>
              </a:ext>
            </a:extLst>
          </p:cNvPr>
          <p:cNvSpPr txBox="1"/>
          <p:nvPr/>
        </p:nvSpPr>
        <p:spPr>
          <a:xfrm>
            <a:off x="97654" y="290013"/>
            <a:ext cx="11443317" cy="5933233"/>
          </a:xfrm>
          <a:prstGeom prst="rect">
            <a:avLst/>
          </a:prstGeom>
          <a:noFill/>
        </p:spPr>
        <p:txBody>
          <a:bodyPr wrap="square">
            <a:spAutoFit/>
          </a:bodyPr>
          <a:lstStyle/>
          <a:p>
            <a:pPr algn="l">
              <a:buFont typeface="Arial" panose="020B0604020202020204" pitchFamily="34" charset="0"/>
              <a:buChar char="•"/>
            </a:pPr>
            <a:r>
              <a:rPr lang="ru-RU" b="0" i="0" dirty="0" err="1">
                <a:solidFill>
                  <a:srgbClr val="444444"/>
                </a:solidFill>
                <a:effectLst/>
                <a:latin typeface="Open Sans"/>
              </a:rPr>
              <a:t>Keep-alive</a:t>
            </a:r>
            <a:r>
              <a:rPr lang="ru-RU" b="0" i="0" dirty="0">
                <a:solidFill>
                  <a:srgbClr val="444444"/>
                </a:solidFill>
                <a:effectLst/>
                <a:latin typeface="Open Sans"/>
              </a:rPr>
              <a:t> или повторное использование соединений</a:t>
            </a:r>
          </a:p>
          <a:p>
            <a:pPr algn="l"/>
            <a:r>
              <a:rPr lang="ru-RU" b="0" i="0" dirty="0">
                <a:solidFill>
                  <a:srgbClr val="444444"/>
                </a:solidFill>
                <a:effectLst/>
                <a:latin typeface="Open Sans"/>
              </a:rPr>
              <a:t>На уровне TCP нет сообщений типа «</a:t>
            </a:r>
            <a:r>
              <a:rPr lang="ru-RU" b="0" i="0" dirty="0" err="1">
                <a:solidFill>
                  <a:srgbClr val="444444"/>
                </a:solidFill>
                <a:effectLst/>
                <a:latin typeface="Open Sans"/>
              </a:rPr>
              <a:t>keep-alive</a:t>
            </a:r>
            <a:r>
              <a:rPr lang="ru-RU" b="0" i="0" dirty="0">
                <a:solidFill>
                  <a:srgbClr val="444444"/>
                </a:solidFill>
                <a:effectLst/>
                <a:latin typeface="Open Sans"/>
              </a:rPr>
              <a:t>», и поэтому, даже если сеанс соединения в какой-то момент времени становится неактивным, он все равно будет продолжаться до тех пор, пока не будет отправлен следующий пакет.</a:t>
            </a:r>
          </a:p>
          <a:p>
            <a:pPr algn="l"/>
            <a:r>
              <a:rPr lang="ru-RU" b="0" i="0" dirty="0">
                <a:solidFill>
                  <a:srgbClr val="444444"/>
                </a:solidFill>
                <a:effectLst/>
                <a:latin typeface="Open Sans"/>
              </a:rPr>
              <a:t>Когда мы отправляем HTTP-запрос по сети, нам сразу нужно создать TCP-соединение. Однако в HTTP 1.0 возможность повторного использования соединения по умолчанию закрыта (если заголовок «</a:t>
            </a:r>
            <a:r>
              <a:rPr lang="ru-RU" b="0" i="0" dirty="0" err="1">
                <a:solidFill>
                  <a:srgbClr val="444444"/>
                </a:solidFill>
                <a:effectLst/>
                <a:latin typeface="Open Sans"/>
              </a:rPr>
              <a:t>keep-alive</a:t>
            </a:r>
            <a:r>
              <a:rPr lang="ru-RU" b="0" i="0" dirty="0">
                <a:solidFill>
                  <a:srgbClr val="444444"/>
                </a:solidFill>
                <a:effectLst/>
                <a:latin typeface="Open Sans"/>
              </a:rPr>
              <a:t> = </a:t>
            </a:r>
            <a:r>
              <a:rPr lang="ru-RU" b="0" i="0" dirty="0" err="1">
                <a:solidFill>
                  <a:srgbClr val="444444"/>
                </a:solidFill>
                <a:effectLst/>
                <a:latin typeface="Open Sans"/>
              </a:rPr>
              <a:t>close</a:t>
            </a:r>
            <a:r>
              <a:rPr lang="ru-RU" b="0" i="0" dirty="0">
                <a:solidFill>
                  <a:srgbClr val="444444"/>
                </a:solidFill>
                <a:effectLst/>
                <a:latin typeface="Open Sans"/>
              </a:rPr>
              <a:t>» дополнительно не включен в заголовок HTTP), то есть TCP-соединение автоматически закрывается после получения запроса и отправки ответа. Так как процесс создания TCP-соединения относительно затратный (он требует дополнительных затрат процессорных ресурсов и памяти, а также увеличивает сетевой обмен между сервером и клиентом, что особенно становится актуальным при создании защищенных соединений), то все это увеличивает количество лагов и повышает вероятность перегрузки сети. Поэтому для HTTP 1.1 было решено оставлять TCP-соединение открытым до тех пор, пока одна из сторон не решит прекратить его.</a:t>
            </a:r>
          </a:p>
          <a:p>
            <a:pPr algn="l"/>
            <a:r>
              <a:rPr lang="ru-RU" b="0" i="0" dirty="0">
                <a:solidFill>
                  <a:srgbClr val="444444"/>
                </a:solidFill>
                <a:effectLst/>
                <a:latin typeface="Open Sans"/>
              </a:rPr>
              <a:t>С другой стороны, если соединения не будут закрываться после того, как клиенты получат все необходимые им данные, задействованные ресурсы сервера для поддержания этих соединений не будут доступны другим клиентам. Поэтому HTTP-серверы, чтобы обеспечить больший контроль над потоком данных, используют временные интервалы (таймауты) для поддержки функциональности «</a:t>
            </a:r>
            <a:r>
              <a:rPr lang="ru-RU" b="0" i="0" dirty="0" err="1">
                <a:solidFill>
                  <a:srgbClr val="444444"/>
                </a:solidFill>
                <a:effectLst/>
                <a:latin typeface="Open Sans"/>
              </a:rPr>
              <a:t>keep-alive</a:t>
            </a:r>
            <a:r>
              <a:rPr lang="ru-RU" b="0" i="0" dirty="0">
                <a:solidFill>
                  <a:srgbClr val="444444"/>
                </a:solidFill>
                <a:effectLst/>
                <a:latin typeface="Open Sans"/>
              </a:rPr>
              <a:t>» для неактивных соединений (длящихся по умолчанию, в зависимости от архитектуры и конфигурации сервера, не более нескольких десятков секунд, а то и просто нескольких секунд), а также максимальное число отправляемых запросов «</a:t>
            </a:r>
            <a:r>
              <a:rPr lang="ru-RU" b="0" i="0" dirty="0" err="1">
                <a:solidFill>
                  <a:srgbClr val="444444"/>
                </a:solidFill>
                <a:effectLst/>
                <a:latin typeface="Open Sans"/>
              </a:rPr>
              <a:t>keep-alive</a:t>
            </a:r>
            <a:r>
              <a:rPr lang="ru-RU" b="0" i="0" dirty="0">
                <a:solidFill>
                  <a:srgbClr val="444444"/>
                </a:solidFill>
                <a:effectLst/>
                <a:latin typeface="Open Sans"/>
              </a:rPr>
              <a:t>», прежде чем сеанс без активного соединения будет остановлен. </a:t>
            </a:r>
          </a:p>
        </p:txBody>
      </p:sp>
    </p:spTree>
    <p:extLst>
      <p:ext uri="{BB962C8B-B14F-4D97-AF65-F5344CB8AC3E}">
        <p14:creationId xmlns:p14="http://schemas.microsoft.com/office/powerpoint/2010/main" val="3710288329"/>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085267"/>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9054213"/>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8954768"/>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024956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110101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6939385"/>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62927</TotalTime>
  <Words>25740</Words>
  <Application>Microsoft Office PowerPoint</Application>
  <PresentationFormat>Широкоэкранный</PresentationFormat>
  <Paragraphs>1231</Paragraphs>
  <Slides>191</Slides>
  <Notes>0</Notes>
  <HiddenSlides>0</HiddenSlides>
  <MMClips>0</MMClips>
  <ScaleCrop>false</ScaleCrop>
  <HeadingPairs>
    <vt:vector size="6" baseType="variant">
      <vt:variant>
        <vt:lpstr>Использованные шрифты</vt:lpstr>
      </vt:variant>
      <vt:variant>
        <vt:i4>15</vt:i4>
      </vt:variant>
      <vt:variant>
        <vt:lpstr>Тема</vt:lpstr>
      </vt:variant>
      <vt:variant>
        <vt:i4>1</vt:i4>
      </vt:variant>
      <vt:variant>
        <vt:lpstr>Заголовки слайдов</vt:lpstr>
      </vt:variant>
      <vt:variant>
        <vt:i4>191</vt:i4>
      </vt:variant>
    </vt:vector>
  </HeadingPairs>
  <TitlesOfParts>
    <vt:vector size="207" baseType="lpstr">
      <vt:lpstr>-apple-system</vt:lpstr>
      <vt:lpstr>Arial</vt:lpstr>
      <vt:lpstr>Arial Unicode MS</vt:lpstr>
      <vt:lpstr>Calibri</vt:lpstr>
      <vt:lpstr>Calibri Light</vt:lpstr>
      <vt:lpstr>CoilTrail</vt:lpstr>
      <vt:lpstr>Fira Sans</vt:lpstr>
      <vt:lpstr>IBM Plex Sans</vt:lpstr>
      <vt:lpstr>inherit</vt:lpstr>
      <vt:lpstr>Inter</vt:lpstr>
      <vt:lpstr>Manrope</vt:lpstr>
      <vt:lpstr>Menlo</vt:lpstr>
      <vt:lpstr>Open Sans</vt:lpstr>
      <vt:lpstr>Symbol</vt:lpstr>
      <vt:lpstr>Times New Roman</vt:lpstr>
      <vt:lpstr>Тема Office</vt:lpstr>
      <vt:lpstr>Презентация PowerPoint</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Yury Smirnou</dc:creator>
  <cp:lastModifiedBy>Yury Smirnou</cp:lastModifiedBy>
  <cp:revision>73</cp:revision>
  <dcterms:created xsi:type="dcterms:W3CDTF">2023-10-05T07:30:14Z</dcterms:created>
  <dcterms:modified xsi:type="dcterms:W3CDTF">2026-04-28T09:10:00Z</dcterms:modified>
</cp:coreProperties>
</file>