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Открыть тему с идеи: изображение — это двумерный дискретный сигнал, а сжатие убирает избыточность.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Объяснить, что файл без сжатия хранит значения всех пикселей; поэтому даже обычное Full HD изображение занимает мегабайты.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Раскрыть 4 вида избыточности.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Сказать: lossless нужен для точного восстановления, lossy — для большой экономии объема.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 схеме пройти: преобразование, устранение избыточности, кодирование, затем обратный процесс.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самый важный технический слайд: YCbCr, субдискретизация, DCT, квантование, zig-zag/RLE/Huffman.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Объяснить: после DCT энергия часто концентрируется в низких частотах, а высокие частоты можно грубее квантовать.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Объяснить, что PNG не портит изображение, а фильтры делают данные удобнее для DEFLATE.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нужен как обзор способов сжатия: JPEG, PNG, WebP, AVIF, JPEG XL, JPEG 2000.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Пояснить коэффициент сжатия и метрики: MSE/PSNR формальны, SSIM ближе к восприятию.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 рисунку объяснить, как падает качество при более сильном JPEG-сжатии.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Финальный план ответа.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high_resolution_abstract_conceptual_illustra_batch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126480" cy="6858000"/>
          </a:xfrm>
          <a:prstGeom prst="rect">
            <a:avLst/>
          </a:prstGeom>
          <a:solidFill>
            <a:srgbClr val="06101F">
              <a:alpha val="9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30352" y="960120"/>
            <a:ext cx="73152" cy="402336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49808" y="960120"/>
            <a:ext cx="5303520" cy="1572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Сжатие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изображений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86384" y="2670048"/>
            <a:ext cx="52120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цифровая обработка сигналов и изображений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86384" y="3840480"/>
            <a:ext cx="219456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6384" y="4114800"/>
            <a:ext cx="52120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Контрольная работа — презентация к докладу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BDF8">
              <a:alpha val="7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7C3AED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7782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Изображение как цифровой сигнал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матрица пикселей + цветовые каналы + дискретизация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519672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Сжатие изображений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65408" y="651967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2/12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822960" y="1417320"/>
            <a:ext cx="3017520" cy="1005840"/>
          </a:xfrm>
          <a:prstGeom prst="rect">
            <a:avLst/>
          </a:prstGeom>
          <a:solidFill>
            <a:srgbClr val="15233F"/>
          </a:solidFill>
          <a:ln w="12700">
            <a:solidFill>
              <a:srgbClr val="38BDF8">
                <a:alpha val="5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Размер raw RGB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× H × 3 байта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480560" y="1417320"/>
            <a:ext cx="3017520" cy="1005840"/>
          </a:xfrm>
          <a:prstGeom prst="rect">
            <a:avLst/>
          </a:prstGeom>
          <a:solidFill>
            <a:srgbClr val="15233F"/>
          </a:solidFill>
          <a:ln w="12700">
            <a:solidFill>
              <a:srgbClr val="10B981">
                <a:alpha val="5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1920 × 1080 × 3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6,2 МБ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138160" y="1417320"/>
            <a:ext cx="3017520" cy="1005840"/>
          </a:xfrm>
          <a:prstGeom prst="rect">
            <a:avLst/>
          </a:prstGeom>
          <a:solidFill>
            <a:srgbClr val="15233F"/>
          </a:solidFill>
          <a:ln w="12700">
            <a:solidFill>
              <a:srgbClr val="F59E0B">
                <a:alpha val="5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сжатия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меньше битов при приемлемом качестве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914400" y="3337560"/>
            <a:ext cx="54864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78992" y="3337560"/>
            <a:ext cx="9985248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Сжатие работает потому, что в изображениях много повторов, плавных областей и информации, которую человек замечает хуже.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097280" y="4617720"/>
            <a:ext cx="950976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пространственная структура: соседние пиксели похожи</a:t>
            </a:r>
            <a:pPr indent="0" marL="0">
              <a:buNone/>
            </a:pPr>
            <a:r>
              <a:rPr lang="en-US" sz="16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цветовая структура: яркость важнее цветовых деталей</a:t>
            </a:r>
            <a:pPr indent="0" marL="0">
              <a:buNone/>
            </a:pPr>
            <a:r>
              <a:rPr lang="en-US" sz="16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статистика: одни значения встречаются чаще других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BDF8">
              <a:alpha val="7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7C3AED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7782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Какая избыточность удаляется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сжатие не «магия», а использование закономерностей сигнала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519672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Сжатие изображений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65408" y="651967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3/12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868680" y="1325880"/>
            <a:ext cx="2514600" cy="1143000"/>
          </a:xfrm>
          <a:prstGeom prst="rect">
            <a:avLst/>
          </a:prstGeom>
          <a:solidFill>
            <a:srgbClr val="15233F"/>
          </a:solidFill>
          <a:ln w="12700">
            <a:solidFill>
              <a:srgbClr val="38BDF8">
                <a:alpha val="5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Пространственная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соседние пиксели похожи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3611880" y="1325880"/>
            <a:ext cx="2514600" cy="1143000"/>
          </a:xfrm>
          <a:prstGeom prst="rect">
            <a:avLst/>
          </a:prstGeom>
          <a:solidFill>
            <a:srgbClr val="15233F"/>
          </a:solidFill>
          <a:ln w="12700">
            <a:solidFill>
              <a:srgbClr val="10B981">
                <a:alpha val="5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Спектральная/цветовая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каналы неравнозначны для зрения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355080" y="1325880"/>
            <a:ext cx="2514600" cy="1143000"/>
          </a:xfrm>
          <a:prstGeom prst="rect">
            <a:avLst/>
          </a:prstGeom>
          <a:solidFill>
            <a:srgbClr val="15233F"/>
          </a:solidFill>
          <a:ln w="12700">
            <a:solidFill>
              <a:srgbClr val="F59E0B">
                <a:alpha val="5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Психовизуальная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деталей менее заметна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9098280" y="1325880"/>
            <a:ext cx="2514600" cy="1143000"/>
          </a:xfrm>
          <a:prstGeom prst="rect">
            <a:avLst/>
          </a:prstGeom>
          <a:solidFill>
            <a:srgbClr val="15233F"/>
          </a:solidFill>
          <a:ln w="12700">
            <a:solidFill>
              <a:srgbClr val="7C3AED">
                <a:alpha val="5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Статистическая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частые символы кодируются короче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1188720" y="3291840"/>
            <a:ext cx="2011680" cy="914400"/>
          </a:xfrm>
          <a:prstGeom prst="chevron">
            <a:avLst/>
          </a:prstGeom>
          <a:solidFill>
            <a:srgbClr val="38BDF8">
              <a:alpha val="7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37560" y="3291840"/>
            <a:ext cx="2011680" cy="914400"/>
          </a:xfrm>
          <a:prstGeom prst="chevron">
            <a:avLst/>
          </a:prstGeom>
          <a:solidFill>
            <a:srgbClr val="10B981">
              <a:alpha val="7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0" y="3291840"/>
            <a:ext cx="2011680" cy="914400"/>
          </a:xfrm>
          <a:prstGeom prst="chevron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635240" y="3291840"/>
            <a:ext cx="2011680" cy="914400"/>
          </a:xfrm>
          <a:prstGeom prst="chevron">
            <a:avLst/>
          </a:prstGeom>
          <a:solidFill>
            <a:srgbClr val="7C3AED">
              <a:alpha val="7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875520" y="3246120"/>
            <a:ext cx="1417320" cy="1005840"/>
          </a:xfrm>
          <a:prstGeom prst="rect">
            <a:avLst/>
          </a:prstGeom>
          <a:solidFill>
            <a:srgbClr val="15233F"/>
          </a:solidFill>
          <a:ln w="12700">
            <a:solidFill>
              <a:srgbClr val="38BDF8">
                <a:alpha val="5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Меньше данных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сохранении смысла изображения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1005840" y="5074920"/>
            <a:ext cx="54864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70432" y="5074920"/>
            <a:ext cx="9710928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Сжатие с потерями дополнительно удаляет то, что модель зрения считает менее значимым.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BDF8">
              <a:alpha val="7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7C3AED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7782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потерь и с потерями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две принципиально разные цели кодирования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519672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Сжатие изображений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65408" y="651967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4/12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914400" y="1325880"/>
            <a:ext cx="4572000" cy="1005840"/>
          </a:xfrm>
          <a:prstGeom prst="rect">
            <a:avLst/>
          </a:prstGeom>
          <a:solidFill>
            <a:srgbClr val="15233F"/>
          </a:solidFill>
          <a:ln w="12700">
            <a:solidFill>
              <a:srgbClr val="10B981">
                <a:alpha val="5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Lossless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восстановление бит-в-бит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720840" y="1325880"/>
            <a:ext cx="4572000" cy="1005840"/>
          </a:xfrm>
          <a:prstGeom prst="rect">
            <a:avLst/>
          </a:prstGeom>
          <a:solidFill>
            <a:srgbClr val="15233F"/>
          </a:solidFill>
          <a:ln w="12700">
            <a:solidFill>
              <a:srgbClr val="F59E0B">
                <a:alpha val="5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допускается искажение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24128" y="2697480"/>
            <a:ext cx="4389120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2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PNG, lossless WebP/JPEG XL</a:t>
            </a:r>
            <a:pPr indent="0" marL="0">
              <a:buNone/>
            </a:pPr>
            <a:r>
              <a:rPr lang="en-US" sz="152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520" dirty="0"/>
          </a:p>
          <a:p>
            <a:pPr marL="177800" indent="-177800">
              <a:buSzPct val="100000"/>
              <a:buChar char="•"/>
            </a:pPr>
            <a:r>
              <a:rPr lang="en-US" sz="152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текст, скриншоты, графика, медицинские/научные данные</a:t>
            </a:r>
            <a:pPr indent="0" marL="0">
              <a:buNone/>
            </a:pPr>
            <a:r>
              <a:rPr lang="en-US" sz="152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520" dirty="0"/>
          </a:p>
          <a:p>
            <a:pPr marL="177800" indent="-177800">
              <a:buSzPct val="100000"/>
              <a:buChar char="•"/>
            </a:pPr>
            <a:r>
              <a:rPr lang="en-US" sz="152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методы: предсказание, словари, RLE, Huffman/арифметическое кодирование</a:t>
            </a:r>
            <a:endParaRPr lang="en-US" sz="1520" dirty="0"/>
          </a:p>
        </p:txBody>
      </p:sp>
      <p:sp>
        <p:nvSpPr>
          <p:cNvPr id="13" name="Text 10"/>
          <p:cNvSpPr/>
          <p:nvPr/>
        </p:nvSpPr>
        <p:spPr>
          <a:xfrm>
            <a:off x="6830568" y="2697480"/>
            <a:ext cx="4389120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2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JPEG, AVIF, WebP lossy, JPEG 2000</a:t>
            </a:r>
            <a:pPr indent="0" marL="0">
              <a:buNone/>
            </a:pPr>
            <a:r>
              <a:rPr lang="en-US" sz="152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520" dirty="0"/>
          </a:p>
          <a:p>
            <a:pPr marL="177800" indent="-177800">
              <a:buSzPct val="100000"/>
              <a:buChar char="•"/>
            </a:pPr>
            <a:r>
              <a:rPr lang="en-US" sz="152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фотографии, веб, мобильные приложения, видео-кадры</a:t>
            </a:r>
            <a:pPr indent="0" marL="0">
              <a:buNone/>
            </a:pPr>
            <a:r>
              <a:rPr lang="en-US" sz="152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520" dirty="0"/>
          </a:p>
          <a:p>
            <a:pPr marL="177800" indent="-177800">
              <a:buSzPct val="100000"/>
              <a:buChar char="•"/>
            </a:pPr>
            <a:r>
              <a:rPr lang="en-US" sz="152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методы: цветовое преобразование, DCT/вейвлеты, квантование</a:t>
            </a:r>
            <a:endParaRPr lang="en-US" sz="1520" dirty="0"/>
          </a:p>
        </p:txBody>
      </p:sp>
      <p:sp>
        <p:nvSpPr>
          <p:cNvPr id="14" name="Shape 11"/>
          <p:cNvSpPr/>
          <p:nvPr/>
        </p:nvSpPr>
        <p:spPr>
          <a:xfrm>
            <a:off x="1005840" y="5349240"/>
            <a:ext cx="54864" cy="50292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70432" y="5349240"/>
            <a:ext cx="9893808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Главное различие: lossless экономит без изменения данных, lossy покупает большую экономию ценой контролируемой ошибки.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BDF8">
              <a:alpha val="7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7C3AED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7782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Общая схема кодера и декодера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почти любой формат можно объяснить через один конвейер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519672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Сжатие изображений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65408" y="651967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5/12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77240" y="1143000"/>
            <a:ext cx="10652760" cy="2971800"/>
          </a:xfrm>
          <a:prstGeom prst="roundRect">
            <a:avLst>
              <a:gd name="adj" fmla="val 3692"/>
            </a:avLst>
          </a:prstGeom>
          <a:solidFill>
            <a:srgbClr val="F8FAFC"/>
          </a:solidFill>
          <a:ln w="8890">
            <a:solidFill>
              <a:srgbClr val="CAD5E2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8000"/>
              </a:srgbClr>
            </a:outerShdw>
          </a:effectLst>
        </p:spPr>
      </p:sp>
      <p:pic>
        <p:nvPicPr>
          <p:cNvPr id="11" name="Image 0" descr="/mnt/data/extracted_doc_images/compression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3773" y="1234440"/>
            <a:ext cx="9399693" cy="2788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0120" y="4480560"/>
            <a:ext cx="1001268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предобработка подготавливает сигнал: цвет, блоки, фильтры</a:t>
            </a:r>
            <a:pPr indent="0" marL="0">
              <a:buNone/>
            </a:pPr>
            <a:r>
              <a:rPr lang="en-US" sz="15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трансформ/предсказание концентрирует информацию</a:t>
            </a:r>
            <a:pPr indent="0" marL="0">
              <a:buNone/>
            </a:pPr>
            <a:r>
              <a:rPr lang="en-US" sz="15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квантование есть только в lossy-сжатии</a:t>
            </a:r>
            <a:pPr indent="0" marL="0">
              <a:buNone/>
            </a:pPr>
            <a:r>
              <a:rPr lang="en-US" sz="15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entropy coding упаковывает вероятностную структуру в битовый поток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BDF8">
              <a:alpha val="7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7C3AED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7782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JPEG: классический пример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блочное преобразовательное кодирование 8×8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519672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Сжатие изображений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65408" y="651967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6/12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13232" y="1097280"/>
            <a:ext cx="10789920" cy="2514600"/>
          </a:xfrm>
          <a:prstGeom prst="roundRect">
            <a:avLst>
              <a:gd name="adj" fmla="val 4364"/>
            </a:avLst>
          </a:prstGeom>
          <a:solidFill>
            <a:srgbClr val="F8FAFC"/>
          </a:solidFill>
          <a:ln w="8890">
            <a:solidFill>
              <a:srgbClr val="CAD5E2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8000"/>
              </a:srgbClr>
            </a:outerShdw>
          </a:effectLst>
        </p:spPr>
      </p:sp>
      <p:pic>
        <p:nvPicPr>
          <p:cNvPr id="11" name="Image 0" descr="/mnt/data/extracted_doc_images/compression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2830" y="1170432"/>
            <a:ext cx="7570724" cy="23682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0120" y="3977640"/>
            <a:ext cx="9966960" cy="1463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 → YCbCr: яркость отделяется от цветовой составляющей</a:t>
            </a:r>
            <a:pPr indent="0" marL="0">
              <a:buNone/>
            </a:pPr>
            <a:r>
              <a:rPr lang="en-US" sz="15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 subsampling уменьшает цветовую детализацию</a:t>
            </a:r>
            <a:pPr indent="0" marL="0">
              <a:buNone/>
            </a:pPr>
            <a:r>
              <a:rPr lang="en-US" sz="15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DCT переводит блок 8×8 в частотные коэффициенты</a:t>
            </a:r>
            <a:pPr indent="0" marL="0">
              <a:buNone/>
            </a:pPr>
            <a:r>
              <a:rPr lang="en-US" sz="15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квантование отбрасывает часть высоких частот</a:t>
            </a:r>
            <a:pPr indent="0" marL="0">
              <a:buNone/>
            </a:pPr>
            <a:r>
              <a:rPr lang="en-US" sz="15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энтропийное кодирование формирует компактный поток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BDF8">
              <a:alpha val="7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7C3AED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7782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DCT и квантование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JPEG хорошо работает на фотографиях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519672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Сжатие изображений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65408" y="651967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7/12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77240" y="1170432"/>
            <a:ext cx="4800600" cy="4206240"/>
          </a:xfrm>
          <a:prstGeom prst="roundRect">
            <a:avLst>
              <a:gd name="adj" fmla="val 2609"/>
            </a:avLst>
          </a:prstGeom>
          <a:solidFill>
            <a:srgbClr val="F8FAFC"/>
          </a:solidFill>
          <a:ln w="8890">
            <a:solidFill>
              <a:srgbClr val="CAD5E2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8000"/>
              </a:srgbClr>
            </a:outerShdw>
          </a:effectLst>
        </p:spPr>
      </p:sp>
      <p:pic>
        <p:nvPicPr>
          <p:cNvPr id="11" name="Image 0" descr="/mnt/data/extracted_doc_images/compression/im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416" y="1280160"/>
            <a:ext cx="4274247" cy="39867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172200" y="1417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ФОРМУЛА КВАНТОВАНИЯ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172200" y="1810512"/>
            <a:ext cx="48006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Q(u,v) = round( C(u,v) / T(u,v) )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263640" y="2743200"/>
            <a:ext cx="4572000" cy="1737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C(u,v) — DCT-коэффициент блока</a:t>
            </a:r>
            <a:pPr indent="0" marL="0">
              <a:buNone/>
            </a:pPr>
            <a:r>
              <a:rPr lang="en-US" sz="15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T(u,v) — элемент таблицы квантования</a:t>
            </a:r>
            <a:pPr indent="0" marL="0">
              <a:buNone/>
            </a:pPr>
            <a:r>
              <a:rPr lang="en-US" sz="15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чем больше T, тем сильнее потеря деталей</a:t>
            </a:r>
            <a:pPr indent="0" marL="0">
              <a:buNone/>
            </a:pPr>
            <a:r>
              <a:rPr lang="en-US" sz="15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квантования появляется много нулей — их легко сжимать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6263640" y="5074920"/>
            <a:ext cx="54864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428232" y="5074920"/>
            <a:ext cx="4407408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Именно квантование является основной причиной потерь в JPEG.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BDF8">
              <a:alpha val="7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7C3AED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7782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PNG и lossless-сжатие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идея: предсказать пиксели и сжать остатки без потерь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519672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Сжатие изображений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65408" y="651967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2455164" y="178308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649724" y="178308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072884" y="178308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496044" y="178308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77240" y="1417320"/>
            <a:ext cx="1508760" cy="960120"/>
          </a:xfrm>
          <a:prstGeom prst="rect">
            <a:avLst/>
          </a:prstGeom>
          <a:solidFill>
            <a:srgbClr val="15233F"/>
          </a:solidFill>
          <a:ln w="12700">
            <a:solidFill>
              <a:srgbClr val="10B981">
                <a:alpha val="5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Пиксели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scanlines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743200" y="1417320"/>
            <a:ext cx="1783080" cy="960120"/>
          </a:xfrm>
          <a:prstGeom prst="rect">
            <a:avLst/>
          </a:prstGeom>
          <a:solidFill>
            <a:srgbClr val="15233F"/>
          </a:solidFill>
          <a:ln w="12700">
            <a:solidFill>
              <a:srgbClr val="10B981">
                <a:alpha val="5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Фильтр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предсказание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166360" y="1417320"/>
            <a:ext cx="1783080" cy="960120"/>
          </a:xfrm>
          <a:prstGeom prst="rect">
            <a:avLst/>
          </a:prstGeom>
          <a:solidFill>
            <a:srgbClr val="15233F"/>
          </a:solidFill>
          <a:ln w="12700">
            <a:solidFill>
              <a:srgbClr val="10B981">
                <a:alpha val="5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Остатки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разности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589520" y="1417320"/>
            <a:ext cx="1783080" cy="960120"/>
          </a:xfrm>
          <a:prstGeom prst="rect">
            <a:avLst/>
          </a:prstGeom>
          <a:solidFill>
            <a:srgbClr val="15233F"/>
          </a:solidFill>
          <a:ln w="12700">
            <a:solidFill>
              <a:srgbClr val="10B981">
                <a:alpha val="5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DEFLATE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LZ77 + Huffman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012680" y="1417320"/>
            <a:ext cx="1508760" cy="960120"/>
          </a:xfrm>
          <a:prstGeom prst="rect">
            <a:avLst/>
          </a:prstGeom>
          <a:solidFill>
            <a:srgbClr val="15233F"/>
          </a:solidFill>
          <a:ln w="12700">
            <a:solidFill>
              <a:srgbClr val="10B981">
                <a:alpha val="5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PNG-файл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бит-в-бит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60120" y="3246120"/>
            <a:ext cx="978408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фильтры PNG обратимы и применяются построчно</a:t>
            </a:r>
            <a:pPr indent="0" marL="0">
              <a:buNone/>
            </a:pPr>
            <a:r>
              <a:rPr lang="en-US" sz="16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DEFLATE ищет повторяющиеся последовательности и кодирует частые символы короче</a:t>
            </a:r>
            <a:pPr indent="0" marL="0">
              <a:buNone/>
            </a:pPr>
            <a:r>
              <a:rPr lang="en-US" sz="16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лучше всего подходит для интерфейсов, графики, текста и изображений с альфа-каналом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960120" y="5166360"/>
            <a:ext cx="54864" cy="50292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24712" y="5166360"/>
            <a:ext cx="9985248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PNG не соревнуется с JPEG на фотографиях по размеру, но незаменим там, где нельзя терять точность.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30352" y="6099048"/>
            <a:ext cx="109728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W3C PNG Specification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BDF8">
              <a:alpha val="7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7C3AED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7782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Современные форматы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один формат «лучший»: выбор зависит от задачи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519672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Сжатие изображений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65408" y="651967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822960" y="1234440"/>
            <a:ext cx="3246120" cy="1417320"/>
          </a:xfrm>
          <a:prstGeom prst="rect">
            <a:avLst/>
          </a:prstGeom>
          <a:solidFill>
            <a:srgbClr val="15233F"/>
          </a:solidFill>
          <a:ln w="12700">
            <a:solidFill>
              <a:srgbClr val="38BDF8">
                <a:alpha val="5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JPEG</a:t>
            </a:r>
            <a:endParaRPr lang="en-US" sz="1340" dirty="0"/>
          </a:p>
          <a:p>
            <a:pPr algn="ctr" indent="0" marL="0">
              <a:buNone/>
            </a:pPr>
            <a:r>
              <a:rPr lang="en-US" sz="134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фото, совместимость</a:t>
            </a:r>
            <a:endParaRPr lang="en-US" sz="1340" dirty="0"/>
          </a:p>
          <a:p>
            <a:pPr algn="ctr" indent="0" marL="0">
              <a:buNone/>
            </a:pPr>
            <a:r>
              <a:rPr lang="en-US" sz="134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DCT + lossy</a:t>
            </a:r>
            <a:endParaRPr lang="en-US" sz="1340" dirty="0"/>
          </a:p>
        </p:txBody>
      </p:sp>
      <p:sp>
        <p:nvSpPr>
          <p:cNvPr id="11" name="Text 8"/>
          <p:cNvSpPr/>
          <p:nvPr/>
        </p:nvSpPr>
        <p:spPr>
          <a:xfrm>
            <a:off x="4572000" y="1234440"/>
            <a:ext cx="3246120" cy="1417320"/>
          </a:xfrm>
          <a:prstGeom prst="rect">
            <a:avLst/>
          </a:prstGeom>
          <a:solidFill>
            <a:srgbClr val="15233F"/>
          </a:solidFill>
          <a:ln w="12700">
            <a:solidFill>
              <a:srgbClr val="10B981">
                <a:alpha val="5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PNG</a:t>
            </a:r>
            <a:endParaRPr lang="en-US" sz="1340" dirty="0"/>
          </a:p>
          <a:p>
            <a:pPr algn="ctr" indent="0" marL="0">
              <a:buNone/>
            </a:pPr>
            <a:r>
              <a:rPr lang="en-US" sz="134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графика, альфа, точность</a:t>
            </a:r>
            <a:endParaRPr lang="en-US" sz="1340" dirty="0"/>
          </a:p>
          <a:p>
            <a:pPr algn="ctr" indent="0" marL="0">
              <a:buNone/>
            </a:pPr>
            <a:r>
              <a:rPr lang="en-US" sz="134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 + DEFLATE</a:t>
            </a:r>
            <a:endParaRPr lang="en-US" sz="1340" dirty="0"/>
          </a:p>
        </p:txBody>
      </p:sp>
      <p:sp>
        <p:nvSpPr>
          <p:cNvPr id="12" name="Text 9"/>
          <p:cNvSpPr/>
          <p:nvPr/>
        </p:nvSpPr>
        <p:spPr>
          <a:xfrm>
            <a:off x="8321040" y="1234440"/>
            <a:ext cx="3246120" cy="1417320"/>
          </a:xfrm>
          <a:prstGeom prst="rect">
            <a:avLst/>
          </a:prstGeom>
          <a:solidFill>
            <a:srgbClr val="15233F"/>
          </a:solidFill>
          <a:ln w="12700">
            <a:solidFill>
              <a:srgbClr val="7C3AED">
                <a:alpha val="5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WebP</a:t>
            </a:r>
            <a:endParaRPr lang="en-US" sz="1340" dirty="0"/>
          </a:p>
          <a:p>
            <a:pPr algn="ctr" indent="0" marL="0">
              <a:buNone/>
            </a:pPr>
            <a:r>
              <a:rPr lang="en-US" sz="134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веб, фото/графика/анимация</a:t>
            </a:r>
            <a:endParaRPr lang="en-US" sz="1340" dirty="0"/>
          </a:p>
          <a:p>
            <a:pPr algn="ctr" indent="0" marL="0">
              <a:buNone/>
            </a:pPr>
            <a:r>
              <a:rPr lang="en-US" sz="134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lossy/lossless</a:t>
            </a:r>
            <a:endParaRPr lang="en-US" sz="1340" dirty="0"/>
          </a:p>
        </p:txBody>
      </p:sp>
      <p:sp>
        <p:nvSpPr>
          <p:cNvPr id="13" name="Text 10"/>
          <p:cNvSpPr/>
          <p:nvPr/>
        </p:nvSpPr>
        <p:spPr>
          <a:xfrm>
            <a:off x="822960" y="3657600"/>
            <a:ext cx="3246120" cy="1417320"/>
          </a:xfrm>
          <a:prstGeom prst="rect">
            <a:avLst/>
          </a:prstGeom>
          <a:solidFill>
            <a:srgbClr val="15233F"/>
          </a:solidFill>
          <a:ln w="12700">
            <a:solidFill>
              <a:srgbClr val="F59E0B">
                <a:alpha val="5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AVIF</a:t>
            </a:r>
            <a:endParaRPr lang="en-US" sz="1340" dirty="0"/>
          </a:p>
          <a:p>
            <a:pPr algn="ctr" indent="0" marL="0">
              <a:buNone/>
            </a:pPr>
            <a:r>
              <a:rPr lang="en-US" sz="134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высокая эффективность, HDR</a:t>
            </a:r>
            <a:endParaRPr lang="en-US" sz="1340" dirty="0"/>
          </a:p>
          <a:p>
            <a:pPr algn="ctr" indent="0" marL="0">
              <a:buNone/>
            </a:pPr>
            <a:r>
              <a:rPr lang="en-US" sz="134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AV1-in-HEIF</a:t>
            </a:r>
            <a:endParaRPr lang="en-US" sz="1340" dirty="0"/>
          </a:p>
        </p:txBody>
      </p:sp>
      <p:sp>
        <p:nvSpPr>
          <p:cNvPr id="14" name="Text 11"/>
          <p:cNvSpPr/>
          <p:nvPr/>
        </p:nvSpPr>
        <p:spPr>
          <a:xfrm>
            <a:off x="4572000" y="3657600"/>
            <a:ext cx="3246120" cy="1417320"/>
          </a:xfrm>
          <a:prstGeom prst="rect">
            <a:avLst/>
          </a:prstGeom>
          <a:solidFill>
            <a:srgbClr val="15233F"/>
          </a:solidFill>
          <a:ln w="12700">
            <a:solidFill>
              <a:srgbClr val="38BDF8">
                <a:alpha val="5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JPEG XL</a:t>
            </a:r>
            <a:endParaRPr lang="en-US" sz="1340" dirty="0"/>
          </a:p>
          <a:p>
            <a:pPr algn="ctr" indent="0" marL="0">
              <a:buNone/>
            </a:pPr>
            <a:r>
              <a:rPr lang="en-US" sz="134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новый универсальный формат</a:t>
            </a:r>
            <a:endParaRPr lang="en-US" sz="1340" dirty="0"/>
          </a:p>
          <a:p>
            <a:pPr algn="ctr" indent="0" marL="0">
              <a:buNone/>
            </a:pPr>
            <a:r>
              <a:rPr lang="en-US" sz="134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lossy/lossless, progressive</a:t>
            </a:r>
            <a:endParaRPr lang="en-US" sz="1340" dirty="0"/>
          </a:p>
        </p:txBody>
      </p:sp>
      <p:sp>
        <p:nvSpPr>
          <p:cNvPr id="15" name="Text 12"/>
          <p:cNvSpPr/>
          <p:nvPr/>
        </p:nvSpPr>
        <p:spPr>
          <a:xfrm>
            <a:off x="8321040" y="3657600"/>
            <a:ext cx="3246120" cy="1417320"/>
          </a:xfrm>
          <a:prstGeom prst="rect">
            <a:avLst/>
          </a:prstGeom>
          <a:solidFill>
            <a:srgbClr val="15233F"/>
          </a:solidFill>
          <a:ln w="12700">
            <a:solidFill>
              <a:srgbClr val="10B981">
                <a:alpha val="5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JPEG 2000</a:t>
            </a:r>
            <a:endParaRPr lang="en-US" sz="1340" dirty="0"/>
          </a:p>
          <a:p>
            <a:pPr algn="ctr" indent="0" marL="0">
              <a:buNone/>
            </a:pPr>
            <a:r>
              <a:rPr lang="en-US" sz="134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вейвлеты, проф. сферы</a:t>
            </a:r>
            <a:endParaRPr lang="en-US" sz="1340" dirty="0"/>
          </a:p>
          <a:p>
            <a:pPr algn="ctr" indent="0" marL="0">
              <a:buNone/>
            </a:pPr>
            <a:r>
              <a:rPr lang="en-US" sz="134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wavelet coding</a:t>
            </a:r>
            <a:endParaRPr lang="en-US" sz="1340" dirty="0"/>
          </a:p>
        </p:txBody>
      </p:sp>
      <p:sp>
        <p:nvSpPr>
          <p:cNvPr id="16" name="Text 13"/>
          <p:cNvSpPr/>
          <p:nvPr/>
        </p:nvSpPr>
        <p:spPr>
          <a:xfrm>
            <a:off x="914400" y="5715000"/>
            <a:ext cx="1005840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доклада: форматы отличаются не только степенью сжатия, но и скоростью, поддержкой прозрачности, HDR, прогрессивной загрузкой и совместимостью.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30352" y="6099048"/>
            <a:ext cx="109728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Google WebP · AOMedia AVIF · JPEG XL / ISO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BDF8">
              <a:alpha val="7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7C3AED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7782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Метрики качества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технически оценить результат сжатия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519672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Сжатие изображений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65408" y="651967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10/12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77240" y="1143000"/>
            <a:ext cx="5852160" cy="4297680"/>
          </a:xfrm>
          <a:prstGeom prst="roundRect">
            <a:avLst>
              <a:gd name="adj" fmla="val 2553"/>
            </a:avLst>
          </a:prstGeom>
          <a:solidFill>
            <a:srgbClr val="F8FAFC"/>
          </a:solidFill>
          <a:ln w="8890">
            <a:solidFill>
              <a:srgbClr val="CAD5E2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8000"/>
              </a:srgbClr>
            </a:outerShdw>
          </a:effectLst>
        </p:spPr>
      </p:sp>
      <p:pic>
        <p:nvPicPr>
          <p:cNvPr id="11" name="Image 0" descr="/mnt/data/extracted_doc_images/compression/imag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500622"/>
            <a:ext cx="5632704" cy="358243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95160" y="1417320"/>
            <a:ext cx="4206240" cy="3291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4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 = исходный размер / сжатый размер</a:t>
            </a:r>
            <a:pPr indent="0" marL="0">
              <a:buNone/>
            </a:pPr>
            <a:r>
              <a:rPr lang="en-US" sz="154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540" dirty="0"/>
          </a:p>
          <a:p>
            <a:pPr marL="177800" indent="-177800">
              <a:buSzPct val="100000"/>
              <a:buChar char="•"/>
            </a:pPr>
            <a:r>
              <a:rPr lang="en-US" sz="154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bpp показывает число бит на пиксель</a:t>
            </a:r>
            <a:pPr indent="0" marL="0">
              <a:buNone/>
            </a:pPr>
            <a:r>
              <a:rPr lang="en-US" sz="154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540" dirty="0"/>
          </a:p>
          <a:p>
            <a:pPr marL="177800" indent="-177800">
              <a:buSzPct val="100000"/>
              <a:buChar char="•"/>
            </a:pPr>
            <a:r>
              <a:rPr lang="en-US" sz="154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MSE измеряет среднеквадратичную ошибку</a:t>
            </a:r>
            <a:pPr indent="0" marL="0">
              <a:buNone/>
            </a:pPr>
            <a:r>
              <a:rPr lang="en-US" sz="154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540" dirty="0"/>
          </a:p>
          <a:p>
            <a:pPr marL="177800" indent="-177800">
              <a:buSzPct val="100000"/>
              <a:buChar char="•"/>
            </a:pPr>
            <a:r>
              <a:rPr lang="en-US" sz="154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PSNR переводит ошибку в децибелы</a:t>
            </a:r>
            <a:pPr indent="0" marL="0">
              <a:buNone/>
            </a:pPr>
            <a:r>
              <a:rPr lang="en-US" sz="154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540" dirty="0"/>
          </a:p>
          <a:p>
            <a:pPr marL="177800" indent="-177800">
              <a:buSzPct val="100000"/>
              <a:buChar char="•"/>
            </a:pPr>
            <a:r>
              <a:rPr lang="en-US" sz="154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SSIM учитывает структурное сходство и ближе к восприятию</a:t>
            </a:r>
            <a:endParaRPr lang="en-US" sz="1540" dirty="0"/>
          </a:p>
        </p:txBody>
      </p:sp>
      <p:sp>
        <p:nvSpPr>
          <p:cNvPr id="13" name="Shape 9"/>
          <p:cNvSpPr/>
          <p:nvPr/>
        </p:nvSpPr>
        <p:spPr>
          <a:xfrm>
            <a:off x="6995160" y="5074920"/>
            <a:ext cx="54864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159752" y="5074920"/>
            <a:ext cx="3904488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Высокий PSNR не всегда означает визуально лучший результат — поэтому полезно смотреть и SSIM, и изображение глазами.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BDF8">
              <a:alpha val="7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7C3AED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7782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Артефакты и выбор формата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сжатие с потерями меняет изображение предсказуемыми способами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519672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Сжатие изображений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65408" y="651967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11/12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77240" y="1143000"/>
            <a:ext cx="6126480" cy="283464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8890">
            <a:solidFill>
              <a:srgbClr val="CAD5E2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8000"/>
              </a:srgbClr>
            </a:outerShdw>
          </a:effectLst>
        </p:spPr>
      </p:sp>
      <p:pic>
        <p:nvPicPr>
          <p:cNvPr id="11" name="Image 0" descr="/mnt/data/extracted_doc_images/compression/imag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497550"/>
            <a:ext cx="5980176" cy="21255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2435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ТИПИЧНЫЕ АРТЕФАКТЫ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7315200" y="1645920"/>
            <a:ext cx="3840480" cy="1600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блочность 8×8</a:t>
            </a:r>
            <a:pPr indent="0" marL="0">
              <a:buNone/>
            </a:pPr>
            <a:r>
              <a:rPr lang="en-US" sz="15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размытие мелких деталей</a:t>
            </a:r>
            <a:pPr indent="0" marL="0">
              <a:buNone/>
            </a:pPr>
            <a:r>
              <a:rPr lang="en-US" sz="15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кольцевые артефакты вокруг контрастных границ</a:t>
            </a:r>
            <a:pPr indent="0" marL="0">
              <a:buNone/>
            </a:pPr>
            <a:r>
              <a:rPr lang="en-US" sz="15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цветовые искажения при сильном subsampling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315200" y="3794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ВЫБРАТЬ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7315200" y="4160520"/>
            <a:ext cx="3931920" cy="1188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фото: JPEG/WebP/AVIF</a:t>
            </a:r>
            <a:pPr indent="0" marL="0">
              <a:buNone/>
            </a:pPr>
            <a:r>
              <a:rPr lang="en-US" sz="15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скриншоты и текст: PNG или JPEG XL lossless</a:t>
            </a:r>
            <a:pPr indent="0" marL="0">
              <a:buNone/>
            </a:pPr>
            <a:r>
              <a:rPr lang="en-US" sz="15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архив/наука: lossless</a:t>
            </a:r>
            <a:pPr indent="0" marL="0">
              <a:buNone/>
            </a:pPr>
            <a:r>
              <a:rPr lang="en-US" sz="15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веб: учитывать поддержку браузеров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BDF8">
              <a:alpha val="7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7C3AED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7782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Коротко для защиты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главная логика темы в пяти тезисах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519672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Сжатие изображений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65408" y="651967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12/12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005840" y="1298448"/>
            <a:ext cx="9966960" cy="3063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8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изображение — двумерный цифровой сигнал, состоящий из пикселей и каналов</a:t>
            </a:r>
            <a:pPr indent="0" marL="0">
              <a:buNone/>
            </a:pPr>
            <a:r>
              <a:rPr lang="en-US" sz="178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780" dirty="0"/>
          </a:p>
          <a:p>
            <a:pPr marL="177800" indent="-177800">
              <a:buSzPct val="100000"/>
              <a:buChar char="•"/>
            </a:pPr>
            <a:r>
              <a:rPr lang="en-US" sz="178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сжатие удаляет пространственную, цветовую, статистическую и психовизуальную избыточность</a:t>
            </a:r>
            <a:pPr indent="0" marL="0">
              <a:buNone/>
            </a:pPr>
            <a:r>
              <a:rPr lang="en-US" sz="178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780" dirty="0"/>
          </a:p>
          <a:p>
            <a:pPr marL="177800" indent="-177800">
              <a:buSzPct val="100000"/>
              <a:buChar char="•"/>
            </a:pPr>
            <a:r>
              <a:rPr lang="en-US" sz="178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lossless восстанавливает данные точно, lossy допускает ошибку ради сильного уменьшения размера</a:t>
            </a:r>
            <a:pPr indent="0" marL="0">
              <a:buNone/>
            </a:pPr>
            <a:r>
              <a:rPr lang="en-US" sz="178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780" dirty="0"/>
          </a:p>
          <a:p>
            <a:pPr marL="177800" indent="-177800">
              <a:buSzPct val="100000"/>
              <a:buChar char="•"/>
            </a:pPr>
            <a:r>
              <a:rPr lang="en-US" sz="178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JPEG основан на YCbCr, DCT, квантовании и энтропийном кодировании</a:t>
            </a:r>
            <a:pPr indent="0" marL="0">
              <a:buNone/>
            </a:pPr>
            <a:r>
              <a:rPr lang="en-US" sz="178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780" dirty="0"/>
          </a:p>
          <a:p>
            <a:pPr marL="177800" indent="-177800">
              <a:buSzPct val="100000"/>
              <a:buChar char="•"/>
            </a:pPr>
            <a:r>
              <a:rPr lang="en-US" sz="178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качество оценивают по CR, bpp, MSE, PSNR, SSIM и визуальным артефактам</a:t>
            </a:r>
            <a:endParaRPr lang="en-US" sz="1780" dirty="0"/>
          </a:p>
        </p:txBody>
      </p:sp>
      <p:sp>
        <p:nvSpPr>
          <p:cNvPr id="11" name="Shape 8"/>
          <p:cNvSpPr/>
          <p:nvPr/>
        </p:nvSpPr>
        <p:spPr>
          <a:xfrm>
            <a:off x="1005840" y="4892040"/>
            <a:ext cx="54864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4892040"/>
            <a:ext cx="9710928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вывод: хороший способ сжатия выбирают по типу изображения, допустимым потерям и требованиям к совместимости.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30352" y="6099048"/>
            <a:ext cx="109728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ITU-T T.81 / JPEG · W3C PNG · Google WebP · JPEG XL · SSIM paper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Сжатие изображений</dc:title>
  <dc:subject>Сжатие изображений</dc:subject>
  <dc:creator>OpenAI</dc:creator>
  <cp:lastModifiedBy>OpenAI</cp:lastModifiedBy>
  <cp:revision>1</cp:revision>
  <dcterms:created xsi:type="dcterms:W3CDTF">2026-06-10T11:40:30Z</dcterms:created>
  <dcterms:modified xsi:type="dcterms:W3CDTF">2026-06-10T11:40:30Z</dcterms:modified>
</cp:coreProperties>
</file>