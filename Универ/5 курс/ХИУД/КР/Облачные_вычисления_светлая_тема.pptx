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04" d="100"/>
          <a:sy n="104" d="100"/>
        </p:scale>
        <p:origin x="232"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1568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ТЕКСТ ВЫСТУПЛЕНИЯ
Тема моей работы: облачные вычисления, виды развертывания облака, его инфраструктура и переход организации в облако. Я объясню, какие ресурсы получает пользователь, чем отличаются модели и что нужно проверить перед переносом систем.
ОСНОВА И ПОЯСНЕНИЯ (не зачитывать)
Содержание: «ХиУД КР(1).docx», титульный лист, с. 1.
Фамилии и год «Минск 2027» сохранены по обновлённому документу. Иллюстрация взята из предыдущей презентации пользователя.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ТЕКСТ ВЫСТУПЛЕНИЯ
Облачные вычисления дают доступ через сеть к общему набору ресурсов по запросу. Клиент получает серверы, место для данных или готовые приложения, а провайдер обеспечивает работу своей инфраструктуры.
В работе выделены пять признаков облака. Самообслуживание позволяет получить ресурс через панель управления. Сетевой доступ даёт возможность подключиться через интернет или внутреннюю сеть. Объединение ресурсов означает, что провайдер распределяет мощности между потребителями с разделением доступа. Эластичность позволяет добавить ресурсы при росте нагрузки и освободить их после спада. Учёт потребления показывает объём использованных ресурсов, а способ оплаты зависит от услуги.
Далее модели различаются тем, какую часть работы выполняет клиент.
ОСНОВА И ПОЯСНЕНИЯ (не зачитывать)
Содержание: «ХиУД КР(1).docx», раздел 1 «Понятие облака и сервисные модели», с. 2–4.
Ссылки из списка литературы контрольной работы:
[1] Mell P., Grance T. The NIST Definition of Cloud Computing. NIST SP 800-145. 2011. https://doi.org/10.6028/NIST.SP.800-145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ТЕКСТ ВЫСТУПЛЕНИЯ
Сервисная модель показывает, что получает клиент и чем он управляет. В IaaS, то есть инфраструктуре как услуге, клиент получает виртуальные серверы, диски и сеть. Он устанавливает и обновляет операционную систему и приложения, управляет данными.
В PaaS, платформе как услуге, провайдер предоставляет среду для разработки и запуска приложения. Клиент разрабатывает приложение, управляет его настройками и данными.
SaaS означает программное обеспечение как услугу. Клиент пользуется готовым приложением, например почтой, и настраивает доступные ему параметры и доступ пользователей.
В документе также рассмотрена FaaS: функции как услуга. Клиент передаёт код функции, а провайдер выполняет его и обслуживает инфраструктуру. После сервисных моделей можно перейти к тому, для кого организовано облако.
ОСНОВА И ПОЯСНЕНИЯ (не зачитывать)
Содержание: «ХиУД КР(1).docx», раздел 1 «Понятие облака и сервисные модели», включая сравнительную таблицу, с. 2–3.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ТЕКСТ ВЫСТУПЛЕНИЯ
Модель развертывания описывает круг пользователей и организацию облачной среды. Публичное облако предоставляет ресурсы многим клиентам. Частное облако предназначено для одной организации и может находиться в её центре обработки данных или у провайдера.
Гибридное облако объединяет публичную и частную части. В примере из работы критичные данные остаются в частной части, а внешние сервисы работают в публичной. Облако сообщества используют несколько организаций с общими требованиями, например университеты.
Отдельно в работе упоминается мультиоблако: организация использует нескольких провайдеров, например хранит данные у одного, а вычисления выполняет у другого. Для работы этих вариантов нужны оборудование и программные средства. Они составляют облачную инфраструктуру.
ОСНОВА И ПОЯСНЕНИЯ (не зачитывать)
Содержание: «ХиУД КР(1).docx», раздел 2 «Виды развертывания облака», с. 4.
Редакторское замечание: в КР заявлены четыре модели NIST, но затем пронумерованы пять вариантов, включая мультиоблако. На слайде сохранены все пять описаний: первые четыре показаны карточками, мультиоблако выделено отдельной строкой. Это разделение явно отмечено здесь; внешняя проверка классификации не проводилась.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ТЕКСТ ВЫСТУПЛЕНИЯ
Физическую основу облака составляют серверы, хранилища и сетевое оборудование в центре обработки данных. Там обеспечивают питание, охлаждение и защиту. Виртуализация позволяет запустить на одном сервере несколько виртуальных машин со своими операционными системами. Контейнер содержит приложение и его зависимости и использует общее ядро операционной системы. Провайдер автоматизирует выделение ресурсов.
Сеть обеспечивает обмен данными. Блочное хранилище используют как диск виртуальной машины, файловое даёт общие папки, объектное подходит для архивов и файлов приложений. Средства управления позволяют менять настройки, назначать права и следить за нагрузкой.
Резервирование поддерживает работу при отказе оборудования. Резервная копия возвращает данные к сохранённому состоянию после удаления или ошибки. Репликация текущих данных может перенести ошибку на другие узлы.
ОСНОВА И ПОЯСНЕНИЯ (не зачитывать)
Содержание: «ХиУД КР(1).docx», раздел 3 «Инфраструктура облачных вычислений», с. 4–5.
Ссылки из списка литературы контрольной работы:
[2] Liu F. et al. NIST Cloud Computing Reference Architecture. NIST SP 500-292. 2011. https://doi.org/10.6028/NIST.SP.500-292
[5] Microsoft. Redundancy, replication, and backup. https://learn.microsoft.com/en-us/azure/reliability/concept-redundancy-replication-backup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ТЕКСТ ВЫСТУПЛЕНИЯ
Перед переходом организация определяет цель: например, запуск нового сервиса или обработку пиковых нагрузок. Затем оценивает четыре аспекта.
Первый: приложения и данные. Специалисты проверяют совместимость, связи систем, лицензии, объём данных и допустимый простой. Второй: расходы. Нужно сравнить стоимость своей инфраструктуры с переносом и дальнейшей работой в облаке. Сокращение первоначальных вложений сопровождается регулярными платежами.
Третий: безопасность и ответственность. Провайдер защищает свою инфраструктуру, клиент управляет данными и доступом. В IaaS клиент также обновляет операционную систему и приложения. Границы обязанностей зависят от услуги и договора. Четвёртый: условия работы. Проверяют место хранения и возможность выгрузить данные, назначают ответственных, обучают сотрудников и согласуют действия при сбое. После оценки переход планируют по этапам.
ОСНОВА И ПОЯСНЕНИЯ (не зачитывать)
Содержание: «ХиУД КР(1).docx», раздел 4 «Переход к облачной инфраструктуре»: цель и четыре аспекта, с. 5–6.
Ссылки из списка литературы контрольной работы:
[3] Amazon Web Services. Shared Responsibility Model. https://aws.amazon.com/compliance/shared-responsibility-model/
[4] Microsoft. Cloud Adoption Framework. Plan your migration. https://learn.microsoft.com/en-us/azure/cloud-adoption-framework/migrate/plan-migration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ТЕКСТ ВЫСТУПЛЕНИЯ
Переход состоит из пяти этапов. Сначала выбирают модель и провайдера, рассчитывают ресурсы и расходы. Затем готовят среду: настраивают сеть, учётные записи, права доступа и резервное копирование.
На третьем этапе переносят тестовую систему. Проверяют её работу, скорость и восстановление данных. После этого переносят остальные системы с учётом их связей. До переключения готовят план возврата к прежней среде, чтобы иметь возможность вернуться при проблемах.
На последнем этапе проверяют полноту данных и работу сервисов. Нагрузку, защиту и расходы продолжают контролировать после переноса. Пример интернет-магазина показывает, как эти решения сочетаются на практике.
ОСНОВА И ПОЯСНЕНИЯ (не зачитывать)
Содержание: «ХиУД КР(1).docx», раздел 4 «Переход к облачной инфраструктуре»: пять этапов переноса, с. 6.
Ссылки из списка литературы контрольной работы:
[4] Microsoft. Cloud Adoption Framework. Plan your migration. https://learn.microsoft.com/en-us/azure/cloud-adoption-framework/migrate/plan-migration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ТЕКСТ ВЫСТУПЛЕНИЯ
Рассмотрим интернет-магазин, у которого во время распродажи растёт число посетителей. Сайт можно разместить на PaaS в публичном облаке и настроить добавление ресурсов при росте нагрузки. Для почты подойдёт SaaS, то есть готовое приложение. Старую учётную систему с особыми требованиями к операционной системе можно разместить в IaaS после проверки совместимости.
Перед переносом команда проверяет связь сайта с учётной системой, настраивает доступ и испытывает восстановление из резервной копии.
Организация выбирает сервисную модель по объёму работ, который готова выполнять сама, а модель развертывания по требованиям к среде. Для перехода нужно проверить системы, рассчитать расходы, распределить обязанности и испытать перенос. Экономию и надёжность оценивают по результатам работы.
ОСНОВА И ПОЯСНЕНИЯ (не зачитывать)
Содержание: «ХиУД КР(1).docx», раздел 5 «Пример выбора облачной модели» и заключение, с. 6.
Все тезисы и пример взяты из обновлённой контрольной работы. Внешние технические источники отдельно не проверялись; библиографические ссылки в заметках воспроизводят список литературы КР.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59436"/>
          </a:xfrm>
          <a:prstGeom prst="rect">
            <a:avLst/>
          </a:prstGeom>
          <a:solidFill>
            <a:srgbClr val="42C7EE"/>
          </a:solidFill>
          <a:ln w="12700">
            <a:solidFill>
              <a:srgbClr val="42C7EE">
                <a:alpha val="0"/>
              </a:srgbClr>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grpSp>
        <p:nvGrpSpPr>
          <p:cNvPr id="100" name="Облачная инфраструктура — светлая иллюстрация"/>
          <p:cNvGrpSpPr/>
          <p:nvPr/>
        </p:nvGrpSpPr>
        <p:grpSpPr>
          <a:xfrm>
            <a:off x="6336792" y="0"/>
            <a:ext cx="5855207" cy="6858000"/>
            <a:chOff x="6336792" y="0"/>
            <a:chExt cx="5855207" cy="6858000"/>
          </a:xfrm>
        </p:grpSpPr>
        <p:sp>
          <p:nvSpPr>
            <p:cNvPr id="101" name="Светлая панель"/>
            <p:cNvSpPr/>
            <p:nvPr/>
          </p:nvSpPr>
          <p:spPr>
            <a:xfrm>
              <a:off x="6336792" y="0"/>
              <a:ext cx="5855207" cy="6858000"/>
            </a:xfrm>
            <a:prstGeom prst="rect">
              <a:avLst/>
            </a:prstGeom>
            <a:solidFill>
              <a:srgbClr val="F6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Светлый круг"/>
            <p:cNvSpPr/>
            <p:nvPr/>
          </p:nvSpPr>
          <p:spPr>
            <a:xfrm>
              <a:off x="6446520" y="950976"/>
              <a:ext cx="5449824" cy="5449824"/>
            </a:xfrm>
            <a:prstGeom prst="ellipse">
              <a:avLst/>
            </a:prstGeom>
            <a:solidFill>
              <a:srgbClr val="EC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3" name="Connector 4"/>
            <p:cNvCxnSpPr/>
            <p:nvPr/>
          </p:nvCxnSpPr>
          <p:spPr>
            <a:xfrm>
              <a:off x="6949440" y="996696"/>
              <a:ext cx="393191" cy="0"/>
            </a:xfrm>
            <a:prstGeom prst="line">
              <a:avLst/>
            </a:prstGeom>
            <a:ln w="12700">
              <a:solidFill>
                <a:srgbClr val="D9E5F7"/>
              </a:solidFill>
            </a:ln>
          </p:spPr>
          <p:style>
            <a:lnRef idx="2">
              <a:schemeClr val="accent1"/>
            </a:lnRef>
            <a:fillRef idx="0">
              <a:schemeClr val="accent1"/>
            </a:fillRef>
            <a:effectRef idx="1">
              <a:schemeClr val="accent1"/>
            </a:effectRef>
            <a:fontRef idx="minor">
              <a:schemeClr val="tx1"/>
            </a:fontRef>
          </p:style>
        </p:cxnSp>
        <p:cxnSp>
          <p:nvCxnSpPr>
            <p:cNvPr id="104" name="Connector 5"/>
            <p:cNvCxnSpPr/>
            <p:nvPr/>
          </p:nvCxnSpPr>
          <p:spPr>
            <a:xfrm>
              <a:off x="6949440" y="996696"/>
              <a:ext cx="0" cy="393192"/>
            </a:xfrm>
            <a:prstGeom prst="line">
              <a:avLst/>
            </a:prstGeom>
            <a:ln w="12700">
              <a:solidFill>
                <a:srgbClr val="D9E5F7"/>
              </a:solidFill>
            </a:ln>
          </p:spPr>
          <p:style>
            <a:lnRef idx="2">
              <a:schemeClr val="accent1"/>
            </a:lnRef>
            <a:fillRef idx="0">
              <a:schemeClr val="accent1"/>
            </a:fillRef>
            <a:effectRef idx="1">
              <a:schemeClr val="accent1"/>
            </a:effectRef>
            <a:fontRef idx="minor">
              <a:schemeClr val="tx1"/>
            </a:fontRef>
          </p:style>
        </p:cxnSp>
        <p:sp>
          <p:nvSpPr>
            <p:cNvPr id="105" name="Oval 6"/>
            <p:cNvSpPr/>
            <p:nvPr/>
          </p:nvSpPr>
          <p:spPr>
            <a:xfrm>
              <a:off x="6912864" y="960120"/>
              <a:ext cx="73152" cy="73152"/>
            </a:xfrm>
            <a:prstGeom prst="ellipse">
              <a:avLst/>
            </a:prstGeom>
            <a:solidFill>
              <a:srgbClr val="B7C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6" name="Connector 7"/>
            <p:cNvCxnSpPr/>
            <p:nvPr/>
          </p:nvCxnSpPr>
          <p:spPr>
            <a:xfrm>
              <a:off x="11219688" y="5477256"/>
              <a:ext cx="0" cy="393192"/>
            </a:xfrm>
            <a:prstGeom prst="line">
              <a:avLst/>
            </a:prstGeom>
            <a:ln w="12700">
              <a:solidFill>
                <a:srgbClr val="D3E2F7"/>
              </a:solidFill>
            </a:ln>
          </p:spPr>
          <p:style>
            <a:lnRef idx="2">
              <a:schemeClr val="accent1"/>
            </a:lnRef>
            <a:fillRef idx="0">
              <a:schemeClr val="accent1"/>
            </a:fillRef>
            <a:effectRef idx="1">
              <a:schemeClr val="accent1"/>
            </a:effectRef>
            <a:fontRef idx="minor">
              <a:schemeClr val="tx1"/>
            </a:fontRef>
          </p:style>
        </p:cxnSp>
        <p:cxnSp>
          <p:nvCxnSpPr>
            <p:cNvPr id="107" name="Connector 8"/>
            <p:cNvCxnSpPr/>
            <p:nvPr/>
          </p:nvCxnSpPr>
          <p:spPr>
            <a:xfrm>
              <a:off x="10835640" y="5870448"/>
              <a:ext cx="384048" cy="0"/>
            </a:xfrm>
            <a:prstGeom prst="line">
              <a:avLst/>
            </a:prstGeom>
            <a:ln w="12700">
              <a:solidFill>
                <a:srgbClr val="D3E2F7"/>
              </a:solidFill>
            </a:ln>
          </p:spPr>
          <p:style>
            <a:lnRef idx="2">
              <a:schemeClr val="accent1"/>
            </a:lnRef>
            <a:fillRef idx="0">
              <a:schemeClr val="accent1"/>
            </a:fillRef>
            <a:effectRef idx="1">
              <a:schemeClr val="accent1"/>
            </a:effectRef>
            <a:fontRef idx="minor">
              <a:schemeClr val="tx1"/>
            </a:fontRef>
          </p:style>
        </p:cxnSp>
        <p:sp>
          <p:nvSpPr>
            <p:cNvPr id="108" name="Oval 9"/>
            <p:cNvSpPr/>
            <p:nvPr/>
          </p:nvSpPr>
          <p:spPr>
            <a:xfrm>
              <a:off x="11183112" y="5833872"/>
              <a:ext cx="73152" cy="73152"/>
            </a:xfrm>
            <a:prstGeom prst="ellipse">
              <a:avLst/>
            </a:prstGeom>
            <a:solidFill>
              <a:srgbClr val="AFC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
            <p:cNvSpPr/>
            <p:nvPr/>
          </p:nvSpPr>
          <p:spPr>
            <a:xfrm>
              <a:off x="11164824" y="1371600"/>
              <a:ext cx="109728" cy="109728"/>
            </a:xfrm>
            <a:prstGeom prst="ellipse">
              <a:avLst/>
            </a:prstGeom>
            <a:solidFill>
              <a:srgbClr val="C5D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1"/>
            <p:cNvSpPr/>
            <p:nvPr/>
          </p:nvSpPr>
          <p:spPr>
            <a:xfrm>
              <a:off x="6775704" y="5413248"/>
              <a:ext cx="91440" cy="91440"/>
            </a:xfrm>
            <a:prstGeom prst="ellipse">
              <a:avLst/>
            </a:prstGeom>
            <a:solidFill>
              <a:srgbClr val="C5D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1" name="Connector 12"/>
            <p:cNvCxnSpPr/>
            <p:nvPr/>
          </p:nvCxnSpPr>
          <p:spPr>
            <a:xfrm>
              <a:off x="9157716" y="2971800"/>
              <a:ext cx="0" cy="813815"/>
            </a:xfrm>
            <a:prstGeom prst="line">
              <a:avLst/>
            </a:prstGeom>
            <a:ln w="25400">
              <a:solidFill>
                <a:srgbClr val="91B4F4"/>
              </a:solidFill>
            </a:ln>
          </p:spPr>
          <p:style>
            <a:lnRef idx="2">
              <a:schemeClr val="accent1"/>
            </a:lnRef>
            <a:fillRef idx="0">
              <a:schemeClr val="accent1"/>
            </a:fillRef>
            <a:effectRef idx="1">
              <a:schemeClr val="accent1"/>
            </a:effectRef>
            <a:fontRef idx="minor">
              <a:schemeClr val="tx1"/>
            </a:fontRef>
          </p:style>
        </p:cxnSp>
        <p:cxnSp>
          <p:nvCxnSpPr>
            <p:cNvPr id="112" name="Connector 13"/>
            <p:cNvCxnSpPr/>
            <p:nvPr/>
          </p:nvCxnSpPr>
          <p:spPr>
            <a:xfrm>
              <a:off x="7589520" y="3785615"/>
              <a:ext cx="3136392" cy="0"/>
            </a:xfrm>
            <a:prstGeom prst="line">
              <a:avLst/>
            </a:prstGeom>
            <a:ln w="25400">
              <a:solidFill>
                <a:srgbClr val="91B4F4"/>
              </a:solidFill>
            </a:ln>
          </p:spPr>
          <p:style>
            <a:lnRef idx="2">
              <a:schemeClr val="accent1"/>
            </a:lnRef>
            <a:fillRef idx="0">
              <a:schemeClr val="accent1"/>
            </a:fillRef>
            <a:effectRef idx="1">
              <a:schemeClr val="accent1"/>
            </a:effectRef>
            <a:fontRef idx="minor">
              <a:schemeClr val="tx1"/>
            </a:fontRef>
          </p:style>
        </p:cxnSp>
        <p:cxnSp>
          <p:nvCxnSpPr>
            <p:cNvPr id="113" name="Connector 14"/>
            <p:cNvCxnSpPr/>
            <p:nvPr/>
          </p:nvCxnSpPr>
          <p:spPr>
            <a:xfrm>
              <a:off x="7589520" y="3785615"/>
              <a:ext cx="0" cy="393193"/>
            </a:xfrm>
            <a:prstGeom prst="line">
              <a:avLst/>
            </a:prstGeom>
            <a:ln w="25400">
              <a:solidFill>
                <a:srgbClr val="91B4F4"/>
              </a:solidFill>
            </a:ln>
          </p:spPr>
          <p:style>
            <a:lnRef idx="2">
              <a:schemeClr val="accent1"/>
            </a:lnRef>
            <a:fillRef idx="0">
              <a:schemeClr val="accent1"/>
            </a:fillRef>
            <a:effectRef idx="1">
              <a:schemeClr val="accent1"/>
            </a:effectRef>
            <a:fontRef idx="minor">
              <a:schemeClr val="tx1"/>
            </a:fontRef>
          </p:style>
        </p:cxnSp>
        <p:sp>
          <p:nvSpPr>
            <p:cNvPr id="114" name="Oval 15"/>
            <p:cNvSpPr/>
            <p:nvPr/>
          </p:nvSpPr>
          <p:spPr>
            <a:xfrm>
              <a:off x="7539228" y="3735324"/>
              <a:ext cx="100584" cy="100584"/>
            </a:xfrm>
            <a:prstGeom prst="ellipse">
              <a:avLst/>
            </a:prstGeom>
            <a:solidFill>
              <a:srgbClr val="FFFFFF"/>
            </a:solidFill>
            <a:ln w="17780">
              <a:solidFill>
                <a:srgbClr val="75A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5" name="Connector 16"/>
            <p:cNvCxnSpPr/>
            <p:nvPr/>
          </p:nvCxnSpPr>
          <p:spPr>
            <a:xfrm>
              <a:off x="9157716" y="3785615"/>
              <a:ext cx="0" cy="393193"/>
            </a:xfrm>
            <a:prstGeom prst="line">
              <a:avLst/>
            </a:prstGeom>
            <a:ln w="25400">
              <a:solidFill>
                <a:srgbClr val="91B4F4"/>
              </a:solidFill>
            </a:ln>
          </p:spPr>
          <p:style>
            <a:lnRef idx="2">
              <a:schemeClr val="accent1"/>
            </a:lnRef>
            <a:fillRef idx="0">
              <a:schemeClr val="accent1"/>
            </a:fillRef>
            <a:effectRef idx="1">
              <a:schemeClr val="accent1"/>
            </a:effectRef>
            <a:fontRef idx="minor">
              <a:schemeClr val="tx1"/>
            </a:fontRef>
          </p:style>
        </p:cxnSp>
        <p:sp>
          <p:nvSpPr>
            <p:cNvPr id="116" name="Oval 17"/>
            <p:cNvSpPr/>
            <p:nvPr/>
          </p:nvSpPr>
          <p:spPr>
            <a:xfrm>
              <a:off x="9107424" y="3735324"/>
              <a:ext cx="100584" cy="100584"/>
            </a:xfrm>
            <a:prstGeom prst="ellipse">
              <a:avLst/>
            </a:prstGeom>
            <a:solidFill>
              <a:srgbClr val="FFFFFF"/>
            </a:solidFill>
            <a:ln w="17780">
              <a:solidFill>
                <a:srgbClr val="75A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7" name="Connector 18"/>
            <p:cNvCxnSpPr/>
            <p:nvPr/>
          </p:nvCxnSpPr>
          <p:spPr>
            <a:xfrm>
              <a:off x="10725912" y="3785615"/>
              <a:ext cx="0" cy="393193"/>
            </a:xfrm>
            <a:prstGeom prst="line">
              <a:avLst/>
            </a:prstGeom>
            <a:ln w="25400">
              <a:solidFill>
                <a:srgbClr val="91B4F4"/>
              </a:solidFill>
            </a:ln>
          </p:spPr>
          <p:style>
            <a:lnRef idx="2">
              <a:schemeClr val="accent1"/>
            </a:lnRef>
            <a:fillRef idx="0">
              <a:schemeClr val="accent1"/>
            </a:fillRef>
            <a:effectRef idx="1">
              <a:schemeClr val="accent1"/>
            </a:effectRef>
            <a:fontRef idx="minor">
              <a:schemeClr val="tx1"/>
            </a:fontRef>
          </p:style>
        </p:cxnSp>
        <p:sp>
          <p:nvSpPr>
            <p:cNvPr id="118" name="Oval 19"/>
            <p:cNvSpPr/>
            <p:nvPr/>
          </p:nvSpPr>
          <p:spPr>
            <a:xfrm>
              <a:off x="10675620" y="3735324"/>
              <a:ext cx="100584" cy="100584"/>
            </a:xfrm>
            <a:prstGeom prst="ellipse">
              <a:avLst/>
            </a:prstGeom>
            <a:solidFill>
              <a:srgbClr val="FFFFFF"/>
            </a:solidFill>
            <a:ln w="17780">
              <a:solidFill>
                <a:srgbClr val="75A0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Облако"/>
            <p:cNvSpPr/>
            <p:nvPr/>
          </p:nvSpPr>
          <p:spPr>
            <a:xfrm>
              <a:off x="7360920" y="1280160"/>
              <a:ext cx="3822191" cy="2350008"/>
            </a:xfrm>
            <a:custGeom>
              <a:avLst/>
              <a:gdLst/>
              <a:ahLst/>
              <a:cxnLst/>
              <a:rect l="0" t="0" r="r" b="b"/>
              <a:pathLst>
                <a:path w="1000" h="700">
                  <a:moveTo>
                    <a:pt x="190" y="680"/>
                  </a:moveTo>
                  <a:cubicBezTo>
                    <a:pt x="85" y="680"/>
                    <a:pt x="0" y="595"/>
                    <a:pt x="0" y="490"/>
                  </a:cubicBezTo>
                  <a:cubicBezTo>
                    <a:pt x="0" y="392"/>
                    <a:pt x="69" y="310"/>
                    <a:pt x="164" y="292"/>
                  </a:cubicBezTo>
                  <a:cubicBezTo>
                    <a:pt x="180" y="177"/>
                    <a:pt x="278" y="90"/>
                    <a:pt x="396" y="90"/>
                  </a:cubicBezTo>
                  <a:cubicBezTo>
                    <a:pt x="520" y="90"/>
                    <a:pt x="623" y="184"/>
                    <a:pt x="634" y="306"/>
                  </a:cubicBezTo>
                  <a:cubicBezTo>
                    <a:pt x="670" y="282"/>
                    <a:pt x="713" y="267"/>
                    <a:pt x="756" y="269"/>
                  </a:cubicBezTo>
                  <a:cubicBezTo>
                    <a:pt x="888" y="274"/>
                    <a:pt x="996" y="379"/>
                    <a:pt x="1000" y="510"/>
                  </a:cubicBezTo>
                  <a:cubicBezTo>
                    <a:pt x="1000" y="604"/>
                    <a:pt x="924" y="680"/>
                    <a:pt x="830" y="680"/>
                  </a:cubicBezTo>
                  <a:close/>
                </a:path>
              </a:pathLst>
            </a:custGeom>
            <a:solidFill>
              <a:srgbClr val="D8E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Облако"/>
            <p:cNvSpPr/>
            <p:nvPr/>
          </p:nvSpPr>
          <p:spPr>
            <a:xfrm>
              <a:off x="7251192" y="1143000"/>
              <a:ext cx="3822191" cy="2350008"/>
            </a:xfrm>
            <a:custGeom>
              <a:avLst/>
              <a:gdLst/>
              <a:ahLst/>
              <a:cxnLst/>
              <a:rect l="0" t="0" r="r" b="b"/>
              <a:pathLst>
                <a:path w="1000" h="700">
                  <a:moveTo>
                    <a:pt x="190" y="680"/>
                  </a:moveTo>
                  <a:cubicBezTo>
                    <a:pt x="85" y="680"/>
                    <a:pt x="0" y="595"/>
                    <a:pt x="0" y="490"/>
                  </a:cubicBezTo>
                  <a:cubicBezTo>
                    <a:pt x="0" y="392"/>
                    <a:pt x="69" y="310"/>
                    <a:pt x="164" y="292"/>
                  </a:cubicBezTo>
                  <a:cubicBezTo>
                    <a:pt x="180" y="177"/>
                    <a:pt x="278" y="90"/>
                    <a:pt x="396" y="90"/>
                  </a:cubicBezTo>
                  <a:cubicBezTo>
                    <a:pt x="520" y="90"/>
                    <a:pt x="623" y="184"/>
                    <a:pt x="634" y="306"/>
                  </a:cubicBezTo>
                  <a:cubicBezTo>
                    <a:pt x="670" y="282"/>
                    <a:pt x="713" y="267"/>
                    <a:pt x="756" y="269"/>
                  </a:cubicBezTo>
                  <a:cubicBezTo>
                    <a:pt x="888" y="274"/>
                    <a:pt x="996" y="379"/>
                    <a:pt x="1000" y="510"/>
                  </a:cubicBezTo>
                  <a:cubicBezTo>
                    <a:pt x="1000" y="604"/>
                    <a:pt x="924" y="680"/>
                    <a:pt x="830" y="680"/>
                  </a:cubicBezTo>
                  <a:close/>
                </a:path>
              </a:pathLst>
            </a:custGeom>
            <a:gradFill rotWithShape="1">
              <a:gsLst>
                <a:gs pos="0">
                  <a:srgbClr val="8FBCFF"/>
                </a:gs>
                <a:gs pos="100000">
                  <a:srgbClr val="386FE4"/>
                </a:gs>
              </a:gsLst>
              <a:lin ang="54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1" name="Connector 22"/>
            <p:cNvCxnSpPr/>
            <p:nvPr/>
          </p:nvCxnSpPr>
          <p:spPr>
            <a:xfrm flipV="1">
              <a:off x="8055864" y="1892807"/>
              <a:ext cx="704088" cy="594361"/>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22" name="Connector 23"/>
            <p:cNvCxnSpPr/>
            <p:nvPr/>
          </p:nvCxnSpPr>
          <p:spPr>
            <a:xfrm>
              <a:off x="8759952" y="1892807"/>
              <a:ext cx="548640" cy="594361"/>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23" name="Connector 24"/>
            <p:cNvCxnSpPr/>
            <p:nvPr/>
          </p:nvCxnSpPr>
          <p:spPr>
            <a:xfrm>
              <a:off x="9308592" y="2487168"/>
              <a:ext cx="896112" cy="18288"/>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24" name="Connector 25"/>
            <p:cNvCxnSpPr/>
            <p:nvPr/>
          </p:nvCxnSpPr>
          <p:spPr>
            <a:xfrm>
              <a:off x="8759952" y="1892807"/>
              <a:ext cx="1188720" cy="192024"/>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25" name="Connector 26"/>
            <p:cNvCxnSpPr/>
            <p:nvPr/>
          </p:nvCxnSpPr>
          <p:spPr>
            <a:xfrm>
              <a:off x="9948672" y="2084831"/>
              <a:ext cx="256032" cy="420625"/>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26" name="Connector 27"/>
            <p:cNvCxnSpPr/>
            <p:nvPr/>
          </p:nvCxnSpPr>
          <p:spPr>
            <a:xfrm>
              <a:off x="8055864" y="2487168"/>
              <a:ext cx="1252728" cy="0"/>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27" name="Connector 28"/>
            <p:cNvCxnSpPr/>
            <p:nvPr/>
          </p:nvCxnSpPr>
          <p:spPr>
            <a:xfrm flipH="1">
              <a:off x="8622792" y="1892807"/>
              <a:ext cx="137160" cy="987553"/>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28" name="Connector 29"/>
            <p:cNvCxnSpPr/>
            <p:nvPr/>
          </p:nvCxnSpPr>
          <p:spPr>
            <a:xfrm flipV="1">
              <a:off x="8622792" y="2487168"/>
              <a:ext cx="685800" cy="393192"/>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29" name="Connector 30"/>
            <p:cNvCxnSpPr/>
            <p:nvPr/>
          </p:nvCxnSpPr>
          <p:spPr>
            <a:xfrm>
              <a:off x="9308592" y="2487168"/>
              <a:ext cx="521208" cy="420624"/>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cxnSp>
          <p:nvCxnSpPr>
            <p:cNvPr id="130" name="Connector 31"/>
            <p:cNvCxnSpPr/>
            <p:nvPr/>
          </p:nvCxnSpPr>
          <p:spPr>
            <a:xfrm flipV="1">
              <a:off x="9829800" y="2505456"/>
              <a:ext cx="374904" cy="402336"/>
            </a:xfrm>
            <a:prstGeom prst="line">
              <a:avLst/>
            </a:prstGeom>
            <a:ln w="10160">
              <a:solidFill>
                <a:srgbClr val="C9E0FF"/>
              </a:solidFill>
            </a:ln>
          </p:spPr>
          <p:style>
            <a:lnRef idx="2">
              <a:schemeClr val="accent1"/>
            </a:lnRef>
            <a:fillRef idx="0">
              <a:schemeClr val="accent1"/>
            </a:fillRef>
            <a:effectRef idx="1">
              <a:schemeClr val="accent1"/>
            </a:effectRef>
            <a:fontRef idx="minor">
              <a:schemeClr val="tx1"/>
            </a:fontRef>
          </p:style>
        </p:cxnSp>
        <p:sp>
          <p:nvSpPr>
            <p:cNvPr id="131" name="Oval 32"/>
            <p:cNvSpPr/>
            <p:nvPr/>
          </p:nvSpPr>
          <p:spPr>
            <a:xfrm>
              <a:off x="8019288" y="2450592"/>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33"/>
            <p:cNvSpPr/>
            <p:nvPr/>
          </p:nvSpPr>
          <p:spPr>
            <a:xfrm>
              <a:off x="8711946" y="1844801"/>
              <a:ext cx="96012" cy="9601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34"/>
            <p:cNvSpPr/>
            <p:nvPr/>
          </p:nvSpPr>
          <p:spPr>
            <a:xfrm>
              <a:off x="9258300" y="2436876"/>
              <a:ext cx="100584" cy="10058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35"/>
            <p:cNvSpPr/>
            <p:nvPr/>
          </p:nvSpPr>
          <p:spPr>
            <a:xfrm>
              <a:off x="10163556" y="2464308"/>
              <a:ext cx="82296" cy="8229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36"/>
            <p:cNvSpPr/>
            <p:nvPr/>
          </p:nvSpPr>
          <p:spPr>
            <a:xfrm>
              <a:off x="9914382" y="2050541"/>
              <a:ext cx="68580" cy="685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37"/>
            <p:cNvSpPr/>
            <p:nvPr/>
          </p:nvSpPr>
          <p:spPr>
            <a:xfrm>
              <a:off x="8588502" y="2846070"/>
              <a:ext cx="68580" cy="6858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38"/>
            <p:cNvSpPr/>
            <p:nvPr/>
          </p:nvSpPr>
          <p:spPr>
            <a:xfrm>
              <a:off x="9793224" y="2871216"/>
              <a:ext cx="73152" cy="7315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ounded Rectangle 39"/>
            <p:cNvSpPr/>
            <p:nvPr/>
          </p:nvSpPr>
          <p:spPr>
            <a:xfrm>
              <a:off x="7068312" y="4206240"/>
              <a:ext cx="1097280" cy="1252728"/>
            </a:xfrm>
            <a:prstGeom prst="roundRect">
              <a:avLst>
                <a:gd name="adj" fmla="val 9000"/>
              </a:avLst>
            </a:prstGeom>
            <a:solidFill>
              <a:srgbClr val="DD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Rounded Rectangle 40"/>
            <p:cNvSpPr/>
            <p:nvPr/>
          </p:nvSpPr>
          <p:spPr>
            <a:xfrm>
              <a:off x="7040880" y="4133087"/>
              <a:ext cx="1097280" cy="1252728"/>
            </a:xfrm>
            <a:prstGeom prst="roundRect">
              <a:avLst>
                <a:gd name="adj" fmla="val 9000"/>
              </a:avLst>
            </a:prstGeom>
            <a:solidFill>
              <a:srgbClr val="FFFFFF"/>
            </a:solidFill>
            <a:ln w="12065">
              <a:solidFill>
                <a:srgbClr val="C5D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ounded Rectangle 41"/>
            <p:cNvSpPr/>
            <p:nvPr/>
          </p:nvSpPr>
          <p:spPr>
            <a:xfrm>
              <a:off x="7178040" y="4315968"/>
              <a:ext cx="822960" cy="192024"/>
            </a:xfrm>
            <a:prstGeom prst="roundRect">
              <a:avLst>
                <a:gd name="adj" fmla="val 15000"/>
              </a:avLst>
            </a:prstGeom>
            <a:solidFill>
              <a:srgbClr val="DCE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Rounded Rectangle 42"/>
            <p:cNvSpPr/>
            <p:nvPr/>
          </p:nvSpPr>
          <p:spPr>
            <a:xfrm>
              <a:off x="7178040" y="4608576"/>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2" name="Connector 43"/>
            <p:cNvCxnSpPr/>
            <p:nvPr/>
          </p:nvCxnSpPr>
          <p:spPr>
            <a:xfrm>
              <a:off x="7251192" y="4661611"/>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43" name="Oval 44"/>
            <p:cNvSpPr/>
            <p:nvPr/>
          </p:nvSpPr>
          <p:spPr>
            <a:xfrm>
              <a:off x="7845552" y="4643323"/>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Rounded Rectangle 45"/>
            <p:cNvSpPr/>
            <p:nvPr/>
          </p:nvSpPr>
          <p:spPr>
            <a:xfrm>
              <a:off x="7178040" y="4805172"/>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5" name="Connector 46"/>
            <p:cNvCxnSpPr/>
            <p:nvPr/>
          </p:nvCxnSpPr>
          <p:spPr>
            <a:xfrm>
              <a:off x="7251192" y="4858207"/>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46" name="Oval 47"/>
            <p:cNvSpPr/>
            <p:nvPr/>
          </p:nvSpPr>
          <p:spPr>
            <a:xfrm>
              <a:off x="7845552" y="4839919"/>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Rounded Rectangle 48"/>
            <p:cNvSpPr/>
            <p:nvPr/>
          </p:nvSpPr>
          <p:spPr>
            <a:xfrm>
              <a:off x="7178040" y="5001768"/>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8" name="Connector 49"/>
            <p:cNvCxnSpPr/>
            <p:nvPr/>
          </p:nvCxnSpPr>
          <p:spPr>
            <a:xfrm>
              <a:off x="7251192" y="5054803"/>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49" name="Oval 50"/>
            <p:cNvSpPr/>
            <p:nvPr/>
          </p:nvSpPr>
          <p:spPr>
            <a:xfrm>
              <a:off x="7845552" y="5036515"/>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51"/>
            <p:cNvSpPr/>
            <p:nvPr/>
          </p:nvSpPr>
          <p:spPr>
            <a:xfrm>
              <a:off x="7260336" y="5321808"/>
              <a:ext cx="658368" cy="16459"/>
            </a:xfrm>
            <a:prstGeom prst="ellipse">
              <a:avLst/>
            </a:prstGeom>
            <a:solidFill>
              <a:srgbClr val="C0D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Rounded Rectangle 52"/>
            <p:cNvSpPr/>
            <p:nvPr/>
          </p:nvSpPr>
          <p:spPr>
            <a:xfrm>
              <a:off x="8636507" y="4206240"/>
              <a:ext cx="1097280" cy="1252728"/>
            </a:xfrm>
            <a:prstGeom prst="roundRect">
              <a:avLst>
                <a:gd name="adj" fmla="val 9000"/>
              </a:avLst>
            </a:prstGeom>
            <a:solidFill>
              <a:srgbClr val="DD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Rounded Rectangle 53"/>
            <p:cNvSpPr/>
            <p:nvPr/>
          </p:nvSpPr>
          <p:spPr>
            <a:xfrm>
              <a:off x="8609076" y="4133087"/>
              <a:ext cx="1097280" cy="1252728"/>
            </a:xfrm>
            <a:prstGeom prst="roundRect">
              <a:avLst>
                <a:gd name="adj" fmla="val 9000"/>
              </a:avLst>
            </a:prstGeom>
            <a:solidFill>
              <a:srgbClr val="FFFFFF"/>
            </a:solidFill>
            <a:ln w="12065">
              <a:solidFill>
                <a:srgbClr val="C5D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Rounded Rectangle 54"/>
            <p:cNvSpPr/>
            <p:nvPr/>
          </p:nvSpPr>
          <p:spPr>
            <a:xfrm>
              <a:off x="8746236" y="4315968"/>
              <a:ext cx="822960" cy="192024"/>
            </a:xfrm>
            <a:prstGeom prst="roundRect">
              <a:avLst>
                <a:gd name="adj" fmla="val 15000"/>
              </a:avLst>
            </a:prstGeom>
            <a:solidFill>
              <a:srgbClr val="DCE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Rounded Rectangle 55"/>
            <p:cNvSpPr/>
            <p:nvPr/>
          </p:nvSpPr>
          <p:spPr>
            <a:xfrm>
              <a:off x="8746236" y="4608576"/>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5" name="Connector 56"/>
            <p:cNvCxnSpPr/>
            <p:nvPr/>
          </p:nvCxnSpPr>
          <p:spPr>
            <a:xfrm>
              <a:off x="8819388" y="4661611"/>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56" name="Oval 57"/>
            <p:cNvSpPr/>
            <p:nvPr/>
          </p:nvSpPr>
          <p:spPr>
            <a:xfrm>
              <a:off x="9413748" y="4643323"/>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Rounded Rectangle 58"/>
            <p:cNvSpPr/>
            <p:nvPr/>
          </p:nvSpPr>
          <p:spPr>
            <a:xfrm>
              <a:off x="8746236" y="4805172"/>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8" name="Connector 59"/>
            <p:cNvCxnSpPr/>
            <p:nvPr/>
          </p:nvCxnSpPr>
          <p:spPr>
            <a:xfrm>
              <a:off x="8819388" y="4858207"/>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59" name="Oval 60"/>
            <p:cNvSpPr/>
            <p:nvPr/>
          </p:nvSpPr>
          <p:spPr>
            <a:xfrm>
              <a:off x="9413748" y="4839919"/>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ounded Rectangle 61"/>
            <p:cNvSpPr/>
            <p:nvPr/>
          </p:nvSpPr>
          <p:spPr>
            <a:xfrm>
              <a:off x="8746236" y="5001768"/>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1" name="Connector 62"/>
            <p:cNvCxnSpPr/>
            <p:nvPr/>
          </p:nvCxnSpPr>
          <p:spPr>
            <a:xfrm>
              <a:off x="8819388" y="5054803"/>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62" name="Oval 63"/>
            <p:cNvSpPr/>
            <p:nvPr/>
          </p:nvSpPr>
          <p:spPr>
            <a:xfrm>
              <a:off x="9413748" y="5036515"/>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64"/>
            <p:cNvSpPr/>
            <p:nvPr/>
          </p:nvSpPr>
          <p:spPr>
            <a:xfrm>
              <a:off x="8828532" y="5321808"/>
              <a:ext cx="658368" cy="16459"/>
            </a:xfrm>
            <a:prstGeom prst="ellipse">
              <a:avLst/>
            </a:prstGeom>
            <a:solidFill>
              <a:srgbClr val="C0D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Rounded Rectangle 65"/>
            <p:cNvSpPr/>
            <p:nvPr/>
          </p:nvSpPr>
          <p:spPr>
            <a:xfrm>
              <a:off x="10204704" y="4206240"/>
              <a:ext cx="1097280" cy="1252728"/>
            </a:xfrm>
            <a:prstGeom prst="roundRect">
              <a:avLst>
                <a:gd name="adj" fmla="val 9000"/>
              </a:avLst>
            </a:prstGeom>
            <a:solidFill>
              <a:srgbClr val="DDE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Rounded Rectangle 66"/>
            <p:cNvSpPr/>
            <p:nvPr/>
          </p:nvSpPr>
          <p:spPr>
            <a:xfrm>
              <a:off x="10177272" y="4133087"/>
              <a:ext cx="1097280" cy="1252728"/>
            </a:xfrm>
            <a:prstGeom prst="roundRect">
              <a:avLst>
                <a:gd name="adj" fmla="val 9000"/>
              </a:avLst>
            </a:prstGeom>
            <a:solidFill>
              <a:srgbClr val="FFFFFF"/>
            </a:solidFill>
            <a:ln w="12065">
              <a:solidFill>
                <a:srgbClr val="C5D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Rounded Rectangle 67"/>
            <p:cNvSpPr/>
            <p:nvPr/>
          </p:nvSpPr>
          <p:spPr>
            <a:xfrm>
              <a:off x="10314432" y="4315968"/>
              <a:ext cx="822960" cy="192024"/>
            </a:xfrm>
            <a:prstGeom prst="roundRect">
              <a:avLst>
                <a:gd name="adj" fmla="val 15000"/>
              </a:avLst>
            </a:prstGeom>
            <a:solidFill>
              <a:srgbClr val="DCE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Rounded Rectangle 68"/>
            <p:cNvSpPr/>
            <p:nvPr/>
          </p:nvSpPr>
          <p:spPr>
            <a:xfrm>
              <a:off x="10314432" y="4608576"/>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8" name="Connector 69"/>
            <p:cNvCxnSpPr/>
            <p:nvPr/>
          </p:nvCxnSpPr>
          <p:spPr>
            <a:xfrm>
              <a:off x="10387584" y="4661611"/>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69" name="Oval 70"/>
            <p:cNvSpPr/>
            <p:nvPr/>
          </p:nvSpPr>
          <p:spPr>
            <a:xfrm>
              <a:off x="10981944" y="4643323"/>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Rounded Rectangle 71"/>
            <p:cNvSpPr/>
            <p:nvPr/>
          </p:nvSpPr>
          <p:spPr>
            <a:xfrm>
              <a:off x="10314432" y="4805172"/>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1" name="Connector 72"/>
            <p:cNvCxnSpPr/>
            <p:nvPr/>
          </p:nvCxnSpPr>
          <p:spPr>
            <a:xfrm>
              <a:off x="10387584" y="4858207"/>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72" name="Oval 73"/>
            <p:cNvSpPr/>
            <p:nvPr/>
          </p:nvSpPr>
          <p:spPr>
            <a:xfrm>
              <a:off x="10981944" y="4839919"/>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Rounded Rectangle 74"/>
            <p:cNvSpPr/>
            <p:nvPr/>
          </p:nvSpPr>
          <p:spPr>
            <a:xfrm>
              <a:off x="10314432" y="5001768"/>
              <a:ext cx="822960" cy="105156"/>
            </a:xfrm>
            <a:prstGeom prst="roundRect">
              <a:avLst>
                <a:gd name="adj" fmla="val 15000"/>
              </a:avLst>
            </a:prstGeom>
            <a:solidFill>
              <a:srgbClr val="EA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74" name="Connector 75"/>
            <p:cNvCxnSpPr/>
            <p:nvPr/>
          </p:nvCxnSpPr>
          <p:spPr>
            <a:xfrm>
              <a:off x="10387584" y="5054803"/>
              <a:ext cx="365760" cy="0"/>
            </a:xfrm>
            <a:prstGeom prst="line">
              <a:avLst/>
            </a:prstGeom>
            <a:ln w="12065">
              <a:solidFill>
                <a:srgbClr val="7D9EC7"/>
              </a:solidFill>
            </a:ln>
          </p:spPr>
          <p:style>
            <a:lnRef idx="2">
              <a:schemeClr val="accent1"/>
            </a:lnRef>
            <a:fillRef idx="0">
              <a:schemeClr val="accent1"/>
            </a:fillRef>
            <a:effectRef idx="1">
              <a:schemeClr val="accent1"/>
            </a:effectRef>
            <a:fontRef idx="minor">
              <a:schemeClr val="tx1"/>
            </a:fontRef>
          </p:style>
        </p:cxnSp>
        <p:sp>
          <p:nvSpPr>
            <p:cNvPr id="175" name="Oval 76"/>
            <p:cNvSpPr/>
            <p:nvPr/>
          </p:nvSpPr>
          <p:spPr>
            <a:xfrm>
              <a:off x="10981944" y="5036515"/>
              <a:ext cx="36576" cy="36576"/>
            </a:xfrm>
            <a:prstGeom prst="ellipse">
              <a:avLst/>
            </a:prstGeom>
            <a:solidFill>
              <a:srgbClr val="3D7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77"/>
            <p:cNvSpPr/>
            <p:nvPr/>
          </p:nvSpPr>
          <p:spPr>
            <a:xfrm>
              <a:off x="10396728" y="5321808"/>
              <a:ext cx="658368" cy="16459"/>
            </a:xfrm>
            <a:prstGeom prst="ellipse">
              <a:avLst/>
            </a:prstGeom>
            <a:solidFill>
              <a:srgbClr val="C0D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4" name="Shape 1"/>
          <p:cNvSpPr/>
          <p:nvPr/>
        </p:nvSpPr>
        <p:spPr>
          <a:xfrm>
            <a:off x="521208" y="1399032"/>
            <a:ext cx="59436" cy="2743200"/>
          </a:xfrm>
          <a:prstGeom prst="rect">
            <a:avLst/>
          </a:prstGeom>
          <a:solidFill>
            <a:srgbClr val="2F68E8"/>
          </a:solidFill>
          <a:ln w="8890">
            <a:solidFill>
              <a:srgbClr val="2F68E8">
                <a:alpha val="0"/>
              </a:srgbClr>
            </a:solidFill>
            <a:prstDash val="solid"/>
          </a:ln>
        </p:spPr>
      </p:sp>
      <p:sp>
        <p:nvSpPr>
          <p:cNvPr id="5" name="Text 2"/>
          <p:cNvSpPr/>
          <p:nvPr/>
        </p:nvSpPr>
        <p:spPr>
          <a:xfrm>
            <a:off x="713232" y="521208"/>
            <a:ext cx="1828800" cy="292608"/>
          </a:xfrm>
          <a:prstGeom prst="rect">
            <a:avLst/>
          </a:prstGeom>
          <a:noFill/>
          <a:ln/>
        </p:spPr>
        <p:txBody>
          <a:bodyPr wrap="square" lIns="0" tIns="0" rIns="0" bIns="0" rtlCol="0" anchor="ctr">
            <a:spAutoFit/>
          </a:bodyPr>
          <a:lstStyle/>
          <a:p>
            <a:pPr marL="0" indent="0">
              <a:lnSpc>
                <a:spcPct val="104000"/>
              </a:lnSpc>
              <a:buNone/>
            </a:pPr>
            <a:r>
              <a:rPr lang="en-US" sz="1700" b="1" dirty="0">
                <a:solidFill>
                  <a:srgbClr val="2F68E8"/>
                </a:solidFill>
                <a:latin typeface="Arial" pitchFamily="34" charset="0"/>
                <a:ea typeface="Arial" pitchFamily="34" charset="-122"/>
                <a:cs typeface="Arial" pitchFamily="34" charset="-120"/>
              </a:rPr>
              <a:t>БГУИР</a:t>
            </a:r>
            <a:endParaRPr lang="en-US" sz="1700" dirty="0"/>
          </a:p>
        </p:txBody>
      </p:sp>
      <p:sp>
        <p:nvSpPr>
          <p:cNvPr id="6" name="Text 3"/>
          <p:cNvSpPr/>
          <p:nvPr/>
        </p:nvSpPr>
        <p:spPr>
          <a:xfrm>
            <a:off x="722376" y="905256"/>
            <a:ext cx="5303520" cy="301752"/>
          </a:xfrm>
          <a:prstGeom prst="rect">
            <a:avLst/>
          </a:prstGeom>
          <a:noFill/>
          <a:ln/>
        </p:spPr>
        <p:txBody>
          <a:bodyPr wrap="square" lIns="0" tIns="0" rIns="0" bIns="0" rtlCol="0" anchor="ctr">
            <a:spAutoFit/>
          </a:bodyPr>
          <a:lstStyle/>
          <a:p>
            <a:pPr marL="0" indent="0">
              <a:lnSpc>
                <a:spcPct val="104000"/>
              </a:lnSpc>
              <a:buNone/>
            </a:pPr>
            <a:r>
              <a:rPr lang="en-US" sz="1350" dirty="0">
                <a:solidFill>
                  <a:srgbClr val="43536A"/>
                </a:solidFill>
                <a:latin typeface="Arial" pitchFamily="34" charset="0"/>
                <a:ea typeface="Arial" pitchFamily="34" charset="-122"/>
                <a:cs typeface="Arial" pitchFamily="34" charset="-120"/>
              </a:rPr>
              <a:t>Факультет компьютерных систем и сетей</a:t>
            </a:r>
            <a:endParaRPr lang="en-US" sz="1350" dirty="0"/>
          </a:p>
        </p:txBody>
      </p:sp>
      <p:sp>
        <p:nvSpPr>
          <p:cNvPr id="7" name="Text 4"/>
          <p:cNvSpPr/>
          <p:nvPr/>
        </p:nvSpPr>
        <p:spPr>
          <a:xfrm>
            <a:off x="713232" y="1527048"/>
            <a:ext cx="5440680" cy="1426464"/>
          </a:xfrm>
          <a:prstGeom prst="rect">
            <a:avLst/>
          </a:prstGeom>
          <a:noFill/>
          <a:ln/>
        </p:spPr>
        <p:txBody>
          <a:bodyPr wrap="square" lIns="0" tIns="0" rIns="0" bIns="0" rtlCol="0" anchor="ctr">
            <a:spAutoFit/>
          </a:bodyPr>
          <a:lstStyle/>
          <a:p>
            <a:pPr marL="0" indent="0">
              <a:lnSpc>
                <a:spcPct val="102000"/>
              </a:lnSpc>
              <a:buNone/>
            </a:pPr>
            <a:r>
              <a:rPr lang="en-US" sz="4300" b="1" dirty="0">
                <a:solidFill>
                  <a:srgbClr val="182D47"/>
                </a:solidFill>
                <a:latin typeface="Arial" pitchFamily="34" charset="0"/>
                <a:ea typeface="Arial" pitchFamily="34" charset="-122"/>
                <a:cs typeface="Arial" pitchFamily="34" charset="-120"/>
              </a:rPr>
              <a:t>Облачные</a:t>
            </a:r>
            <a:endParaRPr lang="en-US" sz="4300" dirty="0"/>
          </a:p>
          <a:p>
            <a:pPr marL="0" indent="0">
              <a:lnSpc>
                <a:spcPct val="102000"/>
              </a:lnSpc>
              <a:buNone/>
            </a:pPr>
            <a:r>
              <a:rPr lang="en-US" sz="4300" b="1" dirty="0">
                <a:solidFill>
                  <a:srgbClr val="182D47"/>
                </a:solidFill>
                <a:latin typeface="Arial" pitchFamily="34" charset="0"/>
                <a:ea typeface="Arial" pitchFamily="34" charset="-122"/>
                <a:cs typeface="Arial" pitchFamily="34" charset="-120"/>
              </a:rPr>
              <a:t>вычисления</a:t>
            </a:r>
            <a:endParaRPr lang="en-US" sz="4300" dirty="0"/>
          </a:p>
        </p:txBody>
      </p:sp>
      <p:sp>
        <p:nvSpPr>
          <p:cNvPr id="8" name="Text 5"/>
          <p:cNvSpPr/>
          <p:nvPr/>
        </p:nvSpPr>
        <p:spPr>
          <a:xfrm>
            <a:off x="731520" y="3227832"/>
            <a:ext cx="5166360" cy="768096"/>
          </a:xfrm>
          <a:prstGeom prst="rect">
            <a:avLst/>
          </a:prstGeom>
          <a:noFill/>
          <a:ln/>
        </p:spPr>
        <p:txBody>
          <a:bodyPr wrap="square" lIns="0" tIns="0" rIns="0" bIns="0" rtlCol="0" anchor="ctr">
            <a:spAutoFit/>
          </a:bodyPr>
          <a:lstStyle/>
          <a:p>
            <a:pPr marL="0" indent="0">
              <a:lnSpc>
                <a:spcPct val="115000"/>
              </a:lnSpc>
              <a:buNone/>
            </a:pPr>
            <a:r>
              <a:rPr lang="en-US" sz="2100" dirty="0">
                <a:solidFill>
                  <a:srgbClr val="43536A"/>
                </a:solidFill>
                <a:latin typeface="Arial" pitchFamily="34" charset="0"/>
                <a:ea typeface="Arial" pitchFamily="34" charset="-122"/>
                <a:cs typeface="Arial" pitchFamily="34" charset="-120"/>
              </a:rPr>
              <a:t>Виды развертывания, инфраструктура</a:t>
            </a:r>
            <a:endParaRPr lang="en-US" sz="2100" dirty="0"/>
          </a:p>
          <a:p>
            <a:pPr marL="0" indent="0">
              <a:lnSpc>
                <a:spcPct val="115000"/>
              </a:lnSpc>
              <a:buNone/>
            </a:pPr>
            <a:r>
              <a:rPr lang="en-US" sz="2100" dirty="0">
                <a:solidFill>
                  <a:srgbClr val="43536A"/>
                </a:solidFill>
                <a:latin typeface="Arial" pitchFamily="34" charset="0"/>
                <a:ea typeface="Arial" pitchFamily="34" charset="-122"/>
                <a:cs typeface="Arial" pitchFamily="34" charset="-120"/>
              </a:rPr>
              <a:t>и переход к облачной инфраструктуре</a:t>
            </a:r>
            <a:endParaRPr lang="en-US" sz="2100" dirty="0"/>
          </a:p>
        </p:txBody>
      </p:sp>
      <p:sp>
        <p:nvSpPr>
          <p:cNvPr id="9" name="Shape 6"/>
          <p:cNvSpPr/>
          <p:nvPr/>
        </p:nvSpPr>
        <p:spPr>
          <a:xfrm>
            <a:off x="731520" y="4389120"/>
            <a:ext cx="2212848" cy="0"/>
          </a:xfrm>
          <a:prstGeom prst="line">
            <a:avLst/>
          </a:prstGeom>
          <a:noFill/>
          <a:ln w="25400">
            <a:solidFill>
              <a:srgbClr val="2F68E8"/>
            </a:solidFill>
            <a:prstDash val="solid"/>
            <a:headEnd type="none"/>
            <a:tailEnd type="none"/>
          </a:ln>
        </p:spPr>
      </p:sp>
      <p:sp>
        <p:nvSpPr>
          <p:cNvPr id="10" name="Text 7"/>
          <p:cNvSpPr/>
          <p:nvPr/>
        </p:nvSpPr>
        <p:spPr>
          <a:xfrm>
            <a:off x="731520" y="4626864"/>
            <a:ext cx="5239512" cy="621792"/>
          </a:xfrm>
          <a:prstGeom prst="rect">
            <a:avLst/>
          </a:prstGeom>
          <a:noFill/>
          <a:ln/>
        </p:spPr>
        <p:txBody>
          <a:bodyPr wrap="square" lIns="0" tIns="0" rIns="0" bIns="0" rtlCol="0" anchor="ctr">
            <a:spAutoFit/>
          </a:bodyPr>
          <a:lstStyle/>
          <a:p>
            <a:pPr marL="0" indent="0">
              <a:lnSpc>
                <a:spcPct val="110000"/>
              </a:lnSpc>
              <a:buNone/>
            </a:pPr>
            <a:r>
              <a:rPr lang="en-US" sz="1650" dirty="0">
                <a:solidFill>
                  <a:srgbClr val="43536A"/>
                </a:solidFill>
                <a:latin typeface="Arial" pitchFamily="34" charset="0"/>
                <a:ea typeface="Arial" pitchFamily="34" charset="-122"/>
                <a:cs typeface="Arial" pitchFamily="34" charset="-120"/>
              </a:rPr>
              <a:t>Контрольная работа</a:t>
            </a:r>
            <a:endParaRPr lang="en-US" sz="1650" dirty="0"/>
          </a:p>
          <a:p>
            <a:pPr marL="0" indent="0">
              <a:lnSpc>
                <a:spcPct val="110000"/>
              </a:lnSpc>
              <a:buNone/>
            </a:pPr>
            <a:r>
              <a:rPr lang="en-US" sz="1650" dirty="0">
                <a:solidFill>
                  <a:srgbClr val="43536A"/>
                </a:solidFill>
                <a:latin typeface="Arial" pitchFamily="34" charset="0"/>
                <a:ea typeface="Arial" pitchFamily="34" charset="-122"/>
                <a:cs typeface="Arial" pitchFamily="34" charset="-120"/>
              </a:rPr>
              <a:t>Хранение и управление данными</a:t>
            </a:r>
            <a:endParaRPr lang="en-US" sz="1650" dirty="0"/>
          </a:p>
        </p:txBody>
      </p:sp>
      <p:sp>
        <p:nvSpPr>
          <p:cNvPr id="11" name="Text 8"/>
          <p:cNvSpPr/>
          <p:nvPr/>
        </p:nvSpPr>
        <p:spPr>
          <a:xfrm>
            <a:off x="731520" y="5677224"/>
            <a:ext cx="4846320" cy="221856"/>
          </a:xfrm>
          <a:prstGeom prst="rect">
            <a:avLst/>
          </a:prstGeom>
          <a:noFill/>
          <a:ln/>
        </p:spPr>
        <p:txBody>
          <a:bodyPr wrap="square" lIns="0" tIns="0" rIns="0" bIns="0" rtlCol="0" anchor="ctr">
            <a:spAutoFit/>
          </a:bodyPr>
          <a:lstStyle/>
          <a:p>
            <a:pPr marL="0" indent="0">
              <a:lnSpc>
                <a:spcPct val="112000"/>
              </a:lnSpc>
              <a:buNone/>
            </a:pPr>
            <a:endParaRPr lang="en-US" sz="1400" dirty="0"/>
          </a:p>
        </p:txBody>
      </p:sp>
      <p:sp>
        <p:nvSpPr>
          <p:cNvPr id="12" name="Text 9"/>
          <p:cNvSpPr/>
          <p:nvPr/>
        </p:nvSpPr>
        <p:spPr>
          <a:xfrm>
            <a:off x="731520" y="6364224"/>
            <a:ext cx="2743200" cy="228600"/>
          </a:xfrm>
          <a:prstGeom prst="rect">
            <a:avLst/>
          </a:prstGeom>
          <a:noFill/>
          <a:ln/>
        </p:spPr>
        <p:txBody>
          <a:bodyPr wrap="square" lIns="0" tIns="0" rIns="0" bIns="0" rtlCol="0" anchor="ctr">
            <a:spAutoFit/>
          </a:bodyPr>
          <a:lstStyle/>
          <a:p>
            <a:pPr marL="0" indent="0">
              <a:lnSpc>
                <a:spcPct val="104000"/>
              </a:lnSpc>
              <a:buNone/>
            </a:pPr>
            <a:r>
              <a:rPr lang="en-US" sz="1200" dirty="0">
                <a:solidFill>
                  <a:srgbClr val="6B7C91"/>
                </a:solidFill>
                <a:latin typeface="Arial" pitchFamily="34" charset="0"/>
                <a:ea typeface="Arial" pitchFamily="34" charset="-122"/>
                <a:cs typeface="Arial" pitchFamily="34" charset="-120"/>
              </a:rPr>
              <a:t>Минск 2027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11155680" cy="530352"/>
          </a:xfrm>
          <a:prstGeom prst="rect">
            <a:avLst/>
          </a:prstGeom>
          <a:noFill/>
          <a:ln/>
        </p:spPr>
        <p:txBody>
          <a:bodyPr wrap="square" lIns="0" tIns="0" rIns="0" bIns="0" rtlCol="0" anchor="ctr">
            <a:spAutoFit/>
          </a:bodyPr>
          <a:lstStyle/>
          <a:p>
            <a:pPr marL="0" indent="0">
              <a:lnSpc>
                <a:spcPct val="104000"/>
              </a:lnSpc>
              <a:buNone/>
            </a:pPr>
            <a:r>
              <a:rPr lang="en-US" sz="3100" b="1" dirty="0">
                <a:solidFill>
                  <a:srgbClr val="182D47"/>
                </a:solidFill>
                <a:latin typeface="Arial" pitchFamily="34" charset="0"/>
                <a:ea typeface="Arial" pitchFamily="34" charset="-122"/>
                <a:cs typeface="Arial" pitchFamily="34" charset="-120"/>
              </a:rPr>
              <a:t>Что такое облако</a:t>
            </a:r>
            <a:endParaRPr lang="en-US" sz="3100" dirty="0"/>
          </a:p>
        </p:txBody>
      </p:sp>
      <p:sp>
        <p:nvSpPr>
          <p:cNvPr id="3" name="Shape 1"/>
          <p:cNvSpPr/>
          <p:nvPr/>
        </p:nvSpPr>
        <p:spPr>
          <a:xfrm>
            <a:off x="502920" y="6345936"/>
            <a:ext cx="11183112" cy="0"/>
          </a:xfrm>
          <a:prstGeom prst="line">
            <a:avLst/>
          </a:prstGeom>
          <a:noFill/>
          <a:ln w="10160">
            <a:solidFill>
              <a:srgbClr val="D4DFEF"/>
            </a:solidFill>
            <a:prstDash val="solid"/>
            <a:headEnd type="none"/>
            <a:tailEnd type="none"/>
          </a:ln>
        </p:spPr>
      </p:sp>
      <p:sp>
        <p:nvSpPr>
          <p:cNvPr id="4" name="Text 2"/>
          <p:cNvSpPr/>
          <p:nvPr/>
        </p:nvSpPr>
        <p:spPr>
          <a:xfrm>
            <a:off x="502920" y="6452167"/>
            <a:ext cx="4023360" cy="156710"/>
          </a:xfrm>
          <a:prstGeom prst="rect">
            <a:avLst/>
          </a:prstGeom>
          <a:noFill/>
          <a:ln/>
        </p:spPr>
        <p:txBody>
          <a:bodyPr wrap="square" lIns="0" tIns="0" rIns="0" bIns="0" rtlCol="0" anchor="ctr">
            <a:spAutoFit/>
          </a:bodyPr>
          <a:lstStyle/>
          <a:p>
            <a:pPr marL="0" indent="0">
              <a:lnSpc>
                <a:spcPct val="104000"/>
              </a:lnSpc>
              <a:buNone/>
            </a:pPr>
            <a:endParaRPr lang="en-US" sz="1050" dirty="0"/>
          </a:p>
        </p:txBody>
      </p:sp>
      <p:sp>
        <p:nvSpPr>
          <p:cNvPr id="5" name="Text 3"/>
          <p:cNvSpPr/>
          <p:nvPr/>
        </p:nvSpPr>
        <p:spPr>
          <a:xfrm>
            <a:off x="4663440" y="6464177"/>
            <a:ext cx="6126480" cy="156710"/>
          </a:xfrm>
          <a:prstGeom prst="rect">
            <a:avLst/>
          </a:prstGeom>
          <a:noFill/>
          <a:ln/>
        </p:spPr>
        <p:txBody>
          <a:bodyPr wrap="square" lIns="0" tIns="0" rIns="0" bIns="0" rtlCol="0" anchor="ctr">
            <a:spAutoFit/>
          </a:bodyPr>
          <a:lstStyle/>
          <a:p>
            <a:pPr marL="0" indent="0" algn="r">
              <a:lnSpc>
                <a:spcPct val="104000"/>
              </a:lnSpc>
              <a:buNone/>
            </a:pPr>
            <a:endParaRPr lang="en-US" sz="1050" dirty="0"/>
          </a:p>
        </p:txBody>
      </p:sp>
      <p:sp>
        <p:nvSpPr>
          <p:cNvPr id="6" name="Text 4"/>
          <p:cNvSpPr/>
          <p:nvPr/>
        </p:nvSpPr>
        <p:spPr>
          <a:xfrm>
            <a:off x="10972800" y="6452167"/>
            <a:ext cx="694944" cy="171585"/>
          </a:xfrm>
          <a:prstGeom prst="rect">
            <a:avLst/>
          </a:prstGeom>
          <a:noFill/>
          <a:ln/>
        </p:spPr>
        <p:txBody>
          <a:bodyPr wrap="square" lIns="0" tIns="0" rIns="0" bIns="0" rtlCol="0" anchor="ctr">
            <a:spAutoFit/>
          </a:bodyPr>
          <a:lstStyle/>
          <a:p>
            <a:pPr marL="0" indent="0" algn="r">
              <a:lnSpc>
                <a:spcPct val="104000"/>
              </a:lnSpc>
              <a:buNone/>
            </a:pPr>
            <a:endParaRPr lang="en-US" sz="1150" dirty="0"/>
          </a:p>
        </p:txBody>
      </p:sp>
      <p:sp>
        <p:nvSpPr>
          <p:cNvPr id="7" name="Shape 5"/>
          <p:cNvSpPr/>
          <p:nvPr/>
        </p:nvSpPr>
        <p:spPr>
          <a:xfrm>
            <a:off x="502920" y="1508760"/>
            <a:ext cx="3767328" cy="4453128"/>
          </a:xfrm>
          <a:prstGeom prst="rect">
            <a:avLst/>
          </a:prstGeom>
          <a:solidFill>
            <a:srgbClr val="F1F5FC"/>
          </a:solidFill>
          <a:ln w="8890">
            <a:solidFill>
              <a:srgbClr val="F1F5FC">
                <a:alpha val="0"/>
              </a:srgbClr>
            </a:solidFill>
            <a:prstDash val="solid"/>
          </a:ln>
        </p:spPr>
      </p:sp>
      <p:sp>
        <p:nvSpPr>
          <p:cNvPr id="8" name="Shape 6"/>
          <p:cNvSpPr/>
          <p:nvPr/>
        </p:nvSpPr>
        <p:spPr>
          <a:xfrm>
            <a:off x="502920" y="1508760"/>
            <a:ext cx="45720" cy="4453128"/>
          </a:xfrm>
          <a:prstGeom prst="rect">
            <a:avLst/>
          </a:prstGeom>
          <a:solidFill>
            <a:srgbClr val="2F68E8"/>
          </a:solidFill>
          <a:ln w="8890">
            <a:solidFill>
              <a:srgbClr val="2F68E8">
                <a:alpha val="0"/>
              </a:srgbClr>
            </a:solidFill>
            <a:prstDash val="solid"/>
          </a:ln>
        </p:spPr>
      </p:sp>
      <p:sp>
        <p:nvSpPr>
          <p:cNvPr id="9" name="Text 7"/>
          <p:cNvSpPr/>
          <p:nvPr/>
        </p:nvSpPr>
        <p:spPr>
          <a:xfrm>
            <a:off x="777240" y="1792224"/>
            <a:ext cx="3291840" cy="1664208"/>
          </a:xfrm>
          <a:prstGeom prst="rect">
            <a:avLst/>
          </a:prstGeom>
          <a:noFill/>
          <a:ln/>
        </p:spPr>
        <p:txBody>
          <a:bodyPr wrap="square" lIns="0" tIns="0" rIns="0" bIns="0" rtlCol="0" anchor="ctr">
            <a:spAutoFit/>
          </a:bodyPr>
          <a:lstStyle/>
          <a:p>
            <a:pPr marL="0" indent="0">
              <a:lnSpc>
                <a:spcPct val="110000"/>
              </a:lnSpc>
              <a:buNone/>
            </a:pPr>
            <a:r>
              <a:rPr lang="en-US" sz="2400" b="1" dirty="0">
                <a:solidFill>
                  <a:srgbClr val="182D47"/>
                </a:solidFill>
                <a:latin typeface="Arial" pitchFamily="34" charset="0"/>
                <a:ea typeface="Arial" pitchFamily="34" charset="-122"/>
                <a:cs typeface="Arial" pitchFamily="34" charset="-120"/>
              </a:rPr>
              <a:t>Доступ по сети</a:t>
            </a:r>
            <a:endParaRPr lang="en-US" sz="2400" dirty="0"/>
          </a:p>
          <a:p>
            <a:pPr marL="0" indent="0">
              <a:lnSpc>
                <a:spcPct val="110000"/>
              </a:lnSpc>
              <a:buNone/>
            </a:pPr>
            <a:r>
              <a:rPr lang="en-US" sz="2400" b="1" dirty="0">
                <a:solidFill>
                  <a:srgbClr val="182D47"/>
                </a:solidFill>
                <a:latin typeface="Arial" pitchFamily="34" charset="0"/>
                <a:ea typeface="Arial" pitchFamily="34" charset="-122"/>
                <a:cs typeface="Arial" pitchFamily="34" charset="-120"/>
              </a:rPr>
              <a:t>к общим</a:t>
            </a:r>
            <a:endParaRPr lang="en-US" sz="2400" dirty="0"/>
          </a:p>
          <a:p>
            <a:pPr marL="0" indent="0">
              <a:lnSpc>
                <a:spcPct val="110000"/>
              </a:lnSpc>
              <a:buNone/>
            </a:pPr>
            <a:r>
              <a:rPr lang="en-US" sz="2400" b="1" dirty="0">
                <a:solidFill>
                  <a:srgbClr val="182D47"/>
                </a:solidFill>
                <a:latin typeface="Arial" pitchFamily="34" charset="0"/>
                <a:ea typeface="Arial" pitchFamily="34" charset="-122"/>
                <a:cs typeface="Arial" pitchFamily="34" charset="-120"/>
              </a:rPr>
              <a:t>вычислительным</a:t>
            </a:r>
            <a:endParaRPr lang="en-US" sz="2400" dirty="0"/>
          </a:p>
          <a:p>
            <a:pPr marL="0" indent="0">
              <a:lnSpc>
                <a:spcPct val="110000"/>
              </a:lnSpc>
              <a:buNone/>
            </a:pPr>
            <a:r>
              <a:rPr lang="en-US" sz="2400" b="1" dirty="0">
                <a:solidFill>
                  <a:srgbClr val="182D47"/>
                </a:solidFill>
                <a:latin typeface="Arial" pitchFamily="34" charset="0"/>
                <a:ea typeface="Arial" pitchFamily="34" charset="-122"/>
                <a:cs typeface="Arial" pitchFamily="34" charset="-120"/>
              </a:rPr>
              <a:t>ресурсам по запросу</a:t>
            </a:r>
            <a:endParaRPr lang="en-US" sz="2400" dirty="0"/>
          </a:p>
        </p:txBody>
      </p:sp>
      <p:sp>
        <p:nvSpPr>
          <p:cNvPr id="10" name="Text 8"/>
          <p:cNvSpPr/>
          <p:nvPr/>
        </p:nvSpPr>
        <p:spPr>
          <a:xfrm>
            <a:off x="795528" y="3657600"/>
            <a:ext cx="3108960" cy="667512"/>
          </a:xfrm>
          <a:prstGeom prst="rect">
            <a:avLst/>
          </a:prstGeom>
          <a:noFill/>
          <a:ln/>
        </p:spPr>
        <p:txBody>
          <a:bodyPr wrap="square" lIns="0" tIns="0" rIns="0" bIns="0" rtlCol="0" anchor="ctr">
            <a:spAutoFit/>
          </a:bodyPr>
          <a:lstStyle/>
          <a:p>
            <a:pPr marL="0" indent="0">
              <a:lnSpc>
                <a:spcPct val="104000"/>
              </a:lnSpc>
              <a:buNone/>
            </a:pPr>
            <a:r>
              <a:rPr lang="en-US" sz="2000" dirty="0">
                <a:solidFill>
                  <a:srgbClr val="43536A"/>
                </a:solidFill>
                <a:latin typeface="Arial" pitchFamily="34" charset="0"/>
                <a:ea typeface="Arial" pitchFamily="34" charset="-122"/>
                <a:cs typeface="Arial" pitchFamily="34" charset="-120"/>
              </a:rPr>
              <a:t>Серверы, хранилища,</a:t>
            </a:r>
            <a:endParaRPr lang="en-US" sz="2000" dirty="0"/>
          </a:p>
          <a:p>
            <a:pPr marL="0" indent="0">
              <a:lnSpc>
                <a:spcPct val="104000"/>
              </a:lnSpc>
              <a:buNone/>
            </a:pPr>
            <a:r>
              <a:rPr lang="en-US" sz="2000" dirty="0">
                <a:solidFill>
                  <a:srgbClr val="43536A"/>
                </a:solidFill>
                <a:latin typeface="Arial" pitchFamily="34" charset="0"/>
                <a:ea typeface="Arial" pitchFamily="34" charset="-122"/>
                <a:cs typeface="Arial" pitchFamily="34" charset="-120"/>
              </a:rPr>
              <a:t>сети и приложения</a:t>
            </a:r>
            <a:endParaRPr lang="en-US" sz="2000" dirty="0"/>
          </a:p>
        </p:txBody>
      </p:sp>
      <p:sp>
        <p:nvSpPr>
          <p:cNvPr id="11" name="Shape 9"/>
          <p:cNvSpPr/>
          <p:nvPr/>
        </p:nvSpPr>
        <p:spPr>
          <a:xfrm>
            <a:off x="795528" y="4700016"/>
            <a:ext cx="3154680" cy="0"/>
          </a:xfrm>
          <a:prstGeom prst="line">
            <a:avLst/>
          </a:prstGeom>
          <a:noFill/>
          <a:ln w="12700">
            <a:solidFill>
              <a:srgbClr val="D4DFEF"/>
            </a:solidFill>
            <a:prstDash val="solid"/>
            <a:headEnd type="none"/>
            <a:tailEnd type="none"/>
          </a:ln>
        </p:spPr>
      </p:sp>
      <p:sp>
        <p:nvSpPr>
          <p:cNvPr id="12" name="Text 10"/>
          <p:cNvSpPr/>
          <p:nvPr/>
        </p:nvSpPr>
        <p:spPr>
          <a:xfrm>
            <a:off x="795528" y="4928616"/>
            <a:ext cx="3163824" cy="621792"/>
          </a:xfrm>
          <a:prstGeom prst="rect">
            <a:avLst/>
          </a:prstGeom>
          <a:noFill/>
          <a:ln/>
        </p:spPr>
        <p:txBody>
          <a:bodyPr wrap="square" lIns="0" tIns="0" rIns="0" bIns="0" rtlCol="0" anchor="ctr">
            <a:spAutoFit/>
          </a:bodyPr>
          <a:lstStyle/>
          <a:p>
            <a:pPr marL="0" indent="0">
              <a:lnSpc>
                <a:spcPct val="104000"/>
              </a:lnSpc>
              <a:buNone/>
            </a:pPr>
            <a:r>
              <a:rPr lang="en-US" sz="1900" dirty="0">
                <a:solidFill>
                  <a:srgbClr val="43536A"/>
                </a:solidFill>
                <a:latin typeface="Arial" pitchFamily="34" charset="0"/>
                <a:ea typeface="Arial" pitchFamily="34" charset="-122"/>
                <a:cs typeface="Arial" pitchFamily="34" charset="-120"/>
              </a:rPr>
              <a:t>Способ оплаты зависит</a:t>
            </a:r>
            <a:endParaRPr lang="en-US" sz="1900" dirty="0"/>
          </a:p>
          <a:p>
            <a:pPr marL="0" indent="0">
              <a:lnSpc>
                <a:spcPct val="104000"/>
              </a:lnSpc>
              <a:buNone/>
            </a:pPr>
            <a:r>
              <a:rPr lang="en-US" sz="1900" dirty="0">
                <a:solidFill>
                  <a:srgbClr val="43536A"/>
                </a:solidFill>
                <a:latin typeface="Arial" pitchFamily="34" charset="0"/>
                <a:ea typeface="Arial" pitchFamily="34" charset="-122"/>
                <a:cs typeface="Arial" pitchFamily="34" charset="-120"/>
              </a:rPr>
              <a:t>от условий услуги.</a:t>
            </a:r>
            <a:endParaRPr lang="en-US" sz="1900" dirty="0"/>
          </a:p>
        </p:txBody>
      </p:sp>
      <p:sp>
        <p:nvSpPr>
          <p:cNvPr id="13" name="Text 11"/>
          <p:cNvSpPr/>
          <p:nvPr/>
        </p:nvSpPr>
        <p:spPr>
          <a:xfrm>
            <a:off x="4636008" y="1572768"/>
            <a:ext cx="7086600" cy="393192"/>
          </a:xfrm>
          <a:prstGeom prst="rect">
            <a:avLst/>
          </a:prstGeom>
          <a:noFill/>
          <a:ln/>
        </p:spPr>
        <p:txBody>
          <a:bodyPr wrap="square" lIns="0" tIns="0" rIns="0" bIns="0" rtlCol="0" anchor="ctr">
            <a:spAutoFit/>
          </a:bodyPr>
          <a:lstStyle/>
          <a:p>
            <a:pPr marL="0" indent="0">
              <a:lnSpc>
                <a:spcPct val="104000"/>
              </a:lnSpc>
              <a:buNone/>
            </a:pPr>
            <a:r>
              <a:rPr lang="en-US" sz="2150" b="1" dirty="0">
                <a:solidFill>
                  <a:srgbClr val="2F68E8"/>
                </a:solidFill>
                <a:latin typeface="Arial" pitchFamily="34" charset="0"/>
                <a:ea typeface="Arial" pitchFamily="34" charset="-122"/>
                <a:cs typeface="Arial" pitchFamily="34" charset="-120"/>
              </a:rPr>
              <a:t>Пять основных признаков</a:t>
            </a:r>
            <a:endParaRPr lang="en-US" sz="2150" dirty="0"/>
          </a:p>
        </p:txBody>
      </p:sp>
      <p:sp>
        <p:nvSpPr>
          <p:cNvPr id="14" name="Shape 12"/>
          <p:cNvSpPr/>
          <p:nvPr/>
        </p:nvSpPr>
        <p:spPr>
          <a:xfrm>
            <a:off x="4636008" y="2221992"/>
            <a:ext cx="365760" cy="365760"/>
          </a:xfrm>
          <a:prstGeom prst="ellipse">
            <a:avLst/>
          </a:prstGeom>
          <a:solidFill>
            <a:srgbClr val="2F68E8"/>
          </a:solidFill>
          <a:ln w="12700">
            <a:solidFill>
              <a:srgbClr val="2F68E8">
                <a:alpha val="0"/>
              </a:srgbClr>
            </a:solidFill>
            <a:prstDash val="solid"/>
          </a:ln>
        </p:spPr>
      </p:sp>
      <p:sp>
        <p:nvSpPr>
          <p:cNvPr id="15" name="Text 13"/>
          <p:cNvSpPr/>
          <p:nvPr/>
        </p:nvSpPr>
        <p:spPr>
          <a:xfrm>
            <a:off x="4636008" y="2225650"/>
            <a:ext cx="365760" cy="365760"/>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01</a:t>
            </a:r>
            <a:endParaRPr lang="en-US" sz="1300" dirty="0"/>
          </a:p>
        </p:txBody>
      </p:sp>
      <p:sp>
        <p:nvSpPr>
          <p:cNvPr id="16" name="Text 14"/>
          <p:cNvSpPr/>
          <p:nvPr/>
        </p:nvSpPr>
        <p:spPr>
          <a:xfrm>
            <a:off x="5184648" y="2148840"/>
            <a:ext cx="6473952" cy="283464"/>
          </a:xfrm>
          <a:prstGeom prst="rect">
            <a:avLst/>
          </a:prstGeom>
          <a:noFill/>
          <a:ln/>
        </p:spPr>
        <p:txBody>
          <a:bodyPr wrap="square" lIns="0" tIns="0" rIns="0" bIns="0" rtlCol="0" anchor="ctr">
            <a:spAutoFit/>
          </a:bodyPr>
          <a:lstStyle/>
          <a:p>
            <a:pPr marL="0" indent="0">
              <a:lnSpc>
                <a:spcPct val="104000"/>
              </a:lnSpc>
              <a:buNone/>
            </a:pPr>
            <a:r>
              <a:rPr lang="en-US" sz="2000" b="1" dirty="0">
                <a:solidFill>
                  <a:srgbClr val="182D47"/>
                </a:solidFill>
                <a:latin typeface="Arial" pitchFamily="34" charset="0"/>
                <a:ea typeface="Arial" pitchFamily="34" charset="-122"/>
                <a:cs typeface="Arial" pitchFamily="34" charset="-120"/>
              </a:rPr>
              <a:t>Самообслуживание по запросу</a:t>
            </a:r>
            <a:endParaRPr lang="en-US" sz="2000" dirty="0"/>
          </a:p>
        </p:txBody>
      </p:sp>
      <p:sp>
        <p:nvSpPr>
          <p:cNvPr id="17" name="Text 15"/>
          <p:cNvSpPr/>
          <p:nvPr/>
        </p:nvSpPr>
        <p:spPr>
          <a:xfrm>
            <a:off x="5184648" y="2496312"/>
            <a:ext cx="6473952" cy="310896"/>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Получать ресурсы через панель управления.</a:t>
            </a:r>
            <a:endParaRPr lang="en-US" sz="1660" dirty="0"/>
          </a:p>
        </p:txBody>
      </p:sp>
      <p:sp>
        <p:nvSpPr>
          <p:cNvPr id="18" name="Shape 16"/>
          <p:cNvSpPr/>
          <p:nvPr/>
        </p:nvSpPr>
        <p:spPr>
          <a:xfrm>
            <a:off x="5184648" y="2852928"/>
            <a:ext cx="6483096" cy="0"/>
          </a:xfrm>
          <a:prstGeom prst="line">
            <a:avLst/>
          </a:prstGeom>
          <a:noFill/>
          <a:ln w="7620">
            <a:solidFill>
              <a:srgbClr val="D4DFEF"/>
            </a:solidFill>
            <a:prstDash val="solid"/>
            <a:headEnd type="none"/>
            <a:tailEnd type="none"/>
          </a:ln>
        </p:spPr>
      </p:sp>
      <p:sp>
        <p:nvSpPr>
          <p:cNvPr id="19" name="Shape 17"/>
          <p:cNvSpPr/>
          <p:nvPr/>
        </p:nvSpPr>
        <p:spPr>
          <a:xfrm>
            <a:off x="4636008" y="2980944"/>
            <a:ext cx="365760" cy="365760"/>
          </a:xfrm>
          <a:prstGeom prst="ellipse">
            <a:avLst/>
          </a:prstGeom>
          <a:solidFill>
            <a:srgbClr val="2F68E8"/>
          </a:solidFill>
          <a:ln w="12700">
            <a:solidFill>
              <a:srgbClr val="2F68E8">
                <a:alpha val="0"/>
              </a:srgbClr>
            </a:solidFill>
            <a:prstDash val="solid"/>
          </a:ln>
        </p:spPr>
      </p:sp>
      <p:sp>
        <p:nvSpPr>
          <p:cNvPr id="20" name="Text 18"/>
          <p:cNvSpPr/>
          <p:nvPr/>
        </p:nvSpPr>
        <p:spPr>
          <a:xfrm>
            <a:off x="4636008" y="2984602"/>
            <a:ext cx="365760" cy="365760"/>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02</a:t>
            </a:r>
            <a:endParaRPr lang="en-US" sz="1300" dirty="0"/>
          </a:p>
        </p:txBody>
      </p:sp>
      <p:sp>
        <p:nvSpPr>
          <p:cNvPr id="21" name="Text 19"/>
          <p:cNvSpPr/>
          <p:nvPr/>
        </p:nvSpPr>
        <p:spPr>
          <a:xfrm>
            <a:off x="5184648" y="2907792"/>
            <a:ext cx="6473952" cy="283464"/>
          </a:xfrm>
          <a:prstGeom prst="rect">
            <a:avLst/>
          </a:prstGeom>
          <a:noFill/>
          <a:ln/>
        </p:spPr>
        <p:txBody>
          <a:bodyPr wrap="square" lIns="0" tIns="0" rIns="0" bIns="0" rtlCol="0" anchor="ctr">
            <a:spAutoFit/>
          </a:bodyPr>
          <a:lstStyle/>
          <a:p>
            <a:pPr marL="0" indent="0">
              <a:lnSpc>
                <a:spcPct val="104000"/>
              </a:lnSpc>
              <a:buNone/>
            </a:pPr>
            <a:r>
              <a:rPr lang="en-US" sz="2000" b="1" dirty="0">
                <a:solidFill>
                  <a:srgbClr val="182D47"/>
                </a:solidFill>
                <a:latin typeface="Arial" pitchFamily="34" charset="0"/>
                <a:ea typeface="Arial" pitchFamily="34" charset="-122"/>
                <a:cs typeface="Arial" pitchFamily="34" charset="-120"/>
              </a:rPr>
              <a:t>Доступ по сети</a:t>
            </a:r>
            <a:endParaRPr lang="en-US" sz="2000" dirty="0"/>
          </a:p>
        </p:txBody>
      </p:sp>
      <p:sp>
        <p:nvSpPr>
          <p:cNvPr id="22" name="Text 20"/>
          <p:cNvSpPr/>
          <p:nvPr/>
        </p:nvSpPr>
        <p:spPr>
          <a:xfrm>
            <a:off x="5184648" y="3255264"/>
            <a:ext cx="6473952" cy="310896"/>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Подключаться через интернет или внутреннюю сеть.</a:t>
            </a:r>
            <a:endParaRPr lang="en-US" sz="1660" dirty="0"/>
          </a:p>
        </p:txBody>
      </p:sp>
      <p:sp>
        <p:nvSpPr>
          <p:cNvPr id="23" name="Shape 21"/>
          <p:cNvSpPr/>
          <p:nvPr/>
        </p:nvSpPr>
        <p:spPr>
          <a:xfrm>
            <a:off x="5184648" y="3611880"/>
            <a:ext cx="6483096" cy="0"/>
          </a:xfrm>
          <a:prstGeom prst="line">
            <a:avLst/>
          </a:prstGeom>
          <a:noFill/>
          <a:ln w="7620">
            <a:solidFill>
              <a:srgbClr val="D4DFEF"/>
            </a:solidFill>
            <a:prstDash val="solid"/>
            <a:headEnd type="none"/>
            <a:tailEnd type="none"/>
          </a:ln>
        </p:spPr>
      </p:sp>
      <p:sp>
        <p:nvSpPr>
          <p:cNvPr id="24" name="Shape 22"/>
          <p:cNvSpPr/>
          <p:nvPr/>
        </p:nvSpPr>
        <p:spPr>
          <a:xfrm>
            <a:off x="4636008" y="3739896"/>
            <a:ext cx="365760" cy="365760"/>
          </a:xfrm>
          <a:prstGeom prst="ellipse">
            <a:avLst/>
          </a:prstGeom>
          <a:solidFill>
            <a:srgbClr val="2F68E8"/>
          </a:solidFill>
          <a:ln w="12700">
            <a:solidFill>
              <a:srgbClr val="2F68E8">
                <a:alpha val="0"/>
              </a:srgbClr>
            </a:solidFill>
            <a:prstDash val="solid"/>
          </a:ln>
        </p:spPr>
      </p:sp>
      <p:sp>
        <p:nvSpPr>
          <p:cNvPr id="25" name="Text 23"/>
          <p:cNvSpPr/>
          <p:nvPr/>
        </p:nvSpPr>
        <p:spPr>
          <a:xfrm>
            <a:off x="4636008" y="3743554"/>
            <a:ext cx="365760" cy="365760"/>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03</a:t>
            </a:r>
            <a:endParaRPr lang="en-US" sz="1300" dirty="0"/>
          </a:p>
        </p:txBody>
      </p:sp>
      <p:sp>
        <p:nvSpPr>
          <p:cNvPr id="26" name="Text 24"/>
          <p:cNvSpPr/>
          <p:nvPr/>
        </p:nvSpPr>
        <p:spPr>
          <a:xfrm>
            <a:off x="5184648" y="3666744"/>
            <a:ext cx="6473952" cy="283464"/>
          </a:xfrm>
          <a:prstGeom prst="rect">
            <a:avLst/>
          </a:prstGeom>
          <a:noFill/>
          <a:ln/>
        </p:spPr>
        <p:txBody>
          <a:bodyPr wrap="square" lIns="0" tIns="0" rIns="0" bIns="0" rtlCol="0" anchor="ctr">
            <a:spAutoFit/>
          </a:bodyPr>
          <a:lstStyle/>
          <a:p>
            <a:pPr marL="0" indent="0">
              <a:lnSpc>
                <a:spcPct val="104000"/>
              </a:lnSpc>
              <a:buNone/>
            </a:pPr>
            <a:r>
              <a:rPr lang="en-US" sz="2000" b="1" dirty="0">
                <a:solidFill>
                  <a:srgbClr val="182D47"/>
                </a:solidFill>
                <a:latin typeface="Arial" pitchFamily="34" charset="0"/>
                <a:ea typeface="Arial" pitchFamily="34" charset="-122"/>
                <a:cs typeface="Arial" pitchFamily="34" charset="-120"/>
              </a:rPr>
              <a:t>Объединение ресурсов</a:t>
            </a:r>
            <a:endParaRPr lang="en-US" sz="2000" dirty="0"/>
          </a:p>
        </p:txBody>
      </p:sp>
      <p:sp>
        <p:nvSpPr>
          <p:cNvPr id="27" name="Text 25"/>
          <p:cNvSpPr/>
          <p:nvPr/>
        </p:nvSpPr>
        <p:spPr>
          <a:xfrm>
            <a:off x="5184648" y="4014216"/>
            <a:ext cx="6473952" cy="310896"/>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Использовать общие мощности с разделением доступа.</a:t>
            </a:r>
            <a:endParaRPr lang="en-US" sz="1660" dirty="0"/>
          </a:p>
        </p:txBody>
      </p:sp>
      <p:sp>
        <p:nvSpPr>
          <p:cNvPr id="28" name="Shape 26"/>
          <p:cNvSpPr/>
          <p:nvPr/>
        </p:nvSpPr>
        <p:spPr>
          <a:xfrm>
            <a:off x="5184648" y="4370832"/>
            <a:ext cx="6483096" cy="0"/>
          </a:xfrm>
          <a:prstGeom prst="line">
            <a:avLst/>
          </a:prstGeom>
          <a:noFill/>
          <a:ln w="7620">
            <a:solidFill>
              <a:srgbClr val="D4DFEF"/>
            </a:solidFill>
            <a:prstDash val="solid"/>
            <a:headEnd type="none"/>
            <a:tailEnd type="none"/>
          </a:ln>
        </p:spPr>
      </p:sp>
      <p:sp>
        <p:nvSpPr>
          <p:cNvPr id="29" name="Shape 27"/>
          <p:cNvSpPr/>
          <p:nvPr/>
        </p:nvSpPr>
        <p:spPr>
          <a:xfrm>
            <a:off x="4636008" y="4498848"/>
            <a:ext cx="365760" cy="365760"/>
          </a:xfrm>
          <a:prstGeom prst="ellipse">
            <a:avLst/>
          </a:prstGeom>
          <a:solidFill>
            <a:srgbClr val="2F68E8"/>
          </a:solidFill>
          <a:ln w="12700">
            <a:solidFill>
              <a:srgbClr val="2F68E8">
                <a:alpha val="0"/>
              </a:srgbClr>
            </a:solidFill>
            <a:prstDash val="solid"/>
          </a:ln>
        </p:spPr>
      </p:sp>
      <p:sp>
        <p:nvSpPr>
          <p:cNvPr id="30" name="Text 28"/>
          <p:cNvSpPr/>
          <p:nvPr/>
        </p:nvSpPr>
        <p:spPr>
          <a:xfrm>
            <a:off x="4636008" y="4502506"/>
            <a:ext cx="365760" cy="365760"/>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04</a:t>
            </a:r>
            <a:endParaRPr lang="en-US" sz="1300" dirty="0"/>
          </a:p>
        </p:txBody>
      </p:sp>
      <p:sp>
        <p:nvSpPr>
          <p:cNvPr id="31" name="Text 29"/>
          <p:cNvSpPr/>
          <p:nvPr/>
        </p:nvSpPr>
        <p:spPr>
          <a:xfrm>
            <a:off x="5184648" y="4425696"/>
            <a:ext cx="6473952" cy="283464"/>
          </a:xfrm>
          <a:prstGeom prst="rect">
            <a:avLst/>
          </a:prstGeom>
          <a:noFill/>
          <a:ln/>
        </p:spPr>
        <p:txBody>
          <a:bodyPr wrap="square" lIns="0" tIns="0" rIns="0" bIns="0" rtlCol="0" anchor="ctr">
            <a:spAutoFit/>
          </a:bodyPr>
          <a:lstStyle/>
          <a:p>
            <a:pPr marL="0" indent="0">
              <a:lnSpc>
                <a:spcPct val="104000"/>
              </a:lnSpc>
              <a:buNone/>
            </a:pPr>
            <a:r>
              <a:rPr lang="en-US" sz="2000" b="1" dirty="0">
                <a:solidFill>
                  <a:srgbClr val="182D47"/>
                </a:solidFill>
                <a:latin typeface="Arial" pitchFamily="34" charset="0"/>
                <a:ea typeface="Arial" pitchFamily="34" charset="-122"/>
                <a:cs typeface="Arial" pitchFamily="34" charset="-120"/>
              </a:rPr>
              <a:t>Эластичность</a:t>
            </a:r>
            <a:endParaRPr lang="en-US" sz="2000" dirty="0"/>
          </a:p>
        </p:txBody>
      </p:sp>
      <p:sp>
        <p:nvSpPr>
          <p:cNvPr id="32" name="Text 30"/>
          <p:cNvSpPr/>
          <p:nvPr/>
        </p:nvSpPr>
        <p:spPr>
          <a:xfrm>
            <a:off x="5184648" y="4773168"/>
            <a:ext cx="6473952" cy="310896"/>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Увеличивать ресурсы и освобождать их при спаде нагрузки.</a:t>
            </a:r>
            <a:endParaRPr lang="en-US" sz="1660" dirty="0"/>
          </a:p>
        </p:txBody>
      </p:sp>
      <p:sp>
        <p:nvSpPr>
          <p:cNvPr id="33" name="Shape 31"/>
          <p:cNvSpPr/>
          <p:nvPr/>
        </p:nvSpPr>
        <p:spPr>
          <a:xfrm>
            <a:off x="5184648" y="5129784"/>
            <a:ext cx="6483096" cy="0"/>
          </a:xfrm>
          <a:prstGeom prst="line">
            <a:avLst/>
          </a:prstGeom>
          <a:noFill/>
          <a:ln w="7620">
            <a:solidFill>
              <a:srgbClr val="D4DFEF"/>
            </a:solidFill>
            <a:prstDash val="solid"/>
            <a:headEnd type="none"/>
            <a:tailEnd type="none"/>
          </a:ln>
        </p:spPr>
      </p:sp>
      <p:sp>
        <p:nvSpPr>
          <p:cNvPr id="34" name="Shape 32"/>
          <p:cNvSpPr/>
          <p:nvPr/>
        </p:nvSpPr>
        <p:spPr>
          <a:xfrm>
            <a:off x="4636008" y="5257800"/>
            <a:ext cx="365760" cy="365760"/>
          </a:xfrm>
          <a:prstGeom prst="ellipse">
            <a:avLst/>
          </a:prstGeom>
          <a:solidFill>
            <a:srgbClr val="2F68E8"/>
          </a:solidFill>
          <a:ln w="12700">
            <a:solidFill>
              <a:srgbClr val="2F68E8">
                <a:alpha val="0"/>
              </a:srgbClr>
            </a:solidFill>
            <a:prstDash val="solid"/>
          </a:ln>
        </p:spPr>
      </p:sp>
      <p:sp>
        <p:nvSpPr>
          <p:cNvPr id="35" name="Text 33"/>
          <p:cNvSpPr/>
          <p:nvPr/>
        </p:nvSpPr>
        <p:spPr>
          <a:xfrm>
            <a:off x="4636008" y="5261458"/>
            <a:ext cx="365760" cy="365760"/>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05</a:t>
            </a:r>
            <a:endParaRPr lang="en-US" sz="1300" dirty="0"/>
          </a:p>
        </p:txBody>
      </p:sp>
      <p:sp>
        <p:nvSpPr>
          <p:cNvPr id="36" name="Text 34"/>
          <p:cNvSpPr/>
          <p:nvPr/>
        </p:nvSpPr>
        <p:spPr>
          <a:xfrm>
            <a:off x="5184648" y="5184648"/>
            <a:ext cx="6473952" cy="283464"/>
          </a:xfrm>
          <a:prstGeom prst="rect">
            <a:avLst/>
          </a:prstGeom>
          <a:noFill/>
          <a:ln/>
        </p:spPr>
        <p:txBody>
          <a:bodyPr wrap="square" lIns="0" tIns="0" rIns="0" bIns="0" rtlCol="0" anchor="ctr">
            <a:spAutoFit/>
          </a:bodyPr>
          <a:lstStyle/>
          <a:p>
            <a:pPr marL="0" indent="0">
              <a:lnSpc>
                <a:spcPct val="104000"/>
              </a:lnSpc>
              <a:buNone/>
            </a:pPr>
            <a:r>
              <a:rPr lang="en-US" sz="2000" b="1" dirty="0">
                <a:solidFill>
                  <a:srgbClr val="182D47"/>
                </a:solidFill>
                <a:latin typeface="Arial" pitchFamily="34" charset="0"/>
                <a:ea typeface="Arial" pitchFamily="34" charset="-122"/>
                <a:cs typeface="Arial" pitchFamily="34" charset="-120"/>
              </a:rPr>
              <a:t>Учёт потребления</a:t>
            </a:r>
            <a:endParaRPr lang="en-US" sz="2000" dirty="0"/>
          </a:p>
        </p:txBody>
      </p:sp>
      <p:sp>
        <p:nvSpPr>
          <p:cNvPr id="37" name="Text 35"/>
          <p:cNvSpPr/>
          <p:nvPr/>
        </p:nvSpPr>
        <p:spPr>
          <a:xfrm>
            <a:off x="5184648" y="5532120"/>
            <a:ext cx="6473952" cy="310896"/>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Измерять использование ресурсов.</a:t>
            </a:r>
            <a:endParaRPr lang="en-US" sz="16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11155680" cy="530352"/>
          </a:xfrm>
          <a:prstGeom prst="rect">
            <a:avLst/>
          </a:prstGeom>
          <a:noFill/>
          <a:ln/>
        </p:spPr>
        <p:txBody>
          <a:bodyPr wrap="square" lIns="0" tIns="0" rIns="0" bIns="0" rtlCol="0" anchor="ctr">
            <a:spAutoFit/>
          </a:bodyPr>
          <a:lstStyle/>
          <a:p>
            <a:pPr marL="0" indent="0">
              <a:lnSpc>
                <a:spcPct val="104000"/>
              </a:lnSpc>
              <a:buNone/>
            </a:pPr>
            <a:r>
              <a:rPr lang="en-US" sz="3100" b="1" dirty="0">
                <a:solidFill>
                  <a:srgbClr val="182D47"/>
                </a:solidFill>
                <a:latin typeface="Arial" pitchFamily="34" charset="0"/>
                <a:ea typeface="Arial" pitchFamily="34" charset="-122"/>
                <a:cs typeface="Arial" pitchFamily="34" charset="-120"/>
              </a:rPr>
              <a:t>Сервисные модели</a:t>
            </a:r>
            <a:endParaRPr lang="en-US" sz="3100" dirty="0"/>
          </a:p>
        </p:txBody>
      </p:sp>
      <p:sp>
        <p:nvSpPr>
          <p:cNvPr id="3" name="Text 1"/>
          <p:cNvSpPr/>
          <p:nvPr/>
        </p:nvSpPr>
        <p:spPr>
          <a:xfrm>
            <a:off x="521208" y="1097280"/>
            <a:ext cx="11018520" cy="411480"/>
          </a:xfrm>
          <a:prstGeom prst="rect">
            <a:avLst/>
          </a:prstGeom>
          <a:noFill/>
          <a:ln/>
        </p:spPr>
        <p:txBody>
          <a:bodyPr wrap="square" lIns="0" tIns="0" rIns="0" bIns="0" rtlCol="0" anchor="ctr">
            <a:spAutoFit/>
          </a:bodyPr>
          <a:lstStyle/>
          <a:p>
            <a:pPr marL="0" indent="0">
              <a:lnSpc>
                <a:spcPct val="104000"/>
              </a:lnSpc>
              <a:buNone/>
            </a:pPr>
            <a:r>
              <a:rPr lang="en-US" sz="1900" dirty="0">
                <a:solidFill>
                  <a:srgbClr val="43536A"/>
                </a:solidFill>
                <a:latin typeface="Arial" pitchFamily="34" charset="0"/>
                <a:ea typeface="Arial" pitchFamily="34" charset="-122"/>
                <a:cs typeface="Arial" pitchFamily="34" charset="-120"/>
              </a:rPr>
              <a:t>Модель определяет, какую часть работы берёт на себя провайдер.</a:t>
            </a:r>
            <a:endParaRPr lang="en-US" sz="1900" dirty="0"/>
          </a:p>
        </p:txBody>
      </p:sp>
      <p:sp>
        <p:nvSpPr>
          <p:cNvPr id="4" name="Shape 2"/>
          <p:cNvSpPr/>
          <p:nvPr/>
        </p:nvSpPr>
        <p:spPr>
          <a:xfrm>
            <a:off x="502920" y="6345936"/>
            <a:ext cx="11183112" cy="0"/>
          </a:xfrm>
          <a:prstGeom prst="line">
            <a:avLst/>
          </a:prstGeom>
          <a:noFill/>
          <a:ln w="10160">
            <a:solidFill>
              <a:srgbClr val="D4DFEF"/>
            </a:solidFill>
            <a:prstDash val="solid"/>
            <a:headEnd type="none"/>
            <a:tailEnd type="none"/>
          </a:ln>
        </p:spPr>
      </p:sp>
      <p:sp>
        <p:nvSpPr>
          <p:cNvPr id="5" name="Text 3"/>
          <p:cNvSpPr/>
          <p:nvPr/>
        </p:nvSpPr>
        <p:spPr>
          <a:xfrm>
            <a:off x="512064" y="6464177"/>
            <a:ext cx="4023360" cy="156710"/>
          </a:xfrm>
          <a:prstGeom prst="rect">
            <a:avLst/>
          </a:prstGeom>
          <a:noFill/>
          <a:ln/>
        </p:spPr>
        <p:txBody>
          <a:bodyPr wrap="square" lIns="0" tIns="0" rIns="0" bIns="0" rtlCol="0" anchor="ctr">
            <a:spAutoFit/>
          </a:bodyPr>
          <a:lstStyle/>
          <a:p>
            <a:pPr marL="0" indent="0">
              <a:lnSpc>
                <a:spcPct val="104000"/>
              </a:lnSpc>
              <a:buNone/>
            </a:pPr>
            <a:endParaRPr lang="en-US" sz="1050" dirty="0"/>
          </a:p>
        </p:txBody>
      </p:sp>
      <p:sp>
        <p:nvSpPr>
          <p:cNvPr id="6" name="Text 4"/>
          <p:cNvSpPr/>
          <p:nvPr/>
        </p:nvSpPr>
        <p:spPr>
          <a:xfrm>
            <a:off x="4663440" y="6464177"/>
            <a:ext cx="6126480" cy="156710"/>
          </a:xfrm>
          <a:prstGeom prst="rect">
            <a:avLst/>
          </a:prstGeom>
          <a:noFill/>
          <a:ln/>
        </p:spPr>
        <p:txBody>
          <a:bodyPr wrap="square" lIns="0" tIns="0" rIns="0" bIns="0" rtlCol="0" anchor="ctr">
            <a:spAutoFit/>
          </a:bodyPr>
          <a:lstStyle/>
          <a:p>
            <a:pPr marL="0" indent="0" algn="r">
              <a:lnSpc>
                <a:spcPct val="104000"/>
              </a:lnSpc>
              <a:buNone/>
            </a:pPr>
            <a:endParaRPr lang="en-US" sz="1050" dirty="0"/>
          </a:p>
        </p:txBody>
      </p:sp>
      <p:sp>
        <p:nvSpPr>
          <p:cNvPr id="7" name="Text 5"/>
          <p:cNvSpPr/>
          <p:nvPr/>
        </p:nvSpPr>
        <p:spPr>
          <a:xfrm>
            <a:off x="10972800" y="6452167"/>
            <a:ext cx="694944" cy="171585"/>
          </a:xfrm>
          <a:prstGeom prst="rect">
            <a:avLst/>
          </a:prstGeom>
          <a:noFill/>
          <a:ln/>
        </p:spPr>
        <p:txBody>
          <a:bodyPr wrap="square" lIns="0" tIns="0" rIns="0" bIns="0" rtlCol="0" anchor="ctr">
            <a:spAutoFit/>
          </a:bodyPr>
          <a:lstStyle/>
          <a:p>
            <a:pPr marL="0" indent="0" algn="r">
              <a:lnSpc>
                <a:spcPct val="104000"/>
              </a:lnSpc>
              <a:buNone/>
            </a:pPr>
            <a:endParaRPr lang="en-US" sz="1150" dirty="0"/>
          </a:p>
        </p:txBody>
      </p:sp>
      <p:sp>
        <p:nvSpPr>
          <p:cNvPr id="8" name="Text 6"/>
          <p:cNvSpPr/>
          <p:nvPr/>
        </p:nvSpPr>
        <p:spPr>
          <a:xfrm>
            <a:off x="667512" y="1746504"/>
            <a:ext cx="2039112" cy="292608"/>
          </a:xfrm>
          <a:prstGeom prst="rect">
            <a:avLst/>
          </a:prstGeom>
          <a:noFill/>
          <a:ln/>
        </p:spPr>
        <p:txBody>
          <a:bodyPr wrap="square" lIns="0" tIns="0" rIns="0" bIns="0" rtlCol="0" anchor="ctr">
            <a:spAutoFit/>
          </a:bodyPr>
          <a:lstStyle/>
          <a:p>
            <a:pPr marL="0" indent="0">
              <a:lnSpc>
                <a:spcPct val="104000"/>
              </a:lnSpc>
              <a:buNone/>
            </a:pPr>
            <a:r>
              <a:rPr lang="en-US" sz="1600" b="1" dirty="0">
                <a:solidFill>
                  <a:srgbClr val="2F68E8"/>
                </a:solidFill>
                <a:latin typeface="Arial" pitchFamily="34" charset="0"/>
                <a:ea typeface="Arial" pitchFamily="34" charset="-122"/>
                <a:cs typeface="Arial" pitchFamily="34" charset="-120"/>
              </a:rPr>
              <a:t>Модель</a:t>
            </a:r>
            <a:endParaRPr lang="en-US" sz="1600" dirty="0"/>
          </a:p>
        </p:txBody>
      </p:sp>
      <p:sp>
        <p:nvSpPr>
          <p:cNvPr id="9" name="Text 7"/>
          <p:cNvSpPr/>
          <p:nvPr/>
        </p:nvSpPr>
        <p:spPr>
          <a:xfrm>
            <a:off x="3118104" y="1746504"/>
            <a:ext cx="3401568" cy="292608"/>
          </a:xfrm>
          <a:prstGeom prst="rect">
            <a:avLst/>
          </a:prstGeom>
          <a:noFill/>
          <a:ln/>
        </p:spPr>
        <p:txBody>
          <a:bodyPr wrap="square" lIns="0" tIns="0" rIns="0" bIns="0" rtlCol="0" anchor="ctr">
            <a:spAutoFit/>
          </a:bodyPr>
          <a:lstStyle/>
          <a:p>
            <a:pPr marL="0" indent="0">
              <a:lnSpc>
                <a:spcPct val="104000"/>
              </a:lnSpc>
              <a:buNone/>
            </a:pPr>
            <a:r>
              <a:rPr lang="en-US" sz="1600" b="1" dirty="0">
                <a:solidFill>
                  <a:srgbClr val="2F68E8"/>
                </a:solidFill>
                <a:latin typeface="Arial" pitchFamily="34" charset="0"/>
                <a:ea typeface="Arial" pitchFamily="34" charset="-122"/>
                <a:cs typeface="Arial" pitchFamily="34" charset="-120"/>
              </a:rPr>
              <a:t>Что получает клиент</a:t>
            </a:r>
            <a:endParaRPr lang="en-US" sz="1600" dirty="0"/>
          </a:p>
        </p:txBody>
      </p:sp>
      <p:sp>
        <p:nvSpPr>
          <p:cNvPr id="10" name="Text 8"/>
          <p:cNvSpPr/>
          <p:nvPr/>
        </p:nvSpPr>
        <p:spPr>
          <a:xfrm>
            <a:off x="6949440" y="1746504"/>
            <a:ext cx="4626864" cy="292608"/>
          </a:xfrm>
          <a:prstGeom prst="rect">
            <a:avLst/>
          </a:prstGeom>
          <a:noFill/>
          <a:ln/>
        </p:spPr>
        <p:txBody>
          <a:bodyPr wrap="square" lIns="0" tIns="0" rIns="0" bIns="0" rtlCol="0" anchor="ctr">
            <a:spAutoFit/>
          </a:bodyPr>
          <a:lstStyle/>
          <a:p>
            <a:pPr marL="0" indent="0">
              <a:lnSpc>
                <a:spcPct val="104000"/>
              </a:lnSpc>
              <a:buNone/>
            </a:pPr>
            <a:r>
              <a:rPr lang="en-US" sz="1600" b="1" dirty="0">
                <a:solidFill>
                  <a:srgbClr val="2F68E8"/>
                </a:solidFill>
                <a:latin typeface="Arial" pitchFamily="34" charset="0"/>
                <a:ea typeface="Arial" pitchFamily="34" charset="-122"/>
                <a:cs typeface="Arial" pitchFamily="34" charset="-120"/>
              </a:rPr>
              <a:t>Что делает клиент</a:t>
            </a:r>
            <a:endParaRPr lang="en-US" sz="1600" dirty="0"/>
          </a:p>
        </p:txBody>
      </p:sp>
      <p:sp>
        <p:nvSpPr>
          <p:cNvPr id="11" name="Shape 9"/>
          <p:cNvSpPr/>
          <p:nvPr/>
        </p:nvSpPr>
        <p:spPr>
          <a:xfrm>
            <a:off x="502920" y="2258568"/>
            <a:ext cx="11183112" cy="822960"/>
          </a:xfrm>
          <a:prstGeom prst="rect">
            <a:avLst/>
          </a:prstGeom>
          <a:solidFill>
            <a:srgbClr val="F1F5FC"/>
          </a:solidFill>
          <a:ln w="8890">
            <a:solidFill>
              <a:srgbClr val="F1F5FC">
                <a:alpha val="0"/>
              </a:srgbClr>
            </a:solidFill>
            <a:prstDash val="solid"/>
          </a:ln>
        </p:spPr>
      </p:sp>
      <p:sp>
        <p:nvSpPr>
          <p:cNvPr id="12" name="Text 10"/>
          <p:cNvSpPr/>
          <p:nvPr/>
        </p:nvSpPr>
        <p:spPr>
          <a:xfrm>
            <a:off x="676656" y="2331720"/>
            <a:ext cx="859536" cy="365760"/>
          </a:xfrm>
          <a:prstGeom prst="rect">
            <a:avLst/>
          </a:prstGeom>
          <a:noFill/>
          <a:ln/>
        </p:spPr>
        <p:txBody>
          <a:bodyPr wrap="square" lIns="0" tIns="0" rIns="0" bIns="0" rtlCol="0" anchor="ctr">
            <a:spAutoFit/>
          </a:bodyPr>
          <a:lstStyle/>
          <a:p>
            <a:pPr marL="0" indent="0">
              <a:lnSpc>
                <a:spcPct val="104000"/>
              </a:lnSpc>
              <a:buNone/>
            </a:pPr>
            <a:r>
              <a:rPr lang="en-US" sz="2600" b="1" dirty="0">
                <a:solidFill>
                  <a:srgbClr val="182D47"/>
                </a:solidFill>
                <a:latin typeface="Arial" pitchFamily="34" charset="0"/>
                <a:ea typeface="Arial" pitchFamily="34" charset="-122"/>
                <a:cs typeface="Arial" pitchFamily="34" charset="-120"/>
              </a:rPr>
              <a:t>IaaS</a:t>
            </a:r>
            <a:endParaRPr lang="en-US" sz="2600" dirty="0"/>
          </a:p>
        </p:txBody>
      </p:sp>
      <p:sp>
        <p:nvSpPr>
          <p:cNvPr id="13" name="Text 11"/>
          <p:cNvSpPr/>
          <p:nvPr/>
        </p:nvSpPr>
        <p:spPr>
          <a:xfrm>
            <a:off x="1572768" y="2322576"/>
            <a:ext cx="1225296" cy="685800"/>
          </a:xfrm>
          <a:prstGeom prst="rect">
            <a:avLst/>
          </a:prstGeom>
          <a:noFill/>
          <a:ln/>
        </p:spPr>
        <p:txBody>
          <a:bodyPr wrap="square" lIns="0" tIns="0" rIns="0" bIns="0" rtlCol="0" anchor="ctr">
            <a:spAutoFit/>
          </a:bodyPr>
          <a:lstStyle/>
          <a:p>
            <a:pPr marL="0" indent="0">
              <a:lnSpc>
                <a:spcPct val="100000"/>
              </a:lnSpc>
              <a:buNone/>
            </a:pPr>
            <a:r>
              <a:rPr lang="en-US" sz="1190" dirty="0">
                <a:solidFill>
                  <a:srgbClr val="43536A"/>
                </a:solidFill>
                <a:latin typeface="Arial" pitchFamily="34" charset="0"/>
                <a:ea typeface="Arial" pitchFamily="34" charset="-122"/>
                <a:cs typeface="Arial" pitchFamily="34" charset="-120"/>
              </a:rPr>
              <a:t>Инфраструктура</a:t>
            </a:r>
            <a:endParaRPr lang="en-US" sz="1190" dirty="0"/>
          </a:p>
          <a:p>
            <a:pPr marL="0" indent="0">
              <a:lnSpc>
                <a:spcPct val="100000"/>
              </a:lnSpc>
              <a:buNone/>
            </a:pPr>
            <a:r>
              <a:rPr lang="en-US" sz="1190" dirty="0">
                <a:solidFill>
                  <a:srgbClr val="43536A"/>
                </a:solidFill>
                <a:latin typeface="Arial" pitchFamily="34" charset="0"/>
                <a:ea typeface="Arial" pitchFamily="34" charset="-122"/>
                <a:cs typeface="Arial" pitchFamily="34" charset="-120"/>
              </a:rPr>
              <a:t>как услуга</a:t>
            </a:r>
            <a:endParaRPr lang="en-US" sz="1190" dirty="0"/>
          </a:p>
        </p:txBody>
      </p:sp>
      <p:sp>
        <p:nvSpPr>
          <p:cNvPr id="14" name="Text 12"/>
          <p:cNvSpPr/>
          <p:nvPr/>
        </p:nvSpPr>
        <p:spPr>
          <a:xfrm>
            <a:off x="3118104" y="2368296"/>
            <a:ext cx="3419856" cy="603504"/>
          </a:xfrm>
          <a:prstGeom prst="rect">
            <a:avLst/>
          </a:prstGeom>
          <a:noFill/>
          <a:ln/>
        </p:spPr>
        <p:txBody>
          <a:bodyPr wrap="square" lIns="0" tIns="0" rIns="0" bIns="0" rtlCol="0" anchor="ctr">
            <a:spAutoFit/>
          </a:bodyPr>
          <a:lstStyle/>
          <a:p>
            <a:pPr marL="0" indent="0">
              <a:lnSpc>
                <a:spcPct val="104000"/>
              </a:lnSpc>
              <a:buNone/>
            </a:pPr>
            <a:r>
              <a:rPr lang="en-US" sz="1920" dirty="0">
                <a:solidFill>
                  <a:srgbClr val="182D47"/>
                </a:solidFill>
                <a:latin typeface="Arial" pitchFamily="34" charset="0"/>
                <a:ea typeface="Arial" pitchFamily="34" charset="-122"/>
                <a:cs typeface="Arial" pitchFamily="34" charset="-120"/>
              </a:rPr>
              <a:t>Виртуальные серверы,</a:t>
            </a:r>
            <a:endParaRPr lang="en-US" sz="1920" dirty="0"/>
          </a:p>
          <a:p>
            <a:pPr marL="0" indent="0">
              <a:lnSpc>
                <a:spcPct val="104000"/>
              </a:lnSpc>
              <a:buNone/>
            </a:pPr>
            <a:r>
              <a:rPr lang="en-US" sz="1920" dirty="0">
                <a:solidFill>
                  <a:srgbClr val="182D47"/>
                </a:solidFill>
                <a:latin typeface="Arial" pitchFamily="34" charset="0"/>
                <a:ea typeface="Arial" pitchFamily="34" charset="-122"/>
                <a:cs typeface="Arial" pitchFamily="34" charset="-120"/>
              </a:rPr>
              <a:t>диски и сеть</a:t>
            </a:r>
            <a:endParaRPr lang="en-US" sz="1920" dirty="0"/>
          </a:p>
        </p:txBody>
      </p:sp>
      <p:sp>
        <p:nvSpPr>
          <p:cNvPr id="15" name="Text 13"/>
          <p:cNvSpPr/>
          <p:nvPr/>
        </p:nvSpPr>
        <p:spPr>
          <a:xfrm>
            <a:off x="6940296" y="2368296"/>
            <a:ext cx="4517136" cy="603504"/>
          </a:xfrm>
          <a:prstGeom prst="rect">
            <a:avLst/>
          </a:prstGeom>
          <a:noFill/>
          <a:ln/>
        </p:spPr>
        <p:txBody>
          <a:bodyPr wrap="square" lIns="0" tIns="0" rIns="0" bIns="0" rtlCol="0" anchor="ctr">
            <a:spAutoFit/>
          </a:bodyPr>
          <a:lstStyle/>
          <a:p>
            <a:pPr marL="0" indent="0">
              <a:lnSpc>
                <a:spcPct val="104000"/>
              </a:lnSpc>
              <a:buNone/>
            </a:pPr>
            <a:r>
              <a:rPr lang="en-US" sz="1820" dirty="0">
                <a:solidFill>
                  <a:srgbClr val="43536A"/>
                </a:solidFill>
                <a:latin typeface="Arial" pitchFamily="34" charset="0"/>
                <a:ea typeface="Arial" pitchFamily="34" charset="-122"/>
                <a:cs typeface="Arial" pitchFamily="34" charset="-120"/>
              </a:rPr>
              <a:t>Обновляет операционную систему</a:t>
            </a:r>
            <a:endParaRPr lang="en-US" sz="1820" dirty="0"/>
          </a:p>
          <a:p>
            <a:pPr marL="0" indent="0">
              <a:lnSpc>
                <a:spcPct val="104000"/>
              </a:lnSpc>
              <a:buNone/>
            </a:pPr>
            <a:r>
              <a:rPr lang="en-US" sz="1820" dirty="0">
                <a:solidFill>
                  <a:srgbClr val="43536A"/>
                </a:solidFill>
                <a:latin typeface="Arial" pitchFamily="34" charset="0"/>
                <a:ea typeface="Arial" pitchFamily="34" charset="-122"/>
                <a:cs typeface="Arial" pitchFamily="34" charset="-120"/>
              </a:rPr>
              <a:t>и приложения, управляет данными.</a:t>
            </a:r>
            <a:endParaRPr lang="en-US" sz="1820" dirty="0"/>
          </a:p>
        </p:txBody>
      </p:sp>
      <p:sp>
        <p:nvSpPr>
          <p:cNvPr id="16" name="Shape 14"/>
          <p:cNvSpPr/>
          <p:nvPr/>
        </p:nvSpPr>
        <p:spPr>
          <a:xfrm>
            <a:off x="502920" y="3182112"/>
            <a:ext cx="11183112" cy="822960"/>
          </a:xfrm>
          <a:prstGeom prst="rect">
            <a:avLst/>
          </a:prstGeom>
          <a:solidFill>
            <a:srgbClr val="E9F1FF"/>
          </a:solidFill>
          <a:ln w="8890">
            <a:solidFill>
              <a:srgbClr val="E9F1FF">
                <a:alpha val="0"/>
              </a:srgbClr>
            </a:solidFill>
            <a:prstDash val="solid"/>
          </a:ln>
        </p:spPr>
      </p:sp>
      <p:sp>
        <p:nvSpPr>
          <p:cNvPr id="17" name="Text 15"/>
          <p:cNvSpPr/>
          <p:nvPr/>
        </p:nvSpPr>
        <p:spPr>
          <a:xfrm>
            <a:off x="676656" y="3255264"/>
            <a:ext cx="859536" cy="365760"/>
          </a:xfrm>
          <a:prstGeom prst="rect">
            <a:avLst/>
          </a:prstGeom>
          <a:noFill/>
          <a:ln/>
        </p:spPr>
        <p:txBody>
          <a:bodyPr wrap="square" lIns="0" tIns="0" rIns="0" bIns="0" rtlCol="0" anchor="ctr">
            <a:spAutoFit/>
          </a:bodyPr>
          <a:lstStyle/>
          <a:p>
            <a:pPr marL="0" indent="0">
              <a:lnSpc>
                <a:spcPct val="104000"/>
              </a:lnSpc>
              <a:buNone/>
            </a:pPr>
            <a:r>
              <a:rPr lang="en-US" sz="2600" b="1" dirty="0">
                <a:solidFill>
                  <a:srgbClr val="182D47"/>
                </a:solidFill>
                <a:latin typeface="Arial" pitchFamily="34" charset="0"/>
                <a:ea typeface="Arial" pitchFamily="34" charset="-122"/>
                <a:cs typeface="Arial" pitchFamily="34" charset="-120"/>
              </a:rPr>
              <a:t>PaaS</a:t>
            </a:r>
            <a:endParaRPr lang="en-US" sz="2600" dirty="0"/>
          </a:p>
        </p:txBody>
      </p:sp>
      <p:sp>
        <p:nvSpPr>
          <p:cNvPr id="18" name="Text 16"/>
          <p:cNvSpPr/>
          <p:nvPr/>
        </p:nvSpPr>
        <p:spPr>
          <a:xfrm>
            <a:off x="1572768" y="3246120"/>
            <a:ext cx="1225296" cy="685800"/>
          </a:xfrm>
          <a:prstGeom prst="rect">
            <a:avLst/>
          </a:prstGeom>
          <a:noFill/>
          <a:ln/>
        </p:spPr>
        <p:txBody>
          <a:bodyPr wrap="square" lIns="0" tIns="0" rIns="0" bIns="0" rtlCol="0" anchor="ctr">
            <a:spAutoFit/>
          </a:bodyPr>
          <a:lstStyle/>
          <a:p>
            <a:pPr marL="0" indent="0">
              <a:lnSpc>
                <a:spcPct val="100000"/>
              </a:lnSpc>
              <a:buNone/>
            </a:pPr>
            <a:r>
              <a:rPr lang="en-US" sz="1190" dirty="0">
                <a:solidFill>
                  <a:srgbClr val="43536A"/>
                </a:solidFill>
                <a:latin typeface="Arial" pitchFamily="34" charset="0"/>
                <a:ea typeface="Arial" pitchFamily="34" charset="-122"/>
                <a:cs typeface="Arial" pitchFamily="34" charset="-120"/>
              </a:rPr>
              <a:t>Платформа</a:t>
            </a:r>
            <a:endParaRPr lang="en-US" sz="1190" dirty="0"/>
          </a:p>
          <a:p>
            <a:pPr marL="0" indent="0">
              <a:lnSpc>
                <a:spcPct val="100000"/>
              </a:lnSpc>
              <a:buNone/>
            </a:pPr>
            <a:r>
              <a:rPr lang="en-US" sz="1190" dirty="0">
                <a:solidFill>
                  <a:srgbClr val="43536A"/>
                </a:solidFill>
                <a:latin typeface="Arial" pitchFamily="34" charset="0"/>
                <a:ea typeface="Arial" pitchFamily="34" charset="-122"/>
                <a:cs typeface="Arial" pitchFamily="34" charset="-120"/>
              </a:rPr>
              <a:t>как услуга</a:t>
            </a:r>
            <a:endParaRPr lang="en-US" sz="1190" dirty="0"/>
          </a:p>
        </p:txBody>
      </p:sp>
      <p:sp>
        <p:nvSpPr>
          <p:cNvPr id="19" name="Text 17"/>
          <p:cNvSpPr/>
          <p:nvPr/>
        </p:nvSpPr>
        <p:spPr>
          <a:xfrm>
            <a:off x="3118104" y="3291840"/>
            <a:ext cx="3419856" cy="603504"/>
          </a:xfrm>
          <a:prstGeom prst="rect">
            <a:avLst/>
          </a:prstGeom>
          <a:noFill/>
          <a:ln/>
        </p:spPr>
        <p:txBody>
          <a:bodyPr wrap="square" lIns="0" tIns="0" rIns="0" bIns="0" rtlCol="0" anchor="ctr">
            <a:spAutoFit/>
          </a:bodyPr>
          <a:lstStyle/>
          <a:p>
            <a:pPr marL="0" indent="0">
              <a:lnSpc>
                <a:spcPct val="104000"/>
              </a:lnSpc>
              <a:buNone/>
            </a:pPr>
            <a:r>
              <a:rPr lang="en-US" sz="1920" dirty="0">
                <a:solidFill>
                  <a:srgbClr val="182D47"/>
                </a:solidFill>
                <a:latin typeface="Arial" pitchFamily="34" charset="0"/>
                <a:ea typeface="Arial" pitchFamily="34" charset="-122"/>
                <a:cs typeface="Arial" pitchFamily="34" charset="-120"/>
              </a:rPr>
              <a:t>Среда для разработки</a:t>
            </a:r>
            <a:endParaRPr lang="en-US" sz="1920" dirty="0"/>
          </a:p>
          <a:p>
            <a:pPr marL="0" indent="0">
              <a:lnSpc>
                <a:spcPct val="104000"/>
              </a:lnSpc>
              <a:buNone/>
            </a:pPr>
            <a:r>
              <a:rPr lang="en-US" sz="1920" dirty="0">
                <a:solidFill>
                  <a:srgbClr val="182D47"/>
                </a:solidFill>
                <a:latin typeface="Arial" pitchFamily="34" charset="0"/>
                <a:ea typeface="Arial" pitchFamily="34" charset="-122"/>
                <a:cs typeface="Arial" pitchFamily="34" charset="-120"/>
              </a:rPr>
              <a:t>и запуска приложения</a:t>
            </a:r>
            <a:endParaRPr lang="en-US" sz="1920" dirty="0"/>
          </a:p>
        </p:txBody>
      </p:sp>
      <p:sp>
        <p:nvSpPr>
          <p:cNvPr id="20" name="Text 18"/>
          <p:cNvSpPr/>
          <p:nvPr/>
        </p:nvSpPr>
        <p:spPr>
          <a:xfrm>
            <a:off x="6940296" y="3291840"/>
            <a:ext cx="4517136" cy="603504"/>
          </a:xfrm>
          <a:prstGeom prst="rect">
            <a:avLst/>
          </a:prstGeom>
          <a:noFill/>
          <a:ln/>
        </p:spPr>
        <p:txBody>
          <a:bodyPr wrap="square" lIns="0" tIns="0" rIns="0" bIns="0" rtlCol="0" anchor="ctr">
            <a:spAutoFit/>
          </a:bodyPr>
          <a:lstStyle/>
          <a:p>
            <a:pPr marL="0" indent="0">
              <a:lnSpc>
                <a:spcPct val="104000"/>
              </a:lnSpc>
              <a:buNone/>
            </a:pPr>
            <a:r>
              <a:rPr lang="en-US" sz="1820" dirty="0">
                <a:solidFill>
                  <a:srgbClr val="43536A"/>
                </a:solidFill>
                <a:latin typeface="Arial" pitchFamily="34" charset="0"/>
                <a:ea typeface="Arial" pitchFamily="34" charset="-122"/>
                <a:cs typeface="Arial" pitchFamily="34" charset="-120"/>
              </a:rPr>
              <a:t>Разрабатывает приложение,</a:t>
            </a:r>
            <a:endParaRPr lang="en-US" sz="1820" dirty="0"/>
          </a:p>
          <a:p>
            <a:pPr marL="0" indent="0">
              <a:lnSpc>
                <a:spcPct val="104000"/>
              </a:lnSpc>
              <a:buNone/>
            </a:pPr>
            <a:r>
              <a:rPr lang="en-US" sz="1820" dirty="0">
                <a:solidFill>
                  <a:srgbClr val="43536A"/>
                </a:solidFill>
                <a:latin typeface="Arial" pitchFamily="34" charset="0"/>
                <a:ea typeface="Arial" pitchFamily="34" charset="-122"/>
                <a:cs typeface="Arial" pitchFamily="34" charset="-120"/>
              </a:rPr>
              <a:t>управляет настройками и данными.</a:t>
            </a:r>
            <a:endParaRPr lang="en-US" sz="1820" dirty="0"/>
          </a:p>
        </p:txBody>
      </p:sp>
      <p:sp>
        <p:nvSpPr>
          <p:cNvPr id="21" name="Shape 19"/>
          <p:cNvSpPr/>
          <p:nvPr/>
        </p:nvSpPr>
        <p:spPr>
          <a:xfrm>
            <a:off x="502920" y="4105656"/>
            <a:ext cx="11183112" cy="822960"/>
          </a:xfrm>
          <a:prstGeom prst="rect">
            <a:avLst/>
          </a:prstGeom>
          <a:solidFill>
            <a:srgbClr val="F1F5FC"/>
          </a:solidFill>
          <a:ln w="8890">
            <a:solidFill>
              <a:srgbClr val="F1F5FC">
                <a:alpha val="0"/>
              </a:srgbClr>
            </a:solidFill>
            <a:prstDash val="solid"/>
          </a:ln>
        </p:spPr>
      </p:sp>
      <p:sp>
        <p:nvSpPr>
          <p:cNvPr id="22" name="Text 20"/>
          <p:cNvSpPr/>
          <p:nvPr/>
        </p:nvSpPr>
        <p:spPr>
          <a:xfrm>
            <a:off x="676656" y="4178808"/>
            <a:ext cx="859536" cy="365760"/>
          </a:xfrm>
          <a:prstGeom prst="rect">
            <a:avLst/>
          </a:prstGeom>
          <a:noFill/>
          <a:ln/>
        </p:spPr>
        <p:txBody>
          <a:bodyPr wrap="square" lIns="0" tIns="0" rIns="0" bIns="0" rtlCol="0" anchor="ctr">
            <a:spAutoFit/>
          </a:bodyPr>
          <a:lstStyle/>
          <a:p>
            <a:pPr marL="0" indent="0">
              <a:lnSpc>
                <a:spcPct val="104000"/>
              </a:lnSpc>
              <a:buNone/>
            </a:pPr>
            <a:r>
              <a:rPr lang="en-US" sz="2600" b="1" dirty="0">
                <a:solidFill>
                  <a:srgbClr val="182D47"/>
                </a:solidFill>
                <a:latin typeface="Arial" pitchFamily="34" charset="0"/>
                <a:ea typeface="Arial" pitchFamily="34" charset="-122"/>
                <a:cs typeface="Arial" pitchFamily="34" charset="-120"/>
              </a:rPr>
              <a:t>SaaS</a:t>
            </a:r>
            <a:endParaRPr lang="en-US" sz="2600" dirty="0"/>
          </a:p>
        </p:txBody>
      </p:sp>
      <p:sp>
        <p:nvSpPr>
          <p:cNvPr id="23" name="Text 21"/>
          <p:cNvSpPr/>
          <p:nvPr/>
        </p:nvSpPr>
        <p:spPr>
          <a:xfrm>
            <a:off x="1572768" y="4169664"/>
            <a:ext cx="1225296" cy="685800"/>
          </a:xfrm>
          <a:prstGeom prst="rect">
            <a:avLst/>
          </a:prstGeom>
          <a:noFill/>
          <a:ln/>
        </p:spPr>
        <p:txBody>
          <a:bodyPr wrap="square" lIns="0" tIns="0" rIns="0" bIns="0" rtlCol="0" anchor="ctr">
            <a:spAutoFit/>
          </a:bodyPr>
          <a:lstStyle/>
          <a:p>
            <a:pPr marL="0" indent="0">
              <a:lnSpc>
                <a:spcPct val="100000"/>
              </a:lnSpc>
              <a:buNone/>
            </a:pPr>
            <a:r>
              <a:rPr lang="en-US" sz="1190" dirty="0">
                <a:solidFill>
                  <a:srgbClr val="43536A"/>
                </a:solidFill>
                <a:latin typeface="Arial" pitchFamily="34" charset="0"/>
                <a:ea typeface="Arial" pitchFamily="34" charset="-122"/>
                <a:cs typeface="Arial" pitchFamily="34" charset="-120"/>
              </a:rPr>
              <a:t>Программное обеспечение</a:t>
            </a:r>
            <a:endParaRPr lang="en-US" sz="1190" dirty="0"/>
          </a:p>
          <a:p>
            <a:pPr marL="0" indent="0">
              <a:lnSpc>
                <a:spcPct val="100000"/>
              </a:lnSpc>
              <a:buNone/>
            </a:pPr>
            <a:r>
              <a:rPr lang="en-US" sz="1190" dirty="0">
                <a:solidFill>
                  <a:srgbClr val="43536A"/>
                </a:solidFill>
                <a:latin typeface="Arial" pitchFamily="34" charset="0"/>
                <a:ea typeface="Arial" pitchFamily="34" charset="-122"/>
                <a:cs typeface="Arial" pitchFamily="34" charset="-120"/>
              </a:rPr>
              <a:t>как услуга</a:t>
            </a:r>
            <a:endParaRPr lang="en-US" sz="1190" dirty="0"/>
          </a:p>
        </p:txBody>
      </p:sp>
      <p:sp>
        <p:nvSpPr>
          <p:cNvPr id="24" name="Text 22"/>
          <p:cNvSpPr/>
          <p:nvPr/>
        </p:nvSpPr>
        <p:spPr>
          <a:xfrm>
            <a:off x="3118104" y="4215384"/>
            <a:ext cx="3419856" cy="603504"/>
          </a:xfrm>
          <a:prstGeom prst="rect">
            <a:avLst/>
          </a:prstGeom>
          <a:noFill/>
          <a:ln/>
        </p:spPr>
        <p:txBody>
          <a:bodyPr wrap="square" lIns="0" tIns="0" rIns="0" bIns="0" rtlCol="0" anchor="ctr">
            <a:spAutoFit/>
          </a:bodyPr>
          <a:lstStyle/>
          <a:p>
            <a:pPr marL="0" indent="0">
              <a:lnSpc>
                <a:spcPct val="104000"/>
              </a:lnSpc>
              <a:buNone/>
            </a:pPr>
            <a:r>
              <a:rPr lang="en-US" sz="1920" dirty="0">
                <a:solidFill>
                  <a:srgbClr val="182D47"/>
                </a:solidFill>
                <a:latin typeface="Arial" pitchFamily="34" charset="0"/>
                <a:ea typeface="Arial" pitchFamily="34" charset="-122"/>
                <a:cs typeface="Arial" pitchFamily="34" charset="-120"/>
              </a:rPr>
              <a:t>Готовое приложение,</a:t>
            </a:r>
            <a:endParaRPr lang="en-US" sz="1920" dirty="0"/>
          </a:p>
          <a:p>
            <a:pPr marL="0" indent="0">
              <a:lnSpc>
                <a:spcPct val="104000"/>
              </a:lnSpc>
              <a:buNone/>
            </a:pPr>
            <a:r>
              <a:rPr lang="en-US" sz="1920" dirty="0">
                <a:solidFill>
                  <a:srgbClr val="182D47"/>
                </a:solidFill>
                <a:latin typeface="Arial" pitchFamily="34" charset="0"/>
                <a:ea typeface="Arial" pitchFamily="34" charset="-122"/>
                <a:cs typeface="Arial" pitchFamily="34" charset="-120"/>
              </a:rPr>
              <a:t>например почта</a:t>
            </a:r>
            <a:endParaRPr lang="en-US" sz="1920" dirty="0"/>
          </a:p>
        </p:txBody>
      </p:sp>
      <p:sp>
        <p:nvSpPr>
          <p:cNvPr id="25" name="Text 23"/>
          <p:cNvSpPr/>
          <p:nvPr/>
        </p:nvSpPr>
        <p:spPr>
          <a:xfrm>
            <a:off x="6940296" y="4215384"/>
            <a:ext cx="4517136" cy="603504"/>
          </a:xfrm>
          <a:prstGeom prst="rect">
            <a:avLst/>
          </a:prstGeom>
          <a:noFill/>
          <a:ln/>
        </p:spPr>
        <p:txBody>
          <a:bodyPr wrap="square" lIns="0" tIns="0" rIns="0" bIns="0" rtlCol="0" anchor="ctr">
            <a:spAutoFit/>
          </a:bodyPr>
          <a:lstStyle/>
          <a:p>
            <a:pPr marL="0" indent="0">
              <a:lnSpc>
                <a:spcPct val="104000"/>
              </a:lnSpc>
              <a:buNone/>
            </a:pPr>
            <a:r>
              <a:rPr lang="en-US" sz="1820" dirty="0">
                <a:solidFill>
                  <a:srgbClr val="43536A"/>
                </a:solidFill>
                <a:latin typeface="Arial" pitchFamily="34" charset="0"/>
                <a:ea typeface="Arial" pitchFamily="34" charset="-122"/>
                <a:cs typeface="Arial" pitchFamily="34" charset="-120"/>
              </a:rPr>
              <a:t>Работает с приложением,</a:t>
            </a:r>
            <a:endParaRPr lang="en-US" sz="1820" dirty="0"/>
          </a:p>
          <a:p>
            <a:pPr marL="0" indent="0">
              <a:lnSpc>
                <a:spcPct val="104000"/>
              </a:lnSpc>
              <a:buNone/>
            </a:pPr>
            <a:r>
              <a:rPr lang="en-US" sz="1820" dirty="0">
                <a:solidFill>
                  <a:srgbClr val="43536A"/>
                </a:solidFill>
                <a:latin typeface="Arial" pitchFamily="34" charset="0"/>
                <a:ea typeface="Arial" pitchFamily="34" charset="-122"/>
                <a:cs typeface="Arial" pitchFamily="34" charset="-120"/>
              </a:rPr>
              <a:t>управляет настройками и доступом.</a:t>
            </a:r>
            <a:endParaRPr lang="en-US" sz="1820" dirty="0"/>
          </a:p>
        </p:txBody>
      </p:sp>
      <p:sp>
        <p:nvSpPr>
          <p:cNvPr id="26" name="Shape 24"/>
          <p:cNvSpPr/>
          <p:nvPr/>
        </p:nvSpPr>
        <p:spPr>
          <a:xfrm>
            <a:off x="502920" y="5340096"/>
            <a:ext cx="11183112" cy="667512"/>
          </a:xfrm>
          <a:prstGeom prst="rect">
            <a:avLst/>
          </a:prstGeom>
          <a:solidFill>
            <a:srgbClr val="E9F1FF"/>
          </a:solidFill>
          <a:ln w="8890">
            <a:solidFill>
              <a:srgbClr val="E9F1FF">
                <a:alpha val="0"/>
              </a:srgbClr>
            </a:solidFill>
            <a:prstDash val="solid"/>
          </a:ln>
        </p:spPr>
      </p:sp>
      <p:sp>
        <p:nvSpPr>
          <p:cNvPr id="27" name="Text 25"/>
          <p:cNvSpPr/>
          <p:nvPr/>
        </p:nvSpPr>
        <p:spPr>
          <a:xfrm>
            <a:off x="694944" y="5477256"/>
            <a:ext cx="2350008" cy="347472"/>
          </a:xfrm>
          <a:prstGeom prst="rect">
            <a:avLst/>
          </a:prstGeom>
          <a:noFill/>
          <a:ln/>
        </p:spPr>
        <p:txBody>
          <a:bodyPr wrap="square" lIns="0" tIns="0" rIns="0" bIns="0" rtlCol="0" anchor="ctr">
            <a:spAutoFit/>
          </a:bodyPr>
          <a:lstStyle/>
          <a:p>
            <a:pPr marL="0" indent="0">
              <a:lnSpc>
                <a:spcPct val="104000"/>
              </a:lnSpc>
              <a:buNone/>
            </a:pPr>
            <a:r>
              <a:rPr lang="en-US" sz="2000" b="1" dirty="0">
                <a:solidFill>
                  <a:srgbClr val="2F68E8"/>
                </a:solidFill>
                <a:latin typeface="Arial" pitchFamily="34" charset="0"/>
                <a:ea typeface="Arial" pitchFamily="34" charset="-122"/>
                <a:cs typeface="Arial" pitchFamily="34" charset="-120"/>
              </a:rPr>
              <a:t>FaaS / serverless</a:t>
            </a:r>
            <a:endParaRPr lang="en-US" sz="2000" dirty="0"/>
          </a:p>
        </p:txBody>
      </p:sp>
      <p:sp>
        <p:nvSpPr>
          <p:cNvPr id="28" name="Text 26"/>
          <p:cNvSpPr/>
          <p:nvPr/>
        </p:nvSpPr>
        <p:spPr>
          <a:xfrm>
            <a:off x="3127248" y="5431536"/>
            <a:ext cx="8339328" cy="475488"/>
          </a:xfrm>
          <a:prstGeom prst="rect">
            <a:avLst/>
          </a:prstGeom>
          <a:noFill/>
          <a:ln/>
        </p:spPr>
        <p:txBody>
          <a:bodyPr wrap="square" lIns="0" tIns="0" rIns="0" bIns="0" rtlCol="0" anchor="ctr">
            <a:spAutoFit/>
          </a:bodyPr>
          <a:lstStyle/>
          <a:p>
            <a:pPr marL="0" indent="0">
              <a:lnSpc>
                <a:spcPct val="104000"/>
              </a:lnSpc>
              <a:buNone/>
            </a:pPr>
            <a:r>
              <a:rPr lang="en-US" sz="1650" dirty="0">
                <a:solidFill>
                  <a:srgbClr val="43536A"/>
                </a:solidFill>
                <a:latin typeface="Arial" pitchFamily="34" charset="0"/>
                <a:ea typeface="Arial" pitchFamily="34" charset="-122"/>
                <a:cs typeface="Arial" pitchFamily="34" charset="-120"/>
              </a:rPr>
              <a:t>Клиент передаёт код функции; провайдер выполняет его</a:t>
            </a:r>
            <a:endParaRPr lang="en-US" sz="1650" dirty="0"/>
          </a:p>
          <a:p>
            <a:pPr marL="0" indent="0">
              <a:lnSpc>
                <a:spcPct val="104000"/>
              </a:lnSpc>
              <a:buNone/>
            </a:pPr>
            <a:r>
              <a:rPr lang="en-US" sz="1650" dirty="0">
                <a:solidFill>
                  <a:srgbClr val="43536A"/>
                </a:solidFill>
                <a:latin typeface="Arial" pitchFamily="34" charset="0"/>
                <a:ea typeface="Arial" pitchFamily="34" charset="-122"/>
                <a:cs typeface="Arial" pitchFamily="34" charset="-120"/>
              </a:rPr>
              <a:t>и обслуживает инфраструктуру.</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11155680" cy="530352"/>
          </a:xfrm>
          <a:prstGeom prst="rect">
            <a:avLst/>
          </a:prstGeom>
          <a:noFill/>
          <a:ln/>
        </p:spPr>
        <p:txBody>
          <a:bodyPr wrap="square" lIns="0" tIns="0" rIns="0" bIns="0" rtlCol="0" anchor="ctr">
            <a:spAutoFit/>
          </a:bodyPr>
          <a:lstStyle/>
          <a:p>
            <a:pPr marL="0" indent="0">
              <a:lnSpc>
                <a:spcPct val="104000"/>
              </a:lnSpc>
              <a:buNone/>
            </a:pPr>
            <a:r>
              <a:rPr lang="en-US" sz="3100" b="1" dirty="0">
                <a:solidFill>
                  <a:srgbClr val="182D47"/>
                </a:solidFill>
                <a:latin typeface="Arial" pitchFamily="34" charset="0"/>
                <a:ea typeface="Arial" pitchFamily="34" charset="-122"/>
                <a:cs typeface="Arial" pitchFamily="34" charset="-120"/>
              </a:rPr>
              <a:t>Виды развертывания облака</a:t>
            </a:r>
            <a:endParaRPr lang="en-US" sz="3100" dirty="0"/>
          </a:p>
        </p:txBody>
      </p:sp>
      <p:sp>
        <p:nvSpPr>
          <p:cNvPr id="3" name="Text 1"/>
          <p:cNvSpPr/>
          <p:nvPr/>
        </p:nvSpPr>
        <p:spPr>
          <a:xfrm>
            <a:off x="521208" y="1097280"/>
            <a:ext cx="11018520" cy="411480"/>
          </a:xfrm>
          <a:prstGeom prst="rect">
            <a:avLst/>
          </a:prstGeom>
          <a:noFill/>
          <a:ln/>
        </p:spPr>
        <p:txBody>
          <a:bodyPr wrap="square" lIns="0" tIns="0" rIns="0" bIns="0" rtlCol="0" anchor="ctr">
            <a:spAutoFit/>
          </a:bodyPr>
          <a:lstStyle/>
          <a:p>
            <a:pPr marL="0" indent="0">
              <a:lnSpc>
                <a:spcPct val="104000"/>
              </a:lnSpc>
              <a:buNone/>
            </a:pPr>
            <a:r>
              <a:rPr lang="en-US" sz="1900" dirty="0">
                <a:solidFill>
                  <a:srgbClr val="43536A"/>
                </a:solidFill>
                <a:latin typeface="Arial" pitchFamily="34" charset="0"/>
                <a:ea typeface="Arial" pitchFamily="34" charset="-122"/>
                <a:cs typeface="Arial" pitchFamily="34" charset="-120"/>
              </a:rPr>
              <a:t>Модель развертывания определяет круг пользователей и организацию среды.</a:t>
            </a:r>
            <a:endParaRPr lang="en-US" sz="1900" dirty="0"/>
          </a:p>
        </p:txBody>
      </p:sp>
      <p:sp>
        <p:nvSpPr>
          <p:cNvPr id="4" name="Shape 2"/>
          <p:cNvSpPr/>
          <p:nvPr/>
        </p:nvSpPr>
        <p:spPr>
          <a:xfrm>
            <a:off x="502920" y="6345936"/>
            <a:ext cx="11183112" cy="0"/>
          </a:xfrm>
          <a:prstGeom prst="line">
            <a:avLst/>
          </a:prstGeom>
          <a:noFill/>
          <a:ln w="10160">
            <a:solidFill>
              <a:srgbClr val="D4DFEF"/>
            </a:solidFill>
            <a:prstDash val="solid"/>
            <a:headEnd type="none"/>
            <a:tailEnd type="none"/>
          </a:ln>
        </p:spPr>
      </p:sp>
      <p:sp>
        <p:nvSpPr>
          <p:cNvPr id="5" name="Text 3"/>
          <p:cNvSpPr/>
          <p:nvPr/>
        </p:nvSpPr>
        <p:spPr>
          <a:xfrm>
            <a:off x="512064" y="6464177"/>
            <a:ext cx="4023360" cy="156710"/>
          </a:xfrm>
          <a:prstGeom prst="rect">
            <a:avLst/>
          </a:prstGeom>
          <a:noFill/>
          <a:ln/>
        </p:spPr>
        <p:txBody>
          <a:bodyPr wrap="square" lIns="0" tIns="0" rIns="0" bIns="0" rtlCol="0" anchor="ctr">
            <a:spAutoFit/>
          </a:bodyPr>
          <a:lstStyle/>
          <a:p>
            <a:pPr marL="0" indent="0">
              <a:lnSpc>
                <a:spcPct val="104000"/>
              </a:lnSpc>
              <a:buNone/>
            </a:pPr>
            <a:endParaRPr lang="en-US" sz="1050" dirty="0"/>
          </a:p>
        </p:txBody>
      </p:sp>
      <p:sp>
        <p:nvSpPr>
          <p:cNvPr id="6" name="Text 4"/>
          <p:cNvSpPr/>
          <p:nvPr/>
        </p:nvSpPr>
        <p:spPr>
          <a:xfrm>
            <a:off x="4663440" y="6464177"/>
            <a:ext cx="6126480" cy="156710"/>
          </a:xfrm>
          <a:prstGeom prst="rect">
            <a:avLst/>
          </a:prstGeom>
          <a:noFill/>
          <a:ln/>
        </p:spPr>
        <p:txBody>
          <a:bodyPr wrap="square" lIns="0" tIns="0" rIns="0" bIns="0" rtlCol="0" anchor="ctr">
            <a:spAutoFit/>
          </a:bodyPr>
          <a:lstStyle/>
          <a:p>
            <a:pPr marL="0" indent="0" algn="r">
              <a:lnSpc>
                <a:spcPct val="104000"/>
              </a:lnSpc>
              <a:buNone/>
            </a:pPr>
            <a:endParaRPr lang="en-US" sz="1050" dirty="0"/>
          </a:p>
        </p:txBody>
      </p:sp>
      <p:sp>
        <p:nvSpPr>
          <p:cNvPr id="7" name="Text 5"/>
          <p:cNvSpPr/>
          <p:nvPr/>
        </p:nvSpPr>
        <p:spPr>
          <a:xfrm>
            <a:off x="10972800" y="6452167"/>
            <a:ext cx="694944" cy="171585"/>
          </a:xfrm>
          <a:prstGeom prst="rect">
            <a:avLst/>
          </a:prstGeom>
          <a:noFill/>
          <a:ln/>
        </p:spPr>
        <p:txBody>
          <a:bodyPr wrap="square" lIns="0" tIns="0" rIns="0" bIns="0" rtlCol="0" anchor="ctr">
            <a:spAutoFit/>
          </a:bodyPr>
          <a:lstStyle/>
          <a:p>
            <a:pPr marL="0" indent="0" algn="r">
              <a:lnSpc>
                <a:spcPct val="104000"/>
              </a:lnSpc>
              <a:buNone/>
            </a:pPr>
            <a:endParaRPr lang="en-US" sz="1150" dirty="0"/>
          </a:p>
        </p:txBody>
      </p:sp>
      <p:sp>
        <p:nvSpPr>
          <p:cNvPr id="8" name="Shape 6"/>
          <p:cNvSpPr/>
          <p:nvPr/>
        </p:nvSpPr>
        <p:spPr>
          <a:xfrm>
            <a:off x="502920" y="1773936"/>
            <a:ext cx="5486400" cy="1435608"/>
          </a:xfrm>
          <a:prstGeom prst="rect">
            <a:avLst/>
          </a:prstGeom>
          <a:solidFill>
            <a:srgbClr val="F1F5FC"/>
          </a:solidFill>
          <a:ln w="8890">
            <a:solidFill>
              <a:srgbClr val="F1F5FC">
                <a:alpha val="0"/>
              </a:srgbClr>
            </a:solidFill>
            <a:prstDash val="solid"/>
          </a:ln>
        </p:spPr>
      </p:sp>
      <p:sp>
        <p:nvSpPr>
          <p:cNvPr id="9" name="Text 7"/>
          <p:cNvSpPr/>
          <p:nvPr/>
        </p:nvSpPr>
        <p:spPr>
          <a:xfrm>
            <a:off x="704088" y="1956816"/>
            <a:ext cx="530352" cy="338328"/>
          </a:xfrm>
          <a:prstGeom prst="rect">
            <a:avLst/>
          </a:prstGeom>
          <a:noFill/>
          <a:ln/>
        </p:spPr>
        <p:txBody>
          <a:bodyPr wrap="square" lIns="0" tIns="0" rIns="0" bIns="0" rtlCol="0" anchor="ctr">
            <a:spAutoFit/>
          </a:bodyPr>
          <a:lstStyle/>
          <a:p>
            <a:pPr marL="0" indent="0">
              <a:lnSpc>
                <a:spcPct val="104000"/>
              </a:lnSpc>
              <a:buNone/>
            </a:pPr>
            <a:r>
              <a:rPr lang="en-US" sz="1800" b="1" dirty="0">
                <a:solidFill>
                  <a:srgbClr val="2F68E8"/>
                </a:solidFill>
                <a:latin typeface="Arial" pitchFamily="34" charset="0"/>
                <a:ea typeface="Arial" pitchFamily="34" charset="-122"/>
                <a:cs typeface="Arial" pitchFamily="34" charset="-120"/>
              </a:rPr>
              <a:t>01</a:t>
            </a:r>
            <a:endParaRPr lang="en-US" sz="1800" dirty="0"/>
          </a:p>
        </p:txBody>
      </p:sp>
      <p:sp>
        <p:nvSpPr>
          <p:cNvPr id="10" name="Text 8"/>
          <p:cNvSpPr/>
          <p:nvPr/>
        </p:nvSpPr>
        <p:spPr>
          <a:xfrm>
            <a:off x="1362456" y="1938528"/>
            <a:ext cx="4370832" cy="384048"/>
          </a:xfrm>
          <a:prstGeom prst="rect">
            <a:avLst/>
          </a:prstGeom>
          <a:noFill/>
          <a:ln/>
        </p:spPr>
        <p:txBody>
          <a:bodyPr wrap="square" lIns="0" tIns="0" rIns="0" bIns="0" rtlCol="0" anchor="ctr">
            <a:spAutoFit/>
          </a:bodyPr>
          <a:lstStyle/>
          <a:p>
            <a:pPr marL="0" indent="0">
              <a:lnSpc>
                <a:spcPct val="104000"/>
              </a:lnSpc>
              <a:buNone/>
            </a:pPr>
            <a:r>
              <a:rPr lang="en-US" sz="2200" b="1" dirty="0">
                <a:solidFill>
                  <a:srgbClr val="182D47"/>
                </a:solidFill>
                <a:latin typeface="Arial" pitchFamily="34" charset="0"/>
                <a:ea typeface="Arial" pitchFamily="34" charset="-122"/>
                <a:cs typeface="Arial" pitchFamily="34" charset="-120"/>
              </a:rPr>
              <a:t>Публичное</a:t>
            </a:r>
            <a:endParaRPr lang="en-US" sz="2200" dirty="0"/>
          </a:p>
        </p:txBody>
      </p:sp>
      <p:sp>
        <p:nvSpPr>
          <p:cNvPr id="11" name="Text 9"/>
          <p:cNvSpPr/>
          <p:nvPr/>
        </p:nvSpPr>
        <p:spPr>
          <a:xfrm>
            <a:off x="1362456" y="2468880"/>
            <a:ext cx="4352544" cy="576072"/>
          </a:xfrm>
          <a:prstGeom prst="rect">
            <a:avLst/>
          </a:prstGeom>
          <a:noFill/>
          <a:ln/>
        </p:spPr>
        <p:txBody>
          <a:bodyPr wrap="square" lIns="0" tIns="0" rIns="0" bIns="0" rtlCol="0" anchor="ctr">
            <a:spAutoFit/>
          </a:bodyPr>
          <a:lstStyle/>
          <a:p>
            <a:pPr marL="0" indent="0">
              <a:lnSpc>
                <a:spcPct val="104000"/>
              </a:lnSpc>
              <a:buNone/>
            </a:pPr>
            <a:r>
              <a:rPr lang="en-US" sz="1930" dirty="0">
                <a:solidFill>
                  <a:srgbClr val="43536A"/>
                </a:solidFill>
                <a:latin typeface="Arial" pitchFamily="34" charset="0"/>
                <a:ea typeface="Arial" pitchFamily="34" charset="-122"/>
                <a:cs typeface="Arial" pitchFamily="34" charset="-120"/>
              </a:rPr>
              <a:t>Инфраструктура провайдера</a:t>
            </a:r>
            <a:endParaRPr lang="en-US" sz="1930" dirty="0"/>
          </a:p>
          <a:p>
            <a:pPr marL="0" indent="0">
              <a:lnSpc>
                <a:spcPct val="104000"/>
              </a:lnSpc>
              <a:buNone/>
            </a:pPr>
            <a:r>
              <a:rPr lang="en-US" sz="1930" dirty="0">
                <a:solidFill>
                  <a:srgbClr val="43536A"/>
                </a:solidFill>
                <a:latin typeface="Arial" pitchFamily="34" charset="0"/>
                <a:ea typeface="Arial" pitchFamily="34" charset="-122"/>
                <a:cs typeface="Arial" pitchFamily="34" charset="-120"/>
              </a:rPr>
              <a:t>для многих клиентов.</a:t>
            </a:r>
            <a:endParaRPr lang="en-US" sz="1930" dirty="0"/>
          </a:p>
        </p:txBody>
      </p:sp>
      <p:sp>
        <p:nvSpPr>
          <p:cNvPr id="12" name="Shape 10"/>
          <p:cNvSpPr/>
          <p:nvPr/>
        </p:nvSpPr>
        <p:spPr>
          <a:xfrm>
            <a:off x="6199632" y="1773936"/>
            <a:ext cx="5486400" cy="1435608"/>
          </a:xfrm>
          <a:prstGeom prst="rect">
            <a:avLst/>
          </a:prstGeom>
          <a:solidFill>
            <a:srgbClr val="F1F5FC"/>
          </a:solidFill>
          <a:ln w="8890">
            <a:solidFill>
              <a:srgbClr val="F1F5FC">
                <a:alpha val="0"/>
              </a:srgbClr>
            </a:solidFill>
            <a:prstDash val="solid"/>
          </a:ln>
        </p:spPr>
      </p:sp>
      <p:sp>
        <p:nvSpPr>
          <p:cNvPr id="13" name="Text 11"/>
          <p:cNvSpPr/>
          <p:nvPr/>
        </p:nvSpPr>
        <p:spPr>
          <a:xfrm>
            <a:off x="6400800" y="1956816"/>
            <a:ext cx="530352" cy="338328"/>
          </a:xfrm>
          <a:prstGeom prst="rect">
            <a:avLst/>
          </a:prstGeom>
          <a:noFill/>
          <a:ln/>
        </p:spPr>
        <p:txBody>
          <a:bodyPr wrap="square" lIns="0" tIns="0" rIns="0" bIns="0" rtlCol="0" anchor="ctr">
            <a:spAutoFit/>
          </a:bodyPr>
          <a:lstStyle/>
          <a:p>
            <a:pPr marL="0" indent="0">
              <a:lnSpc>
                <a:spcPct val="104000"/>
              </a:lnSpc>
              <a:buNone/>
            </a:pPr>
            <a:r>
              <a:rPr lang="en-US" sz="1800" b="1" dirty="0">
                <a:solidFill>
                  <a:srgbClr val="2F68E8"/>
                </a:solidFill>
                <a:latin typeface="Arial" pitchFamily="34" charset="0"/>
                <a:ea typeface="Arial" pitchFamily="34" charset="-122"/>
                <a:cs typeface="Arial" pitchFamily="34" charset="-120"/>
              </a:rPr>
              <a:t>02</a:t>
            </a:r>
            <a:endParaRPr lang="en-US" sz="1800" dirty="0"/>
          </a:p>
        </p:txBody>
      </p:sp>
      <p:sp>
        <p:nvSpPr>
          <p:cNvPr id="14" name="Text 12"/>
          <p:cNvSpPr/>
          <p:nvPr/>
        </p:nvSpPr>
        <p:spPr>
          <a:xfrm>
            <a:off x="7059168" y="1938528"/>
            <a:ext cx="4370832" cy="384048"/>
          </a:xfrm>
          <a:prstGeom prst="rect">
            <a:avLst/>
          </a:prstGeom>
          <a:noFill/>
          <a:ln/>
        </p:spPr>
        <p:txBody>
          <a:bodyPr wrap="square" lIns="0" tIns="0" rIns="0" bIns="0" rtlCol="0" anchor="ctr">
            <a:spAutoFit/>
          </a:bodyPr>
          <a:lstStyle/>
          <a:p>
            <a:pPr marL="0" indent="0">
              <a:lnSpc>
                <a:spcPct val="104000"/>
              </a:lnSpc>
              <a:buNone/>
            </a:pPr>
            <a:r>
              <a:rPr lang="en-US" sz="2200" b="1" dirty="0">
                <a:solidFill>
                  <a:srgbClr val="182D47"/>
                </a:solidFill>
                <a:latin typeface="Arial" pitchFamily="34" charset="0"/>
                <a:ea typeface="Arial" pitchFamily="34" charset="-122"/>
                <a:cs typeface="Arial" pitchFamily="34" charset="-120"/>
              </a:rPr>
              <a:t>Частное</a:t>
            </a:r>
            <a:endParaRPr lang="en-US" sz="2200" dirty="0"/>
          </a:p>
        </p:txBody>
      </p:sp>
      <p:sp>
        <p:nvSpPr>
          <p:cNvPr id="15" name="Text 13"/>
          <p:cNvSpPr/>
          <p:nvPr/>
        </p:nvSpPr>
        <p:spPr>
          <a:xfrm>
            <a:off x="7059168" y="2468880"/>
            <a:ext cx="4352544" cy="576072"/>
          </a:xfrm>
          <a:prstGeom prst="rect">
            <a:avLst/>
          </a:prstGeom>
          <a:noFill/>
          <a:ln/>
        </p:spPr>
        <p:txBody>
          <a:bodyPr wrap="square" lIns="0" tIns="0" rIns="0" bIns="0" rtlCol="0" anchor="ctr">
            <a:spAutoFit/>
          </a:bodyPr>
          <a:lstStyle/>
          <a:p>
            <a:pPr marL="0" indent="0">
              <a:lnSpc>
                <a:spcPct val="104000"/>
              </a:lnSpc>
              <a:buNone/>
            </a:pPr>
            <a:r>
              <a:rPr lang="en-US" sz="1930" dirty="0">
                <a:solidFill>
                  <a:srgbClr val="43536A"/>
                </a:solidFill>
                <a:latin typeface="Arial" pitchFamily="34" charset="0"/>
                <a:ea typeface="Arial" pitchFamily="34" charset="-122"/>
                <a:cs typeface="Arial" pitchFamily="34" charset="-120"/>
              </a:rPr>
              <a:t>Для одной организации:</a:t>
            </a:r>
            <a:endParaRPr lang="en-US" sz="1930" dirty="0"/>
          </a:p>
          <a:p>
            <a:pPr marL="0" indent="0">
              <a:lnSpc>
                <a:spcPct val="104000"/>
              </a:lnSpc>
              <a:buNone/>
            </a:pPr>
            <a:r>
              <a:rPr lang="en-US" sz="1930" dirty="0">
                <a:solidFill>
                  <a:srgbClr val="43536A"/>
                </a:solidFill>
                <a:latin typeface="Arial" pitchFamily="34" charset="0"/>
                <a:ea typeface="Arial" pitchFamily="34" charset="-122"/>
                <a:cs typeface="Arial" pitchFamily="34" charset="-120"/>
              </a:rPr>
              <a:t>в своём ЦОД или у провайдера.</a:t>
            </a:r>
            <a:endParaRPr lang="en-US" sz="1930" dirty="0"/>
          </a:p>
        </p:txBody>
      </p:sp>
      <p:sp>
        <p:nvSpPr>
          <p:cNvPr id="16" name="Shape 14"/>
          <p:cNvSpPr/>
          <p:nvPr/>
        </p:nvSpPr>
        <p:spPr>
          <a:xfrm>
            <a:off x="502920" y="3419856"/>
            <a:ext cx="5486400" cy="1435608"/>
          </a:xfrm>
          <a:prstGeom prst="rect">
            <a:avLst/>
          </a:prstGeom>
          <a:solidFill>
            <a:srgbClr val="F1F5FC"/>
          </a:solidFill>
          <a:ln w="8890">
            <a:solidFill>
              <a:srgbClr val="F1F5FC">
                <a:alpha val="0"/>
              </a:srgbClr>
            </a:solidFill>
            <a:prstDash val="solid"/>
          </a:ln>
        </p:spPr>
      </p:sp>
      <p:sp>
        <p:nvSpPr>
          <p:cNvPr id="17" name="Text 15"/>
          <p:cNvSpPr/>
          <p:nvPr/>
        </p:nvSpPr>
        <p:spPr>
          <a:xfrm>
            <a:off x="704088" y="3602736"/>
            <a:ext cx="530352" cy="338328"/>
          </a:xfrm>
          <a:prstGeom prst="rect">
            <a:avLst/>
          </a:prstGeom>
          <a:noFill/>
          <a:ln/>
        </p:spPr>
        <p:txBody>
          <a:bodyPr wrap="square" lIns="0" tIns="0" rIns="0" bIns="0" rtlCol="0" anchor="ctr">
            <a:spAutoFit/>
          </a:bodyPr>
          <a:lstStyle/>
          <a:p>
            <a:pPr marL="0" indent="0">
              <a:lnSpc>
                <a:spcPct val="104000"/>
              </a:lnSpc>
              <a:buNone/>
            </a:pPr>
            <a:r>
              <a:rPr lang="en-US" sz="1800" b="1" dirty="0">
                <a:solidFill>
                  <a:srgbClr val="2F68E8"/>
                </a:solidFill>
                <a:latin typeface="Arial" pitchFamily="34" charset="0"/>
                <a:ea typeface="Arial" pitchFamily="34" charset="-122"/>
                <a:cs typeface="Arial" pitchFamily="34" charset="-120"/>
              </a:rPr>
              <a:t>03</a:t>
            </a:r>
            <a:endParaRPr lang="en-US" sz="1800" dirty="0"/>
          </a:p>
        </p:txBody>
      </p:sp>
      <p:sp>
        <p:nvSpPr>
          <p:cNvPr id="18" name="Text 16"/>
          <p:cNvSpPr/>
          <p:nvPr/>
        </p:nvSpPr>
        <p:spPr>
          <a:xfrm>
            <a:off x="1362456" y="3584448"/>
            <a:ext cx="4370832" cy="384048"/>
          </a:xfrm>
          <a:prstGeom prst="rect">
            <a:avLst/>
          </a:prstGeom>
          <a:noFill/>
          <a:ln/>
        </p:spPr>
        <p:txBody>
          <a:bodyPr wrap="square" lIns="0" tIns="0" rIns="0" bIns="0" rtlCol="0" anchor="ctr">
            <a:spAutoFit/>
          </a:bodyPr>
          <a:lstStyle/>
          <a:p>
            <a:pPr marL="0" indent="0">
              <a:lnSpc>
                <a:spcPct val="104000"/>
              </a:lnSpc>
              <a:buNone/>
            </a:pPr>
            <a:r>
              <a:rPr lang="en-US" sz="2200" b="1" dirty="0">
                <a:solidFill>
                  <a:srgbClr val="182D47"/>
                </a:solidFill>
                <a:latin typeface="Arial" pitchFamily="34" charset="0"/>
                <a:ea typeface="Arial" pitchFamily="34" charset="-122"/>
                <a:cs typeface="Arial" pitchFamily="34" charset="-120"/>
              </a:rPr>
              <a:t>Гибридное</a:t>
            </a:r>
            <a:endParaRPr lang="en-US" sz="2200" dirty="0"/>
          </a:p>
        </p:txBody>
      </p:sp>
      <p:sp>
        <p:nvSpPr>
          <p:cNvPr id="19" name="Text 17"/>
          <p:cNvSpPr/>
          <p:nvPr/>
        </p:nvSpPr>
        <p:spPr>
          <a:xfrm>
            <a:off x="1362456" y="4114800"/>
            <a:ext cx="4352544" cy="576072"/>
          </a:xfrm>
          <a:prstGeom prst="rect">
            <a:avLst/>
          </a:prstGeom>
          <a:noFill/>
          <a:ln/>
        </p:spPr>
        <p:txBody>
          <a:bodyPr wrap="square" lIns="0" tIns="0" rIns="0" bIns="0" rtlCol="0" anchor="ctr">
            <a:spAutoFit/>
          </a:bodyPr>
          <a:lstStyle/>
          <a:p>
            <a:pPr marL="0" indent="0">
              <a:lnSpc>
                <a:spcPct val="104000"/>
              </a:lnSpc>
              <a:buNone/>
            </a:pPr>
            <a:r>
              <a:rPr lang="en-US" sz="1930" dirty="0">
                <a:solidFill>
                  <a:srgbClr val="43536A"/>
                </a:solidFill>
                <a:latin typeface="Arial" pitchFamily="34" charset="0"/>
                <a:ea typeface="Arial" pitchFamily="34" charset="-122"/>
                <a:cs typeface="Arial" pitchFamily="34" charset="-120"/>
              </a:rPr>
              <a:t>Объединяет публичное</a:t>
            </a:r>
            <a:endParaRPr lang="en-US" sz="1930" dirty="0"/>
          </a:p>
          <a:p>
            <a:pPr marL="0" indent="0">
              <a:lnSpc>
                <a:spcPct val="104000"/>
              </a:lnSpc>
              <a:buNone/>
            </a:pPr>
            <a:r>
              <a:rPr lang="en-US" sz="1930" dirty="0">
                <a:solidFill>
                  <a:srgbClr val="43536A"/>
                </a:solidFill>
                <a:latin typeface="Arial" pitchFamily="34" charset="0"/>
                <a:ea typeface="Arial" pitchFamily="34" charset="-122"/>
                <a:cs typeface="Arial" pitchFamily="34" charset="-120"/>
              </a:rPr>
              <a:t>и частное облако.</a:t>
            </a:r>
            <a:endParaRPr lang="en-US" sz="1930" dirty="0"/>
          </a:p>
        </p:txBody>
      </p:sp>
      <p:sp>
        <p:nvSpPr>
          <p:cNvPr id="20" name="Shape 18"/>
          <p:cNvSpPr/>
          <p:nvPr/>
        </p:nvSpPr>
        <p:spPr>
          <a:xfrm>
            <a:off x="6199632" y="3419856"/>
            <a:ext cx="5486400" cy="1435608"/>
          </a:xfrm>
          <a:prstGeom prst="rect">
            <a:avLst/>
          </a:prstGeom>
          <a:solidFill>
            <a:srgbClr val="F1F5FC"/>
          </a:solidFill>
          <a:ln w="8890">
            <a:solidFill>
              <a:srgbClr val="F1F5FC">
                <a:alpha val="0"/>
              </a:srgbClr>
            </a:solidFill>
            <a:prstDash val="solid"/>
          </a:ln>
        </p:spPr>
      </p:sp>
      <p:sp>
        <p:nvSpPr>
          <p:cNvPr id="21" name="Text 19"/>
          <p:cNvSpPr/>
          <p:nvPr/>
        </p:nvSpPr>
        <p:spPr>
          <a:xfrm>
            <a:off x="6400800" y="3602736"/>
            <a:ext cx="530352" cy="338328"/>
          </a:xfrm>
          <a:prstGeom prst="rect">
            <a:avLst/>
          </a:prstGeom>
          <a:noFill/>
          <a:ln/>
        </p:spPr>
        <p:txBody>
          <a:bodyPr wrap="square" lIns="0" tIns="0" rIns="0" bIns="0" rtlCol="0" anchor="ctr">
            <a:spAutoFit/>
          </a:bodyPr>
          <a:lstStyle/>
          <a:p>
            <a:pPr marL="0" indent="0">
              <a:lnSpc>
                <a:spcPct val="104000"/>
              </a:lnSpc>
              <a:buNone/>
            </a:pPr>
            <a:r>
              <a:rPr lang="en-US" sz="1800" b="1" dirty="0">
                <a:solidFill>
                  <a:srgbClr val="2F68E8"/>
                </a:solidFill>
                <a:latin typeface="Arial" pitchFamily="34" charset="0"/>
                <a:ea typeface="Arial" pitchFamily="34" charset="-122"/>
                <a:cs typeface="Arial" pitchFamily="34" charset="-120"/>
              </a:rPr>
              <a:t>04</a:t>
            </a:r>
            <a:endParaRPr lang="en-US" sz="1800" dirty="0"/>
          </a:p>
        </p:txBody>
      </p:sp>
      <p:sp>
        <p:nvSpPr>
          <p:cNvPr id="22" name="Text 20"/>
          <p:cNvSpPr/>
          <p:nvPr/>
        </p:nvSpPr>
        <p:spPr>
          <a:xfrm>
            <a:off x="7059168" y="3584448"/>
            <a:ext cx="4370832" cy="384048"/>
          </a:xfrm>
          <a:prstGeom prst="rect">
            <a:avLst/>
          </a:prstGeom>
          <a:noFill/>
          <a:ln/>
        </p:spPr>
        <p:txBody>
          <a:bodyPr wrap="square" lIns="0" tIns="0" rIns="0" bIns="0" rtlCol="0" anchor="ctr">
            <a:spAutoFit/>
          </a:bodyPr>
          <a:lstStyle/>
          <a:p>
            <a:pPr marL="0" indent="0">
              <a:lnSpc>
                <a:spcPct val="104000"/>
              </a:lnSpc>
              <a:buNone/>
            </a:pPr>
            <a:r>
              <a:rPr lang="en-US" sz="2200" b="1" dirty="0">
                <a:solidFill>
                  <a:srgbClr val="182D47"/>
                </a:solidFill>
                <a:latin typeface="Arial" pitchFamily="34" charset="0"/>
                <a:ea typeface="Arial" pitchFamily="34" charset="-122"/>
                <a:cs typeface="Arial" pitchFamily="34" charset="-120"/>
              </a:rPr>
              <a:t>Облако сообщества</a:t>
            </a:r>
            <a:endParaRPr lang="en-US" sz="2200" dirty="0"/>
          </a:p>
        </p:txBody>
      </p:sp>
      <p:sp>
        <p:nvSpPr>
          <p:cNvPr id="23" name="Text 21"/>
          <p:cNvSpPr/>
          <p:nvPr/>
        </p:nvSpPr>
        <p:spPr>
          <a:xfrm>
            <a:off x="7059168" y="4114800"/>
            <a:ext cx="4352544" cy="576072"/>
          </a:xfrm>
          <a:prstGeom prst="rect">
            <a:avLst/>
          </a:prstGeom>
          <a:noFill/>
          <a:ln/>
        </p:spPr>
        <p:txBody>
          <a:bodyPr wrap="square" lIns="0" tIns="0" rIns="0" bIns="0" rtlCol="0" anchor="ctr">
            <a:spAutoFit/>
          </a:bodyPr>
          <a:lstStyle/>
          <a:p>
            <a:pPr marL="0" indent="0">
              <a:lnSpc>
                <a:spcPct val="104000"/>
              </a:lnSpc>
              <a:buNone/>
            </a:pPr>
            <a:r>
              <a:rPr lang="en-US" sz="1930" dirty="0">
                <a:solidFill>
                  <a:srgbClr val="43536A"/>
                </a:solidFill>
                <a:latin typeface="Arial" pitchFamily="34" charset="0"/>
                <a:ea typeface="Arial" pitchFamily="34" charset="-122"/>
                <a:cs typeface="Arial" pitchFamily="34" charset="-120"/>
              </a:rPr>
              <a:t>Для нескольких организаций</a:t>
            </a:r>
            <a:endParaRPr lang="en-US" sz="1930" dirty="0"/>
          </a:p>
          <a:p>
            <a:pPr marL="0" indent="0">
              <a:lnSpc>
                <a:spcPct val="104000"/>
              </a:lnSpc>
              <a:buNone/>
            </a:pPr>
            <a:r>
              <a:rPr lang="en-US" sz="1930" dirty="0">
                <a:solidFill>
                  <a:srgbClr val="43536A"/>
                </a:solidFill>
                <a:latin typeface="Arial" pitchFamily="34" charset="0"/>
                <a:ea typeface="Arial" pitchFamily="34" charset="-122"/>
                <a:cs typeface="Arial" pitchFamily="34" charset="-120"/>
              </a:rPr>
              <a:t>с общими требованиями.</a:t>
            </a:r>
            <a:endParaRPr lang="en-US" sz="1930" dirty="0"/>
          </a:p>
        </p:txBody>
      </p:sp>
      <p:sp>
        <p:nvSpPr>
          <p:cNvPr id="24" name="Shape 22"/>
          <p:cNvSpPr/>
          <p:nvPr/>
        </p:nvSpPr>
        <p:spPr>
          <a:xfrm>
            <a:off x="502920" y="5129784"/>
            <a:ext cx="11183112" cy="0"/>
          </a:xfrm>
          <a:prstGeom prst="line">
            <a:avLst/>
          </a:prstGeom>
          <a:noFill/>
          <a:ln w="12700">
            <a:solidFill>
              <a:srgbClr val="D4DFEF"/>
            </a:solidFill>
            <a:prstDash val="solid"/>
            <a:headEnd type="none"/>
            <a:tailEnd type="none"/>
          </a:ln>
        </p:spPr>
      </p:sp>
      <p:sp>
        <p:nvSpPr>
          <p:cNvPr id="25" name="Text 23"/>
          <p:cNvSpPr/>
          <p:nvPr/>
        </p:nvSpPr>
        <p:spPr>
          <a:xfrm>
            <a:off x="704088" y="5431536"/>
            <a:ext cx="2496312" cy="393192"/>
          </a:xfrm>
          <a:prstGeom prst="rect">
            <a:avLst/>
          </a:prstGeom>
          <a:noFill/>
          <a:ln/>
        </p:spPr>
        <p:txBody>
          <a:bodyPr wrap="square" lIns="0" tIns="0" rIns="0" bIns="0" rtlCol="0" anchor="ctr">
            <a:spAutoFit/>
          </a:bodyPr>
          <a:lstStyle/>
          <a:p>
            <a:pPr marL="0" indent="0">
              <a:lnSpc>
                <a:spcPct val="104000"/>
              </a:lnSpc>
              <a:buNone/>
            </a:pPr>
            <a:r>
              <a:rPr lang="en-US" sz="2200" b="1" dirty="0">
                <a:solidFill>
                  <a:srgbClr val="2F68E8"/>
                </a:solidFill>
                <a:latin typeface="Arial" pitchFamily="34" charset="0"/>
                <a:ea typeface="Arial" pitchFamily="34" charset="-122"/>
                <a:cs typeface="Arial" pitchFamily="34" charset="-120"/>
              </a:rPr>
              <a:t>Мультиоблако</a:t>
            </a:r>
            <a:endParaRPr lang="en-US" sz="2200" dirty="0"/>
          </a:p>
        </p:txBody>
      </p:sp>
      <p:sp>
        <p:nvSpPr>
          <p:cNvPr id="26" name="Text 24"/>
          <p:cNvSpPr/>
          <p:nvPr/>
        </p:nvSpPr>
        <p:spPr>
          <a:xfrm>
            <a:off x="3383280" y="5431536"/>
            <a:ext cx="8046720" cy="411480"/>
          </a:xfrm>
          <a:prstGeom prst="rect">
            <a:avLst/>
          </a:prstGeom>
          <a:noFill/>
          <a:ln/>
        </p:spPr>
        <p:txBody>
          <a:bodyPr wrap="square" lIns="0" tIns="0" rIns="0" bIns="0" rtlCol="0" anchor="ctr">
            <a:spAutoFit/>
          </a:bodyPr>
          <a:lstStyle/>
          <a:p>
            <a:pPr marL="0" indent="0">
              <a:lnSpc>
                <a:spcPct val="104000"/>
              </a:lnSpc>
              <a:buNone/>
            </a:pPr>
            <a:r>
              <a:rPr lang="en-US" sz="1950" dirty="0">
                <a:solidFill>
                  <a:srgbClr val="43536A"/>
                </a:solidFill>
                <a:latin typeface="Arial" pitchFamily="34" charset="0"/>
                <a:ea typeface="Arial" pitchFamily="34" charset="-122"/>
                <a:cs typeface="Arial" pitchFamily="34" charset="-120"/>
              </a:rPr>
              <a:t>Организация использует услуги нескольких провайдеров.</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11155680" cy="530352"/>
          </a:xfrm>
          <a:prstGeom prst="rect">
            <a:avLst/>
          </a:prstGeom>
          <a:noFill/>
          <a:ln/>
        </p:spPr>
        <p:txBody>
          <a:bodyPr wrap="square" lIns="0" tIns="0" rIns="0" bIns="0" rtlCol="0" anchor="ctr">
            <a:spAutoFit/>
          </a:bodyPr>
          <a:lstStyle/>
          <a:p>
            <a:pPr marL="0" indent="0">
              <a:lnSpc>
                <a:spcPct val="104000"/>
              </a:lnSpc>
              <a:buNone/>
            </a:pPr>
            <a:r>
              <a:rPr lang="en-US" sz="3100" b="1" dirty="0">
                <a:solidFill>
                  <a:srgbClr val="182D47"/>
                </a:solidFill>
                <a:latin typeface="Arial" pitchFamily="34" charset="0"/>
                <a:ea typeface="Arial" pitchFamily="34" charset="-122"/>
                <a:cs typeface="Arial" pitchFamily="34" charset="-120"/>
              </a:rPr>
              <a:t>Инфраструктура облака</a:t>
            </a:r>
            <a:endParaRPr lang="en-US" sz="3100" dirty="0"/>
          </a:p>
        </p:txBody>
      </p:sp>
      <p:sp>
        <p:nvSpPr>
          <p:cNvPr id="3" name="Text 1"/>
          <p:cNvSpPr/>
          <p:nvPr/>
        </p:nvSpPr>
        <p:spPr>
          <a:xfrm>
            <a:off x="521208" y="1097280"/>
            <a:ext cx="11018520" cy="411480"/>
          </a:xfrm>
          <a:prstGeom prst="rect">
            <a:avLst/>
          </a:prstGeom>
          <a:noFill/>
          <a:ln/>
        </p:spPr>
        <p:txBody>
          <a:bodyPr wrap="square" lIns="0" tIns="0" rIns="0" bIns="0" rtlCol="0" anchor="ctr">
            <a:spAutoFit/>
          </a:bodyPr>
          <a:lstStyle/>
          <a:p>
            <a:pPr marL="0" indent="0">
              <a:lnSpc>
                <a:spcPct val="104000"/>
              </a:lnSpc>
              <a:buNone/>
            </a:pPr>
            <a:r>
              <a:rPr lang="en-US" sz="1900" dirty="0">
                <a:solidFill>
                  <a:srgbClr val="43536A"/>
                </a:solidFill>
                <a:latin typeface="Arial" pitchFamily="34" charset="0"/>
                <a:ea typeface="Arial" pitchFamily="34" charset="-122"/>
                <a:cs typeface="Arial" pitchFamily="34" charset="-120"/>
              </a:rPr>
              <a:t>Оборудование и программные средства для предоставления облачных услуг.</a:t>
            </a:r>
            <a:endParaRPr lang="en-US" sz="1900" dirty="0"/>
          </a:p>
        </p:txBody>
      </p:sp>
      <p:sp>
        <p:nvSpPr>
          <p:cNvPr id="4" name="Shape 2"/>
          <p:cNvSpPr/>
          <p:nvPr/>
        </p:nvSpPr>
        <p:spPr>
          <a:xfrm>
            <a:off x="502920" y="6345936"/>
            <a:ext cx="11183112" cy="0"/>
          </a:xfrm>
          <a:prstGeom prst="line">
            <a:avLst/>
          </a:prstGeom>
          <a:noFill/>
          <a:ln w="10160">
            <a:solidFill>
              <a:srgbClr val="D4DFEF"/>
            </a:solidFill>
            <a:prstDash val="solid"/>
            <a:headEnd type="none"/>
            <a:tailEnd type="none"/>
          </a:ln>
        </p:spPr>
      </p:sp>
      <p:sp>
        <p:nvSpPr>
          <p:cNvPr id="5" name="Text 3"/>
          <p:cNvSpPr/>
          <p:nvPr/>
        </p:nvSpPr>
        <p:spPr>
          <a:xfrm>
            <a:off x="512064" y="6464177"/>
            <a:ext cx="4023360" cy="156710"/>
          </a:xfrm>
          <a:prstGeom prst="rect">
            <a:avLst/>
          </a:prstGeom>
          <a:noFill/>
          <a:ln/>
        </p:spPr>
        <p:txBody>
          <a:bodyPr wrap="square" lIns="0" tIns="0" rIns="0" bIns="0" rtlCol="0" anchor="ctr">
            <a:spAutoFit/>
          </a:bodyPr>
          <a:lstStyle/>
          <a:p>
            <a:pPr marL="0" indent="0">
              <a:lnSpc>
                <a:spcPct val="104000"/>
              </a:lnSpc>
              <a:buNone/>
            </a:pPr>
            <a:endParaRPr lang="en-US" sz="1050" dirty="0"/>
          </a:p>
        </p:txBody>
      </p:sp>
      <p:sp>
        <p:nvSpPr>
          <p:cNvPr id="6" name="Text 4"/>
          <p:cNvSpPr/>
          <p:nvPr/>
        </p:nvSpPr>
        <p:spPr>
          <a:xfrm>
            <a:off x="4663440" y="6464177"/>
            <a:ext cx="6126480" cy="156710"/>
          </a:xfrm>
          <a:prstGeom prst="rect">
            <a:avLst/>
          </a:prstGeom>
          <a:noFill/>
          <a:ln/>
        </p:spPr>
        <p:txBody>
          <a:bodyPr wrap="square" lIns="0" tIns="0" rIns="0" bIns="0" rtlCol="0" anchor="ctr">
            <a:spAutoFit/>
          </a:bodyPr>
          <a:lstStyle/>
          <a:p>
            <a:pPr marL="0" indent="0" algn="r">
              <a:lnSpc>
                <a:spcPct val="104000"/>
              </a:lnSpc>
              <a:buNone/>
            </a:pPr>
            <a:endParaRPr lang="en-US" sz="1050" dirty="0"/>
          </a:p>
        </p:txBody>
      </p:sp>
      <p:sp>
        <p:nvSpPr>
          <p:cNvPr id="7" name="Text 5"/>
          <p:cNvSpPr/>
          <p:nvPr/>
        </p:nvSpPr>
        <p:spPr>
          <a:xfrm>
            <a:off x="10972800" y="6452167"/>
            <a:ext cx="694944" cy="171585"/>
          </a:xfrm>
          <a:prstGeom prst="rect">
            <a:avLst/>
          </a:prstGeom>
          <a:noFill/>
          <a:ln/>
        </p:spPr>
        <p:txBody>
          <a:bodyPr wrap="square" lIns="0" tIns="0" rIns="0" bIns="0" rtlCol="0" anchor="ctr">
            <a:spAutoFit/>
          </a:bodyPr>
          <a:lstStyle/>
          <a:p>
            <a:pPr marL="0" indent="0" algn="r">
              <a:lnSpc>
                <a:spcPct val="104000"/>
              </a:lnSpc>
              <a:buNone/>
            </a:pPr>
            <a:endParaRPr lang="en-US" sz="1150" dirty="0"/>
          </a:p>
        </p:txBody>
      </p:sp>
      <p:sp>
        <p:nvSpPr>
          <p:cNvPr id="8" name="Shape 6"/>
          <p:cNvSpPr/>
          <p:nvPr/>
        </p:nvSpPr>
        <p:spPr>
          <a:xfrm>
            <a:off x="502920" y="1773936"/>
            <a:ext cx="7031736" cy="731520"/>
          </a:xfrm>
          <a:prstGeom prst="rect">
            <a:avLst/>
          </a:prstGeom>
          <a:solidFill>
            <a:srgbClr val="F1F5FC"/>
          </a:solidFill>
          <a:ln w="8890">
            <a:solidFill>
              <a:srgbClr val="F1F5FC">
                <a:alpha val="0"/>
              </a:srgbClr>
            </a:solidFill>
            <a:prstDash val="solid"/>
          </a:ln>
        </p:spPr>
      </p:sp>
      <p:sp>
        <p:nvSpPr>
          <p:cNvPr id="9" name="Shape 7"/>
          <p:cNvSpPr/>
          <p:nvPr/>
        </p:nvSpPr>
        <p:spPr>
          <a:xfrm>
            <a:off x="704088" y="1947672"/>
            <a:ext cx="356616" cy="356616"/>
          </a:xfrm>
          <a:prstGeom prst="ellipse">
            <a:avLst/>
          </a:prstGeom>
          <a:solidFill>
            <a:srgbClr val="2F68E8"/>
          </a:solidFill>
          <a:ln w="12700">
            <a:solidFill>
              <a:srgbClr val="2F68E8">
                <a:alpha val="0"/>
              </a:srgbClr>
            </a:solidFill>
            <a:prstDash val="solid"/>
          </a:ln>
        </p:spPr>
      </p:sp>
      <p:sp>
        <p:nvSpPr>
          <p:cNvPr id="10" name="Text 8"/>
          <p:cNvSpPr/>
          <p:nvPr/>
        </p:nvSpPr>
        <p:spPr>
          <a:xfrm>
            <a:off x="704088" y="1951330"/>
            <a:ext cx="356616" cy="356616"/>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01</a:t>
            </a:r>
            <a:endParaRPr lang="en-US" sz="1300" dirty="0"/>
          </a:p>
        </p:txBody>
      </p:sp>
      <p:sp>
        <p:nvSpPr>
          <p:cNvPr id="11" name="Text 9"/>
          <p:cNvSpPr/>
          <p:nvPr/>
        </p:nvSpPr>
        <p:spPr>
          <a:xfrm>
            <a:off x="1234440" y="1847088"/>
            <a:ext cx="6080760" cy="274320"/>
          </a:xfrm>
          <a:prstGeom prst="rect">
            <a:avLst/>
          </a:prstGeom>
          <a:noFill/>
          <a:ln/>
        </p:spPr>
        <p:txBody>
          <a:bodyPr wrap="square" lIns="0" tIns="0" rIns="0" bIns="0" rtlCol="0" anchor="ctr">
            <a:spAutoFit/>
          </a:bodyPr>
          <a:lstStyle/>
          <a:p>
            <a:pPr marL="0" indent="0">
              <a:lnSpc>
                <a:spcPct val="104000"/>
              </a:lnSpc>
              <a:buNone/>
            </a:pPr>
            <a:r>
              <a:rPr lang="en-US" sz="1950" b="1" dirty="0">
                <a:solidFill>
                  <a:srgbClr val="182D47"/>
                </a:solidFill>
                <a:latin typeface="Arial" pitchFamily="34" charset="0"/>
                <a:ea typeface="Arial" pitchFamily="34" charset="-122"/>
                <a:cs typeface="Arial" pitchFamily="34" charset="-120"/>
              </a:rPr>
              <a:t>Физическая основа</a:t>
            </a:r>
            <a:endParaRPr lang="en-US" sz="1950" dirty="0"/>
          </a:p>
        </p:txBody>
      </p:sp>
      <p:sp>
        <p:nvSpPr>
          <p:cNvPr id="12" name="Text 10"/>
          <p:cNvSpPr/>
          <p:nvPr/>
        </p:nvSpPr>
        <p:spPr>
          <a:xfrm>
            <a:off x="1234440" y="2194560"/>
            <a:ext cx="6035040" cy="246888"/>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Серверы, питание, охлаждение и защита ЦОД.</a:t>
            </a:r>
            <a:endParaRPr lang="en-US" sz="1660" dirty="0"/>
          </a:p>
        </p:txBody>
      </p:sp>
      <p:sp>
        <p:nvSpPr>
          <p:cNvPr id="13" name="Shape 11"/>
          <p:cNvSpPr/>
          <p:nvPr/>
        </p:nvSpPr>
        <p:spPr>
          <a:xfrm>
            <a:off x="502920" y="2615184"/>
            <a:ext cx="7031736" cy="731520"/>
          </a:xfrm>
          <a:prstGeom prst="rect">
            <a:avLst/>
          </a:prstGeom>
          <a:solidFill>
            <a:srgbClr val="F1F5FC"/>
          </a:solidFill>
          <a:ln w="8890">
            <a:solidFill>
              <a:srgbClr val="F1F5FC">
                <a:alpha val="0"/>
              </a:srgbClr>
            </a:solidFill>
            <a:prstDash val="solid"/>
          </a:ln>
        </p:spPr>
      </p:sp>
      <p:sp>
        <p:nvSpPr>
          <p:cNvPr id="14" name="Shape 12"/>
          <p:cNvSpPr/>
          <p:nvPr/>
        </p:nvSpPr>
        <p:spPr>
          <a:xfrm>
            <a:off x="704088" y="2788920"/>
            <a:ext cx="356616" cy="356616"/>
          </a:xfrm>
          <a:prstGeom prst="ellipse">
            <a:avLst/>
          </a:prstGeom>
          <a:solidFill>
            <a:srgbClr val="2F68E8"/>
          </a:solidFill>
          <a:ln w="12700">
            <a:solidFill>
              <a:srgbClr val="2F68E8">
                <a:alpha val="0"/>
              </a:srgbClr>
            </a:solidFill>
            <a:prstDash val="solid"/>
          </a:ln>
        </p:spPr>
      </p:sp>
      <p:sp>
        <p:nvSpPr>
          <p:cNvPr id="15" name="Text 13"/>
          <p:cNvSpPr/>
          <p:nvPr/>
        </p:nvSpPr>
        <p:spPr>
          <a:xfrm>
            <a:off x="704088" y="2792578"/>
            <a:ext cx="356616" cy="356616"/>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02</a:t>
            </a:r>
            <a:endParaRPr lang="en-US" sz="1300" dirty="0"/>
          </a:p>
        </p:txBody>
      </p:sp>
      <p:sp>
        <p:nvSpPr>
          <p:cNvPr id="16" name="Text 14"/>
          <p:cNvSpPr/>
          <p:nvPr/>
        </p:nvSpPr>
        <p:spPr>
          <a:xfrm>
            <a:off x="1234440" y="2688336"/>
            <a:ext cx="6080760" cy="274320"/>
          </a:xfrm>
          <a:prstGeom prst="rect">
            <a:avLst/>
          </a:prstGeom>
          <a:noFill/>
          <a:ln/>
        </p:spPr>
        <p:txBody>
          <a:bodyPr wrap="square" lIns="0" tIns="0" rIns="0" bIns="0" rtlCol="0" anchor="ctr">
            <a:spAutoFit/>
          </a:bodyPr>
          <a:lstStyle/>
          <a:p>
            <a:pPr marL="0" indent="0">
              <a:lnSpc>
                <a:spcPct val="104000"/>
              </a:lnSpc>
              <a:buNone/>
            </a:pPr>
            <a:r>
              <a:rPr lang="en-US" sz="1950" b="1" dirty="0">
                <a:solidFill>
                  <a:srgbClr val="182D47"/>
                </a:solidFill>
                <a:latin typeface="Arial" pitchFamily="34" charset="0"/>
                <a:ea typeface="Arial" pitchFamily="34" charset="-122"/>
                <a:cs typeface="Arial" pitchFamily="34" charset="-120"/>
              </a:rPr>
              <a:t>Распределение ресурсов</a:t>
            </a:r>
            <a:endParaRPr lang="en-US" sz="1950" dirty="0"/>
          </a:p>
        </p:txBody>
      </p:sp>
      <p:sp>
        <p:nvSpPr>
          <p:cNvPr id="17" name="Text 15"/>
          <p:cNvSpPr/>
          <p:nvPr/>
        </p:nvSpPr>
        <p:spPr>
          <a:xfrm>
            <a:off x="1234440" y="3035808"/>
            <a:ext cx="6035040" cy="246888"/>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Виртуальные машины, контейнеры и автоматизация.</a:t>
            </a:r>
            <a:endParaRPr lang="en-US" sz="1660" dirty="0"/>
          </a:p>
        </p:txBody>
      </p:sp>
      <p:sp>
        <p:nvSpPr>
          <p:cNvPr id="18" name="Shape 16"/>
          <p:cNvSpPr/>
          <p:nvPr/>
        </p:nvSpPr>
        <p:spPr>
          <a:xfrm>
            <a:off x="502920" y="3456432"/>
            <a:ext cx="7031736" cy="731520"/>
          </a:xfrm>
          <a:prstGeom prst="rect">
            <a:avLst/>
          </a:prstGeom>
          <a:solidFill>
            <a:srgbClr val="F1F5FC"/>
          </a:solidFill>
          <a:ln w="8890">
            <a:solidFill>
              <a:srgbClr val="F1F5FC">
                <a:alpha val="0"/>
              </a:srgbClr>
            </a:solidFill>
            <a:prstDash val="solid"/>
          </a:ln>
        </p:spPr>
      </p:sp>
      <p:sp>
        <p:nvSpPr>
          <p:cNvPr id="19" name="Shape 17"/>
          <p:cNvSpPr/>
          <p:nvPr/>
        </p:nvSpPr>
        <p:spPr>
          <a:xfrm>
            <a:off x="704088" y="3630168"/>
            <a:ext cx="356616" cy="356616"/>
          </a:xfrm>
          <a:prstGeom prst="ellipse">
            <a:avLst/>
          </a:prstGeom>
          <a:solidFill>
            <a:srgbClr val="2F68E8"/>
          </a:solidFill>
          <a:ln w="12700">
            <a:solidFill>
              <a:srgbClr val="2F68E8">
                <a:alpha val="0"/>
              </a:srgbClr>
            </a:solidFill>
            <a:prstDash val="solid"/>
          </a:ln>
        </p:spPr>
      </p:sp>
      <p:sp>
        <p:nvSpPr>
          <p:cNvPr id="20" name="Text 18"/>
          <p:cNvSpPr/>
          <p:nvPr/>
        </p:nvSpPr>
        <p:spPr>
          <a:xfrm>
            <a:off x="704088" y="3633826"/>
            <a:ext cx="356616" cy="356616"/>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03</a:t>
            </a:r>
            <a:endParaRPr lang="en-US" sz="1300" dirty="0"/>
          </a:p>
        </p:txBody>
      </p:sp>
      <p:sp>
        <p:nvSpPr>
          <p:cNvPr id="21" name="Text 19"/>
          <p:cNvSpPr/>
          <p:nvPr/>
        </p:nvSpPr>
        <p:spPr>
          <a:xfrm>
            <a:off x="1234440" y="3529584"/>
            <a:ext cx="6080760" cy="274320"/>
          </a:xfrm>
          <a:prstGeom prst="rect">
            <a:avLst/>
          </a:prstGeom>
          <a:noFill/>
          <a:ln/>
        </p:spPr>
        <p:txBody>
          <a:bodyPr wrap="square" lIns="0" tIns="0" rIns="0" bIns="0" rtlCol="0" anchor="ctr">
            <a:spAutoFit/>
          </a:bodyPr>
          <a:lstStyle/>
          <a:p>
            <a:pPr marL="0" indent="0">
              <a:lnSpc>
                <a:spcPct val="104000"/>
              </a:lnSpc>
              <a:buNone/>
            </a:pPr>
            <a:r>
              <a:rPr lang="en-US" sz="1950" b="1" dirty="0">
                <a:solidFill>
                  <a:srgbClr val="182D47"/>
                </a:solidFill>
                <a:latin typeface="Arial" pitchFamily="34" charset="0"/>
                <a:ea typeface="Arial" pitchFamily="34" charset="-122"/>
                <a:cs typeface="Arial" pitchFamily="34" charset="-120"/>
              </a:rPr>
              <a:t>Сеть</a:t>
            </a:r>
            <a:endParaRPr lang="en-US" sz="1950" dirty="0"/>
          </a:p>
        </p:txBody>
      </p:sp>
      <p:sp>
        <p:nvSpPr>
          <p:cNvPr id="22" name="Text 20"/>
          <p:cNvSpPr/>
          <p:nvPr/>
        </p:nvSpPr>
        <p:spPr>
          <a:xfrm>
            <a:off x="1234440" y="3877056"/>
            <a:ext cx="6035040" cy="246888"/>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Обмен данными и правила соединений.</a:t>
            </a:r>
            <a:endParaRPr lang="en-US" sz="1660" dirty="0"/>
          </a:p>
        </p:txBody>
      </p:sp>
      <p:sp>
        <p:nvSpPr>
          <p:cNvPr id="23" name="Shape 21"/>
          <p:cNvSpPr/>
          <p:nvPr/>
        </p:nvSpPr>
        <p:spPr>
          <a:xfrm>
            <a:off x="502920" y="4297680"/>
            <a:ext cx="7031736" cy="731520"/>
          </a:xfrm>
          <a:prstGeom prst="rect">
            <a:avLst/>
          </a:prstGeom>
          <a:solidFill>
            <a:srgbClr val="F1F5FC"/>
          </a:solidFill>
          <a:ln w="8890">
            <a:solidFill>
              <a:srgbClr val="F1F5FC">
                <a:alpha val="0"/>
              </a:srgbClr>
            </a:solidFill>
            <a:prstDash val="solid"/>
          </a:ln>
        </p:spPr>
      </p:sp>
      <p:sp>
        <p:nvSpPr>
          <p:cNvPr id="24" name="Shape 22"/>
          <p:cNvSpPr/>
          <p:nvPr/>
        </p:nvSpPr>
        <p:spPr>
          <a:xfrm>
            <a:off x="704088" y="4471416"/>
            <a:ext cx="356616" cy="356616"/>
          </a:xfrm>
          <a:prstGeom prst="ellipse">
            <a:avLst/>
          </a:prstGeom>
          <a:solidFill>
            <a:srgbClr val="2F68E8"/>
          </a:solidFill>
          <a:ln w="12700">
            <a:solidFill>
              <a:srgbClr val="2F68E8">
                <a:alpha val="0"/>
              </a:srgbClr>
            </a:solidFill>
            <a:prstDash val="solid"/>
          </a:ln>
        </p:spPr>
      </p:sp>
      <p:sp>
        <p:nvSpPr>
          <p:cNvPr id="25" name="Text 23"/>
          <p:cNvSpPr/>
          <p:nvPr/>
        </p:nvSpPr>
        <p:spPr>
          <a:xfrm>
            <a:off x="704088" y="4475074"/>
            <a:ext cx="356616" cy="356616"/>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04</a:t>
            </a:r>
            <a:endParaRPr lang="en-US" sz="1300" dirty="0"/>
          </a:p>
        </p:txBody>
      </p:sp>
      <p:sp>
        <p:nvSpPr>
          <p:cNvPr id="26" name="Text 24"/>
          <p:cNvSpPr/>
          <p:nvPr/>
        </p:nvSpPr>
        <p:spPr>
          <a:xfrm>
            <a:off x="1234440" y="4370832"/>
            <a:ext cx="6080760" cy="274320"/>
          </a:xfrm>
          <a:prstGeom prst="rect">
            <a:avLst/>
          </a:prstGeom>
          <a:noFill/>
          <a:ln/>
        </p:spPr>
        <p:txBody>
          <a:bodyPr wrap="square" lIns="0" tIns="0" rIns="0" bIns="0" rtlCol="0" anchor="ctr">
            <a:spAutoFit/>
          </a:bodyPr>
          <a:lstStyle/>
          <a:p>
            <a:pPr marL="0" indent="0">
              <a:lnSpc>
                <a:spcPct val="104000"/>
              </a:lnSpc>
              <a:buNone/>
            </a:pPr>
            <a:r>
              <a:rPr lang="en-US" sz="1950" b="1" dirty="0">
                <a:solidFill>
                  <a:srgbClr val="182D47"/>
                </a:solidFill>
                <a:latin typeface="Arial" pitchFamily="34" charset="0"/>
                <a:ea typeface="Arial" pitchFamily="34" charset="-122"/>
                <a:cs typeface="Arial" pitchFamily="34" charset="-120"/>
              </a:rPr>
              <a:t>Хранение</a:t>
            </a:r>
            <a:endParaRPr lang="en-US" sz="1950" dirty="0"/>
          </a:p>
        </p:txBody>
      </p:sp>
      <p:sp>
        <p:nvSpPr>
          <p:cNvPr id="27" name="Text 25"/>
          <p:cNvSpPr/>
          <p:nvPr/>
        </p:nvSpPr>
        <p:spPr>
          <a:xfrm>
            <a:off x="1234440" y="4718304"/>
            <a:ext cx="6035040" cy="246888"/>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Блочное, файловое и объектное хранилища.</a:t>
            </a:r>
            <a:endParaRPr lang="en-US" sz="1660" dirty="0"/>
          </a:p>
        </p:txBody>
      </p:sp>
      <p:sp>
        <p:nvSpPr>
          <p:cNvPr id="28" name="Shape 26"/>
          <p:cNvSpPr/>
          <p:nvPr/>
        </p:nvSpPr>
        <p:spPr>
          <a:xfrm>
            <a:off x="502920" y="5138928"/>
            <a:ext cx="7031736" cy="731520"/>
          </a:xfrm>
          <a:prstGeom prst="rect">
            <a:avLst/>
          </a:prstGeom>
          <a:solidFill>
            <a:srgbClr val="F1F5FC"/>
          </a:solidFill>
          <a:ln w="8890">
            <a:solidFill>
              <a:srgbClr val="F1F5FC">
                <a:alpha val="0"/>
              </a:srgbClr>
            </a:solidFill>
            <a:prstDash val="solid"/>
          </a:ln>
        </p:spPr>
      </p:sp>
      <p:sp>
        <p:nvSpPr>
          <p:cNvPr id="29" name="Shape 27"/>
          <p:cNvSpPr/>
          <p:nvPr/>
        </p:nvSpPr>
        <p:spPr>
          <a:xfrm>
            <a:off x="704088" y="5312664"/>
            <a:ext cx="356616" cy="356616"/>
          </a:xfrm>
          <a:prstGeom prst="ellipse">
            <a:avLst/>
          </a:prstGeom>
          <a:solidFill>
            <a:srgbClr val="2F68E8"/>
          </a:solidFill>
          <a:ln w="12700">
            <a:solidFill>
              <a:srgbClr val="2F68E8">
                <a:alpha val="0"/>
              </a:srgbClr>
            </a:solidFill>
            <a:prstDash val="solid"/>
          </a:ln>
        </p:spPr>
      </p:sp>
      <p:sp>
        <p:nvSpPr>
          <p:cNvPr id="30" name="Text 28"/>
          <p:cNvSpPr/>
          <p:nvPr/>
        </p:nvSpPr>
        <p:spPr>
          <a:xfrm>
            <a:off x="704088" y="5316322"/>
            <a:ext cx="356616" cy="356616"/>
          </a:xfrm>
          <a:prstGeom prst="rect">
            <a:avLst/>
          </a:prstGeom>
          <a:noFill/>
          <a:ln/>
        </p:spPr>
        <p:txBody>
          <a:bodyPr wrap="square" lIns="0" tIns="0" rIns="0" bIns="0" rtlCol="0" anchor="ctr">
            <a:spAutoFit/>
          </a:bodyPr>
          <a:lstStyle/>
          <a:p>
            <a:pPr marL="0" indent="0" algn="ctr">
              <a:lnSpc>
                <a:spcPct val="104000"/>
              </a:lnSpc>
              <a:buNone/>
            </a:pPr>
            <a:r>
              <a:rPr lang="en-US" sz="1300" b="1" dirty="0">
                <a:solidFill>
                  <a:srgbClr val="E6EFFF"/>
                </a:solidFill>
                <a:latin typeface="Arial" pitchFamily="34" charset="0"/>
                <a:ea typeface="Arial" pitchFamily="34" charset="-122"/>
                <a:cs typeface="Arial" pitchFamily="34" charset="-120"/>
              </a:rPr>
              <a:t>05</a:t>
            </a:r>
            <a:endParaRPr lang="en-US" sz="1300" dirty="0"/>
          </a:p>
        </p:txBody>
      </p:sp>
      <p:sp>
        <p:nvSpPr>
          <p:cNvPr id="31" name="Text 29"/>
          <p:cNvSpPr/>
          <p:nvPr/>
        </p:nvSpPr>
        <p:spPr>
          <a:xfrm>
            <a:off x="1234440" y="5212080"/>
            <a:ext cx="6080760" cy="274320"/>
          </a:xfrm>
          <a:prstGeom prst="rect">
            <a:avLst/>
          </a:prstGeom>
          <a:noFill/>
          <a:ln/>
        </p:spPr>
        <p:txBody>
          <a:bodyPr wrap="square" lIns="0" tIns="0" rIns="0" bIns="0" rtlCol="0" anchor="ctr">
            <a:spAutoFit/>
          </a:bodyPr>
          <a:lstStyle/>
          <a:p>
            <a:pPr marL="0" indent="0">
              <a:lnSpc>
                <a:spcPct val="104000"/>
              </a:lnSpc>
              <a:buNone/>
            </a:pPr>
            <a:r>
              <a:rPr lang="en-US" sz="1950" b="1" dirty="0">
                <a:solidFill>
                  <a:srgbClr val="182D47"/>
                </a:solidFill>
                <a:latin typeface="Arial" pitchFamily="34" charset="0"/>
                <a:ea typeface="Arial" pitchFamily="34" charset="-122"/>
                <a:cs typeface="Arial" pitchFamily="34" charset="-120"/>
              </a:rPr>
              <a:t>Управление и защита</a:t>
            </a:r>
            <a:endParaRPr lang="en-US" sz="1950" dirty="0"/>
          </a:p>
        </p:txBody>
      </p:sp>
      <p:sp>
        <p:nvSpPr>
          <p:cNvPr id="32" name="Text 30"/>
          <p:cNvSpPr/>
          <p:nvPr/>
        </p:nvSpPr>
        <p:spPr>
          <a:xfrm>
            <a:off x="1234440" y="5559552"/>
            <a:ext cx="6035040" cy="246888"/>
          </a:xfrm>
          <a:prstGeom prst="rect">
            <a:avLst/>
          </a:prstGeom>
          <a:noFill/>
          <a:ln/>
        </p:spPr>
        <p:txBody>
          <a:bodyPr wrap="square" lIns="0" tIns="0" rIns="0" bIns="0" rtlCol="0" anchor="ctr">
            <a:spAutoFit/>
          </a:bodyPr>
          <a:lstStyle/>
          <a:p>
            <a:pPr marL="0" indent="0">
              <a:lnSpc>
                <a:spcPct val="104000"/>
              </a:lnSpc>
              <a:buNone/>
            </a:pPr>
            <a:r>
              <a:rPr lang="en-US" sz="1660" dirty="0">
                <a:solidFill>
                  <a:srgbClr val="43536A"/>
                </a:solidFill>
                <a:latin typeface="Arial" pitchFamily="34" charset="0"/>
                <a:ea typeface="Arial" pitchFamily="34" charset="-122"/>
                <a:cs typeface="Arial" pitchFamily="34" charset="-120"/>
              </a:rPr>
              <a:t>Права, мониторинг и резервные копии.</a:t>
            </a:r>
            <a:endParaRPr lang="en-US" sz="1660" dirty="0"/>
          </a:p>
        </p:txBody>
      </p:sp>
      <p:sp>
        <p:nvSpPr>
          <p:cNvPr id="33" name="Shape 31"/>
          <p:cNvSpPr/>
          <p:nvPr/>
        </p:nvSpPr>
        <p:spPr>
          <a:xfrm>
            <a:off x="7754112" y="1773936"/>
            <a:ext cx="3931920" cy="4096512"/>
          </a:xfrm>
          <a:prstGeom prst="rect">
            <a:avLst/>
          </a:prstGeom>
          <a:solidFill>
            <a:srgbClr val="E9F1FF"/>
          </a:solidFill>
          <a:ln w="8890">
            <a:solidFill>
              <a:srgbClr val="E9F1FF">
                <a:alpha val="0"/>
              </a:srgbClr>
            </a:solidFill>
            <a:prstDash val="solid"/>
          </a:ln>
        </p:spPr>
      </p:sp>
      <p:sp>
        <p:nvSpPr>
          <p:cNvPr id="34" name="Shape 32"/>
          <p:cNvSpPr/>
          <p:nvPr/>
        </p:nvSpPr>
        <p:spPr>
          <a:xfrm>
            <a:off x="7754112" y="1773936"/>
            <a:ext cx="45720" cy="4096512"/>
          </a:xfrm>
          <a:prstGeom prst="rect">
            <a:avLst/>
          </a:prstGeom>
          <a:solidFill>
            <a:srgbClr val="2F68E8"/>
          </a:solidFill>
          <a:ln w="8890">
            <a:solidFill>
              <a:srgbClr val="2F68E8">
                <a:alpha val="0"/>
              </a:srgbClr>
            </a:solidFill>
            <a:prstDash val="solid"/>
          </a:ln>
        </p:spPr>
      </p:sp>
      <p:sp>
        <p:nvSpPr>
          <p:cNvPr id="35" name="Text 33"/>
          <p:cNvSpPr/>
          <p:nvPr/>
        </p:nvSpPr>
        <p:spPr>
          <a:xfrm>
            <a:off x="8037576" y="2011680"/>
            <a:ext cx="3310128" cy="338328"/>
          </a:xfrm>
          <a:prstGeom prst="rect">
            <a:avLst/>
          </a:prstGeom>
          <a:noFill/>
          <a:ln/>
        </p:spPr>
        <p:txBody>
          <a:bodyPr wrap="square" lIns="0" tIns="0" rIns="0" bIns="0" rtlCol="0" anchor="ctr">
            <a:spAutoFit/>
          </a:bodyPr>
          <a:lstStyle/>
          <a:p>
            <a:pPr marL="0" indent="0">
              <a:lnSpc>
                <a:spcPct val="104000"/>
              </a:lnSpc>
              <a:buNone/>
            </a:pPr>
            <a:r>
              <a:rPr lang="en-US" sz="2200" b="1" dirty="0">
                <a:solidFill>
                  <a:srgbClr val="2F68E8"/>
                </a:solidFill>
                <a:latin typeface="Arial" pitchFamily="34" charset="0"/>
                <a:ea typeface="Arial" pitchFamily="34" charset="-122"/>
                <a:cs typeface="Arial" pitchFamily="34" charset="-120"/>
              </a:rPr>
              <a:t>Резервирование</a:t>
            </a:r>
            <a:endParaRPr lang="en-US" sz="2200" dirty="0"/>
          </a:p>
        </p:txBody>
      </p:sp>
      <p:sp>
        <p:nvSpPr>
          <p:cNvPr id="36" name="Text 34"/>
          <p:cNvSpPr/>
          <p:nvPr/>
        </p:nvSpPr>
        <p:spPr>
          <a:xfrm>
            <a:off x="8037576" y="2551176"/>
            <a:ext cx="3310128" cy="612648"/>
          </a:xfrm>
          <a:prstGeom prst="rect">
            <a:avLst/>
          </a:prstGeom>
          <a:noFill/>
          <a:ln/>
        </p:spPr>
        <p:txBody>
          <a:bodyPr wrap="square" lIns="0" tIns="0" rIns="0" bIns="0" rtlCol="0" anchor="ctr">
            <a:spAutoFit/>
          </a:bodyPr>
          <a:lstStyle/>
          <a:p>
            <a:pPr marL="0" indent="0">
              <a:lnSpc>
                <a:spcPct val="104000"/>
              </a:lnSpc>
              <a:buNone/>
            </a:pPr>
            <a:r>
              <a:rPr lang="en-US" sz="1920" dirty="0">
                <a:solidFill>
                  <a:srgbClr val="182D47"/>
                </a:solidFill>
                <a:latin typeface="Arial" pitchFamily="34" charset="0"/>
                <a:ea typeface="Arial" pitchFamily="34" charset="-122"/>
                <a:cs typeface="Arial" pitchFamily="34" charset="-120"/>
              </a:rPr>
              <a:t>Сохраняет работу</a:t>
            </a:r>
            <a:endParaRPr lang="en-US" sz="1920" dirty="0"/>
          </a:p>
          <a:p>
            <a:pPr marL="0" indent="0">
              <a:lnSpc>
                <a:spcPct val="104000"/>
              </a:lnSpc>
              <a:buNone/>
            </a:pPr>
            <a:r>
              <a:rPr lang="en-US" sz="1920" dirty="0">
                <a:solidFill>
                  <a:srgbClr val="182D47"/>
                </a:solidFill>
                <a:latin typeface="Arial" pitchFamily="34" charset="0"/>
                <a:ea typeface="Arial" pitchFamily="34" charset="-122"/>
                <a:cs typeface="Arial" pitchFamily="34" charset="-120"/>
              </a:rPr>
              <a:t>при отказе оборудования.</a:t>
            </a:r>
            <a:endParaRPr lang="en-US" sz="1920" dirty="0"/>
          </a:p>
        </p:txBody>
      </p:sp>
      <p:sp>
        <p:nvSpPr>
          <p:cNvPr id="37" name="Shape 35"/>
          <p:cNvSpPr/>
          <p:nvPr/>
        </p:nvSpPr>
        <p:spPr>
          <a:xfrm>
            <a:off x="8037576" y="3401568"/>
            <a:ext cx="3346704" cy="0"/>
          </a:xfrm>
          <a:prstGeom prst="line">
            <a:avLst/>
          </a:prstGeom>
          <a:noFill/>
          <a:ln w="12700">
            <a:solidFill>
              <a:srgbClr val="D4DFEF"/>
            </a:solidFill>
            <a:prstDash val="solid"/>
            <a:headEnd type="none"/>
            <a:tailEnd type="none"/>
          </a:ln>
        </p:spPr>
      </p:sp>
      <p:sp>
        <p:nvSpPr>
          <p:cNvPr id="38" name="Text 36"/>
          <p:cNvSpPr/>
          <p:nvPr/>
        </p:nvSpPr>
        <p:spPr>
          <a:xfrm>
            <a:off x="8037576" y="3621024"/>
            <a:ext cx="3310128" cy="329184"/>
          </a:xfrm>
          <a:prstGeom prst="rect">
            <a:avLst/>
          </a:prstGeom>
          <a:noFill/>
          <a:ln/>
        </p:spPr>
        <p:txBody>
          <a:bodyPr wrap="square" lIns="0" tIns="0" rIns="0" bIns="0" rtlCol="0" anchor="ctr">
            <a:spAutoFit/>
          </a:bodyPr>
          <a:lstStyle/>
          <a:p>
            <a:pPr marL="0" indent="0">
              <a:lnSpc>
                <a:spcPct val="104000"/>
              </a:lnSpc>
              <a:buNone/>
            </a:pPr>
            <a:r>
              <a:rPr lang="en-US" sz="2200" b="1" dirty="0">
                <a:solidFill>
                  <a:srgbClr val="2F68E8"/>
                </a:solidFill>
                <a:latin typeface="Arial" pitchFamily="34" charset="0"/>
                <a:ea typeface="Arial" pitchFamily="34" charset="-122"/>
                <a:cs typeface="Arial" pitchFamily="34" charset="-120"/>
              </a:rPr>
              <a:t>Резервная копия</a:t>
            </a:r>
            <a:endParaRPr lang="en-US" sz="2200" dirty="0"/>
          </a:p>
        </p:txBody>
      </p:sp>
      <p:sp>
        <p:nvSpPr>
          <p:cNvPr id="39" name="Text 37"/>
          <p:cNvSpPr/>
          <p:nvPr/>
        </p:nvSpPr>
        <p:spPr>
          <a:xfrm>
            <a:off x="8037576" y="4123944"/>
            <a:ext cx="3310128" cy="612648"/>
          </a:xfrm>
          <a:prstGeom prst="rect">
            <a:avLst/>
          </a:prstGeom>
          <a:noFill/>
          <a:ln/>
        </p:spPr>
        <p:txBody>
          <a:bodyPr wrap="square" lIns="0" tIns="0" rIns="0" bIns="0" rtlCol="0" anchor="ctr">
            <a:spAutoFit/>
          </a:bodyPr>
          <a:lstStyle/>
          <a:p>
            <a:pPr marL="0" indent="0">
              <a:lnSpc>
                <a:spcPct val="104000"/>
              </a:lnSpc>
              <a:buNone/>
            </a:pPr>
            <a:r>
              <a:rPr lang="en-US" sz="1910" dirty="0">
                <a:solidFill>
                  <a:srgbClr val="182D47"/>
                </a:solidFill>
                <a:latin typeface="Arial" pitchFamily="34" charset="0"/>
                <a:ea typeface="Arial" pitchFamily="34" charset="-122"/>
                <a:cs typeface="Arial" pitchFamily="34" charset="-120"/>
              </a:rPr>
              <a:t>Возвращает данные</a:t>
            </a:r>
            <a:endParaRPr lang="en-US" sz="1910" dirty="0"/>
          </a:p>
          <a:p>
            <a:pPr marL="0" indent="0">
              <a:lnSpc>
                <a:spcPct val="104000"/>
              </a:lnSpc>
              <a:buNone/>
            </a:pPr>
            <a:r>
              <a:rPr lang="en-US" sz="1910" dirty="0">
                <a:solidFill>
                  <a:srgbClr val="182D47"/>
                </a:solidFill>
                <a:latin typeface="Arial" pitchFamily="34" charset="0"/>
                <a:ea typeface="Arial" pitchFamily="34" charset="-122"/>
                <a:cs typeface="Arial" pitchFamily="34" charset="-120"/>
              </a:rPr>
              <a:t>к сохранённому состоянию.</a:t>
            </a:r>
            <a:endParaRPr lang="en-US" sz="1910" dirty="0"/>
          </a:p>
        </p:txBody>
      </p:sp>
      <p:sp>
        <p:nvSpPr>
          <p:cNvPr id="40" name="Text 38"/>
          <p:cNvSpPr/>
          <p:nvPr/>
        </p:nvSpPr>
        <p:spPr>
          <a:xfrm>
            <a:off x="8037576" y="5129784"/>
            <a:ext cx="3337560" cy="512064"/>
          </a:xfrm>
          <a:prstGeom prst="rect">
            <a:avLst/>
          </a:prstGeom>
          <a:noFill/>
          <a:ln/>
        </p:spPr>
        <p:txBody>
          <a:bodyPr wrap="square" lIns="0" tIns="0" rIns="0" bIns="0" rtlCol="0" anchor="ctr">
            <a:spAutoFit/>
          </a:bodyPr>
          <a:lstStyle/>
          <a:p>
            <a:pPr marL="0" indent="0">
              <a:lnSpc>
                <a:spcPct val="104000"/>
              </a:lnSpc>
              <a:buNone/>
            </a:pPr>
            <a:r>
              <a:rPr lang="en-US" sz="1670" dirty="0">
                <a:solidFill>
                  <a:srgbClr val="43536A"/>
                </a:solidFill>
                <a:latin typeface="Arial" pitchFamily="34" charset="0"/>
                <a:ea typeface="Arial" pitchFamily="34" charset="-122"/>
                <a:cs typeface="Arial" pitchFamily="34" charset="-120"/>
              </a:rPr>
              <a:t>Репликация может перенести</a:t>
            </a:r>
            <a:endParaRPr lang="en-US" sz="1670" dirty="0"/>
          </a:p>
          <a:p>
            <a:pPr marL="0" indent="0">
              <a:lnSpc>
                <a:spcPct val="104000"/>
              </a:lnSpc>
              <a:buNone/>
            </a:pPr>
            <a:r>
              <a:rPr lang="en-US" sz="1670" dirty="0">
                <a:solidFill>
                  <a:srgbClr val="43536A"/>
                </a:solidFill>
                <a:latin typeface="Arial" pitchFamily="34" charset="0"/>
                <a:ea typeface="Arial" pitchFamily="34" charset="-122"/>
                <a:cs typeface="Arial" pitchFamily="34" charset="-120"/>
              </a:rPr>
              <a:t>ошибку на другие узлы.</a:t>
            </a:r>
            <a:endParaRPr lang="en-US" sz="16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11155680" cy="530352"/>
          </a:xfrm>
          <a:prstGeom prst="rect">
            <a:avLst/>
          </a:prstGeom>
          <a:noFill/>
          <a:ln/>
        </p:spPr>
        <p:txBody>
          <a:bodyPr wrap="square" lIns="0" tIns="0" rIns="0" bIns="0" rtlCol="0" anchor="ctr">
            <a:spAutoFit/>
          </a:bodyPr>
          <a:lstStyle/>
          <a:p>
            <a:pPr marL="0" indent="0">
              <a:lnSpc>
                <a:spcPct val="104000"/>
              </a:lnSpc>
              <a:buNone/>
            </a:pPr>
            <a:r>
              <a:rPr lang="en-US" sz="3100" b="1" dirty="0">
                <a:solidFill>
                  <a:srgbClr val="182D47"/>
                </a:solidFill>
                <a:latin typeface="Arial" pitchFamily="34" charset="0"/>
                <a:ea typeface="Arial" pitchFamily="34" charset="-122"/>
                <a:cs typeface="Arial" pitchFamily="34" charset="-120"/>
              </a:rPr>
              <a:t>Подготовка к переходу</a:t>
            </a:r>
            <a:endParaRPr lang="en-US" sz="3100" dirty="0"/>
          </a:p>
        </p:txBody>
      </p:sp>
      <p:sp>
        <p:nvSpPr>
          <p:cNvPr id="3" name="Shape 1"/>
          <p:cNvSpPr/>
          <p:nvPr/>
        </p:nvSpPr>
        <p:spPr>
          <a:xfrm>
            <a:off x="502920" y="6345936"/>
            <a:ext cx="11183112" cy="0"/>
          </a:xfrm>
          <a:prstGeom prst="line">
            <a:avLst/>
          </a:prstGeom>
          <a:noFill/>
          <a:ln w="10160">
            <a:solidFill>
              <a:srgbClr val="D4DFEF"/>
            </a:solidFill>
            <a:prstDash val="solid"/>
            <a:headEnd type="none"/>
            <a:tailEnd type="none"/>
          </a:ln>
        </p:spPr>
      </p:sp>
      <p:sp>
        <p:nvSpPr>
          <p:cNvPr id="4" name="Text 2"/>
          <p:cNvSpPr/>
          <p:nvPr/>
        </p:nvSpPr>
        <p:spPr>
          <a:xfrm>
            <a:off x="512064" y="6464177"/>
            <a:ext cx="4023360" cy="156710"/>
          </a:xfrm>
          <a:prstGeom prst="rect">
            <a:avLst/>
          </a:prstGeom>
          <a:noFill/>
          <a:ln/>
        </p:spPr>
        <p:txBody>
          <a:bodyPr wrap="square" lIns="0" tIns="0" rIns="0" bIns="0" rtlCol="0" anchor="ctr">
            <a:spAutoFit/>
          </a:bodyPr>
          <a:lstStyle/>
          <a:p>
            <a:pPr marL="0" indent="0">
              <a:lnSpc>
                <a:spcPct val="104000"/>
              </a:lnSpc>
              <a:buNone/>
            </a:pPr>
            <a:endParaRPr lang="en-US" sz="1050" dirty="0"/>
          </a:p>
        </p:txBody>
      </p:sp>
      <p:sp>
        <p:nvSpPr>
          <p:cNvPr id="5" name="Text 3"/>
          <p:cNvSpPr/>
          <p:nvPr/>
        </p:nvSpPr>
        <p:spPr>
          <a:xfrm>
            <a:off x="4663440" y="6464177"/>
            <a:ext cx="6126480" cy="156710"/>
          </a:xfrm>
          <a:prstGeom prst="rect">
            <a:avLst/>
          </a:prstGeom>
          <a:noFill/>
          <a:ln/>
        </p:spPr>
        <p:txBody>
          <a:bodyPr wrap="square" lIns="0" tIns="0" rIns="0" bIns="0" rtlCol="0" anchor="ctr">
            <a:spAutoFit/>
          </a:bodyPr>
          <a:lstStyle/>
          <a:p>
            <a:pPr marL="0" indent="0" algn="r">
              <a:lnSpc>
                <a:spcPct val="104000"/>
              </a:lnSpc>
              <a:buNone/>
            </a:pPr>
            <a:endParaRPr lang="en-US" sz="1050" dirty="0"/>
          </a:p>
        </p:txBody>
      </p:sp>
      <p:sp>
        <p:nvSpPr>
          <p:cNvPr id="6" name="Text 4"/>
          <p:cNvSpPr/>
          <p:nvPr/>
        </p:nvSpPr>
        <p:spPr>
          <a:xfrm>
            <a:off x="10972800" y="6452167"/>
            <a:ext cx="694944" cy="171585"/>
          </a:xfrm>
          <a:prstGeom prst="rect">
            <a:avLst/>
          </a:prstGeom>
          <a:noFill/>
          <a:ln/>
        </p:spPr>
        <p:txBody>
          <a:bodyPr wrap="square" lIns="0" tIns="0" rIns="0" bIns="0" rtlCol="0" anchor="ctr">
            <a:spAutoFit/>
          </a:bodyPr>
          <a:lstStyle/>
          <a:p>
            <a:pPr marL="0" indent="0" algn="r">
              <a:lnSpc>
                <a:spcPct val="104000"/>
              </a:lnSpc>
              <a:buNone/>
            </a:pPr>
            <a:endParaRPr lang="en-US" sz="1150" dirty="0"/>
          </a:p>
        </p:txBody>
      </p:sp>
      <p:sp>
        <p:nvSpPr>
          <p:cNvPr id="7" name="Shape 5"/>
          <p:cNvSpPr/>
          <p:nvPr/>
        </p:nvSpPr>
        <p:spPr>
          <a:xfrm>
            <a:off x="502920" y="1353312"/>
            <a:ext cx="11183112" cy="576072"/>
          </a:xfrm>
          <a:prstGeom prst="rect">
            <a:avLst/>
          </a:prstGeom>
          <a:solidFill>
            <a:srgbClr val="E9F1FF"/>
          </a:solidFill>
          <a:ln w="8890">
            <a:solidFill>
              <a:srgbClr val="E9F1FF">
                <a:alpha val="0"/>
              </a:srgbClr>
            </a:solidFill>
            <a:prstDash val="solid"/>
          </a:ln>
        </p:spPr>
      </p:sp>
      <p:sp>
        <p:nvSpPr>
          <p:cNvPr id="8" name="Text 6"/>
          <p:cNvSpPr/>
          <p:nvPr/>
        </p:nvSpPr>
        <p:spPr>
          <a:xfrm>
            <a:off x="713232" y="1463040"/>
            <a:ext cx="10771632" cy="329184"/>
          </a:xfrm>
          <a:prstGeom prst="rect">
            <a:avLst/>
          </a:prstGeom>
          <a:noFill/>
          <a:ln/>
        </p:spPr>
        <p:txBody>
          <a:bodyPr wrap="square" lIns="0" tIns="0" rIns="0" bIns="0" rtlCol="0" anchor="ctr">
            <a:spAutoFit/>
          </a:bodyPr>
          <a:lstStyle/>
          <a:p>
            <a:pPr marL="0" indent="0">
              <a:lnSpc>
                <a:spcPct val="104000"/>
              </a:lnSpc>
              <a:buNone/>
            </a:pPr>
            <a:r>
              <a:rPr lang="en-US" sz="2050" b="1" dirty="0">
                <a:solidFill>
                  <a:srgbClr val="2F68E8"/>
                </a:solidFill>
                <a:latin typeface="Arial" pitchFamily="34" charset="0"/>
                <a:ea typeface="Arial" pitchFamily="34" charset="-122"/>
                <a:cs typeface="Arial" pitchFamily="34" charset="-120"/>
              </a:rPr>
              <a:t>Цель: запуск нового сервиса или обработка пиковых нагрузок.</a:t>
            </a:r>
            <a:endParaRPr lang="en-US" sz="2050" dirty="0"/>
          </a:p>
        </p:txBody>
      </p:sp>
      <p:sp>
        <p:nvSpPr>
          <p:cNvPr id="9" name="Shape 7"/>
          <p:cNvSpPr/>
          <p:nvPr/>
        </p:nvSpPr>
        <p:spPr>
          <a:xfrm>
            <a:off x="502920" y="2212848"/>
            <a:ext cx="5486400" cy="1609344"/>
          </a:xfrm>
          <a:prstGeom prst="rect">
            <a:avLst/>
          </a:prstGeom>
          <a:solidFill>
            <a:srgbClr val="F1F5FC"/>
          </a:solidFill>
          <a:ln w="8890">
            <a:solidFill>
              <a:srgbClr val="F1F5FC">
                <a:alpha val="0"/>
              </a:srgbClr>
            </a:solidFill>
            <a:prstDash val="solid"/>
          </a:ln>
        </p:spPr>
      </p:sp>
      <p:sp>
        <p:nvSpPr>
          <p:cNvPr id="10" name="Text 8"/>
          <p:cNvSpPr/>
          <p:nvPr/>
        </p:nvSpPr>
        <p:spPr>
          <a:xfrm>
            <a:off x="704088" y="2395728"/>
            <a:ext cx="420624" cy="310896"/>
          </a:xfrm>
          <a:prstGeom prst="rect">
            <a:avLst/>
          </a:prstGeom>
          <a:noFill/>
          <a:ln/>
        </p:spPr>
        <p:txBody>
          <a:bodyPr wrap="square" lIns="0" tIns="0" rIns="0" bIns="0" rtlCol="0" anchor="ctr">
            <a:spAutoFit/>
          </a:bodyPr>
          <a:lstStyle/>
          <a:p>
            <a:pPr marL="0" indent="0">
              <a:lnSpc>
                <a:spcPct val="104000"/>
              </a:lnSpc>
              <a:buNone/>
            </a:pPr>
            <a:r>
              <a:rPr lang="en-US" sz="1650" b="1" dirty="0">
                <a:solidFill>
                  <a:srgbClr val="2F68E8"/>
                </a:solidFill>
                <a:latin typeface="Arial" pitchFamily="34" charset="0"/>
                <a:ea typeface="Arial" pitchFamily="34" charset="-122"/>
                <a:cs typeface="Arial" pitchFamily="34" charset="-120"/>
              </a:rPr>
              <a:t>01</a:t>
            </a:r>
            <a:endParaRPr lang="en-US" sz="1650" dirty="0"/>
          </a:p>
        </p:txBody>
      </p:sp>
      <p:sp>
        <p:nvSpPr>
          <p:cNvPr id="11" name="Text 9"/>
          <p:cNvSpPr/>
          <p:nvPr/>
        </p:nvSpPr>
        <p:spPr>
          <a:xfrm>
            <a:off x="1261872" y="2377440"/>
            <a:ext cx="4507992" cy="420624"/>
          </a:xfrm>
          <a:prstGeom prst="rect">
            <a:avLst/>
          </a:prstGeom>
          <a:noFill/>
          <a:ln/>
        </p:spPr>
        <p:txBody>
          <a:bodyPr wrap="square" lIns="0" tIns="0" rIns="0" bIns="0" rtlCol="0" anchor="ctr">
            <a:spAutoFit/>
          </a:bodyPr>
          <a:lstStyle/>
          <a:p>
            <a:pPr marL="0" indent="0">
              <a:lnSpc>
                <a:spcPct val="104000"/>
              </a:lnSpc>
              <a:buNone/>
            </a:pPr>
            <a:r>
              <a:rPr lang="en-US" sz="2100" b="1" dirty="0">
                <a:solidFill>
                  <a:srgbClr val="182D47"/>
                </a:solidFill>
                <a:latin typeface="Arial" pitchFamily="34" charset="0"/>
                <a:ea typeface="Arial" pitchFamily="34" charset="-122"/>
                <a:cs typeface="Arial" pitchFamily="34" charset="-120"/>
              </a:rPr>
              <a:t>Приложения и данные</a:t>
            </a:r>
            <a:endParaRPr lang="en-US" sz="2100" dirty="0"/>
          </a:p>
        </p:txBody>
      </p:sp>
      <p:sp>
        <p:nvSpPr>
          <p:cNvPr id="12" name="Text 10"/>
          <p:cNvSpPr/>
          <p:nvPr/>
        </p:nvSpPr>
        <p:spPr>
          <a:xfrm>
            <a:off x="704088" y="3044952"/>
            <a:ext cx="5111496" cy="576072"/>
          </a:xfrm>
          <a:prstGeom prst="rect">
            <a:avLst/>
          </a:prstGeom>
          <a:noFill/>
          <a:ln/>
        </p:spPr>
        <p:txBody>
          <a:bodyPr wrap="square" lIns="0" tIns="0" rIns="0" bIns="0" rtlCol="0" anchor="ctr">
            <a:spAutoFit/>
          </a:bodyPr>
          <a:lstStyle/>
          <a:p>
            <a:pPr marL="0" indent="0">
              <a:lnSpc>
                <a:spcPct val="104000"/>
              </a:lnSpc>
              <a:buNone/>
            </a:pPr>
            <a:r>
              <a:rPr lang="en-US" sz="1850" dirty="0">
                <a:solidFill>
                  <a:srgbClr val="43536A"/>
                </a:solidFill>
                <a:latin typeface="Arial" pitchFamily="34" charset="0"/>
                <a:ea typeface="Arial" pitchFamily="34" charset="-122"/>
                <a:cs typeface="Arial" pitchFamily="34" charset="-120"/>
              </a:rPr>
              <a:t>Совместимость, связи и лицензии;</a:t>
            </a:r>
            <a:endParaRPr lang="en-US" sz="1850" dirty="0"/>
          </a:p>
          <a:p>
            <a:pPr marL="0" indent="0">
              <a:lnSpc>
                <a:spcPct val="104000"/>
              </a:lnSpc>
              <a:buNone/>
            </a:pPr>
            <a:r>
              <a:rPr lang="en-US" sz="1850" dirty="0">
                <a:solidFill>
                  <a:srgbClr val="43536A"/>
                </a:solidFill>
                <a:latin typeface="Arial" pitchFamily="34" charset="0"/>
                <a:ea typeface="Arial" pitchFamily="34" charset="-122"/>
                <a:cs typeface="Arial" pitchFamily="34" charset="-120"/>
              </a:rPr>
              <a:t>объём данных и допустимый простой.</a:t>
            </a:r>
            <a:endParaRPr lang="en-US" sz="1850" dirty="0"/>
          </a:p>
        </p:txBody>
      </p:sp>
      <p:sp>
        <p:nvSpPr>
          <p:cNvPr id="13" name="Shape 11"/>
          <p:cNvSpPr/>
          <p:nvPr/>
        </p:nvSpPr>
        <p:spPr>
          <a:xfrm>
            <a:off x="6199632" y="2212848"/>
            <a:ext cx="5486400" cy="1609344"/>
          </a:xfrm>
          <a:prstGeom prst="rect">
            <a:avLst/>
          </a:prstGeom>
          <a:solidFill>
            <a:srgbClr val="F1F5FC"/>
          </a:solidFill>
          <a:ln w="8890">
            <a:solidFill>
              <a:srgbClr val="F1F5FC">
                <a:alpha val="0"/>
              </a:srgbClr>
            </a:solidFill>
            <a:prstDash val="solid"/>
          </a:ln>
        </p:spPr>
      </p:sp>
      <p:sp>
        <p:nvSpPr>
          <p:cNvPr id="14" name="Text 12"/>
          <p:cNvSpPr/>
          <p:nvPr/>
        </p:nvSpPr>
        <p:spPr>
          <a:xfrm>
            <a:off x="6400800" y="2395728"/>
            <a:ext cx="420624" cy="310896"/>
          </a:xfrm>
          <a:prstGeom prst="rect">
            <a:avLst/>
          </a:prstGeom>
          <a:noFill/>
          <a:ln/>
        </p:spPr>
        <p:txBody>
          <a:bodyPr wrap="square" lIns="0" tIns="0" rIns="0" bIns="0" rtlCol="0" anchor="ctr">
            <a:spAutoFit/>
          </a:bodyPr>
          <a:lstStyle/>
          <a:p>
            <a:pPr marL="0" indent="0">
              <a:lnSpc>
                <a:spcPct val="104000"/>
              </a:lnSpc>
              <a:buNone/>
            </a:pPr>
            <a:r>
              <a:rPr lang="en-US" sz="1650" b="1" dirty="0">
                <a:solidFill>
                  <a:srgbClr val="2F68E8"/>
                </a:solidFill>
                <a:latin typeface="Arial" pitchFamily="34" charset="0"/>
                <a:ea typeface="Arial" pitchFamily="34" charset="-122"/>
                <a:cs typeface="Arial" pitchFamily="34" charset="-120"/>
              </a:rPr>
              <a:t>02</a:t>
            </a:r>
            <a:endParaRPr lang="en-US" sz="1650" dirty="0"/>
          </a:p>
        </p:txBody>
      </p:sp>
      <p:sp>
        <p:nvSpPr>
          <p:cNvPr id="15" name="Text 13"/>
          <p:cNvSpPr/>
          <p:nvPr/>
        </p:nvSpPr>
        <p:spPr>
          <a:xfrm>
            <a:off x="6958584" y="2377440"/>
            <a:ext cx="4507992" cy="420624"/>
          </a:xfrm>
          <a:prstGeom prst="rect">
            <a:avLst/>
          </a:prstGeom>
          <a:noFill/>
          <a:ln/>
        </p:spPr>
        <p:txBody>
          <a:bodyPr wrap="square" lIns="0" tIns="0" rIns="0" bIns="0" rtlCol="0" anchor="ctr">
            <a:spAutoFit/>
          </a:bodyPr>
          <a:lstStyle/>
          <a:p>
            <a:pPr marL="0" indent="0">
              <a:lnSpc>
                <a:spcPct val="104000"/>
              </a:lnSpc>
              <a:buNone/>
            </a:pPr>
            <a:r>
              <a:rPr lang="en-US" sz="2100" b="1" dirty="0">
                <a:solidFill>
                  <a:srgbClr val="182D47"/>
                </a:solidFill>
                <a:latin typeface="Arial" pitchFamily="34" charset="0"/>
                <a:ea typeface="Arial" pitchFamily="34" charset="-122"/>
                <a:cs typeface="Arial" pitchFamily="34" charset="-120"/>
              </a:rPr>
              <a:t>Расходы</a:t>
            </a:r>
            <a:endParaRPr lang="en-US" sz="2100" dirty="0"/>
          </a:p>
        </p:txBody>
      </p:sp>
      <p:sp>
        <p:nvSpPr>
          <p:cNvPr id="16" name="Text 14"/>
          <p:cNvSpPr/>
          <p:nvPr/>
        </p:nvSpPr>
        <p:spPr>
          <a:xfrm>
            <a:off x="6400800" y="3044952"/>
            <a:ext cx="5111496" cy="576072"/>
          </a:xfrm>
          <a:prstGeom prst="rect">
            <a:avLst/>
          </a:prstGeom>
          <a:noFill/>
          <a:ln/>
        </p:spPr>
        <p:txBody>
          <a:bodyPr wrap="square" lIns="0" tIns="0" rIns="0" bIns="0" rtlCol="0" anchor="ctr">
            <a:spAutoFit/>
          </a:bodyPr>
          <a:lstStyle/>
          <a:p>
            <a:pPr marL="0" indent="0">
              <a:lnSpc>
                <a:spcPct val="104000"/>
              </a:lnSpc>
              <a:buNone/>
            </a:pPr>
            <a:r>
              <a:rPr lang="en-US" sz="1850" dirty="0">
                <a:solidFill>
                  <a:srgbClr val="43536A"/>
                </a:solidFill>
                <a:latin typeface="Arial" pitchFamily="34" charset="0"/>
                <a:ea typeface="Arial" pitchFamily="34" charset="-122"/>
                <a:cs typeface="Arial" pitchFamily="34" charset="-120"/>
              </a:rPr>
              <a:t>Перенос, ресурсы и поддержка;</a:t>
            </a:r>
            <a:endParaRPr lang="en-US" sz="1850" dirty="0"/>
          </a:p>
          <a:p>
            <a:pPr marL="0" indent="0">
              <a:lnSpc>
                <a:spcPct val="104000"/>
              </a:lnSpc>
              <a:buNone/>
            </a:pPr>
            <a:r>
              <a:rPr lang="en-US" sz="1850" dirty="0">
                <a:solidFill>
                  <a:srgbClr val="43536A"/>
                </a:solidFill>
                <a:latin typeface="Arial" pitchFamily="34" charset="0"/>
                <a:ea typeface="Arial" pitchFamily="34" charset="-122"/>
                <a:cs typeface="Arial" pitchFamily="34" charset="-120"/>
              </a:rPr>
              <a:t>регулярные платежи и контроль затрат.</a:t>
            </a:r>
            <a:endParaRPr lang="en-US" sz="1850" dirty="0"/>
          </a:p>
        </p:txBody>
      </p:sp>
      <p:sp>
        <p:nvSpPr>
          <p:cNvPr id="17" name="Shape 15"/>
          <p:cNvSpPr/>
          <p:nvPr/>
        </p:nvSpPr>
        <p:spPr>
          <a:xfrm>
            <a:off x="502920" y="4041648"/>
            <a:ext cx="5486400" cy="1609344"/>
          </a:xfrm>
          <a:prstGeom prst="rect">
            <a:avLst/>
          </a:prstGeom>
          <a:solidFill>
            <a:srgbClr val="F1F5FC"/>
          </a:solidFill>
          <a:ln w="8890">
            <a:solidFill>
              <a:srgbClr val="F1F5FC">
                <a:alpha val="0"/>
              </a:srgbClr>
            </a:solidFill>
            <a:prstDash val="solid"/>
          </a:ln>
        </p:spPr>
      </p:sp>
      <p:sp>
        <p:nvSpPr>
          <p:cNvPr id="18" name="Text 16"/>
          <p:cNvSpPr/>
          <p:nvPr/>
        </p:nvSpPr>
        <p:spPr>
          <a:xfrm>
            <a:off x="704088" y="4224528"/>
            <a:ext cx="420624" cy="310896"/>
          </a:xfrm>
          <a:prstGeom prst="rect">
            <a:avLst/>
          </a:prstGeom>
          <a:noFill/>
          <a:ln/>
        </p:spPr>
        <p:txBody>
          <a:bodyPr wrap="square" lIns="0" tIns="0" rIns="0" bIns="0" rtlCol="0" anchor="ctr">
            <a:spAutoFit/>
          </a:bodyPr>
          <a:lstStyle/>
          <a:p>
            <a:pPr marL="0" indent="0">
              <a:lnSpc>
                <a:spcPct val="104000"/>
              </a:lnSpc>
              <a:buNone/>
            </a:pPr>
            <a:r>
              <a:rPr lang="en-US" sz="1650" b="1" dirty="0">
                <a:solidFill>
                  <a:srgbClr val="2F68E8"/>
                </a:solidFill>
                <a:latin typeface="Arial" pitchFamily="34" charset="0"/>
                <a:ea typeface="Arial" pitchFamily="34" charset="-122"/>
                <a:cs typeface="Arial" pitchFamily="34" charset="-120"/>
              </a:rPr>
              <a:t>03</a:t>
            </a:r>
            <a:endParaRPr lang="en-US" sz="1650" dirty="0"/>
          </a:p>
        </p:txBody>
      </p:sp>
      <p:sp>
        <p:nvSpPr>
          <p:cNvPr id="19" name="Text 17"/>
          <p:cNvSpPr/>
          <p:nvPr/>
        </p:nvSpPr>
        <p:spPr>
          <a:xfrm>
            <a:off x="1261872" y="4206240"/>
            <a:ext cx="4507992" cy="420624"/>
          </a:xfrm>
          <a:prstGeom prst="rect">
            <a:avLst/>
          </a:prstGeom>
          <a:noFill/>
          <a:ln/>
        </p:spPr>
        <p:txBody>
          <a:bodyPr wrap="square" lIns="0" tIns="0" rIns="0" bIns="0" rtlCol="0" anchor="ctr">
            <a:spAutoFit/>
          </a:bodyPr>
          <a:lstStyle/>
          <a:p>
            <a:pPr marL="0" indent="0">
              <a:lnSpc>
                <a:spcPct val="104000"/>
              </a:lnSpc>
              <a:buNone/>
            </a:pPr>
            <a:r>
              <a:rPr lang="en-US" sz="1850" b="1" dirty="0">
                <a:solidFill>
                  <a:srgbClr val="182D47"/>
                </a:solidFill>
                <a:latin typeface="Arial" pitchFamily="34" charset="0"/>
                <a:ea typeface="Arial" pitchFamily="34" charset="-122"/>
                <a:cs typeface="Arial" pitchFamily="34" charset="-120"/>
              </a:rPr>
              <a:t>Безопасность и ответственность</a:t>
            </a:r>
            <a:endParaRPr lang="en-US" sz="1850" dirty="0"/>
          </a:p>
        </p:txBody>
      </p:sp>
      <p:sp>
        <p:nvSpPr>
          <p:cNvPr id="20" name="Text 18"/>
          <p:cNvSpPr/>
          <p:nvPr/>
        </p:nvSpPr>
        <p:spPr>
          <a:xfrm>
            <a:off x="704088" y="4873752"/>
            <a:ext cx="5111496" cy="576072"/>
          </a:xfrm>
          <a:prstGeom prst="rect">
            <a:avLst/>
          </a:prstGeom>
          <a:noFill/>
          <a:ln/>
        </p:spPr>
        <p:txBody>
          <a:bodyPr wrap="square" lIns="0" tIns="0" rIns="0" bIns="0" rtlCol="0" anchor="ctr">
            <a:spAutoFit/>
          </a:bodyPr>
          <a:lstStyle/>
          <a:p>
            <a:pPr marL="0" indent="0">
              <a:lnSpc>
                <a:spcPct val="104000"/>
              </a:lnSpc>
              <a:buNone/>
            </a:pPr>
            <a:r>
              <a:rPr lang="en-US" sz="1850" dirty="0">
                <a:solidFill>
                  <a:srgbClr val="43536A"/>
                </a:solidFill>
                <a:latin typeface="Arial" pitchFamily="34" charset="0"/>
                <a:ea typeface="Arial" pitchFamily="34" charset="-122"/>
                <a:cs typeface="Arial" pitchFamily="34" charset="-120"/>
              </a:rPr>
              <a:t>Защита данных и права пользователей;</a:t>
            </a:r>
            <a:endParaRPr lang="en-US" sz="1850" dirty="0"/>
          </a:p>
          <a:p>
            <a:pPr marL="0" indent="0">
              <a:lnSpc>
                <a:spcPct val="104000"/>
              </a:lnSpc>
              <a:buNone/>
            </a:pPr>
            <a:r>
              <a:rPr lang="en-US" sz="1850" dirty="0">
                <a:solidFill>
                  <a:srgbClr val="43536A"/>
                </a:solidFill>
                <a:latin typeface="Arial" pitchFamily="34" charset="0"/>
                <a:ea typeface="Arial" pitchFamily="34" charset="-122"/>
                <a:cs typeface="Arial" pitchFamily="34" charset="-120"/>
              </a:rPr>
              <a:t>обязанности клиента и провайдера.</a:t>
            </a:r>
            <a:endParaRPr lang="en-US" sz="1850" dirty="0"/>
          </a:p>
        </p:txBody>
      </p:sp>
      <p:sp>
        <p:nvSpPr>
          <p:cNvPr id="21" name="Shape 19"/>
          <p:cNvSpPr/>
          <p:nvPr/>
        </p:nvSpPr>
        <p:spPr>
          <a:xfrm>
            <a:off x="6199632" y="4041648"/>
            <a:ext cx="5486400" cy="1609344"/>
          </a:xfrm>
          <a:prstGeom prst="rect">
            <a:avLst/>
          </a:prstGeom>
          <a:solidFill>
            <a:srgbClr val="F1F5FC"/>
          </a:solidFill>
          <a:ln w="8890">
            <a:solidFill>
              <a:srgbClr val="F1F5FC">
                <a:alpha val="0"/>
              </a:srgbClr>
            </a:solidFill>
            <a:prstDash val="solid"/>
          </a:ln>
        </p:spPr>
      </p:sp>
      <p:sp>
        <p:nvSpPr>
          <p:cNvPr id="22" name="Text 20"/>
          <p:cNvSpPr/>
          <p:nvPr/>
        </p:nvSpPr>
        <p:spPr>
          <a:xfrm>
            <a:off x="6400800" y="4224528"/>
            <a:ext cx="420624" cy="310896"/>
          </a:xfrm>
          <a:prstGeom prst="rect">
            <a:avLst/>
          </a:prstGeom>
          <a:noFill/>
          <a:ln/>
        </p:spPr>
        <p:txBody>
          <a:bodyPr wrap="square" lIns="0" tIns="0" rIns="0" bIns="0" rtlCol="0" anchor="ctr">
            <a:spAutoFit/>
          </a:bodyPr>
          <a:lstStyle/>
          <a:p>
            <a:pPr marL="0" indent="0">
              <a:lnSpc>
                <a:spcPct val="104000"/>
              </a:lnSpc>
              <a:buNone/>
            </a:pPr>
            <a:r>
              <a:rPr lang="en-US" sz="1650" b="1" dirty="0">
                <a:solidFill>
                  <a:srgbClr val="2F68E8"/>
                </a:solidFill>
                <a:latin typeface="Arial" pitchFamily="34" charset="0"/>
                <a:ea typeface="Arial" pitchFamily="34" charset="-122"/>
                <a:cs typeface="Arial" pitchFamily="34" charset="-120"/>
              </a:rPr>
              <a:t>04</a:t>
            </a:r>
            <a:endParaRPr lang="en-US" sz="1650" dirty="0"/>
          </a:p>
        </p:txBody>
      </p:sp>
      <p:sp>
        <p:nvSpPr>
          <p:cNvPr id="23" name="Text 21"/>
          <p:cNvSpPr/>
          <p:nvPr/>
        </p:nvSpPr>
        <p:spPr>
          <a:xfrm>
            <a:off x="6958584" y="4206240"/>
            <a:ext cx="4507992" cy="420624"/>
          </a:xfrm>
          <a:prstGeom prst="rect">
            <a:avLst/>
          </a:prstGeom>
          <a:noFill/>
          <a:ln/>
        </p:spPr>
        <p:txBody>
          <a:bodyPr wrap="square" lIns="0" tIns="0" rIns="0" bIns="0" rtlCol="0" anchor="ctr">
            <a:spAutoFit/>
          </a:bodyPr>
          <a:lstStyle/>
          <a:p>
            <a:pPr marL="0" indent="0">
              <a:lnSpc>
                <a:spcPct val="104000"/>
              </a:lnSpc>
              <a:buNone/>
            </a:pPr>
            <a:r>
              <a:rPr lang="en-US" sz="2100" b="1" dirty="0">
                <a:solidFill>
                  <a:srgbClr val="182D47"/>
                </a:solidFill>
                <a:latin typeface="Arial" pitchFamily="34" charset="0"/>
                <a:ea typeface="Arial" pitchFamily="34" charset="-122"/>
                <a:cs typeface="Arial" pitchFamily="34" charset="-120"/>
              </a:rPr>
              <a:t>Условия работы</a:t>
            </a:r>
            <a:endParaRPr lang="en-US" sz="2100" dirty="0"/>
          </a:p>
        </p:txBody>
      </p:sp>
      <p:sp>
        <p:nvSpPr>
          <p:cNvPr id="24" name="Text 22"/>
          <p:cNvSpPr/>
          <p:nvPr/>
        </p:nvSpPr>
        <p:spPr>
          <a:xfrm>
            <a:off x="6400800" y="4873752"/>
            <a:ext cx="5111496" cy="576072"/>
          </a:xfrm>
          <a:prstGeom prst="rect">
            <a:avLst/>
          </a:prstGeom>
          <a:noFill/>
          <a:ln/>
        </p:spPr>
        <p:txBody>
          <a:bodyPr wrap="square" lIns="0" tIns="0" rIns="0" bIns="0" rtlCol="0" anchor="ctr">
            <a:spAutoFit/>
          </a:bodyPr>
          <a:lstStyle/>
          <a:p>
            <a:pPr marL="0" indent="0">
              <a:lnSpc>
                <a:spcPct val="104000"/>
              </a:lnSpc>
              <a:buNone/>
            </a:pPr>
            <a:r>
              <a:rPr lang="en-US" sz="1850" dirty="0">
                <a:solidFill>
                  <a:srgbClr val="43536A"/>
                </a:solidFill>
                <a:latin typeface="Arial" pitchFamily="34" charset="0"/>
                <a:ea typeface="Arial" pitchFamily="34" charset="-122"/>
                <a:cs typeface="Arial" pitchFamily="34" charset="-120"/>
              </a:rPr>
              <a:t>Место хранения и выгрузка данных;</a:t>
            </a:r>
            <a:endParaRPr lang="en-US" sz="1850" dirty="0"/>
          </a:p>
          <a:p>
            <a:pPr marL="0" indent="0">
              <a:lnSpc>
                <a:spcPct val="104000"/>
              </a:lnSpc>
              <a:buNone/>
            </a:pPr>
            <a:r>
              <a:rPr lang="en-US" sz="1850" dirty="0">
                <a:solidFill>
                  <a:srgbClr val="43536A"/>
                </a:solidFill>
                <a:latin typeface="Arial" pitchFamily="34" charset="0"/>
                <a:ea typeface="Arial" pitchFamily="34" charset="-122"/>
                <a:cs typeface="Arial" pitchFamily="34" charset="-120"/>
              </a:rPr>
              <a:t>ответственные, обучение и план при сбое.</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11155680" cy="530352"/>
          </a:xfrm>
          <a:prstGeom prst="rect">
            <a:avLst/>
          </a:prstGeom>
          <a:noFill/>
          <a:ln/>
        </p:spPr>
        <p:txBody>
          <a:bodyPr wrap="square" lIns="0" tIns="0" rIns="0" bIns="0" rtlCol="0" anchor="ctr">
            <a:spAutoFit/>
          </a:bodyPr>
          <a:lstStyle/>
          <a:p>
            <a:pPr marL="0" indent="0">
              <a:lnSpc>
                <a:spcPct val="104000"/>
              </a:lnSpc>
              <a:buNone/>
            </a:pPr>
            <a:r>
              <a:rPr lang="en-US" sz="3100" b="1" dirty="0">
                <a:solidFill>
                  <a:srgbClr val="182D47"/>
                </a:solidFill>
                <a:latin typeface="Arial" pitchFamily="34" charset="0"/>
                <a:ea typeface="Arial" pitchFamily="34" charset="-122"/>
                <a:cs typeface="Arial" pitchFamily="34" charset="-120"/>
              </a:rPr>
              <a:t>Этапы перехода</a:t>
            </a:r>
            <a:endParaRPr lang="en-US" sz="3100" dirty="0"/>
          </a:p>
        </p:txBody>
      </p:sp>
      <p:sp>
        <p:nvSpPr>
          <p:cNvPr id="3" name="Text 1"/>
          <p:cNvSpPr/>
          <p:nvPr/>
        </p:nvSpPr>
        <p:spPr>
          <a:xfrm>
            <a:off x="521208" y="1097280"/>
            <a:ext cx="11018520" cy="411480"/>
          </a:xfrm>
          <a:prstGeom prst="rect">
            <a:avLst/>
          </a:prstGeom>
          <a:noFill/>
          <a:ln/>
        </p:spPr>
        <p:txBody>
          <a:bodyPr wrap="square" lIns="0" tIns="0" rIns="0" bIns="0" rtlCol="0" anchor="ctr">
            <a:spAutoFit/>
          </a:bodyPr>
          <a:lstStyle/>
          <a:p>
            <a:pPr marL="0" indent="0">
              <a:lnSpc>
                <a:spcPct val="104000"/>
              </a:lnSpc>
              <a:buNone/>
            </a:pPr>
            <a:r>
              <a:rPr lang="en-US" sz="1900" dirty="0">
                <a:solidFill>
                  <a:srgbClr val="43536A"/>
                </a:solidFill>
                <a:latin typeface="Arial" pitchFamily="34" charset="0"/>
                <a:ea typeface="Arial" pitchFamily="34" charset="-122"/>
                <a:cs typeface="Arial" pitchFamily="34" charset="-120"/>
              </a:rPr>
              <a:t>Сначала проверяют тестовую систему, затем переносят остальные.</a:t>
            </a:r>
            <a:endParaRPr lang="en-US" sz="1900" dirty="0"/>
          </a:p>
        </p:txBody>
      </p:sp>
      <p:sp>
        <p:nvSpPr>
          <p:cNvPr id="4" name="Shape 2"/>
          <p:cNvSpPr/>
          <p:nvPr/>
        </p:nvSpPr>
        <p:spPr>
          <a:xfrm>
            <a:off x="502920" y="6345936"/>
            <a:ext cx="11183112" cy="0"/>
          </a:xfrm>
          <a:prstGeom prst="line">
            <a:avLst/>
          </a:prstGeom>
          <a:noFill/>
          <a:ln w="10160">
            <a:solidFill>
              <a:srgbClr val="D4DFEF"/>
            </a:solidFill>
            <a:prstDash val="solid"/>
            <a:headEnd type="none"/>
            <a:tailEnd type="none"/>
          </a:ln>
        </p:spPr>
      </p:sp>
      <p:sp>
        <p:nvSpPr>
          <p:cNvPr id="5" name="Text 3"/>
          <p:cNvSpPr/>
          <p:nvPr/>
        </p:nvSpPr>
        <p:spPr>
          <a:xfrm>
            <a:off x="512064" y="6464177"/>
            <a:ext cx="4023360" cy="156710"/>
          </a:xfrm>
          <a:prstGeom prst="rect">
            <a:avLst/>
          </a:prstGeom>
          <a:noFill/>
          <a:ln/>
        </p:spPr>
        <p:txBody>
          <a:bodyPr wrap="square" lIns="0" tIns="0" rIns="0" bIns="0" rtlCol="0" anchor="ctr">
            <a:spAutoFit/>
          </a:bodyPr>
          <a:lstStyle/>
          <a:p>
            <a:pPr marL="0" indent="0">
              <a:lnSpc>
                <a:spcPct val="104000"/>
              </a:lnSpc>
              <a:buNone/>
            </a:pPr>
            <a:endParaRPr lang="en-US" sz="1050" dirty="0"/>
          </a:p>
        </p:txBody>
      </p:sp>
      <p:sp>
        <p:nvSpPr>
          <p:cNvPr id="6" name="Text 4"/>
          <p:cNvSpPr/>
          <p:nvPr/>
        </p:nvSpPr>
        <p:spPr>
          <a:xfrm>
            <a:off x="4663440" y="6464177"/>
            <a:ext cx="6126480" cy="156710"/>
          </a:xfrm>
          <a:prstGeom prst="rect">
            <a:avLst/>
          </a:prstGeom>
          <a:noFill/>
          <a:ln/>
        </p:spPr>
        <p:txBody>
          <a:bodyPr wrap="square" lIns="0" tIns="0" rIns="0" bIns="0" rtlCol="0" anchor="ctr">
            <a:spAutoFit/>
          </a:bodyPr>
          <a:lstStyle/>
          <a:p>
            <a:pPr marL="0" indent="0" algn="r">
              <a:lnSpc>
                <a:spcPct val="104000"/>
              </a:lnSpc>
              <a:buNone/>
            </a:pPr>
            <a:endParaRPr lang="en-US" sz="1050" dirty="0"/>
          </a:p>
        </p:txBody>
      </p:sp>
      <p:sp>
        <p:nvSpPr>
          <p:cNvPr id="7" name="Text 5"/>
          <p:cNvSpPr/>
          <p:nvPr/>
        </p:nvSpPr>
        <p:spPr>
          <a:xfrm>
            <a:off x="10972800" y="6452167"/>
            <a:ext cx="694944" cy="171585"/>
          </a:xfrm>
          <a:prstGeom prst="rect">
            <a:avLst/>
          </a:prstGeom>
          <a:noFill/>
          <a:ln/>
        </p:spPr>
        <p:txBody>
          <a:bodyPr wrap="square" lIns="0" tIns="0" rIns="0" bIns="0" rtlCol="0" anchor="ctr">
            <a:spAutoFit/>
          </a:bodyPr>
          <a:lstStyle/>
          <a:p>
            <a:pPr marL="0" indent="0" algn="r">
              <a:lnSpc>
                <a:spcPct val="104000"/>
              </a:lnSpc>
              <a:buNone/>
            </a:pPr>
            <a:endParaRPr lang="en-US" sz="1150" dirty="0"/>
          </a:p>
        </p:txBody>
      </p:sp>
      <p:sp>
        <p:nvSpPr>
          <p:cNvPr id="8" name="Shape 6"/>
          <p:cNvSpPr/>
          <p:nvPr/>
        </p:nvSpPr>
        <p:spPr>
          <a:xfrm>
            <a:off x="1548079" y="2130552"/>
            <a:ext cx="9092794" cy="0"/>
          </a:xfrm>
          <a:prstGeom prst="line">
            <a:avLst/>
          </a:prstGeom>
          <a:noFill/>
          <a:ln w="25400">
            <a:solidFill>
              <a:srgbClr val="D4DFEF"/>
            </a:solidFill>
            <a:prstDash val="solid"/>
            <a:headEnd type="none"/>
            <a:tailEnd type="none"/>
          </a:ln>
        </p:spPr>
      </p:sp>
      <p:sp>
        <p:nvSpPr>
          <p:cNvPr id="9" name="Shape 7"/>
          <p:cNvSpPr/>
          <p:nvPr/>
        </p:nvSpPr>
        <p:spPr>
          <a:xfrm>
            <a:off x="1271016" y="1847088"/>
            <a:ext cx="566928" cy="566928"/>
          </a:xfrm>
          <a:prstGeom prst="ellipse">
            <a:avLst/>
          </a:prstGeom>
          <a:solidFill>
            <a:srgbClr val="2F68E8"/>
          </a:solidFill>
          <a:ln w="12700">
            <a:solidFill>
              <a:srgbClr val="2F68E8">
                <a:alpha val="0"/>
              </a:srgbClr>
            </a:solidFill>
            <a:prstDash val="solid"/>
          </a:ln>
        </p:spPr>
      </p:sp>
      <p:sp>
        <p:nvSpPr>
          <p:cNvPr id="10" name="Text 8"/>
          <p:cNvSpPr/>
          <p:nvPr/>
        </p:nvSpPr>
        <p:spPr>
          <a:xfrm>
            <a:off x="1271016" y="1865376"/>
            <a:ext cx="566928" cy="521208"/>
          </a:xfrm>
          <a:prstGeom prst="rect">
            <a:avLst/>
          </a:prstGeom>
          <a:noFill/>
          <a:ln/>
        </p:spPr>
        <p:txBody>
          <a:bodyPr wrap="square" lIns="0" tIns="0" rIns="0" bIns="0" rtlCol="0" anchor="ctr">
            <a:spAutoFit/>
          </a:bodyPr>
          <a:lstStyle/>
          <a:p>
            <a:pPr marL="0" indent="0" algn="ctr">
              <a:lnSpc>
                <a:spcPct val="104000"/>
              </a:lnSpc>
              <a:buNone/>
            </a:pPr>
            <a:r>
              <a:rPr lang="en-US" sz="2100" b="1" dirty="0">
                <a:solidFill>
                  <a:srgbClr val="E6EFFF"/>
                </a:solidFill>
                <a:latin typeface="Arial" pitchFamily="34" charset="0"/>
                <a:ea typeface="Arial" pitchFamily="34" charset="-122"/>
                <a:cs typeface="Arial" pitchFamily="34" charset="-120"/>
              </a:rPr>
              <a:t>1</a:t>
            </a:r>
            <a:endParaRPr lang="en-US" sz="2100" dirty="0"/>
          </a:p>
        </p:txBody>
      </p:sp>
      <p:sp>
        <p:nvSpPr>
          <p:cNvPr id="11" name="Shape 9"/>
          <p:cNvSpPr/>
          <p:nvPr/>
        </p:nvSpPr>
        <p:spPr>
          <a:xfrm>
            <a:off x="502920" y="2770632"/>
            <a:ext cx="2090318" cy="2048256"/>
          </a:xfrm>
          <a:prstGeom prst="rect">
            <a:avLst/>
          </a:prstGeom>
          <a:solidFill>
            <a:srgbClr val="F1F5FC"/>
          </a:solidFill>
          <a:ln w="8890">
            <a:solidFill>
              <a:srgbClr val="F1F5FC">
                <a:alpha val="0"/>
              </a:srgbClr>
            </a:solidFill>
            <a:prstDash val="solid"/>
          </a:ln>
        </p:spPr>
      </p:sp>
      <p:sp>
        <p:nvSpPr>
          <p:cNvPr id="12" name="Text 10"/>
          <p:cNvSpPr/>
          <p:nvPr/>
        </p:nvSpPr>
        <p:spPr>
          <a:xfrm>
            <a:off x="640080" y="2962656"/>
            <a:ext cx="1815998" cy="393192"/>
          </a:xfrm>
          <a:prstGeom prst="rect">
            <a:avLst/>
          </a:prstGeom>
          <a:noFill/>
          <a:ln/>
        </p:spPr>
        <p:txBody>
          <a:bodyPr wrap="square" lIns="0" tIns="0" rIns="0" bIns="0" rtlCol="0" anchor="ctr">
            <a:spAutoFit/>
          </a:bodyPr>
          <a:lstStyle/>
          <a:p>
            <a:pPr marL="0" indent="0" algn="ctr">
              <a:lnSpc>
                <a:spcPct val="104000"/>
              </a:lnSpc>
              <a:buNone/>
            </a:pPr>
            <a:r>
              <a:rPr lang="en-US" sz="2200" b="1" dirty="0">
                <a:solidFill>
                  <a:srgbClr val="182D47"/>
                </a:solidFill>
                <a:latin typeface="Arial" pitchFamily="34" charset="0"/>
                <a:ea typeface="Arial" pitchFamily="34" charset="-122"/>
                <a:cs typeface="Arial" pitchFamily="34" charset="-120"/>
              </a:rPr>
              <a:t>Выбор</a:t>
            </a:r>
            <a:endParaRPr lang="en-US" sz="2200" dirty="0"/>
          </a:p>
        </p:txBody>
      </p:sp>
      <p:sp>
        <p:nvSpPr>
          <p:cNvPr id="13" name="Text 11"/>
          <p:cNvSpPr/>
          <p:nvPr/>
        </p:nvSpPr>
        <p:spPr>
          <a:xfrm>
            <a:off x="621792" y="3557016"/>
            <a:ext cx="1852574" cy="1088136"/>
          </a:xfrm>
          <a:prstGeom prst="rect">
            <a:avLst/>
          </a:prstGeom>
          <a:noFill/>
          <a:ln/>
        </p:spPr>
        <p:txBody>
          <a:bodyPr wrap="square" lIns="0" tIns="0" rIns="0" bIns="0" rtlCol="0" anchor="t">
            <a:spAutoFit/>
          </a:bodyPr>
          <a:lstStyle/>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Модель,</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провайдер,</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ресурсы,</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расходы.</a:t>
            </a:r>
            <a:endParaRPr lang="en-US" sz="1710" dirty="0"/>
          </a:p>
        </p:txBody>
      </p:sp>
      <p:sp>
        <p:nvSpPr>
          <p:cNvPr id="14" name="Shape 12"/>
          <p:cNvSpPr/>
          <p:nvPr/>
        </p:nvSpPr>
        <p:spPr>
          <a:xfrm>
            <a:off x="3544214" y="1847088"/>
            <a:ext cx="566928" cy="566928"/>
          </a:xfrm>
          <a:prstGeom prst="ellipse">
            <a:avLst/>
          </a:prstGeom>
          <a:solidFill>
            <a:srgbClr val="2F68E8"/>
          </a:solidFill>
          <a:ln w="12700">
            <a:solidFill>
              <a:srgbClr val="2F68E8">
                <a:alpha val="0"/>
              </a:srgbClr>
            </a:solidFill>
            <a:prstDash val="solid"/>
          </a:ln>
        </p:spPr>
      </p:sp>
      <p:sp>
        <p:nvSpPr>
          <p:cNvPr id="15" name="Text 13"/>
          <p:cNvSpPr/>
          <p:nvPr/>
        </p:nvSpPr>
        <p:spPr>
          <a:xfrm>
            <a:off x="3544214" y="1865376"/>
            <a:ext cx="566928" cy="521208"/>
          </a:xfrm>
          <a:prstGeom prst="rect">
            <a:avLst/>
          </a:prstGeom>
          <a:noFill/>
          <a:ln/>
        </p:spPr>
        <p:txBody>
          <a:bodyPr wrap="square" lIns="0" tIns="0" rIns="0" bIns="0" rtlCol="0" anchor="ctr">
            <a:spAutoFit/>
          </a:bodyPr>
          <a:lstStyle/>
          <a:p>
            <a:pPr marL="0" indent="0" algn="ctr">
              <a:lnSpc>
                <a:spcPct val="104000"/>
              </a:lnSpc>
              <a:buNone/>
            </a:pPr>
            <a:r>
              <a:rPr lang="en-US" sz="2100" b="1" dirty="0">
                <a:solidFill>
                  <a:srgbClr val="E6EFFF"/>
                </a:solidFill>
                <a:latin typeface="Arial" pitchFamily="34" charset="0"/>
                <a:ea typeface="Arial" pitchFamily="34" charset="-122"/>
                <a:cs typeface="Arial" pitchFamily="34" charset="-120"/>
              </a:rPr>
              <a:t>2</a:t>
            </a:r>
            <a:endParaRPr lang="en-US" sz="2100" dirty="0"/>
          </a:p>
        </p:txBody>
      </p:sp>
      <p:sp>
        <p:nvSpPr>
          <p:cNvPr id="16" name="Shape 14"/>
          <p:cNvSpPr/>
          <p:nvPr/>
        </p:nvSpPr>
        <p:spPr>
          <a:xfrm>
            <a:off x="2776118" y="2770632"/>
            <a:ext cx="2090318" cy="2048256"/>
          </a:xfrm>
          <a:prstGeom prst="rect">
            <a:avLst/>
          </a:prstGeom>
          <a:solidFill>
            <a:srgbClr val="F1F5FC"/>
          </a:solidFill>
          <a:ln w="8890">
            <a:solidFill>
              <a:srgbClr val="F1F5FC">
                <a:alpha val="0"/>
              </a:srgbClr>
            </a:solidFill>
            <a:prstDash val="solid"/>
          </a:ln>
        </p:spPr>
      </p:sp>
      <p:sp>
        <p:nvSpPr>
          <p:cNvPr id="17" name="Text 15"/>
          <p:cNvSpPr/>
          <p:nvPr/>
        </p:nvSpPr>
        <p:spPr>
          <a:xfrm>
            <a:off x="2913278" y="2962656"/>
            <a:ext cx="1815998" cy="393192"/>
          </a:xfrm>
          <a:prstGeom prst="rect">
            <a:avLst/>
          </a:prstGeom>
          <a:noFill/>
          <a:ln/>
        </p:spPr>
        <p:txBody>
          <a:bodyPr wrap="square" lIns="0" tIns="0" rIns="0" bIns="0" rtlCol="0" anchor="ctr">
            <a:spAutoFit/>
          </a:bodyPr>
          <a:lstStyle/>
          <a:p>
            <a:pPr marL="0" indent="0" algn="ctr">
              <a:lnSpc>
                <a:spcPct val="104000"/>
              </a:lnSpc>
              <a:buNone/>
            </a:pPr>
            <a:r>
              <a:rPr lang="en-US" sz="2000" b="1" dirty="0">
                <a:solidFill>
                  <a:srgbClr val="182D47"/>
                </a:solidFill>
                <a:latin typeface="Arial" pitchFamily="34" charset="0"/>
                <a:ea typeface="Arial" pitchFamily="34" charset="-122"/>
                <a:cs typeface="Arial" pitchFamily="34" charset="-120"/>
              </a:rPr>
              <a:t>Подготовка</a:t>
            </a:r>
            <a:endParaRPr lang="en-US" sz="2000" dirty="0"/>
          </a:p>
        </p:txBody>
      </p:sp>
      <p:sp>
        <p:nvSpPr>
          <p:cNvPr id="18" name="Text 16"/>
          <p:cNvSpPr/>
          <p:nvPr/>
        </p:nvSpPr>
        <p:spPr>
          <a:xfrm>
            <a:off x="2894990" y="3557016"/>
            <a:ext cx="1852574" cy="1088136"/>
          </a:xfrm>
          <a:prstGeom prst="rect">
            <a:avLst/>
          </a:prstGeom>
          <a:noFill/>
          <a:ln/>
        </p:spPr>
        <p:txBody>
          <a:bodyPr wrap="square" lIns="0" tIns="0" rIns="0" bIns="0" rtlCol="0" anchor="t">
            <a:spAutoFit/>
          </a:bodyPr>
          <a:lstStyle/>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Сеть и доступ,</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учётные записи,</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резервные</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копии.</a:t>
            </a:r>
            <a:endParaRPr lang="en-US" sz="1710" dirty="0"/>
          </a:p>
        </p:txBody>
      </p:sp>
      <p:sp>
        <p:nvSpPr>
          <p:cNvPr id="19" name="Shape 17"/>
          <p:cNvSpPr/>
          <p:nvPr/>
        </p:nvSpPr>
        <p:spPr>
          <a:xfrm>
            <a:off x="5817413" y="1847088"/>
            <a:ext cx="566928" cy="566928"/>
          </a:xfrm>
          <a:prstGeom prst="ellipse">
            <a:avLst/>
          </a:prstGeom>
          <a:solidFill>
            <a:srgbClr val="2F68E8"/>
          </a:solidFill>
          <a:ln w="12700">
            <a:solidFill>
              <a:srgbClr val="2F68E8">
                <a:alpha val="0"/>
              </a:srgbClr>
            </a:solidFill>
            <a:prstDash val="solid"/>
          </a:ln>
        </p:spPr>
      </p:sp>
      <p:sp>
        <p:nvSpPr>
          <p:cNvPr id="20" name="Text 18"/>
          <p:cNvSpPr/>
          <p:nvPr/>
        </p:nvSpPr>
        <p:spPr>
          <a:xfrm>
            <a:off x="5817413" y="1865376"/>
            <a:ext cx="566928" cy="521208"/>
          </a:xfrm>
          <a:prstGeom prst="rect">
            <a:avLst/>
          </a:prstGeom>
          <a:noFill/>
          <a:ln/>
        </p:spPr>
        <p:txBody>
          <a:bodyPr wrap="square" lIns="0" tIns="0" rIns="0" bIns="0" rtlCol="0" anchor="ctr">
            <a:spAutoFit/>
          </a:bodyPr>
          <a:lstStyle/>
          <a:p>
            <a:pPr marL="0" indent="0" algn="ctr">
              <a:lnSpc>
                <a:spcPct val="104000"/>
              </a:lnSpc>
              <a:buNone/>
            </a:pPr>
            <a:r>
              <a:rPr lang="en-US" sz="2100" b="1" dirty="0">
                <a:solidFill>
                  <a:srgbClr val="E6EFFF"/>
                </a:solidFill>
                <a:latin typeface="Arial" pitchFamily="34" charset="0"/>
                <a:ea typeface="Arial" pitchFamily="34" charset="-122"/>
                <a:cs typeface="Arial" pitchFamily="34" charset="-120"/>
              </a:rPr>
              <a:t>3</a:t>
            </a:r>
            <a:endParaRPr lang="en-US" sz="2100" dirty="0"/>
          </a:p>
        </p:txBody>
      </p:sp>
      <p:sp>
        <p:nvSpPr>
          <p:cNvPr id="21" name="Shape 19"/>
          <p:cNvSpPr/>
          <p:nvPr/>
        </p:nvSpPr>
        <p:spPr>
          <a:xfrm>
            <a:off x="5049317" y="2770632"/>
            <a:ext cx="2090318" cy="2048256"/>
          </a:xfrm>
          <a:prstGeom prst="rect">
            <a:avLst/>
          </a:prstGeom>
          <a:solidFill>
            <a:srgbClr val="F1F5FC"/>
          </a:solidFill>
          <a:ln w="8890">
            <a:solidFill>
              <a:srgbClr val="F1F5FC">
                <a:alpha val="0"/>
              </a:srgbClr>
            </a:solidFill>
            <a:prstDash val="solid"/>
          </a:ln>
        </p:spPr>
      </p:sp>
      <p:sp>
        <p:nvSpPr>
          <p:cNvPr id="22" name="Text 20"/>
          <p:cNvSpPr/>
          <p:nvPr/>
        </p:nvSpPr>
        <p:spPr>
          <a:xfrm>
            <a:off x="5186477" y="2962656"/>
            <a:ext cx="1815998" cy="393192"/>
          </a:xfrm>
          <a:prstGeom prst="rect">
            <a:avLst/>
          </a:prstGeom>
          <a:noFill/>
          <a:ln/>
        </p:spPr>
        <p:txBody>
          <a:bodyPr wrap="square" lIns="0" tIns="0" rIns="0" bIns="0" rtlCol="0" anchor="ctr">
            <a:spAutoFit/>
          </a:bodyPr>
          <a:lstStyle/>
          <a:p>
            <a:pPr marL="0" indent="0" algn="ctr">
              <a:lnSpc>
                <a:spcPct val="104000"/>
              </a:lnSpc>
              <a:buNone/>
            </a:pPr>
            <a:r>
              <a:rPr lang="en-US" sz="2200" b="1" dirty="0">
                <a:solidFill>
                  <a:srgbClr val="182D47"/>
                </a:solidFill>
                <a:latin typeface="Arial" pitchFamily="34" charset="0"/>
                <a:ea typeface="Arial" pitchFamily="34" charset="-122"/>
                <a:cs typeface="Arial" pitchFamily="34" charset="-120"/>
              </a:rPr>
              <a:t>Тест</a:t>
            </a:r>
            <a:endParaRPr lang="en-US" sz="2200" dirty="0"/>
          </a:p>
        </p:txBody>
      </p:sp>
      <p:sp>
        <p:nvSpPr>
          <p:cNvPr id="23" name="Text 21"/>
          <p:cNvSpPr/>
          <p:nvPr/>
        </p:nvSpPr>
        <p:spPr>
          <a:xfrm>
            <a:off x="5168189" y="3557016"/>
            <a:ext cx="1852574" cy="1088136"/>
          </a:xfrm>
          <a:prstGeom prst="rect">
            <a:avLst/>
          </a:prstGeom>
          <a:noFill/>
          <a:ln/>
        </p:spPr>
        <p:txBody>
          <a:bodyPr wrap="square" lIns="0" tIns="0" rIns="0" bIns="0" rtlCol="0" anchor="t">
            <a:spAutoFit/>
          </a:bodyPr>
          <a:lstStyle/>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Работа системы,</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скорость,</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восстановление</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данных.</a:t>
            </a:r>
            <a:endParaRPr lang="en-US" sz="1710" dirty="0"/>
          </a:p>
        </p:txBody>
      </p:sp>
      <p:sp>
        <p:nvSpPr>
          <p:cNvPr id="24" name="Shape 22"/>
          <p:cNvSpPr/>
          <p:nvPr/>
        </p:nvSpPr>
        <p:spPr>
          <a:xfrm>
            <a:off x="8090611" y="1847088"/>
            <a:ext cx="566928" cy="566928"/>
          </a:xfrm>
          <a:prstGeom prst="ellipse">
            <a:avLst/>
          </a:prstGeom>
          <a:solidFill>
            <a:srgbClr val="2F68E8"/>
          </a:solidFill>
          <a:ln w="12700">
            <a:solidFill>
              <a:srgbClr val="2F68E8">
                <a:alpha val="0"/>
              </a:srgbClr>
            </a:solidFill>
            <a:prstDash val="solid"/>
          </a:ln>
        </p:spPr>
      </p:sp>
      <p:sp>
        <p:nvSpPr>
          <p:cNvPr id="25" name="Text 23"/>
          <p:cNvSpPr/>
          <p:nvPr/>
        </p:nvSpPr>
        <p:spPr>
          <a:xfrm>
            <a:off x="8090611" y="1865376"/>
            <a:ext cx="566928" cy="521208"/>
          </a:xfrm>
          <a:prstGeom prst="rect">
            <a:avLst/>
          </a:prstGeom>
          <a:noFill/>
          <a:ln/>
        </p:spPr>
        <p:txBody>
          <a:bodyPr wrap="square" lIns="0" tIns="0" rIns="0" bIns="0" rtlCol="0" anchor="ctr">
            <a:spAutoFit/>
          </a:bodyPr>
          <a:lstStyle/>
          <a:p>
            <a:pPr marL="0" indent="0" algn="ctr">
              <a:lnSpc>
                <a:spcPct val="104000"/>
              </a:lnSpc>
              <a:buNone/>
            </a:pPr>
            <a:r>
              <a:rPr lang="en-US" sz="2100" b="1" dirty="0">
                <a:solidFill>
                  <a:srgbClr val="E6EFFF"/>
                </a:solidFill>
                <a:latin typeface="Arial" pitchFamily="34" charset="0"/>
                <a:ea typeface="Arial" pitchFamily="34" charset="-122"/>
                <a:cs typeface="Arial" pitchFamily="34" charset="-120"/>
              </a:rPr>
              <a:t>4</a:t>
            </a:r>
            <a:endParaRPr lang="en-US" sz="2100" dirty="0"/>
          </a:p>
        </p:txBody>
      </p:sp>
      <p:sp>
        <p:nvSpPr>
          <p:cNvPr id="26" name="Shape 24"/>
          <p:cNvSpPr/>
          <p:nvPr/>
        </p:nvSpPr>
        <p:spPr>
          <a:xfrm>
            <a:off x="7322515" y="2770632"/>
            <a:ext cx="2090318" cy="2048256"/>
          </a:xfrm>
          <a:prstGeom prst="rect">
            <a:avLst/>
          </a:prstGeom>
          <a:solidFill>
            <a:srgbClr val="F1F5FC"/>
          </a:solidFill>
          <a:ln w="8890">
            <a:solidFill>
              <a:srgbClr val="F1F5FC">
                <a:alpha val="0"/>
              </a:srgbClr>
            </a:solidFill>
            <a:prstDash val="solid"/>
          </a:ln>
        </p:spPr>
      </p:sp>
      <p:sp>
        <p:nvSpPr>
          <p:cNvPr id="27" name="Text 25"/>
          <p:cNvSpPr/>
          <p:nvPr/>
        </p:nvSpPr>
        <p:spPr>
          <a:xfrm>
            <a:off x="7459675" y="2962656"/>
            <a:ext cx="1815998" cy="393192"/>
          </a:xfrm>
          <a:prstGeom prst="rect">
            <a:avLst/>
          </a:prstGeom>
          <a:noFill/>
          <a:ln/>
        </p:spPr>
        <p:txBody>
          <a:bodyPr wrap="square" lIns="0" tIns="0" rIns="0" bIns="0" rtlCol="0" anchor="ctr">
            <a:spAutoFit/>
          </a:bodyPr>
          <a:lstStyle/>
          <a:p>
            <a:pPr marL="0" indent="0" algn="ctr">
              <a:lnSpc>
                <a:spcPct val="104000"/>
              </a:lnSpc>
              <a:buNone/>
            </a:pPr>
            <a:r>
              <a:rPr lang="en-US" sz="2200" b="1" dirty="0">
                <a:solidFill>
                  <a:srgbClr val="182D47"/>
                </a:solidFill>
                <a:latin typeface="Arial" pitchFamily="34" charset="0"/>
                <a:ea typeface="Arial" pitchFamily="34" charset="-122"/>
                <a:cs typeface="Arial" pitchFamily="34" charset="-120"/>
              </a:rPr>
              <a:t>Перенос</a:t>
            </a:r>
            <a:endParaRPr lang="en-US" sz="2200" dirty="0"/>
          </a:p>
        </p:txBody>
      </p:sp>
      <p:sp>
        <p:nvSpPr>
          <p:cNvPr id="28" name="Text 26"/>
          <p:cNvSpPr/>
          <p:nvPr/>
        </p:nvSpPr>
        <p:spPr>
          <a:xfrm>
            <a:off x="7441387" y="3557016"/>
            <a:ext cx="1852574" cy="1088136"/>
          </a:xfrm>
          <a:prstGeom prst="rect">
            <a:avLst/>
          </a:prstGeom>
          <a:noFill/>
          <a:ln/>
        </p:spPr>
        <p:txBody>
          <a:bodyPr wrap="square" lIns="0" tIns="0" rIns="0" bIns="0" rtlCol="0" anchor="t">
            <a:spAutoFit/>
          </a:bodyPr>
          <a:lstStyle/>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Перенос систем</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по очереди</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с учётом</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их связей.</a:t>
            </a:r>
            <a:endParaRPr lang="en-US" sz="1710" dirty="0"/>
          </a:p>
        </p:txBody>
      </p:sp>
      <p:sp>
        <p:nvSpPr>
          <p:cNvPr id="29" name="Shape 27"/>
          <p:cNvSpPr/>
          <p:nvPr/>
        </p:nvSpPr>
        <p:spPr>
          <a:xfrm>
            <a:off x="10363810" y="1847088"/>
            <a:ext cx="566928" cy="566928"/>
          </a:xfrm>
          <a:prstGeom prst="ellipse">
            <a:avLst/>
          </a:prstGeom>
          <a:solidFill>
            <a:srgbClr val="2F68E8"/>
          </a:solidFill>
          <a:ln w="12700">
            <a:solidFill>
              <a:srgbClr val="2F68E8">
                <a:alpha val="0"/>
              </a:srgbClr>
            </a:solidFill>
            <a:prstDash val="solid"/>
          </a:ln>
        </p:spPr>
      </p:sp>
      <p:sp>
        <p:nvSpPr>
          <p:cNvPr id="30" name="Text 28"/>
          <p:cNvSpPr/>
          <p:nvPr/>
        </p:nvSpPr>
        <p:spPr>
          <a:xfrm>
            <a:off x="10363810" y="1865376"/>
            <a:ext cx="566928" cy="521208"/>
          </a:xfrm>
          <a:prstGeom prst="rect">
            <a:avLst/>
          </a:prstGeom>
          <a:noFill/>
          <a:ln/>
        </p:spPr>
        <p:txBody>
          <a:bodyPr wrap="square" lIns="0" tIns="0" rIns="0" bIns="0" rtlCol="0" anchor="ctr">
            <a:spAutoFit/>
          </a:bodyPr>
          <a:lstStyle/>
          <a:p>
            <a:pPr marL="0" indent="0" algn="ctr">
              <a:lnSpc>
                <a:spcPct val="104000"/>
              </a:lnSpc>
              <a:buNone/>
            </a:pPr>
            <a:r>
              <a:rPr lang="en-US" sz="2100" b="1" dirty="0">
                <a:solidFill>
                  <a:srgbClr val="E6EFFF"/>
                </a:solidFill>
                <a:latin typeface="Arial" pitchFamily="34" charset="0"/>
                <a:ea typeface="Arial" pitchFamily="34" charset="-122"/>
                <a:cs typeface="Arial" pitchFamily="34" charset="-120"/>
              </a:rPr>
              <a:t>5</a:t>
            </a:r>
            <a:endParaRPr lang="en-US" sz="2100" dirty="0"/>
          </a:p>
        </p:txBody>
      </p:sp>
      <p:sp>
        <p:nvSpPr>
          <p:cNvPr id="31" name="Shape 29"/>
          <p:cNvSpPr/>
          <p:nvPr/>
        </p:nvSpPr>
        <p:spPr>
          <a:xfrm>
            <a:off x="9595714" y="2770632"/>
            <a:ext cx="2090318" cy="2048256"/>
          </a:xfrm>
          <a:prstGeom prst="rect">
            <a:avLst/>
          </a:prstGeom>
          <a:solidFill>
            <a:srgbClr val="F1F5FC"/>
          </a:solidFill>
          <a:ln w="8890">
            <a:solidFill>
              <a:srgbClr val="F1F5FC">
                <a:alpha val="0"/>
              </a:srgbClr>
            </a:solidFill>
            <a:prstDash val="solid"/>
          </a:ln>
        </p:spPr>
      </p:sp>
      <p:sp>
        <p:nvSpPr>
          <p:cNvPr id="32" name="Text 30"/>
          <p:cNvSpPr/>
          <p:nvPr/>
        </p:nvSpPr>
        <p:spPr>
          <a:xfrm>
            <a:off x="9732874" y="2962656"/>
            <a:ext cx="1815998" cy="393192"/>
          </a:xfrm>
          <a:prstGeom prst="rect">
            <a:avLst/>
          </a:prstGeom>
          <a:noFill/>
          <a:ln/>
        </p:spPr>
        <p:txBody>
          <a:bodyPr wrap="square" lIns="0" tIns="0" rIns="0" bIns="0" rtlCol="0" anchor="ctr">
            <a:spAutoFit/>
          </a:bodyPr>
          <a:lstStyle/>
          <a:p>
            <a:pPr marL="0" indent="0" algn="ctr">
              <a:lnSpc>
                <a:spcPct val="104000"/>
              </a:lnSpc>
              <a:buNone/>
            </a:pPr>
            <a:r>
              <a:rPr lang="en-US" sz="2200" b="1" dirty="0">
                <a:solidFill>
                  <a:srgbClr val="182D47"/>
                </a:solidFill>
                <a:latin typeface="Arial" pitchFamily="34" charset="0"/>
                <a:ea typeface="Arial" pitchFamily="34" charset="-122"/>
                <a:cs typeface="Arial" pitchFamily="34" charset="-120"/>
              </a:rPr>
              <a:t>Контроль</a:t>
            </a:r>
            <a:endParaRPr lang="en-US" sz="2200" dirty="0"/>
          </a:p>
        </p:txBody>
      </p:sp>
      <p:sp>
        <p:nvSpPr>
          <p:cNvPr id="33" name="Text 31"/>
          <p:cNvSpPr/>
          <p:nvPr/>
        </p:nvSpPr>
        <p:spPr>
          <a:xfrm>
            <a:off x="9714586" y="3557016"/>
            <a:ext cx="1852574" cy="1088136"/>
          </a:xfrm>
          <a:prstGeom prst="rect">
            <a:avLst/>
          </a:prstGeom>
          <a:noFill/>
          <a:ln/>
        </p:spPr>
        <p:txBody>
          <a:bodyPr wrap="square" lIns="0" tIns="0" rIns="0" bIns="0" rtlCol="0" anchor="t">
            <a:spAutoFit/>
          </a:bodyPr>
          <a:lstStyle/>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Полнота данных,</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нагрузка,</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защита</a:t>
            </a:r>
            <a:endParaRPr lang="en-US" sz="1710" dirty="0"/>
          </a:p>
          <a:p>
            <a:pPr marL="0" indent="0" algn="ctr">
              <a:lnSpc>
                <a:spcPct val="106000"/>
              </a:lnSpc>
              <a:buNone/>
            </a:pPr>
            <a:r>
              <a:rPr lang="en-US" sz="1710" dirty="0">
                <a:solidFill>
                  <a:srgbClr val="43536A"/>
                </a:solidFill>
                <a:latin typeface="Arial" pitchFamily="34" charset="0"/>
                <a:ea typeface="Arial" pitchFamily="34" charset="-122"/>
                <a:cs typeface="Arial" pitchFamily="34" charset="-120"/>
              </a:rPr>
              <a:t>и расходы.</a:t>
            </a:r>
            <a:endParaRPr lang="en-US" sz="1710" dirty="0"/>
          </a:p>
        </p:txBody>
      </p:sp>
      <p:sp>
        <p:nvSpPr>
          <p:cNvPr id="34" name="Shape 32"/>
          <p:cNvSpPr/>
          <p:nvPr/>
        </p:nvSpPr>
        <p:spPr>
          <a:xfrm>
            <a:off x="502920" y="5404104"/>
            <a:ext cx="11183112" cy="576072"/>
          </a:xfrm>
          <a:prstGeom prst="rect">
            <a:avLst/>
          </a:prstGeom>
          <a:solidFill>
            <a:srgbClr val="E9F1FF"/>
          </a:solidFill>
          <a:ln w="8890">
            <a:solidFill>
              <a:srgbClr val="E9F1FF">
                <a:alpha val="0"/>
              </a:srgbClr>
            </a:solidFill>
            <a:prstDash val="solid"/>
          </a:ln>
        </p:spPr>
      </p:sp>
      <p:sp>
        <p:nvSpPr>
          <p:cNvPr id="35" name="Text 33"/>
          <p:cNvSpPr/>
          <p:nvPr/>
        </p:nvSpPr>
        <p:spPr>
          <a:xfrm>
            <a:off x="722376" y="5522976"/>
            <a:ext cx="10735056" cy="329184"/>
          </a:xfrm>
          <a:prstGeom prst="rect">
            <a:avLst/>
          </a:prstGeom>
          <a:noFill/>
          <a:ln/>
        </p:spPr>
        <p:txBody>
          <a:bodyPr wrap="square" lIns="0" tIns="0" rIns="0" bIns="0" rtlCol="0" anchor="ctr">
            <a:spAutoFit/>
          </a:bodyPr>
          <a:lstStyle/>
          <a:p>
            <a:pPr marL="0" indent="0">
              <a:lnSpc>
                <a:spcPct val="104000"/>
              </a:lnSpc>
              <a:buNone/>
            </a:pPr>
            <a:r>
              <a:rPr lang="en-US" sz="2100" b="1" dirty="0">
                <a:solidFill>
                  <a:srgbClr val="2F68E8"/>
                </a:solidFill>
                <a:latin typeface="Arial" pitchFamily="34" charset="0"/>
                <a:ea typeface="Arial" pitchFamily="34" charset="-122"/>
                <a:cs typeface="Arial" pitchFamily="34" charset="-120"/>
              </a:rPr>
              <a:t>Перед переключением готовят план возврата к прежней среде.</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38912"/>
            <a:ext cx="11155680" cy="530352"/>
          </a:xfrm>
          <a:prstGeom prst="rect">
            <a:avLst/>
          </a:prstGeom>
          <a:noFill/>
          <a:ln/>
        </p:spPr>
        <p:txBody>
          <a:bodyPr wrap="square" lIns="0" tIns="0" rIns="0" bIns="0" rtlCol="0" anchor="ctr">
            <a:spAutoFit/>
          </a:bodyPr>
          <a:lstStyle/>
          <a:p>
            <a:pPr marL="0" indent="0">
              <a:lnSpc>
                <a:spcPct val="104000"/>
              </a:lnSpc>
              <a:buNone/>
            </a:pPr>
            <a:r>
              <a:rPr lang="en-US" sz="3100" b="1" dirty="0">
                <a:solidFill>
                  <a:srgbClr val="182D47"/>
                </a:solidFill>
                <a:latin typeface="Arial" pitchFamily="34" charset="0"/>
                <a:ea typeface="Arial" pitchFamily="34" charset="-122"/>
                <a:cs typeface="Arial" pitchFamily="34" charset="-120"/>
              </a:rPr>
              <a:t>Пример: интернет-магазин</a:t>
            </a:r>
            <a:endParaRPr lang="en-US" sz="3100" dirty="0"/>
          </a:p>
        </p:txBody>
      </p:sp>
      <p:sp>
        <p:nvSpPr>
          <p:cNvPr id="3" name="Text 1"/>
          <p:cNvSpPr/>
          <p:nvPr/>
        </p:nvSpPr>
        <p:spPr>
          <a:xfrm>
            <a:off x="521208" y="1097280"/>
            <a:ext cx="11018520" cy="411480"/>
          </a:xfrm>
          <a:prstGeom prst="rect">
            <a:avLst/>
          </a:prstGeom>
          <a:noFill/>
          <a:ln/>
        </p:spPr>
        <p:txBody>
          <a:bodyPr wrap="square" lIns="0" tIns="0" rIns="0" bIns="0" rtlCol="0" anchor="ctr">
            <a:spAutoFit/>
          </a:bodyPr>
          <a:lstStyle/>
          <a:p>
            <a:pPr marL="0" indent="0">
              <a:lnSpc>
                <a:spcPct val="104000"/>
              </a:lnSpc>
              <a:buNone/>
            </a:pPr>
            <a:r>
              <a:rPr lang="en-US" sz="1900" dirty="0">
                <a:solidFill>
                  <a:srgbClr val="43536A"/>
                </a:solidFill>
                <a:latin typeface="Arial" pitchFamily="34" charset="0"/>
                <a:ea typeface="Arial" pitchFamily="34" charset="-122"/>
                <a:cs typeface="Arial" pitchFamily="34" charset="-120"/>
              </a:rPr>
              <a:t>Задача: выдержать рост посещений во время распродаж.</a:t>
            </a:r>
            <a:endParaRPr lang="en-US" sz="1900" dirty="0"/>
          </a:p>
        </p:txBody>
      </p:sp>
      <p:sp>
        <p:nvSpPr>
          <p:cNvPr id="4" name="Shape 2"/>
          <p:cNvSpPr/>
          <p:nvPr/>
        </p:nvSpPr>
        <p:spPr>
          <a:xfrm>
            <a:off x="502920" y="6345936"/>
            <a:ext cx="11183112" cy="0"/>
          </a:xfrm>
          <a:prstGeom prst="line">
            <a:avLst/>
          </a:prstGeom>
          <a:noFill/>
          <a:ln w="10160">
            <a:solidFill>
              <a:srgbClr val="D4DFEF"/>
            </a:solidFill>
            <a:prstDash val="solid"/>
            <a:headEnd type="none"/>
            <a:tailEnd type="none"/>
          </a:ln>
        </p:spPr>
      </p:sp>
      <p:sp>
        <p:nvSpPr>
          <p:cNvPr id="5" name="Text 3"/>
          <p:cNvSpPr/>
          <p:nvPr/>
        </p:nvSpPr>
        <p:spPr>
          <a:xfrm>
            <a:off x="512064" y="6464177"/>
            <a:ext cx="4023360" cy="156710"/>
          </a:xfrm>
          <a:prstGeom prst="rect">
            <a:avLst/>
          </a:prstGeom>
          <a:noFill/>
          <a:ln/>
        </p:spPr>
        <p:txBody>
          <a:bodyPr wrap="square" lIns="0" tIns="0" rIns="0" bIns="0" rtlCol="0" anchor="ctr">
            <a:spAutoFit/>
          </a:bodyPr>
          <a:lstStyle/>
          <a:p>
            <a:pPr marL="0" indent="0">
              <a:lnSpc>
                <a:spcPct val="104000"/>
              </a:lnSpc>
              <a:buNone/>
            </a:pPr>
            <a:endParaRPr lang="en-US" sz="1050" dirty="0"/>
          </a:p>
        </p:txBody>
      </p:sp>
      <p:sp>
        <p:nvSpPr>
          <p:cNvPr id="6" name="Text 4"/>
          <p:cNvSpPr/>
          <p:nvPr/>
        </p:nvSpPr>
        <p:spPr>
          <a:xfrm>
            <a:off x="4663440" y="6464177"/>
            <a:ext cx="6126480" cy="156710"/>
          </a:xfrm>
          <a:prstGeom prst="rect">
            <a:avLst/>
          </a:prstGeom>
          <a:noFill/>
          <a:ln/>
        </p:spPr>
        <p:txBody>
          <a:bodyPr wrap="square" lIns="0" tIns="0" rIns="0" bIns="0" rtlCol="0" anchor="ctr">
            <a:spAutoFit/>
          </a:bodyPr>
          <a:lstStyle/>
          <a:p>
            <a:pPr algn="r">
              <a:lnSpc>
                <a:spcPct val="104000"/>
              </a:lnSpc>
            </a:pPr>
            <a:endParaRPr lang="en-US" sz="1050" dirty="0"/>
          </a:p>
        </p:txBody>
      </p:sp>
      <p:sp>
        <p:nvSpPr>
          <p:cNvPr id="7" name="Text 5"/>
          <p:cNvSpPr/>
          <p:nvPr/>
        </p:nvSpPr>
        <p:spPr>
          <a:xfrm>
            <a:off x="10972800" y="6452167"/>
            <a:ext cx="694944" cy="171585"/>
          </a:xfrm>
          <a:prstGeom prst="rect">
            <a:avLst/>
          </a:prstGeom>
          <a:noFill/>
          <a:ln/>
        </p:spPr>
        <p:txBody>
          <a:bodyPr wrap="square" lIns="0" tIns="0" rIns="0" bIns="0" rtlCol="0" anchor="ctr">
            <a:spAutoFit/>
          </a:bodyPr>
          <a:lstStyle/>
          <a:p>
            <a:pPr marL="0" indent="0" algn="r">
              <a:lnSpc>
                <a:spcPct val="104000"/>
              </a:lnSpc>
              <a:buNone/>
            </a:pPr>
            <a:endParaRPr lang="en-US" sz="1150" dirty="0"/>
          </a:p>
        </p:txBody>
      </p:sp>
      <p:sp>
        <p:nvSpPr>
          <p:cNvPr id="8" name="Shape 6"/>
          <p:cNvSpPr/>
          <p:nvPr/>
        </p:nvSpPr>
        <p:spPr>
          <a:xfrm>
            <a:off x="502920" y="1819656"/>
            <a:ext cx="3602736" cy="2386584"/>
          </a:xfrm>
          <a:prstGeom prst="rect">
            <a:avLst/>
          </a:prstGeom>
          <a:solidFill>
            <a:srgbClr val="F1F5FC"/>
          </a:solidFill>
          <a:ln w="8890">
            <a:solidFill>
              <a:srgbClr val="F1F5FC">
                <a:alpha val="0"/>
              </a:srgbClr>
            </a:solidFill>
            <a:prstDash val="solid"/>
          </a:ln>
        </p:spPr>
      </p:sp>
      <p:sp>
        <p:nvSpPr>
          <p:cNvPr id="9" name="Shape 7"/>
          <p:cNvSpPr/>
          <p:nvPr/>
        </p:nvSpPr>
        <p:spPr>
          <a:xfrm>
            <a:off x="502920" y="1819656"/>
            <a:ext cx="3602736" cy="36576"/>
          </a:xfrm>
          <a:prstGeom prst="rect">
            <a:avLst/>
          </a:prstGeom>
          <a:solidFill>
            <a:srgbClr val="2F68E8"/>
          </a:solidFill>
          <a:ln w="8890">
            <a:solidFill>
              <a:srgbClr val="2F68E8">
                <a:alpha val="0"/>
              </a:srgbClr>
            </a:solidFill>
            <a:prstDash val="solid"/>
          </a:ln>
        </p:spPr>
      </p:sp>
      <p:sp>
        <p:nvSpPr>
          <p:cNvPr id="10" name="Text 8"/>
          <p:cNvSpPr/>
          <p:nvPr/>
        </p:nvSpPr>
        <p:spPr>
          <a:xfrm>
            <a:off x="713232" y="2039112"/>
            <a:ext cx="3200400" cy="356616"/>
          </a:xfrm>
          <a:prstGeom prst="rect">
            <a:avLst/>
          </a:prstGeom>
          <a:noFill/>
          <a:ln/>
        </p:spPr>
        <p:txBody>
          <a:bodyPr wrap="square" lIns="0" tIns="0" rIns="0" bIns="0" rtlCol="0" anchor="ctr">
            <a:spAutoFit/>
          </a:bodyPr>
          <a:lstStyle/>
          <a:p>
            <a:pPr marL="0" indent="0">
              <a:lnSpc>
                <a:spcPct val="104000"/>
              </a:lnSpc>
              <a:buNone/>
            </a:pPr>
            <a:r>
              <a:rPr lang="en-US" sz="2100" b="1" dirty="0">
                <a:solidFill>
                  <a:srgbClr val="182D47"/>
                </a:solidFill>
                <a:latin typeface="Arial" pitchFamily="34" charset="0"/>
                <a:ea typeface="Arial" pitchFamily="34" charset="-122"/>
                <a:cs typeface="Arial" pitchFamily="34" charset="-120"/>
              </a:rPr>
              <a:t>Сайт</a:t>
            </a:r>
            <a:endParaRPr lang="en-US" sz="2100" dirty="0"/>
          </a:p>
        </p:txBody>
      </p:sp>
      <p:sp>
        <p:nvSpPr>
          <p:cNvPr id="11" name="Text 9"/>
          <p:cNvSpPr/>
          <p:nvPr/>
        </p:nvSpPr>
        <p:spPr>
          <a:xfrm>
            <a:off x="713232" y="2624328"/>
            <a:ext cx="3145536" cy="566928"/>
          </a:xfrm>
          <a:prstGeom prst="rect">
            <a:avLst/>
          </a:prstGeom>
          <a:noFill/>
          <a:ln/>
        </p:spPr>
        <p:txBody>
          <a:bodyPr wrap="square" lIns="0" tIns="0" rIns="0" bIns="0" rtlCol="0" anchor="ctr">
            <a:spAutoFit/>
          </a:bodyPr>
          <a:lstStyle/>
          <a:p>
            <a:pPr marL="0" indent="0">
              <a:lnSpc>
                <a:spcPct val="104000"/>
              </a:lnSpc>
              <a:buNone/>
            </a:pPr>
            <a:r>
              <a:rPr lang="en-US" sz="3500" b="1" dirty="0">
                <a:solidFill>
                  <a:srgbClr val="2F68E8"/>
                </a:solidFill>
                <a:latin typeface="Arial" pitchFamily="34" charset="0"/>
                <a:ea typeface="Arial" pitchFamily="34" charset="-122"/>
                <a:cs typeface="Arial" pitchFamily="34" charset="-120"/>
              </a:rPr>
              <a:t>PaaS</a:t>
            </a:r>
            <a:endParaRPr lang="en-US" sz="3500" dirty="0"/>
          </a:p>
        </p:txBody>
      </p:sp>
      <p:sp>
        <p:nvSpPr>
          <p:cNvPr id="12" name="Text 10"/>
          <p:cNvSpPr/>
          <p:nvPr/>
        </p:nvSpPr>
        <p:spPr>
          <a:xfrm>
            <a:off x="713232" y="3236976"/>
            <a:ext cx="3172968" cy="265176"/>
          </a:xfrm>
          <a:prstGeom prst="rect">
            <a:avLst/>
          </a:prstGeom>
          <a:noFill/>
          <a:ln/>
        </p:spPr>
        <p:txBody>
          <a:bodyPr wrap="square" lIns="0" tIns="0" rIns="0" bIns="0" rtlCol="0" anchor="ctr">
            <a:spAutoFit/>
          </a:bodyPr>
          <a:lstStyle/>
          <a:p>
            <a:pPr marL="0" indent="0">
              <a:lnSpc>
                <a:spcPct val="104000"/>
              </a:lnSpc>
              <a:buNone/>
            </a:pPr>
            <a:r>
              <a:rPr lang="en-US" sz="1570" dirty="0">
                <a:solidFill>
                  <a:srgbClr val="43536A"/>
                </a:solidFill>
                <a:latin typeface="Arial" pitchFamily="34" charset="0"/>
                <a:ea typeface="Arial" pitchFamily="34" charset="-122"/>
                <a:cs typeface="Arial" pitchFamily="34" charset="-120"/>
              </a:rPr>
              <a:t>В публичном облаке</a:t>
            </a:r>
            <a:endParaRPr lang="en-US" sz="1570" dirty="0"/>
          </a:p>
        </p:txBody>
      </p:sp>
      <p:sp>
        <p:nvSpPr>
          <p:cNvPr id="13" name="Text 11"/>
          <p:cNvSpPr/>
          <p:nvPr/>
        </p:nvSpPr>
        <p:spPr>
          <a:xfrm>
            <a:off x="713232" y="3648456"/>
            <a:ext cx="3191256" cy="484632"/>
          </a:xfrm>
          <a:prstGeom prst="rect">
            <a:avLst/>
          </a:prstGeom>
          <a:noFill/>
          <a:ln/>
        </p:spPr>
        <p:txBody>
          <a:bodyPr wrap="square" lIns="0" tIns="0" rIns="0" bIns="0" rtlCol="0" anchor="ctr">
            <a:spAutoFit/>
          </a:bodyPr>
          <a:lstStyle/>
          <a:p>
            <a:pPr marL="0" indent="0">
              <a:lnSpc>
                <a:spcPct val="104000"/>
              </a:lnSpc>
              <a:buNone/>
            </a:pPr>
            <a:r>
              <a:rPr lang="en-US" sz="1750" dirty="0">
                <a:solidFill>
                  <a:srgbClr val="182D47"/>
                </a:solidFill>
                <a:latin typeface="Arial" pitchFamily="34" charset="0"/>
                <a:ea typeface="Arial" pitchFamily="34" charset="-122"/>
                <a:cs typeface="Arial" pitchFamily="34" charset="-120"/>
              </a:rPr>
              <a:t>Добавление ресурсов</a:t>
            </a:r>
            <a:endParaRPr lang="en-US" sz="1750" dirty="0"/>
          </a:p>
          <a:p>
            <a:pPr marL="0" indent="0">
              <a:lnSpc>
                <a:spcPct val="104000"/>
              </a:lnSpc>
              <a:buNone/>
            </a:pPr>
            <a:r>
              <a:rPr lang="en-US" sz="1750" dirty="0">
                <a:solidFill>
                  <a:srgbClr val="182D47"/>
                </a:solidFill>
                <a:latin typeface="Arial" pitchFamily="34" charset="0"/>
                <a:ea typeface="Arial" pitchFamily="34" charset="-122"/>
                <a:cs typeface="Arial" pitchFamily="34" charset="-120"/>
              </a:rPr>
              <a:t>при росте нагрузки.</a:t>
            </a:r>
            <a:endParaRPr lang="en-US" sz="1750" dirty="0"/>
          </a:p>
        </p:txBody>
      </p:sp>
      <p:sp>
        <p:nvSpPr>
          <p:cNvPr id="14" name="Shape 12"/>
          <p:cNvSpPr/>
          <p:nvPr/>
        </p:nvSpPr>
        <p:spPr>
          <a:xfrm>
            <a:off x="4294662" y="1819656"/>
            <a:ext cx="3602736" cy="2386584"/>
          </a:xfrm>
          <a:prstGeom prst="rect">
            <a:avLst/>
          </a:prstGeom>
          <a:solidFill>
            <a:srgbClr val="F1F5FC"/>
          </a:solidFill>
          <a:ln w="8890">
            <a:solidFill>
              <a:srgbClr val="F1F5FC">
                <a:alpha val="0"/>
              </a:srgbClr>
            </a:solidFill>
            <a:prstDash val="solid"/>
          </a:ln>
        </p:spPr>
      </p:sp>
      <p:sp>
        <p:nvSpPr>
          <p:cNvPr id="15" name="Shape 13"/>
          <p:cNvSpPr/>
          <p:nvPr/>
        </p:nvSpPr>
        <p:spPr>
          <a:xfrm>
            <a:off x="4294662" y="1819656"/>
            <a:ext cx="3602736" cy="36576"/>
          </a:xfrm>
          <a:prstGeom prst="rect">
            <a:avLst/>
          </a:prstGeom>
          <a:solidFill>
            <a:srgbClr val="2F68E8"/>
          </a:solidFill>
          <a:ln w="8890">
            <a:solidFill>
              <a:srgbClr val="2F68E8">
                <a:alpha val="0"/>
              </a:srgbClr>
            </a:solidFill>
            <a:prstDash val="solid"/>
          </a:ln>
        </p:spPr>
      </p:sp>
      <p:sp>
        <p:nvSpPr>
          <p:cNvPr id="16" name="Text 14"/>
          <p:cNvSpPr/>
          <p:nvPr/>
        </p:nvSpPr>
        <p:spPr>
          <a:xfrm>
            <a:off x="4504974" y="2039112"/>
            <a:ext cx="3200400" cy="356616"/>
          </a:xfrm>
          <a:prstGeom prst="rect">
            <a:avLst/>
          </a:prstGeom>
          <a:noFill/>
          <a:ln/>
        </p:spPr>
        <p:txBody>
          <a:bodyPr wrap="square" lIns="0" tIns="0" rIns="0" bIns="0" rtlCol="0" anchor="ctr">
            <a:spAutoFit/>
          </a:bodyPr>
          <a:lstStyle/>
          <a:p>
            <a:pPr marL="0" indent="0">
              <a:lnSpc>
                <a:spcPct val="104000"/>
              </a:lnSpc>
              <a:buNone/>
            </a:pPr>
            <a:r>
              <a:rPr lang="en-US" sz="2100" b="1" dirty="0">
                <a:solidFill>
                  <a:srgbClr val="182D47"/>
                </a:solidFill>
                <a:latin typeface="Arial" pitchFamily="34" charset="0"/>
                <a:ea typeface="Arial" pitchFamily="34" charset="-122"/>
                <a:cs typeface="Arial" pitchFamily="34" charset="-120"/>
              </a:rPr>
              <a:t>Почта</a:t>
            </a:r>
            <a:endParaRPr lang="en-US" sz="2100" dirty="0"/>
          </a:p>
        </p:txBody>
      </p:sp>
      <p:sp>
        <p:nvSpPr>
          <p:cNvPr id="17" name="Text 15"/>
          <p:cNvSpPr/>
          <p:nvPr/>
        </p:nvSpPr>
        <p:spPr>
          <a:xfrm>
            <a:off x="4504974" y="2624328"/>
            <a:ext cx="3145536" cy="566928"/>
          </a:xfrm>
          <a:prstGeom prst="rect">
            <a:avLst/>
          </a:prstGeom>
          <a:noFill/>
          <a:ln/>
        </p:spPr>
        <p:txBody>
          <a:bodyPr wrap="square" lIns="0" tIns="0" rIns="0" bIns="0" rtlCol="0" anchor="ctr">
            <a:spAutoFit/>
          </a:bodyPr>
          <a:lstStyle/>
          <a:p>
            <a:pPr marL="0" indent="0">
              <a:lnSpc>
                <a:spcPct val="104000"/>
              </a:lnSpc>
              <a:buNone/>
            </a:pPr>
            <a:r>
              <a:rPr lang="en-US" sz="3500" b="1" dirty="0">
                <a:solidFill>
                  <a:srgbClr val="2F68E8"/>
                </a:solidFill>
                <a:latin typeface="Arial" pitchFamily="34" charset="0"/>
                <a:ea typeface="Arial" pitchFamily="34" charset="-122"/>
                <a:cs typeface="Arial" pitchFamily="34" charset="-120"/>
              </a:rPr>
              <a:t>SaaS</a:t>
            </a:r>
            <a:endParaRPr lang="en-US" sz="3500" dirty="0"/>
          </a:p>
        </p:txBody>
      </p:sp>
      <p:sp>
        <p:nvSpPr>
          <p:cNvPr id="18" name="Text 16"/>
          <p:cNvSpPr/>
          <p:nvPr/>
        </p:nvSpPr>
        <p:spPr>
          <a:xfrm>
            <a:off x="4504974" y="3236976"/>
            <a:ext cx="3172968" cy="265176"/>
          </a:xfrm>
          <a:prstGeom prst="rect">
            <a:avLst/>
          </a:prstGeom>
          <a:noFill/>
          <a:ln/>
        </p:spPr>
        <p:txBody>
          <a:bodyPr wrap="square" lIns="0" tIns="0" rIns="0" bIns="0" rtlCol="0" anchor="ctr">
            <a:spAutoFit/>
          </a:bodyPr>
          <a:lstStyle/>
          <a:p>
            <a:pPr marL="0" indent="0">
              <a:lnSpc>
                <a:spcPct val="104000"/>
              </a:lnSpc>
              <a:buNone/>
            </a:pPr>
            <a:r>
              <a:rPr lang="en-US" sz="1570" dirty="0">
                <a:solidFill>
                  <a:srgbClr val="43536A"/>
                </a:solidFill>
                <a:latin typeface="Arial" pitchFamily="34" charset="0"/>
                <a:ea typeface="Arial" pitchFamily="34" charset="-122"/>
                <a:cs typeface="Arial" pitchFamily="34" charset="-120"/>
              </a:rPr>
              <a:t>Готовое приложение</a:t>
            </a:r>
            <a:endParaRPr lang="en-US" sz="1570" dirty="0"/>
          </a:p>
        </p:txBody>
      </p:sp>
      <p:sp>
        <p:nvSpPr>
          <p:cNvPr id="19" name="Text 17"/>
          <p:cNvSpPr/>
          <p:nvPr/>
        </p:nvSpPr>
        <p:spPr>
          <a:xfrm>
            <a:off x="4504974" y="3648456"/>
            <a:ext cx="3191256" cy="484632"/>
          </a:xfrm>
          <a:prstGeom prst="rect">
            <a:avLst/>
          </a:prstGeom>
          <a:noFill/>
          <a:ln/>
        </p:spPr>
        <p:txBody>
          <a:bodyPr wrap="square" lIns="0" tIns="0" rIns="0" bIns="0" rtlCol="0" anchor="ctr">
            <a:spAutoFit/>
          </a:bodyPr>
          <a:lstStyle/>
          <a:p>
            <a:pPr marL="0" indent="0">
              <a:lnSpc>
                <a:spcPct val="104000"/>
              </a:lnSpc>
              <a:buNone/>
            </a:pPr>
            <a:r>
              <a:rPr lang="en-US" sz="1750" dirty="0">
                <a:solidFill>
                  <a:srgbClr val="182D47"/>
                </a:solidFill>
                <a:latin typeface="Arial" pitchFamily="34" charset="0"/>
                <a:ea typeface="Arial" pitchFamily="34" charset="-122"/>
                <a:cs typeface="Arial" pitchFamily="34" charset="-120"/>
              </a:rPr>
              <a:t>Работа с почтой</a:t>
            </a:r>
            <a:endParaRPr lang="en-US" sz="1750" dirty="0"/>
          </a:p>
          <a:p>
            <a:pPr marL="0" indent="0">
              <a:lnSpc>
                <a:spcPct val="104000"/>
              </a:lnSpc>
              <a:buNone/>
            </a:pPr>
            <a:r>
              <a:rPr lang="en-US" sz="1750" dirty="0">
                <a:solidFill>
                  <a:srgbClr val="182D47"/>
                </a:solidFill>
                <a:latin typeface="Arial" pitchFamily="34" charset="0"/>
                <a:ea typeface="Arial" pitchFamily="34" charset="-122"/>
                <a:cs typeface="Arial" pitchFamily="34" charset="-120"/>
              </a:rPr>
              <a:t>через облачный сервис.</a:t>
            </a:r>
            <a:endParaRPr lang="en-US" sz="1750" dirty="0"/>
          </a:p>
        </p:txBody>
      </p:sp>
      <p:sp>
        <p:nvSpPr>
          <p:cNvPr id="20" name="Shape 18"/>
          <p:cNvSpPr/>
          <p:nvPr/>
        </p:nvSpPr>
        <p:spPr>
          <a:xfrm>
            <a:off x="8086405" y="1819656"/>
            <a:ext cx="3602736" cy="2386584"/>
          </a:xfrm>
          <a:prstGeom prst="rect">
            <a:avLst/>
          </a:prstGeom>
          <a:solidFill>
            <a:srgbClr val="F1F5FC"/>
          </a:solidFill>
          <a:ln w="8890">
            <a:solidFill>
              <a:srgbClr val="F1F5FC">
                <a:alpha val="0"/>
              </a:srgbClr>
            </a:solidFill>
            <a:prstDash val="solid"/>
          </a:ln>
        </p:spPr>
      </p:sp>
      <p:sp>
        <p:nvSpPr>
          <p:cNvPr id="21" name="Shape 19"/>
          <p:cNvSpPr/>
          <p:nvPr/>
        </p:nvSpPr>
        <p:spPr>
          <a:xfrm>
            <a:off x="8086405" y="1819656"/>
            <a:ext cx="3602736" cy="36576"/>
          </a:xfrm>
          <a:prstGeom prst="rect">
            <a:avLst/>
          </a:prstGeom>
          <a:solidFill>
            <a:srgbClr val="2F68E8"/>
          </a:solidFill>
          <a:ln w="8890">
            <a:solidFill>
              <a:srgbClr val="2F68E8">
                <a:alpha val="0"/>
              </a:srgbClr>
            </a:solidFill>
            <a:prstDash val="solid"/>
          </a:ln>
        </p:spPr>
      </p:sp>
      <p:sp>
        <p:nvSpPr>
          <p:cNvPr id="22" name="Text 20"/>
          <p:cNvSpPr/>
          <p:nvPr/>
        </p:nvSpPr>
        <p:spPr>
          <a:xfrm>
            <a:off x="8296717" y="2039112"/>
            <a:ext cx="3200400" cy="356616"/>
          </a:xfrm>
          <a:prstGeom prst="rect">
            <a:avLst/>
          </a:prstGeom>
          <a:noFill/>
          <a:ln/>
        </p:spPr>
        <p:txBody>
          <a:bodyPr wrap="square" lIns="0" tIns="0" rIns="0" bIns="0" rtlCol="0" anchor="ctr">
            <a:spAutoFit/>
          </a:bodyPr>
          <a:lstStyle/>
          <a:p>
            <a:pPr marL="0" indent="0">
              <a:lnSpc>
                <a:spcPct val="104000"/>
              </a:lnSpc>
              <a:buNone/>
            </a:pPr>
            <a:r>
              <a:rPr lang="en-US" sz="1900" b="1" dirty="0">
                <a:solidFill>
                  <a:srgbClr val="182D47"/>
                </a:solidFill>
                <a:latin typeface="Arial" pitchFamily="34" charset="0"/>
                <a:ea typeface="Arial" pitchFamily="34" charset="-122"/>
                <a:cs typeface="Arial" pitchFamily="34" charset="-120"/>
              </a:rPr>
              <a:t>Старая учётная система</a:t>
            </a:r>
            <a:endParaRPr lang="en-US" sz="1900" dirty="0"/>
          </a:p>
        </p:txBody>
      </p:sp>
      <p:sp>
        <p:nvSpPr>
          <p:cNvPr id="23" name="Text 21"/>
          <p:cNvSpPr/>
          <p:nvPr/>
        </p:nvSpPr>
        <p:spPr>
          <a:xfrm>
            <a:off x="8296717" y="2624328"/>
            <a:ext cx="3145536" cy="566928"/>
          </a:xfrm>
          <a:prstGeom prst="rect">
            <a:avLst/>
          </a:prstGeom>
          <a:noFill/>
          <a:ln/>
        </p:spPr>
        <p:txBody>
          <a:bodyPr wrap="square" lIns="0" tIns="0" rIns="0" bIns="0" rtlCol="0" anchor="ctr">
            <a:spAutoFit/>
          </a:bodyPr>
          <a:lstStyle/>
          <a:p>
            <a:pPr marL="0" indent="0">
              <a:lnSpc>
                <a:spcPct val="104000"/>
              </a:lnSpc>
              <a:buNone/>
            </a:pPr>
            <a:r>
              <a:rPr lang="en-US" sz="3500" b="1" dirty="0">
                <a:solidFill>
                  <a:srgbClr val="2F68E8"/>
                </a:solidFill>
                <a:latin typeface="Arial" pitchFamily="34" charset="0"/>
                <a:ea typeface="Arial" pitchFamily="34" charset="-122"/>
                <a:cs typeface="Arial" pitchFamily="34" charset="-120"/>
              </a:rPr>
              <a:t>IaaS</a:t>
            </a:r>
            <a:endParaRPr lang="en-US" sz="3500" dirty="0"/>
          </a:p>
        </p:txBody>
      </p:sp>
      <p:sp>
        <p:nvSpPr>
          <p:cNvPr id="24" name="Text 22"/>
          <p:cNvSpPr/>
          <p:nvPr/>
        </p:nvSpPr>
        <p:spPr>
          <a:xfrm>
            <a:off x="8296717" y="3236976"/>
            <a:ext cx="3172968" cy="265176"/>
          </a:xfrm>
          <a:prstGeom prst="rect">
            <a:avLst/>
          </a:prstGeom>
          <a:noFill/>
          <a:ln/>
        </p:spPr>
        <p:txBody>
          <a:bodyPr wrap="square" lIns="0" tIns="0" rIns="0" bIns="0" rtlCol="0" anchor="ctr">
            <a:spAutoFit/>
          </a:bodyPr>
          <a:lstStyle/>
          <a:p>
            <a:pPr marL="0" indent="0">
              <a:lnSpc>
                <a:spcPct val="104000"/>
              </a:lnSpc>
              <a:buNone/>
            </a:pPr>
            <a:r>
              <a:rPr lang="en-US" sz="1570" dirty="0">
                <a:solidFill>
                  <a:srgbClr val="43536A"/>
                </a:solidFill>
                <a:latin typeface="Arial" pitchFamily="34" charset="0"/>
                <a:ea typeface="Arial" pitchFamily="34" charset="-122"/>
                <a:cs typeface="Arial" pitchFamily="34" charset="-120"/>
              </a:rPr>
              <a:t>Виртуальная инфраструктура</a:t>
            </a:r>
            <a:endParaRPr lang="en-US" sz="1570" dirty="0"/>
          </a:p>
        </p:txBody>
      </p:sp>
      <p:sp>
        <p:nvSpPr>
          <p:cNvPr id="25" name="Text 23"/>
          <p:cNvSpPr/>
          <p:nvPr/>
        </p:nvSpPr>
        <p:spPr>
          <a:xfrm>
            <a:off x="8296717" y="3648456"/>
            <a:ext cx="3191256" cy="484632"/>
          </a:xfrm>
          <a:prstGeom prst="rect">
            <a:avLst/>
          </a:prstGeom>
          <a:noFill/>
          <a:ln/>
        </p:spPr>
        <p:txBody>
          <a:bodyPr wrap="square" lIns="0" tIns="0" rIns="0" bIns="0" rtlCol="0" anchor="ctr">
            <a:spAutoFit/>
          </a:bodyPr>
          <a:lstStyle/>
          <a:p>
            <a:pPr marL="0" indent="0">
              <a:lnSpc>
                <a:spcPct val="104000"/>
              </a:lnSpc>
              <a:buNone/>
            </a:pPr>
            <a:r>
              <a:rPr lang="en-US" sz="1750" dirty="0">
                <a:solidFill>
                  <a:srgbClr val="182D47"/>
                </a:solidFill>
                <a:latin typeface="Arial" pitchFamily="34" charset="0"/>
                <a:ea typeface="Arial" pitchFamily="34" charset="-122"/>
                <a:cs typeface="Arial" pitchFamily="34" charset="-120"/>
              </a:rPr>
              <a:t>После проверки</a:t>
            </a:r>
            <a:endParaRPr lang="en-US" sz="1750" dirty="0"/>
          </a:p>
          <a:p>
            <a:pPr marL="0" indent="0">
              <a:lnSpc>
                <a:spcPct val="104000"/>
              </a:lnSpc>
              <a:buNone/>
            </a:pPr>
            <a:r>
              <a:rPr lang="en-US" sz="1750" dirty="0">
                <a:solidFill>
                  <a:srgbClr val="182D47"/>
                </a:solidFill>
                <a:latin typeface="Arial" pitchFamily="34" charset="0"/>
                <a:ea typeface="Arial" pitchFamily="34" charset="-122"/>
                <a:cs typeface="Arial" pitchFamily="34" charset="-120"/>
              </a:rPr>
              <a:t>совместимости.</a:t>
            </a:r>
            <a:endParaRPr lang="en-US" sz="1750" dirty="0"/>
          </a:p>
        </p:txBody>
      </p:sp>
      <p:sp>
        <p:nvSpPr>
          <p:cNvPr id="26" name="Text 24"/>
          <p:cNvSpPr/>
          <p:nvPr/>
        </p:nvSpPr>
        <p:spPr>
          <a:xfrm>
            <a:off x="704088" y="4526280"/>
            <a:ext cx="10963656" cy="566928"/>
          </a:xfrm>
          <a:prstGeom prst="rect">
            <a:avLst/>
          </a:prstGeom>
          <a:noFill/>
          <a:ln/>
        </p:spPr>
        <p:txBody>
          <a:bodyPr wrap="square" lIns="0" tIns="0" rIns="0" bIns="0" rtlCol="0" anchor="ctr">
            <a:spAutoFit/>
          </a:bodyPr>
          <a:lstStyle/>
          <a:p>
            <a:pPr marL="0" indent="0">
              <a:lnSpc>
                <a:spcPct val="104000"/>
              </a:lnSpc>
              <a:buNone/>
            </a:pPr>
            <a:r>
              <a:rPr lang="en-US" sz="2000" dirty="0">
                <a:solidFill>
                  <a:srgbClr val="43536A"/>
                </a:solidFill>
                <a:latin typeface="Arial" pitchFamily="34" charset="0"/>
                <a:ea typeface="Arial" pitchFamily="34" charset="-122"/>
                <a:cs typeface="Arial" pitchFamily="34" charset="-120"/>
              </a:rPr>
              <a:t>Перед переносом проверяют связь систем, доступ</a:t>
            </a:r>
            <a:endParaRPr lang="en-US" sz="2000" dirty="0"/>
          </a:p>
          <a:p>
            <a:pPr marL="0" indent="0">
              <a:lnSpc>
                <a:spcPct val="104000"/>
              </a:lnSpc>
              <a:buNone/>
            </a:pPr>
            <a:r>
              <a:rPr lang="en-US" sz="2000" dirty="0">
                <a:solidFill>
                  <a:srgbClr val="43536A"/>
                </a:solidFill>
                <a:latin typeface="Arial" pitchFamily="34" charset="0"/>
                <a:ea typeface="Arial" pitchFamily="34" charset="-122"/>
                <a:cs typeface="Arial" pitchFamily="34" charset="-120"/>
              </a:rPr>
              <a:t>и восстановление из резервной копии.</a:t>
            </a:r>
            <a:endParaRPr lang="en-US" sz="2000" dirty="0"/>
          </a:p>
        </p:txBody>
      </p:sp>
      <p:sp>
        <p:nvSpPr>
          <p:cNvPr id="27" name="Shape 25"/>
          <p:cNvSpPr/>
          <p:nvPr/>
        </p:nvSpPr>
        <p:spPr>
          <a:xfrm>
            <a:off x="502920" y="5385816"/>
            <a:ext cx="11183112" cy="0"/>
          </a:xfrm>
          <a:prstGeom prst="line">
            <a:avLst/>
          </a:prstGeom>
          <a:noFill/>
          <a:ln w="12700">
            <a:solidFill>
              <a:srgbClr val="D4DFEF"/>
            </a:solidFill>
            <a:prstDash val="solid"/>
            <a:headEnd type="none"/>
            <a:tailEnd type="none"/>
          </a:ln>
        </p:spPr>
      </p:sp>
      <p:sp>
        <p:nvSpPr>
          <p:cNvPr id="28" name="Text 26"/>
          <p:cNvSpPr/>
          <p:nvPr/>
        </p:nvSpPr>
        <p:spPr>
          <a:xfrm>
            <a:off x="694944" y="5559552"/>
            <a:ext cx="10963656" cy="539496"/>
          </a:xfrm>
          <a:prstGeom prst="rect">
            <a:avLst/>
          </a:prstGeom>
          <a:noFill/>
          <a:ln/>
        </p:spPr>
        <p:txBody>
          <a:bodyPr wrap="square" lIns="0" tIns="0" rIns="0" bIns="0" rtlCol="0" anchor="ctr">
            <a:spAutoFit/>
          </a:bodyPr>
          <a:lstStyle/>
          <a:p>
            <a:pPr marL="0" indent="0">
              <a:lnSpc>
                <a:spcPct val="104000"/>
              </a:lnSpc>
              <a:buNone/>
            </a:pPr>
            <a:r>
              <a:rPr lang="en-US" sz="2100" b="1" dirty="0">
                <a:solidFill>
                  <a:srgbClr val="2F68E8"/>
                </a:solidFill>
                <a:latin typeface="Arial" pitchFamily="34" charset="0"/>
                <a:ea typeface="Arial" pitchFamily="34" charset="-122"/>
                <a:cs typeface="Arial" pitchFamily="34" charset="-120"/>
              </a:rPr>
              <a:t>Модель выбирают по задаче; экономию и надёжность</a:t>
            </a:r>
            <a:endParaRPr lang="en-US" sz="2100" dirty="0"/>
          </a:p>
          <a:p>
            <a:pPr marL="0" indent="0">
              <a:lnSpc>
                <a:spcPct val="104000"/>
              </a:lnSpc>
              <a:buNone/>
            </a:pPr>
            <a:r>
              <a:rPr lang="en-US" sz="2100" b="1" dirty="0">
                <a:solidFill>
                  <a:srgbClr val="2F68E8"/>
                </a:solidFill>
                <a:latin typeface="Arial" pitchFamily="34" charset="0"/>
                <a:ea typeface="Arial" pitchFamily="34" charset="-122"/>
                <a:cs typeface="Arial" pitchFamily="34" charset="-120"/>
              </a:rPr>
              <a:t>оценивают по результатам работы системы.</a:t>
            </a:r>
            <a:endParaRPr lang="en-US" sz="2100" dirty="0"/>
          </a:p>
        </p:txBody>
      </p:sp>
    </p:spTree>
  </p:cSld>
  <p:clrMapOvr>
    <a:masterClrMapping/>
  </p:clrMapOvr>
</p:sld>
</file>

<file path=ppt/theme/theme1.xml><?xml version="1.0" encoding="utf-8"?>
<a:theme xmlns:a="http://schemas.openxmlformats.org/drawingml/2006/main" name="Cloud Computing Light">
  <a:themeElements>
    <a:clrScheme name="Cloud Computing Light">
      <a:dk1>
        <a:srgbClr val="182D47"/>
      </a:dk1>
      <a:lt1>
        <a:srgbClr val="FFFFFF"/>
      </a:lt1>
      <a:dk2>
        <a:srgbClr val="43536A"/>
      </a:dk2>
      <a:lt2>
        <a:srgbClr val="F1F5FC"/>
      </a:lt2>
      <a:accent1>
        <a:srgbClr val="2F68E8"/>
      </a:accent1>
      <a:accent2>
        <a:srgbClr val="638EEB"/>
      </a:accent2>
      <a:accent3>
        <a:srgbClr val="94B5F6"/>
      </a:accent3>
      <a:accent4>
        <a:srgbClr val="B3C9EF"/>
      </a:accent4>
      <a:accent5>
        <a:srgbClr val="C7D9F6"/>
      </a:accent5>
      <a:accent6>
        <a:srgbClr val="E9F1FF"/>
      </a:accent6>
      <a:hlink>
        <a:srgbClr val="2F68E8"/>
      </a:hlink>
      <a:folHlink>
        <a:srgbClr val="4F64AE"/>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2072</Words>
  <Application>Microsoft Macintosh PowerPoint</Application>
  <PresentationFormat>Широкоэкранный</PresentationFormat>
  <Paragraphs>196</Paragraphs>
  <Slides>8</Slides>
  <Notes>8</Notes>
  <HiddenSlides>0</HiddenSlides>
  <MMClips>0</MMClips>
  <ScaleCrop>false</ScaleCrop>
  <HeadingPairs>
    <vt:vector size="6" baseType="variant">
      <vt:variant>
        <vt:lpstr>Использованные шрифты</vt:lpstr>
      </vt:variant>
      <vt:variant>
        <vt:i4>1</vt:i4>
      </vt:variant>
      <vt:variant>
        <vt:lpstr>Тема</vt:lpstr>
      </vt:variant>
      <vt:variant>
        <vt:i4>1</vt:i4>
      </vt:variant>
      <vt:variant>
        <vt:lpstr>Заголовки слайдов</vt:lpstr>
      </vt:variant>
      <vt:variant>
        <vt:i4>8</vt:i4>
      </vt:variant>
    </vt:vector>
  </HeadingPairs>
  <TitlesOfParts>
    <vt:vector size="10" baseType="lpstr">
      <vt:lpstr>Arial</vt:lpstr>
      <vt:lpstr>Cloud Computing Light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БГУИР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Облачные вычисления: виды развертывания, инфраструктура и переход в облако</dc:title>
  <dc:subject>Контрольная работа по дисциплине «Хранение и управление данными»</dc:subject>
  <dc:creator>Р. Е. Власов</dc:creator>
  <cp:lastModifiedBy>Zulkifli Kumar</cp:lastModifiedBy>
  <cp:revision>2</cp:revision>
  <dcterms:created xsi:type="dcterms:W3CDTF">2026-10-11T19:44:53Z</dcterms:created>
  <dcterms:modified xsi:type="dcterms:W3CDTF">2026-10-24T13:57:09Z</dcterms:modified>
</cp:coreProperties>
</file>