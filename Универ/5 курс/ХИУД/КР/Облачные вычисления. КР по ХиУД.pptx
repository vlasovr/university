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моей работы: облачные вычисления. Я расскажу, что такое облако и какие бывают сервисные модели и модели развертывания, из чего состоит облачная инфраструктура и как организации перейти в облако. В конце разберу пример интернет-магазина.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Облачные вычисления дают доступ через сеть к серверам, месту для данных и готовым программам. Организация не покупает оборудование, а получает ресурсы у провайдера по запросу. Провайдер обслуживает свою инфраструктуру, а клиент делает ту часть работы, которая остаётся за ним по условиям услуги. Национальный институт стандартов США, NIST, называет пять признаков облака. Самообслуживание: ресурс заказывают сами через панель управления. Доступ по сети: подключаются через интернет или внутреннюю сеть. Объединение ресурсов: провайдер делит мощности между клиентами. Эластичность: при росте нагрузки ресурсы добавляют, после спада освобождают. Учёт потребления: провайдер измеряет использование, а способ оплаты зависит от услуги.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Сервисная модель показывает, что получает клиент и за что он отвечает сам. В IaaS, инфраструктуре как услуге, клиент получает виртуальные серверы, диски и сеть. Операционную систему, программы и данные он обслуживает сам. В PaaS, платформе как услуге, провайдер даёт готовую среду, и клиент размещает в ней своё приложение. В SaaS клиент работает с готовой программой, например с почтой, и настраивает только доступ и свои данные. Отдельно стоит FaaS, функции как услуга: клиент передаёт код функции, а провайдер запускает его и выделяет ресурсы. Разница между моделями в том, сколько администрирования остаётся у клиента.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Модель развертывания отвечает на другой вопрос: кто пользуется облаком и где оно размещено. Публичное облако принадлежит провайдеру, им пользуются многие клиенты, это самый распространённый вариант. Частное облако служит одной организации и может стоять в её центре обработки данных или у провайдера, изолированно от других. Его выбирают, когда важны контроль и безопасность. Гибридное облако объединяет частную и публичную части: критичные данные остаются внутри, а внешние сервисы работают в публичной части. Облаком сообщества пользуются несколько организаций с общими требованиями, например университеты. Мультиоблако означает работу сразу с несколькими провайдерами. В классификацию NIST оно не входит, но часто встречается на практике и может сочетаться с гибридной схемой. Чтобы эти варианты работали, нужна облачная инфраструктура.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Облачная инфраструктура собрана из нескольких частей. В основе лежит центр обработки данных: серверы, системы хранения и сетевое оборудование. Оператор обеспечивает питание, охлаждение и физическую защиту. Над оборудованием работает виртуализация: на одном физическом сервере запускают несколько виртуальных машин, у каждой своя операционная система. Контейнер содержит приложение с его зависимостями и делит ядро операционной системы с другими контейнерами. Провайдер автоматически выделяет и освобождает ресурсы. Сеть связывает пользователей и приложения, администратор ограничивает соединения правилами доступа. Для данных есть три вида хранилищ, о них следующий слайд. Клиент работает с облаком через панель управления или программный интерфейс, там же назначает права доступа, следит за нагрузкой и настраивает резервные копии.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облаке есть три вида хранилищ. Блочное хранилище используют как диск виртуальной машины. Файловое даёт общие папки сотрудникам и приложениям. Объектное подходит для архивов и файлов приложений. Важно не путать три способа защиты. Резервирование сохраняет работу сервиса, если отказал диск или сервер. Репликация держит копии текущих данных на других узлах, поэтому ошибочное удаление тоже скопируется. От такой ошибки спасает только резервная копия: она возвращает данные к сохранённому состоянию. Восстановление из копии нужно проверять заранее.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Перед переходом организация определяет цель: например, запустить новый сервис или выдерживать пиковые нагрузки. Затем она проверяет четыре вещи. Первое: приложения и данные. Специалисты составляют перечень систем, проверяют их связи, совместимость и лицензии, оценивают объём данных и допустимый простой. Второе: расходы. Стоимость своего оборудования сравнивают с оплатой облачных ресурсов, хранения, передачи данных, поддержки и самого переноса. Облако уменьшает разовые вложения, но добавляет регулярные платежи. Третье: безопасность и ответственность. Провайдер защищает инфраструктуру своей услуги, а клиент управляет данными и правами пользователей. В IaaS клиент ещё и обновляет операционную систему. Точную границу задают услуга и договор. Четвёртое: условия работы. Проверяют, где хранятся данные и можно ли их выгрузить при смене провайдера, назначают ответственных и договариваются о действиях при сбое.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Перенос проводят по этапам. Сначала выбирают модель и провайдера, рассчитывают ресурсы и расходы. Затем готовят среду: сеть, учётные записи, права доступа и резервное копирование. На третьем этапе переносят одну тестовую систему и проверяют её работу, скорость и восстановление данных. Только после этого переносят остальные системы, по очереди и с учётом связей между ними. До переключения готовят план возврата к прежней среде, чтобы быстро откатиться, если что-то пойдёт не так. На последнем этапе проверяют полноту данных и работу сервисов, а дальше постоянно следят за нагрузкой, защитой и расходами.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Рассмотрим условный интернет-магазин, у которого во время распродаж резко растёт число посетителей. Сайт можно разместить на PaaS в публичном облаке и настроить автоматическое добавление ресурсов при росте нагрузки. Для почты подойдёт SaaS, то есть готовый сервис: магазину не нужно его обслуживать. Старой учётной системе нужна особая операционная система, поэтому её переносят на виртуальный сервер в IaaS, но только после проверки совместимости. Перед переносом команда проверяет, как сайт обменивается данными с учётной системой, настраивает права доступа и пробует восстановить данные из резервной копии.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Подведу итог. Сервисную модель организация выбирает по тому, сколько работы готова делать сама: от обслуживания операционной системы в IaaS до простой работы с готовой программой в SaaS. Модель развертывания выбирают по требованиям к среде: насколько важны контроль, безопасность и способность выдерживать нагрузку. Для перехода нужно проверить свои системы и данные, рассчитать расходы, распределить ответственность с провайдером и испытать перенос на тестовой системе. Экономию и надёжность оценивают уже по тому, как работает выбранная система. Спасибо за внимание, готов ответить на вопросы.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11111"/>
                </a:solidFill>
                <a:latin typeface="Times New Roman" pitchFamily="34" charset="0"/>
                <a:ea typeface="Times New Roman" pitchFamily="34" charset="-122"/>
                <a:cs typeface="Times New Roman"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454150"/>
            <a:ext cx="10566400" cy="4591050"/>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Times New Roman" pitchFamily="34" charset="0"/>
                <a:ea typeface="Times New Roman" pitchFamily="34" charset="-122"/>
                <a:cs typeface="Times New Roman"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11111"/>
                </a:solidFill>
                <a:latin typeface="Times New Roman" pitchFamily="34" charset="0"/>
                <a:ea typeface="Times New Roman" pitchFamily="34" charset="-122"/>
                <a:cs typeface="Times New Roman"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454150"/>
            <a:ext cx="10566400" cy="4591050"/>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Times New Roman" pitchFamily="34" charset="0"/>
                <a:ea typeface="Times New Roman" pitchFamily="34" charset="-122"/>
                <a:cs typeface="Times New Roman"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29013" y="609600"/>
            <a:ext cx="5133975"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111111"/>
                </a:solidFill>
                <a:latin typeface="Times New Roman" pitchFamily="18" charset="0"/>
                <a:ea typeface="Times New Roman" pitchFamily="18" charset="-122"/>
                <a:cs typeface="Times New Roman" pitchFamily="18" charset="-120"/>
              </a:rPr>
              <a:t>Министерство образования Республики Беларусь</a:t>
            </a:r>
            <a:endParaRPr lang="en-US" sz="1600" dirty="0"/>
          </a:p>
        </p:txBody>
      </p:sp>
      <p:sp>
        <p:nvSpPr>
          <p:cNvPr id="3" name="Text 1"/>
          <p:cNvSpPr/>
          <p:nvPr/>
        </p:nvSpPr>
        <p:spPr>
          <a:xfrm>
            <a:off x="548164" y="944860"/>
            <a:ext cx="11095672"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111111"/>
                </a:solidFill>
                <a:latin typeface="Times New Roman" pitchFamily="18" charset="0"/>
                <a:ea typeface="Times New Roman" pitchFamily="18" charset="-122"/>
                <a:cs typeface="Times New Roman" pitchFamily="18" charset="-120"/>
              </a:rPr>
              <a:t>Учреждение образования «Белорусский государственный университет информатики и радиоэлектроники»</a:t>
            </a:r>
            <a:endParaRPr lang="en-US" sz="1600" dirty="0"/>
          </a:p>
        </p:txBody>
      </p:sp>
      <p:sp>
        <p:nvSpPr>
          <p:cNvPr id="4" name="Text 2"/>
          <p:cNvSpPr/>
          <p:nvPr/>
        </p:nvSpPr>
        <p:spPr>
          <a:xfrm>
            <a:off x="3656350" y="1280120"/>
            <a:ext cx="48793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111111"/>
                </a:solidFill>
                <a:latin typeface="Times New Roman" pitchFamily="18" charset="0"/>
                <a:ea typeface="Times New Roman" pitchFamily="18" charset="-122"/>
                <a:cs typeface="Times New Roman" pitchFamily="18" charset="-120"/>
              </a:rPr>
              <a:t>Кафедра электронных вычислительных машин</a:t>
            </a:r>
            <a:endParaRPr lang="en-US" sz="1600" dirty="0"/>
          </a:p>
        </p:txBody>
      </p:sp>
      <p:sp>
        <p:nvSpPr>
          <p:cNvPr id="5" name="Text 3"/>
          <p:cNvSpPr/>
          <p:nvPr/>
        </p:nvSpPr>
        <p:spPr>
          <a:xfrm>
            <a:off x="1890782" y="2391817"/>
            <a:ext cx="8410337" cy="345430"/>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Контрольная работа по дисциплине «Хранение и управление данными»</a:t>
            </a:r>
            <a:endParaRPr lang="en-US" sz="1800" dirty="0"/>
          </a:p>
        </p:txBody>
      </p:sp>
      <p:sp>
        <p:nvSpPr>
          <p:cNvPr id="6" name="Text 4"/>
          <p:cNvSpPr/>
          <p:nvPr>
            <p:ph type="title"/>
          </p:nvPr>
        </p:nvSpPr>
        <p:spPr>
          <a:xfrm>
            <a:off x="2898105" y="2889647"/>
            <a:ext cx="6395740" cy="584200"/>
          </a:xfrm>
          <a:prstGeom prst="rect">
            <a:avLst/>
          </a:prstGeom>
          <a:noFill/>
          <a:ln/>
        </p:spPr>
        <p:txBody>
          <a:bodyPr wrap="square" lIns="0" tIns="0" rIns="0" bIns="0" rtlCol="0" anchor="t">
            <a:normAutofit/>
          </a:bodyPr>
          <a:lstStyle/>
          <a:p>
            <a:pPr algn="ctr" indent="0" marL="0">
              <a:lnSpc>
                <a:spcPts val="4400"/>
              </a:lnSpc>
              <a:buNone/>
            </a:pPr>
            <a:r>
              <a:rPr lang="en-US" sz="4000" b="1" i="0" dirty="0">
                <a:solidFill>
                  <a:srgbClr val="111111"/>
                </a:solidFill>
                <a:latin typeface="Times New Roman" pitchFamily="18" charset="0"/>
                <a:ea typeface="Times New Roman" pitchFamily="18" charset="-122"/>
                <a:cs typeface="Times New Roman" pitchFamily="18" charset="-120"/>
              </a:rPr>
              <a:t>Облачные вычисления</a:t>
            </a:r>
            <a:endParaRPr lang="en-US" sz="4000" dirty="0"/>
          </a:p>
        </p:txBody>
      </p:sp>
      <p:sp>
        <p:nvSpPr>
          <p:cNvPr id="7" name="Text 5"/>
          <p:cNvSpPr/>
          <p:nvPr/>
        </p:nvSpPr>
        <p:spPr>
          <a:xfrm>
            <a:off x="637108" y="3626247"/>
            <a:ext cx="10917734" cy="388590"/>
          </a:xfrm>
          <a:prstGeom prst="rect">
            <a:avLst/>
          </a:prstGeom>
          <a:noFill/>
          <a:ln/>
        </p:spPr>
        <p:txBody>
          <a:bodyPr wrap="square" lIns="0" tIns="0" rIns="0" bIns="0" rtlCol="0" anchor="t">
            <a:normAutofit/>
          </a:bodyPr>
          <a:lstStyle/>
          <a:p>
            <a:pPr algn="ctr" indent="0" marL="0">
              <a:lnSpc>
                <a:spcPts val="2860"/>
              </a:lnSpc>
              <a:buNone/>
            </a:pPr>
            <a:r>
              <a:rPr lang="en-US" sz="2200" dirty="0">
                <a:solidFill>
                  <a:srgbClr val="111111"/>
                </a:solidFill>
                <a:latin typeface="Times New Roman" pitchFamily="18" charset="0"/>
                <a:ea typeface="Times New Roman" pitchFamily="18" charset="-122"/>
                <a:cs typeface="Times New Roman" pitchFamily="18" charset="-120"/>
              </a:rPr>
              <a:t>виды развертывания, инфраструктура и переход к облачной инфраструктуре</a:t>
            </a:r>
            <a:endParaRPr lang="en-US" sz="2200" dirty="0"/>
          </a:p>
        </p:txBody>
      </p:sp>
      <p:sp>
        <p:nvSpPr>
          <p:cNvPr id="8" name="Text 6"/>
          <p:cNvSpPr/>
          <p:nvPr/>
        </p:nvSpPr>
        <p:spPr>
          <a:xfrm>
            <a:off x="812800" y="4816673"/>
            <a:ext cx="4097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Выполнил: Р. Е. Власов, гр. 250541</a:t>
            </a:r>
            <a:endParaRPr lang="en-US" sz="1800" dirty="0"/>
          </a:p>
        </p:txBody>
      </p:sp>
      <p:sp>
        <p:nvSpPr>
          <p:cNvPr id="9" name="Text 7"/>
          <p:cNvSpPr/>
          <p:nvPr/>
        </p:nvSpPr>
        <p:spPr>
          <a:xfrm>
            <a:off x="7937163" y="4816673"/>
            <a:ext cx="3442037" cy="345430"/>
          </a:xfrm>
          <a:prstGeom prst="rect">
            <a:avLst/>
          </a:prstGeom>
          <a:noFill/>
          <a:ln/>
        </p:spPr>
        <p:txBody>
          <a:bodyPr wrap="square" lIns="0" tIns="0" rIns="0" bIns="0" rtlCol="0" anchor="t">
            <a:normAutofit/>
          </a:bodyPr>
          <a:lstStyle/>
          <a:p>
            <a:pPr algn="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Проверила: Д. В. Куприянова</a:t>
            </a:r>
            <a:endParaRPr lang="en-US" sz="1800" dirty="0"/>
          </a:p>
        </p:txBody>
      </p:sp>
      <p:sp>
        <p:nvSpPr>
          <p:cNvPr id="10" name="Text 8"/>
          <p:cNvSpPr/>
          <p:nvPr/>
        </p:nvSpPr>
        <p:spPr>
          <a:xfrm>
            <a:off x="5469434" y="5963940"/>
            <a:ext cx="1253133"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111111"/>
                </a:solidFill>
                <a:latin typeface="Times New Roman" pitchFamily="18" charset="0"/>
                <a:ea typeface="Times New Roman" pitchFamily="18" charset="-122"/>
                <a:cs typeface="Times New Roman" pitchFamily="18" charset="-120"/>
              </a:rPr>
              <a:t>Минск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11111"/>
                </a:solidFill>
                <a:latin typeface="Times New Roman" pitchFamily="18" charset="0"/>
                <a:ea typeface="Times New Roman" pitchFamily="18" charset="-122"/>
                <a:cs typeface="Times New Roman" pitchFamily="18" charset="-120"/>
              </a:rPr>
              <a:t>Понятие облачных вычислений</a:t>
            </a:r>
            <a:endParaRPr lang="en-US" sz="3000" dirty="0"/>
          </a:p>
        </p:txBody>
      </p:sp>
      <p:sp>
        <p:nvSpPr>
          <p:cNvPr id="3" name="Text 1"/>
          <p:cNvSpPr/>
          <p:nvPr/>
        </p:nvSpPr>
        <p:spPr>
          <a:xfrm>
            <a:off x="812800" y="140335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11111"/>
                </a:solidFill>
                <a:latin typeface="Times New Roman" pitchFamily="18" charset="0"/>
                <a:ea typeface="Times New Roman" pitchFamily="18" charset="-122"/>
                <a:cs typeface="Times New Roman" pitchFamily="18" charset="-120"/>
              </a:rPr>
              <a:t>Облачные вычисления – доступ через сеть к общим вычислительным ресурсам по запросу пользователя.</a:t>
            </a:r>
            <a:endParaRPr lang="en-US" sz="2000" dirty="0"/>
          </a:p>
        </p:txBody>
      </p:sp>
      <p:sp>
        <p:nvSpPr>
          <p:cNvPr id="4" name="Text 2"/>
          <p:cNvSpPr/>
          <p:nvPr/>
        </p:nvSpPr>
        <p:spPr>
          <a:xfrm>
            <a:off x="812800" y="23685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11111"/>
                </a:solidFill>
                <a:latin typeface="Times New Roman" pitchFamily="18" charset="0"/>
                <a:ea typeface="Times New Roman" pitchFamily="18" charset="-122"/>
                <a:cs typeface="Times New Roman" pitchFamily="18" charset="-120"/>
              </a:rPr>
              <a:t>Признаки облака по NIST:</a:t>
            </a:r>
            <a:endParaRPr lang="en-US" sz="2000" dirty="0"/>
          </a:p>
        </p:txBody>
      </p:sp>
      <p:sp>
        <p:nvSpPr>
          <p:cNvPr id="5" name="Text 3"/>
          <p:cNvSpPr/>
          <p:nvPr/>
        </p:nvSpPr>
        <p:spPr>
          <a:xfrm>
            <a:off x="812800" y="2800350"/>
            <a:ext cx="10875772" cy="1803400"/>
          </a:xfrm>
          <a:prstGeom prst="rect">
            <a:avLst/>
          </a:prstGeom>
          <a:noFill/>
          <a:ln/>
        </p:spPr>
        <p:txBody>
          <a:bodyPr wrap="square" lIns="0" tIns="0" rIns="0" bIns="0" rtlCol="0" anchor="t">
            <a:normAutofit/>
          </a:bodyPr>
          <a:lstStyle/>
          <a:p>
            <a:pPr algn="l" marL="254000" indent="-254000">
              <a:lnSpc>
                <a:spcPts val="2800"/>
              </a:lnSpc>
              <a:buSzPct val="100000"/>
              <a:buFontTx/>
              <a:buAutoNum type="arabicPeriod" startAt="1"/>
            </a:pPr>
            <a:r>
              <a:rPr lang="en-US" sz="2000" dirty="0">
                <a:solidFill>
                  <a:srgbClr val="111111"/>
                </a:solidFill>
                <a:latin typeface="Times New Roman" pitchFamily="18" charset="0"/>
                <a:ea typeface="Times New Roman" pitchFamily="18" charset="-122"/>
                <a:cs typeface="Times New Roman" pitchFamily="18" charset="-120"/>
              </a:rPr>
              <a:t>Самообслуживание: ресурсы заказывают через панель управления.</a:t>
            </a:r>
            <a:endParaRPr lang="en-US" sz="2000" dirty="0"/>
          </a:p>
          <a:p>
            <a:pPr algn="l" marL="254000" indent="-254000">
              <a:lnSpc>
                <a:spcPts val="2800"/>
              </a:lnSpc>
              <a:buSzPct val="100000"/>
              <a:buFontTx/>
              <a:buAutoNum type="arabicPeriod" startAt="1"/>
            </a:pPr>
            <a:r>
              <a:rPr lang="en-US" sz="2000" dirty="0">
                <a:solidFill>
                  <a:srgbClr val="111111"/>
                </a:solidFill>
                <a:latin typeface="Times New Roman" pitchFamily="18" charset="0"/>
                <a:ea typeface="Times New Roman" pitchFamily="18" charset="-122"/>
                <a:cs typeface="Times New Roman" pitchFamily="18" charset="-120"/>
              </a:rPr>
              <a:t>Доступ по сети: через интернет или внутреннюю сеть.</a:t>
            </a:r>
            <a:endParaRPr lang="en-US" sz="2000" dirty="0"/>
          </a:p>
          <a:p>
            <a:pPr algn="l" marL="254000" indent="-254000">
              <a:lnSpc>
                <a:spcPts val="2800"/>
              </a:lnSpc>
              <a:buSzPct val="100000"/>
              <a:buFontTx/>
              <a:buAutoNum type="arabicPeriod" startAt="1"/>
            </a:pPr>
            <a:r>
              <a:rPr lang="en-US" sz="2000" dirty="0">
                <a:solidFill>
                  <a:srgbClr val="111111"/>
                </a:solidFill>
                <a:latin typeface="Times New Roman" pitchFamily="18" charset="0"/>
                <a:ea typeface="Times New Roman" pitchFamily="18" charset="-122"/>
                <a:cs typeface="Times New Roman" pitchFamily="18" charset="-120"/>
              </a:rPr>
              <a:t>Объединение ресурсов: общие мощности делятся между клиентами.</a:t>
            </a:r>
            <a:endParaRPr lang="en-US" sz="2000" dirty="0"/>
          </a:p>
          <a:p>
            <a:pPr algn="l" marL="254000" indent="-254000">
              <a:lnSpc>
                <a:spcPts val="2800"/>
              </a:lnSpc>
              <a:buSzPct val="100000"/>
              <a:buFontTx/>
              <a:buAutoNum type="arabicPeriod" startAt="1"/>
            </a:pPr>
            <a:r>
              <a:rPr lang="en-US" sz="2000" dirty="0">
                <a:solidFill>
                  <a:srgbClr val="111111"/>
                </a:solidFill>
                <a:latin typeface="Times New Roman" pitchFamily="18" charset="0"/>
                <a:ea typeface="Times New Roman" pitchFamily="18" charset="-122"/>
                <a:cs typeface="Times New Roman" pitchFamily="18" charset="-120"/>
              </a:rPr>
              <a:t>Эластичность: ресурсы растут и уменьшаются вместе с нагрузкой.</a:t>
            </a:r>
            <a:endParaRPr lang="en-US" sz="2000" dirty="0"/>
          </a:p>
          <a:p>
            <a:pPr algn="l" marL="254000" indent="-254000">
              <a:lnSpc>
                <a:spcPts val="2800"/>
              </a:lnSpc>
              <a:buSzPct val="100000"/>
              <a:buFontTx/>
              <a:buAutoNum type="arabicPeriod" startAt="1"/>
            </a:pPr>
            <a:r>
              <a:rPr lang="en-US" sz="2000" dirty="0">
                <a:solidFill>
                  <a:srgbClr val="111111"/>
                </a:solidFill>
                <a:latin typeface="Times New Roman" pitchFamily="18" charset="0"/>
                <a:ea typeface="Times New Roman" pitchFamily="18" charset="-122"/>
                <a:cs typeface="Times New Roman" pitchFamily="18" charset="-120"/>
              </a:rPr>
              <a:t>Учёт потребления: использование измеряется, оплата по условиям услуги.</a:t>
            </a:r>
            <a:endParaRPr lang="en-US" sz="2000" dirty="0"/>
          </a:p>
        </p:txBody>
      </p:sp>
      <p:sp>
        <p:nvSpPr>
          <p:cNvPr id="6" name="Text 4"/>
          <p:cNvSpPr/>
          <p:nvPr/>
        </p:nvSpPr>
        <p:spPr>
          <a:xfrm>
            <a:off x="10693400" y="6202710"/>
            <a:ext cx="68580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55555"/>
                </a:solidFill>
                <a:latin typeface="Times New Roman" pitchFamily="18" charset="0"/>
                <a:ea typeface="Times New Roman" pitchFamily="18" charset="-122"/>
                <a:cs typeface="Times New Roman" pitchFamily="18"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11111"/>
                </a:solidFill>
                <a:latin typeface="Times New Roman" pitchFamily="18" charset="0"/>
                <a:ea typeface="Times New Roman" pitchFamily="18" charset="-122"/>
                <a:cs typeface="Times New Roman" pitchFamily="18" charset="-120"/>
              </a:rPr>
              <a:t>Сервисные модели</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6050"/>
          <a:ext cx="10553700" cy="2290713"/>
        </p:xfrm>
        <a:graphic>
          <a:graphicData uri="http://schemas.openxmlformats.org/drawingml/2006/table">
            <a:tbl>
              <a:tblPr/>
              <a:tblGrid>
                <a:gridCol w="1688592"/>
                <a:gridCol w="3799332"/>
                <a:gridCol w="5065776"/>
              </a:tblGrid>
              <a:tr h="492671">
                <a:tc>
                  <a:txBody>
                    <a:bodyPr/>
                    <a:lstStyle/>
                    <a:p>
                      <a:pPr indent="0" marL="0">
                        <a:lnSpc>
                          <a:spcPts val="2520"/>
                        </a:lnSpc>
                        <a:buNone/>
                      </a:pPr>
                      <a:r>
                        <a:rPr lang="en-US" sz="1800" b="1" dirty="0">
                          <a:solidFill>
                            <a:srgbClr val="111111"/>
                          </a:solidFill>
                          <a:latin typeface="Times New Roman" pitchFamily="18" charset="0"/>
                          <a:ea typeface="Times New Roman" pitchFamily="18" charset="-122"/>
                          <a:cs typeface="Times New Roman" pitchFamily="18" charset="-120"/>
                        </a:rPr>
                        <a:t>Модель</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indent="0" marL="0">
                        <a:lnSpc>
                          <a:spcPts val="2520"/>
                        </a:lnSpc>
                        <a:buNone/>
                      </a:pPr>
                      <a:r>
                        <a:rPr lang="en-US" sz="1800" b="1" dirty="0">
                          <a:solidFill>
                            <a:srgbClr val="111111"/>
                          </a:solidFill>
                          <a:latin typeface="Times New Roman" pitchFamily="18" charset="0"/>
                          <a:ea typeface="Times New Roman" pitchFamily="18" charset="-122"/>
                          <a:cs typeface="Times New Roman" pitchFamily="18" charset="-120"/>
                        </a:rPr>
                        <a:t>Что получает клиент</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indent="0" marL="0">
                        <a:lnSpc>
                          <a:spcPts val="2520"/>
                        </a:lnSpc>
                        <a:buNone/>
                      </a:pPr>
                      <a:r>
                        <a:rPr lang="en-US" sz="1800" b="1" dirty="0">
                          <a:solidFill>
                            <a:srgbClr val="111111"/>
                          </a:solidFill>
                          <a:latin typeface="Times New Roman" pitchFamily="18" charset="0"/>
                          <a:ea typeface="Times New Roman" pitchFamily="18" charset="-122"/>
                          <a:cs typeface="Times New Roman" pitchFamily="18" charset="-120"/>
                        </a:rPr>
                        <a:t>Что делает клиент</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IaaS</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Виртуальные серверы, диски и сеть</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Ставит ОС и приложения, управляет данными</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PaaS</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Среду для запуска приложения</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Разрабатывает приложение, управляет данными</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81270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SaaS</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Готовое приложение, например почту</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Работает с приложением, настраивает доступ</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812800" y="3960763"/>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11111"/>
                </a:solidFill>
                <a:latin typeface="Times New Roman" pitchFamily="18" charset="0"/>
                <a:ea typeface="Times New Roman" pitchFamily="18" charset="-122"/>
                <a:cs typeface="Times New Roman" pitchFamily="18" charset="-120"/>
              </a:rPr>
              <a:t>FaaS:</a:t>
            </a:r>
            <a:r>
              <a:rPr lang="en-US" sz="2000" dirty="0">
                <a:solidFill>
                  <a:srgbClr val="111111"/>
                </a:solidFill>
                <a:latin typeface="Times New Roman" pitchFamily="18" charset="0"/>
                <a:ea typeface="Times New Roman" pitchFamily="18" charset="-122"/>
                <a:cs typeface="Times New Roman" pitchFamily="18" charset="-120"/>
              </a:rPr>
              <a:t> клиент передаёт только код функции, остальное делает провайдер.</a:t>
            </a:r>
            <a:endParaRPr lang="en-US" sz="2000" dirty="0"/>
          </a:p>
        </p:txBody>
      </p:sp>
      <p:sp>
        <p:nvSpPr>
          <p:cNvPr id="5" name="Text 2"/>
          <p:cNvSpPr/>
          <p:nvPr/>
        </p:nvSpPr>
        <p:spPr>
          <a:xfrm>
            <a:off x="10693400" y="6202710"/>
            <a:ext cx="68580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55555"/>
                </a:solidFill>
                <a:latin typeface="Times New Roman" pitchFamily="18" charset="0"/>
                <a:ea typeface="Times New Roman" pitchFamily="18" charset="-122"/>
                <a:cs typeface="Times New Roman" pitchFamily="18"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11111"/>
                </a:solidFill>
                <a:latin typeface="Times New Roman" pitchFamily="18" charset="0"/>
                <a:ea typeface="Times New Roman" pitchFamily="18" charset="-122"/>
                <a:cs typeface="Times New Roman" pitchFamily="18" charset="-120"/>
              </a:rPr>
              <a:t>Виды развертывания облака</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6050"/>
          <a:ext cx="10553700" cy="2463354"/>
        </p:xfrm>
        <a:graphic>
          <a:graphicData uri="http://schemas.openxmlformats.org/drawingml/2006/table">
            <a:tbl>
              <a:tblPr/>
              <a:tblGrid>
                <a:gridCol w="2955036"/>
                <a:gridCol w="7598664"/>
              </a:tblGrid>
              <a:tr h="492671">
                <a:tc>
                  <a:txBody>
                    <a:bodyPr/>
                    <a:lstStyle/>
                    <a:p>
                      <a:pPr indent="0" marL="0">
                        <a:lnSpc>
                          <a:spcPts val="2520"/>
                        </a:lnSpc>
                        <a:buNone/>
                      </a:pPr>
                      <a:r>
                        <a:rPr lang="en-US" sz="1800" b="1" dirty="0">
                          <a:solidFill>
                            <a:srgbClr val="111111"/>
                          </a:solidFill>
                          <a:latin typeface="Times New Roman" pitchFamily="18" charset="0"/>
                          <a:ea typeface="Times New Roman" pitchFamily="18" charset="-122"/>
                          <a:cs typeface="Times New Roman" pitchFamily="18" charset="-120"/>
                        </a:rPr>
                        <a:t>Модель</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indent="0" marL="0">
                        <a:lnSpc>
                          <a:spcPts val="2520"/>
                        </a:lnSpc>
                        <a:buNone/>
                      </a:pPr>
                      <a:r>
                        <a:rPr lang="en-US" sz="1800" b="1" dirty="0">
                          <a:solidFill>
                            <a:srgbClr val="111111"/>
                          </a:solidFill>
                          <a:latin typeface="Times New Roman" pitchFamily="18" charset="0"/>
                          <a:ea typeface="Times New Roman" pitchFamily="18" charset="-122"/>
                          <a:cs typeface="Times New Roman" pitchFamily="18" charset="-120"/>
                        </a:rPr>
                        <a:t>Описание</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Публичное</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Ресурсы провайдера для многих клиентов</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Частное</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Для одной организации, в своём ЦОД или у провайдера</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Гибридное</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Частная и публичная части, критичные данные внутри</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Облако сообщества</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Общее облако нескольких организаций, например вузов</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812800" y="4133404"/>
            <a:ext cx="11379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11111"/>
                </a:solidFill>
                <a:latin typeface="Times New Roman" pitchFamily="18" charset="0"/>
                <a:ea typeface="Times New Roman" pitchFamily="18" charset="-122"/>
                <a:cs typeface="Times New Roman" pitchFamily="18" charset="-120"/>
              </a:rPr>
              <a:t>Мультиоблако</a:t>
            </a:r>
            <a:r>
              <a:rPr lang="en-US" sz="2000" dirty="0">
                <a:solidFill>
                  <a:srgbClr val="111111"/>
                </a:solidFill>
                <a:latin typeface="Times New Roman" pitchFamily="18" charset="0"/>
                <a:ea typeface="Times New Roman" pitchFamily="18" charset="-122"/>
                <a:cs typeface="Times New Roman" pitchFamily="18" charset="-120"/>
              </a:rPr>
              <a:t> – услуги нескольких провайдеров сразу. В классификацию NIST оно не входит.</a:t>
            </a:r>
            <a:endParaRPr lang="en-US" sz="2000" dirty="0"/>
          </a:p>
        </p:txBody>
      </p:sp>
      <p:sp>
        <p:nvSpPr>
          <p:cNvPr id="5" name="Text 2"/>
          <p:cNvSpPr/>
          <p:nvPr/>
        </p:nvSpPr>
        <p:spPr>
          <a:xfrm>
            <a:off x="10693400" y="6202710"/>
            <a:ext cx="68580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55555"/>
                </a:solidFill>
                <a:latin typeface="Times New Roman" pitchFamily="18" charset="0"/>
                <a:ea typeface="Times New Roman" pitchFamily="18" charset="-122"/>
                <a:cs typeface="Times New Roman" pitchFamily="18"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11111"/>
                </a:solidFill>
                <a:latin typeface="Times New Roman" pitchFamily="18" charset="0"/>
                <a:ea typeface="Times New Roman" pitchFamily="18" charset="-122"/>
                <a:cs typeface="Times New Roman" pitchFamily="18" charset="-120"/>
              </a:rPr>
              <a:t>Инфраструктура облака</a:t>
            </a:r>
            <a:endParaRPr lang="en-US" sz="3000" dirty="0"/>
          </a:p>
        </p:txBody>
      </p:sp>
      <p:sp>
        <p:nvSpPr>
          <p:cNvPr id="3" name="Text 1"/>
          <p:cNvSpPr/>
          <p:nvPr/>
        </p:nvSpPr>
        <p:spPr>
          <a:xfrm>
            <a:off x="812800" y="140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11111"/>
                </a:solidFill>
                <a:latin typeface="Times New Roman" pitchFamily="18" charset="0"/>
                <a:ea typeface="Times New Roman" pitchFamily="18" charset="-122"/>
                <a:cs typeface="Times New Roman" pitchFamily="18" charset="-120"/>
              </a:rPr>
              <a:t>Оборудование и программы, с помощью которых провайдер оказывает услуги:</a:t>
            </a:r>
            <a:endParaRPr lang="en-US" sz="2000" dirty="0"/>
          </a:p>
        </p:txBody>
      </p:sp>
      <p:sp>
        <p:nvSpPr>
          <p:cNvPr id="4" name="Text 2"/>
          <p:cNvSpPr/>
          <p:nvPr/>
        </p:nvSpPr>
        <p:spPr>
          <a:xfrm>
            <a:off x="854710" y="2012950"/>
            <a:ext cx="10833862" cy="1930400"/>
          </a:xfrm>
          <a:prstGeom prst="rect">
            <a:avLst/>
          </a:prstGeom>
          <a:noFill/>
          <a:ln/>
        </p:spPr>
        <p:txBody>
          <a:bodyPr wrap="square" lIns="0" tIns="0" rIns="0" bIns="0" rtlCol="0" anchor="t">
            <a:normAutofit/>
          </a:bodyPr>
          <a:lstStyle/>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ЦОД:</a:t>
            </a:r>
            <a:r>
              <a:rPr lang="en-US" sz="2000" dirty="0">
                <a:solidFill>
                  <a:srgbClr val="111111"/>
                </a:solidFill>
                <a:latin typeface="Times New Roman" pitchFamily="18" charset="0"/>
                <a:ea typeface="Times New Roman" pitchFamily="18" charset="-122"/>
                <a:cs typeface="Times New Roman" pitchFamily="18" charset="-120"/>
              </a:rPr>
              <a:t> серверы, системы хранения, сеть, питание и охлаждение.</a:t>
            </a:r>
            <a:endParaRPr lang="en-US" sz="2000" dirty="0"/>
          </a:p>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Виртуализация:</a:t>
            </a:r>
            <a:r>
              <a:rPr lang="en-US" sz="2000" dirty="0">
                <a:solidFill>
                  <a:srgbClr val="111111"/>
                </a:solidFill>
                <a:latin typeface="Times New Roman" pitchFamily="18" charset="0"/>
                <a:ea typeface="Times New Roman" pitchFamily="18" charset="-122"/>
                <a:cs typeface="Times New Roman" pitchFamily="18" charset="-120"/>
              </a:rPr>
              <a:t> виртуальные машины и контейнеры.</a:t>
            </a:r>
            <a:endParaRPr lang="en-US" sz="2000" dirty="0"/>
          </a:p>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Сеть:</a:t>
            </a:r>
            <a:r>
              <a:rPr lang="en-US" sz="2000" dirty="0">
                <a:solidFill>
                  <a:srgbClr val="111111"/>
                </a:solidFill>
                <a:latin typeface="Times New Roman" pitchFamily="18" charset="0"/>
                <a:ea typeface="Times New Roman" pitchFamily="18" charset="-122"/>
                <a:cs typeface="Times New Roman" pitchFamily="18" charset="-120"/>
              </a:rPr>
              <a:t> физические и виртуальные сети, правила доступа.</a:t>
            </a:r>
            <a:endParaRPr lang="en-US" sz="2000" dirty="0"/>
          </a:p>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Хранение:</a:t>
            </a:r>
            <a:r>
              <a:rPr lang="en-US" sz="2000" dirty="0">
                <a:solidFill>
                  <a:srgbClr val="111111"/>
                </a:solidFill>
                <a:latin typeface="Times New Roman" pitchFamily="18" charset="0"/>
                <a:ea typeface="Times New Roman" pitchFamily="18" charset="-122"/>
                <a:cs typeface="Times New Roman" pitchFamily="18" charset="-120"/>
              </a:rPr>
              <a:t> блочное, файловое и объектное.</a:t>
            </a:r>
            <a:endParaRPr lang="en-US" sz="2000" dirty="0"/>
          </a:p>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Управление:</a:t>
            </a:r>
            <a:r>
              <a:rPr lang="en-US" sz="2000" dirty="0">
                <a:solidFill>
                  <a:srgbClr val="111111"/>
                </a:solidFill>
                <a:latin typeface="Times New Roman" pitchFamily="18" charset="0"/>
                <a:ea typeface="Times New Roman" pitchFamily="18" charset="-122"/>
                <a:cs typeface="Times New Roman" pitchFamily="18" charset="-120"/>
              </a:rPr>
              <a:t> панель и API, права доступа, мониторинг.</a:t>
            </a:r>
            <a:endParaRPr lang="en-US" sz="2000" dirty="0"/>
          </a:p>
        </p:txBody>
      </p:sp>
      <p:sp>
        <p:nvSpPr>
          <p:cNvPr id="5" name="Text 3"/>
          <p:cNvSpPr/>
          <p:nvPr/>
        </p:nvSpPr>
        <p:spPr>
          <a:xfrm>
            <a:off x="10693400" y="6202710"/>
            <a:ext cx="68580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55555"/>
                </a:solidFill>
                <a:latin typeface="Times New Roman" pitchFamily="18" charset="0"/>
                <a:ea typeface="Times New Roman" pitchFamily="18" charset="-122"/>
                <a:cs typeface="Times New Roman" pitchFamily="18"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11111"/>
                </a:solidFill>
                <a:latin typeface="Times New Roman" pitchFamily="18" charset="0"/>
                <a:ea typeface="Times New Roman" pitchFamily="18" charset="-122"/>
                <a:cs typeface="Times New Roman" pitchFamily="18" charset="-120"/>
              </a:rPr>
              <a:t>Хранение и защита данных</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416050"/>
          <a:ext cx="10553700" cy="1970683"/>
        </p:xfrm>
        <a:graphic>
          <a:graphicData uri="http://schemas.openxmlformats.org/drawingml/2006/table">
            <a:tbl>
              <a:tblPr/>
              <a:tblGrid>
                <a:gridCol w="3166110"/>
                <a:gridCol w="7387590"/>
              </a:tblGrid>
              <a:tr h="492671">
                <a:tc>
                  <a:txBody>
                    <a:bodyPr/>
                    <a:lstStyle/>
                    <a:p>
                      <a:pPr indent="0" marL="0">
                        <a:lnSpc>
                          <a:spcPts val="2520"/>
                        </a:lnSpc>
                        <a:buNone/>
                      </a:pPr>
                      <a:r>
                        <a:rPr lang="en-US" sz="1800" b="1" dirty="0">
                          <a:solidFill>
                            <a:srgbClr val="111111"/>
                          </a:solidFill>
                          <a:latin typeface="Times New Roman" pitchFamily="18" charset="0"/>
                          <a:ea typeface="Times New Roman" pitchFamily="18" charset="-122"/>
                          <a:cs typeface="Times New Roman" pitchFamily="18" charset="-120"/>
                        </a:rPr>
                        <a:t>Хранилище</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indent="0" marL="0">
                        <a:lnSpc>
                          <a:spcPts val="2520"/>
                        </a:lnSpc>
                        <a:buNone/>
                      </a:pPr>
                      <a:r>
                        <a:rPr lang="en-US" sz="1800" b="1" dirty="0">
                          <a:solidFill>
                            <a:srgbClr val="111111"/>
                          </a:solidFill>
                          <a:latin typeface="Times New Roman" pitchFamily="18" charset="0"/>
                          <a:ea typeface="Times New Roman" pitchFamily="18" charset="-122"/>
                          <a:cs typeface="Times New Roman" pitchFamily="18" charset="-120"/>
                        </a:rPr>
                        <a:t>Применение</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Блочное</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Диск виртуальной машины</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Файловое</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Общие папки для сотрудников и приложений</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Объектное</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Архивы и файлы приложений</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4" name="Text 1"/>
          <p:cNvSpPr/>
          <p:nvPr/>
        </p:nvSpPr>
        <p:spPr>
          <a:xfrm>
            <a:off x="854710" y="3640733"/>
            <a:ext cx="10833862" cy="1168400"/>
          </a:xfrm>
          <a:prstGeom prst="rect">
            <a:avLst/>
          </a:prstGeom>
          <a:noFill/>
          <a:ln/>
        </p:spPr>
        <p:txBody>
          <a:bodyPr wrap="square" lIns="0" tIns="0" rIns="0" bIns="0" rtlCol="0" anchor="t">
            <a:normAutofit/>
          </a:bodyPr>
          <a:lstStyle/>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Резервирование</a:t>
            </a:r>
            <a:r>
              <a:rPr lang="en-US" sz="2000" dirty="0">
                <a:solidFill>
                  <a:srgbClr val="111111"/>
                </a:solidFill>
                <a:latin typeface="Times New Roman" pitchFamily="18" charset="0"/>
                <a:ea typeface="Times New Roman" pitchFamily="18" charset="-122"/>
                <a:cs typeface="Times New Roman" pitchFamily="18" charset="-120"/>
              </a:rPr>
              <a:t> сохраняет работу при отказе оборудования.</a:t>
            </a:r>
            <a:endParaRPr lang="en-US" sz="2000" dirty="0"/>
          </a:p>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Резервная копия</a:t>
            </a:r>
            <a:r>
              <a:rPr lang="en-US" sz="2000" dirty="0">
                <a:solidFill>
                  <a:srgbClr val="111111"/>
                </a:solidFill>
                <a:latin typeface="Times New Roman" pitchFamily="18" charset="0"/>
                <a:ea typeface="Times New Roman" pitchFamily="18" charset="-122"/>
                <a:cs typeface="Times New Roman" pitchFamily="18" charset="-120"/>
              </a:rPr>
              <a:t> возвращает данные после ошибочного удаления.</a:t>
            </a:r>
            <a:endParaRPr lang="en-US" sz="2000" dirty="0"/>
          </a:p>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Репликация</a:t>
            </a:r>
            <a:r>
              <a:rPr lang="en-US" sz="2000" dirty="0">
                <a:solidFill>
                  <a:srgbClr val="111111"/>
                </a:solidFill>
                <a:latin typeface="Times New Roman" pitchFamily="18" charset="0"/>
                <a:ea typeface="Times New Roman" pitchFamily="18" charset="-122"/>
                <a:cs typeface="Times New Roman" pitchFamily="18" charset="-120"/>
              </a:rPr>
              <a:t> копирует текущие данные вместе с ошибками.</a:t>
            </a:r>
            <a:endParaRPr lang="en-US" sz="2000" dirty="0"/>
          </a:p>
        </p:txBody>
      </p:sp>
      <p:sp>
        <p:nvSpPr>
          <p:cNvPr id="5" name="Text 2"/>
          <p:cNvSpPr/>
          <p:nvPr/>
        </p:nvSpPr>
        <p:spPr>
          <a:xfrm>
            <a:off x="10693400" y="6202710"/>
            <a:ext cx="68580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55555"/>
                </a:solidFill>
                <a:latin typeface="Times New Roman" pitchFamily="18" charset="0"/>
                <a:ea typeface="Times New Roman" pitchFamily="18" charset="-122"/>
                <a:cs typeface="Times New Roman" pitchFamily="18"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11111"/>
                </a:solidFill>
                <a:latin typeface="Times New Roman" pitchFamily="18" charset="0"/>
                <a:ea typeface="Times New Roman" pitchFamily="18" charset="-122"/>
                <a:cs typeface="Times New Roman" pitchFamily="18" charset="-120"/>
              </a:rPr>
              <a:t>Подготовка к переходу</a:t>
            </a:r>
            <a:endParaRPr lang="en-US" sz="3000" dirty="0"/>
          </a:p>
        </p:txBody>
      </p:sp>
      <p:sp>
        <p:nvSpPr>
          <p:cNvPr id="3" name="Text 1"/>
          <p:cNvSpPr/>
          <p:nvPr/>
        </p:nvSpPr>
        <p:spPr>
          <a:xfrm>
            <a:off x="812800" y="140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11111"/>
                </a:solidFill>
                <a:latin typeface="Times New Roman" pitchFamily="18" charset="0"/>
                <a:ea typeface="Times New Roman" pitchFamily="18" charset="-122"/>
                <a:cs typeface="Times New Roman" pitchFamily="18" charset="-120"/>
              </a:rPr>
              <a:t>Цель: новый сервис или работа с пиковыми нагрузками. Затем оценивают:</a:t>
            </a:r>
            <a:endParaRPr lang="en-US" sz="2000" dirty="0"/>
          </a:p>
        </p:txBody>
      </p:sp>
      <p:sp>
        <p:nvSpPr>
          <p:cNvPr id="4" name="Text 2"/>
          <p:cNvSpPr/>
          <p:nvPr/>
        </p:nvSpPr>
        <p:spPr>
          <a:xfrm>
            <a:off x="854710" y="2012950"/>
            <a:ext cx="10833862" cy="1549400"/>
          </a:xfrm>
          <a:prstGeom prst="rect">
            <a:avLst/>
          </a:prstGeom>
          <a:noFill/>
          <a:ln/>
        </p:spPr>
        <p:txBody>
          <a:bodyPr wrap="square" lIns="0" tIns="0" rIns="0" bIns="0" rtlCol="0" anchor="t">
            <a:normAutofit/>
          </a:bodyPr>
          <a:lstStyle/>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Приложения и данные:</a:t>
            </a:r>
            <a:r>
              <a:rPr lang="en-US" sz="2000" dirty="0">
                <a:solidFill>
                  <a:srgbClr val="111111"/>
                </a:solidFill>
                <a:latin typeface="Times New Roman" pitchFamily="18" charset="0"/>
                <a:ea typeface="Times New Roman" pitchFamily="18" charset="-122"/>
                <a:cs typeface="Times New Roman" pitchFamily="18" charset="-120"/>
              </a:rPr>
              <a:t> связи, совместимость, лицензии, допустимый простой.</a:t>
            </a:r>
            <a:endParaRPr lang="en-US" sz="2000" dirty="0"/>
          </a:p>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Расходы:</a:t>
            </a:r>
            <a:r>
              <a:rPr lang="en-US" sz="2000" dirty="0">
                <a:solidFill>
                  <a:srgbClr val="111111"/>
                </a:solidFill>
                <a:latin typeface="Times New Roman" pitchFamily="18" charset="0"/>
                <a:ea typeface="Times New Roman" pitchFamily="18" charset="-122"/>
                <a:cs typeface="Times New Roman" pitchFamily="18" charset="-120"/>
              </a:rPr>
              <a:t> своя инфраструктура против оплаты облака и переноса.</a:t>
            </a:r>
            <a:endParaRPr lang="en-US" sz="2000" dirty="0"/>
          </a:p>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Безопасность:</a:t>
            </a:r>
            <a:r>
              <a:rPr lang="en-US" sz="2000" dirty="0">
                <a:solidFill>
                  <a:srgbClr val="111111"/>
                </a:solidFill>
                <a:latin typeface="Times New Roman" pitchFamily="18" charset="0"/>
                <a:ea typeface="Times New Roman" pitchFamily="18" charset="-122"/>
                <a:cs typeface="Times New Roman" pitchFamily="18" charset="-120"/>
              </a:rPr>
              <a:t> провайдер защищает инфраструктуру, клиент – данные.</a:t>
            </a:r>
            <a:endParaRPr lang="en-US" sz="2000" dirty="0"/>
          </a:p>
          <a:p>
            <a:pPr algn="l" marL="212090" indent="-212090">
              <a:lnSpc>
                <a:spcPts val="3000"/>
              </a:lnSpc>
              <a:buSzPct val="100000"/>
              <a:buChar char="•"/>
            </a:pPr>
            <a:r>
              <a:rPr lang="en-US" sz="2000" b="1" dirty="0">
                <a:solidFill>
                  <a:srgbClr val="111111"/>
                </a:solidFill>
                <a:latin typeface="Times New Roman" pitchFamily="18" charset="0"/>
                <a:ea typeface="Times New Roman" pitchFamily="18" charset="-122"/>
                <a:cs typeface="Times New Roman" pitchFamily="18" charset="-120"/>
              </a:rPr>
              <a:t>Условия работы:</a:t>
            </a:r>
            <a:r>
              <a:rPr lang="en-US" sz="2000" dirty="0">
                <a:solidFill>
                  <a:srgbClr val="111111"/>
                </a:solidFill>
                <a:latin typeface="Times New Roman" pitchFamily="18" charset="0"/>
                <a:ea typeface="Times New Roman" pitchFamily="18" charset="-122"/>
                <a:cs typeface="Times New Roman" pitchFamily="18" charset="-120"/>
              </a:rPr>
              <a:t> где хранятся данные, как их выгрузить, что делать при сбое.</a:t>
            </a:r>
            <a:endParaRPr lang="en-US" sz="2000" dirty="0"/>
          </a:p>
        </p:txBody>
      </p:sp>
      <p:sp>
        <p:nvSpPr>
          <p:cNvPr id="5" name="Text 3"/>
          <p:cNvSpPr/>
          <p:nvPr/>
        </p:nvSpPr>
        <p:spPr>
          <a:xfrm>
            <a:off x="10693400" y="6202710"/>
            <a:ext cx="68580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55555"/>
                </a:solidFill>
                <a:latin typeface="Times New Roman" pitchFamily="18" charset="0"/>
                <a:ea typeface="Times New Roman" pitchFamily="18" charset="-122"/>
                <a:cs typeface="Times New Roman" pitchFamily="18"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11111"/>
                </a:solidFill>
                <a:latin typeface="Times New Roman" pitchFamily="18" charset="0"/>
                <a:ea typeface="Times New Roman" pitchFamily="18" charset="-122"/>
                <a:cs typeface="Times New Roman" pitchFamily="18" charset="-120"/>
              </a:rPr>
              <a:t>Этапы перехода</a:t>
            </a:r>
            <a:endParaRPr lang="en-US" sz="3000" dirty="0"/>
          </a:p>
        </p:txBody>
      </p:sp>
      <p:sp>
        <p:nvSpPr>
          <p:cNvPr id="3" name="Text 1"/>
          <p:cNvSpPr/>
          <p:nvPr/>
        </p:nvSpPr>
        <p:spPr>
          <a:xfrm>
            <a:off x="812800" y="1403350"/>
            <a:ext cx="10875772" cy="1930400"/>
          </a:xfrm>
          <a:prstGeom prst="rect">
            <a:avLst/>
          </a:prstGeom>
          <a:noFill/>
          <a:ln/>
        </p:spPr>
        <p:txBody>
          <a:bodyPr wrap="square" lIns="0" tIns="0" rIns="0" bIns="0" rtlCol="0" anchor="t">
            <a:normAutofit/>
          </a:bodyPr>
          <a:lstStyle/>
          <a:p>
            <a:pPr algn="l" marL="254000" indent="-254000">
              <a:lnSpc>
                <a:spcPts val="3000"/>
              </a:lnSpc>
              <a:buSzPct val="100000"/>
              <a:buFontTx/>
              <a:buAutoNum type="arabicPeriod" startAt="1"/>
            </a:pPr>
            <a:r>
              <a:rPr lang="en-US" sz="2000" dirty="0">
                <a:solidFill>
                  <a:srgbClr val="111111"/>
                </a:solidFill>
                <a:latin typeface="Times New Roman" pitchFamily="18" charset="0"/>
                <a:ea typeface="Times New Roman" pitchFamily="18" charset="-122"/>
                <a:cs typeface="Times New Roman" pitchFamily="18" charset="-120"/>
              </a:rPr>
              <a:t>Выбор модели и провайдера, расчёт ресурсов и расходов.</a:t>
            </a:r>
            <a:endParaRPr lang="en-US" sz="2000" dirty="0"/>
          </a:p>
          <a:p>
            <a:pPr algn="l" marL="254000" indent="-254000">
              <a:lnSpc>
                <a:spcPts val="3000"/>
              </a:lnSpc>
              <a:buSzPct val="100000"/>
              <a:buFontTx/>
              <a:buAutoNum type="arabicPeriod" startAt="1"/>
            </a:pPr>
            <a:r>
              <a:rPr lang="en-US" sz="2000" dirty="0">
                <a:solidFill>
                  <a:srgbClr val="111111"/>
                </a:solidFill>
                <a:latin typeface="Times New Roman" pitchFamily="18" charset="0"/>
                <a:ea typeface="Times New Roman" pitchFamily="18" charset="-122"/>
                <a:cs typeface="Times New Roman" pitchFamily="18" charset="-120"/>
              </a:rPr>
              <a:t>Настройка сети, учётных записей, прав и резервного копирования.</a:t>
            </a:r>
            <a:endParaRPr lang="en-US" sz="2000" dirty="0"/>
          </a:p>
          <a:p>
            <a:pPr algn="l" marL="254000" indent="-254000">
              <a:lnSpc>
                <a:spcPts val="3000"/>
              </a:lnSpc>
              <a:buSzPct val="100000"/>
              <a:buFontTx/>
              <a:buAutoNum type="arabicPeriod" startAt="1"/>
            </a:pPr>
            <a:r>
              <a:rPr lang="en-US" sz="2000" dirty="0">
                <a:solidFill>
                  <a:srgbClr val="111111"/>
                </a:solidFill>
                <a:latin typeface="Times New Roman" pitchFamily="18" charset="0"/>
                <a:ea typeface="Times New Roman" pitchFamily="18" charset="-122"/>
                <a:cs typeface="Times New Roman" pitchFamily="18" charset="-120"/>
              </a:rPr>
              <a:t>Перенос тестовой системы и проверка восстановления данных.</a:t>
            </a:r>
            <a:endParaRPr lang="en-US" sz="2000" dirty="0"/>
          </a:p>
          <a:p>
            <a:pPr algn="l" marL="254000" indent="-254000">
              <a:lnSpc>
                <a:spcPts val="3000"/>
              </a:lnSpc>
              <a:buSzPct val="100000"/>
              <a:buFontTx/>
              <a:buAutoNum type="arabicPeriod" startAt="1"/>
            </a:pPr>
            <a:r>
              <a:rPr lang="en-US" sz="2000" dirty="0">
                <a:solidFill>
                  <a:srgbClr val="111111"/>
                </a:solidFill>
                <a:latin typeface="Times New Roman" pitchFamily="18" charset="0"/>
                <a:ea typeface="Times New Roman" pitchFamily="18" charset="-122"/>
                <a:cs typeface="Times New Roman" pitchFamily="18" charset="-120"/>
              </a:rPr>
              <a:t>Перенос остальных систем с учётом их связей.</a:t>
            </a:r>
            <a:endParaRPr lang="en-US" sz="2000" dirty="0"/>
          </a:p>
          <a:p>
            <a:pPr algn="l" marL="254000" indent="-254000">
              <a:lnSpc>
                <a:spcPts val="3000"/>
              </a:lnSpc>
              <a:buSzPct val="100000"/>
              <a:buFontTx/>
              <a:buAutoNum type="arabicPeriod" startAt="1"/>
            </a:pPr>
            <a:r>
              <a:rPr lang="en-US" sz="2000" dirty="0">
                <a:solidFill>
                  <a:srgbClr val="111111"/>
                </a:solidFill>
                <a:latin typeface="Times New Roman" pitchFamily="18" charset="0"/>
                <a:ea typeface="Times New Roman" pitchFamily="18" charset="-122"/>
                <a:cs typeface="Times New Roman" pitchFamily="18" charset="-120"/>
              </a:rPr>
              <a:t>Проверка данных, контроль нагрузки, защиты и расходов.</a:t>
            </a:r>
            <a:endParaRPr lang="en-US" sz="2000" dirty="0"/>
          </a:p>
        </p:txBody>
      </p:sp>
      <p:sp>
        <p:nvSpPr>
          <p:cNvPr id="4" name="Text 2"/>
          <p:cNvSpPr/>
          <p:nvPr/>
        </p:nvSpPr>
        <p:spPr>
          <a:xfrm>
            <a:off x="812800" y="3562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11111"/>
                </a:solidFill>
                <a:latin typeface="Times New Roman" pitchFamily="18" charset="0"/>
                <a:ea typeface="Times New Roman" pitchFamily="18" charset="-122"/>
                <a:cs typeface="Times New Roman" pitchFamily="18" charset="-120"/>
              </a:rPr>
              <a:t>Важно:</a:t>
            </a:r>
            <a:r>
              <a:rPr lang="en-US" sz="2000" dirty="0">
                <a:solidFill>
                  <a:srgbClr val="111111"/>
                </a:solidFill>
                <a:latin typeface="Times New Roman" pitchFamily="18" charset="0"/>
                <a:ea typeface="Times New Roman" pitchFamily="18" charset="-122"/>
                <a:cs typeface="Times New Roman" pitchFamily="18" charset="-120"/>
              </a:rPr>
              <a:t> перед переключением готовят план возврата к прежней среде.</a:t>
            </a:r>
            <a:endParaRPr lang="en-US" sz="2000" dirty="0"/>
          </a:p>
        </p:txBody>
      </p:sp>
      <p:sp>
        <p:nvSpPr>
          <p:cNvPr id="5" name="Text 3"/>
          <p:cNvSpPr/>
          <p:nvPr/>
        </p:nvSpPr>
        <p:spPr>
          <a:xfrm>
            <a:off x="10693400" y="6202710"/>
            <a:ext cx="68580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55555"/>
                </a:solidFill>
                <a:latin typeface="Times New Roman" pitchFamily="18" charset="0"/>
                <a:ea typeface="Times New Roman" pitchFamily="18" charset="-122"/>
                <a:cs typeface="Times New Roman" pitchFamily="18"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11111"/>
                </a:solidFill>
                <a:latin typeface="Times New Roman" pitchFamily="18" charset="0"/>
                <a:ea typeface="Times New Roman" pitchFamily="18" charset="-122"/>
                <a:cs typeface="Times New Roman" pitchFamily="18" charset="-120"/>
              </a:rPr>
              <a:t>Пример: интернет-магазин</a:t>
            </a:r>
            <a:endParaRPr lang="en-US" sz="3000" dirty="0"/>
          </a:p>
        </p:txBody>
      </p:sp>
      <p:sp>
        <p:nvSpPr>
          <p:cNvPr id="3" name="Text 1"/>
          <p:cNvSpPr/>
          <p:nvPr/>
        </p:nvSpPr>
        <p:spPr>
          <a:xfrm>
            <a:off x="812800" y="140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11111"/>
                </a:solidFill>
                <a:latin typeface="Times New Roman" pitchFamily="18" charset="0"/>
                <a:ea typeface="Times New Roman" pitchFamily="18" charset="-122"/>
                <a:cs typeface="Times New Roman" pitchFamily="18" charset="-120"/>
              </a:rPr>
              <a:t>Задача: выдержать рост посещений во время распродаж.</a:t>
            </a:r>
            <a:endParaRPr lang="en-US" sz="2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25650"/>
          <a:ext cx="10553700" cy="1970683"/>
        </p:xfrm>
        <a:graphic>
          <a:graphicData uri="http://schemas.openxmlformats.org/drawingml/2006/table">
            <a:tbl>
              <a:tblPr/>
              <a:tblGrid>
                <a:gridCol w="2955036"/>
                <a:gridCol w="1688592"/>
                <a:gridCol w="5910072"/>
              </a:tblGrid>
              <a:tr h="492671">
                <a:tc>
                  <a:txBody>
                    <a:bodyPr/>
                    <a:lstStyle/>
                    <a:p>
                      <a:pPr indent="0" marL="0">
                        <a:lnSpc>
                          <a:spcPts val="2520"/>
                        </a:lnSpc>
                        <a:buNone/>
                      </a:pPr>
                      <a:r>
                        <a:rPr lang="en-US" sz="1800" b="1" dirty="0">
                          <a:solidFill>
                            <a:srgbClr val="111111"/>
                          </a:solidFill>
                          <a:latin typeface="Times New Roman" pitchFamily="18" charset="0"/>
                          <a:ea typeface="Times New Roman" pitchFamily="18" charset="-122"/>
                          <a:cs typeface="Times New Roman" pitchFamily="18" charset="-120"/>
                        </a:rPr>
                        <a:t>Система</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indent="0" marL="0">
                        <a:lnSpc>
                          <a:spcPts val="2520"/>
                        </a:lnSpc>
                        <a:buNone/>
                      </a:pPr>
                      <a:r>
                        <a:rPr lang="en-US" sz="1800" b="1" dirty="0">
                          <a:solidFill>
                            <a:srgbClr val="111111"/>
                          </a:solidFill>
                          <a:latin typeface="Times New Roman" pitchFamily="18" charset="0"/>
                          <a:ea typeface="Times New Roman" pitchFamily="18" charset="-122"/>
                          <a:cs typeface="Times New Roman" pitchFamily="18" charset="-120"/>
                        </a:rPr>
                        <a:t>Модель</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c>
                  <a:txBody>
                    <a:bodyPr/>
                    <a:lstStyle/>
                    <a:p>
                      <a:pPr indent="0" marL="0">
                        <a:lnSpc>
                          <a:spcPts val="2520"/>
                        </a:lnSpc>
                        <a:buNone/>
                      </a:pPr>
                      <a:r>
                        <a:rPr lang="en-US" sz="1800" b="1" dirty="0">
                          <a:solidFill>
                            <a:srgbClr val="111111"/>
                          </a:solidFill>
                          <a:latin typeface="Times New Roman" pitchFamily="18" charset="0"/>
                          <a:ea typeface="Times New Roman" pitchFamily="18" charset="-122"/>
                          <a:cs typeface="Times New Roman" pitchFamily="18" charset="-120"/>
                        </a:rPr>
                        <a:t>Обоснование</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BDBD"/>
                      </a:solidFill>
                      <a:prstDash val="solid"/>
                      <a:round/>
                      <a:headEnd type="none" w="med" len="med"/>
                      <a:tailEnd type="none" w="med" len="med"/>
                    </a:lnB>
                    <a:solidFill>
                      <a:srgbClr val="EDEDED"/>
                    </a:solidFill>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Сайт</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PaaS</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Ресурсы растут вместе с нагрузкой</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Почта</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SaaS</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Готовый сервис без обслуживания</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2671">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Учётная система</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IaaS</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520"/>
                        </a:lnSpc>
                        <a:buNone/>
                      </a:pPr>
                      <a:r>
                        <a:rPr lang="en-US" sz="1800" dirty="0">
                          <a:solidFill>
                            <a:srgbClr val="111111"/>
                          </a:solidFill>
                          <a:latin typeface="Times New Roman" pitchFamily="18" charset="0"/>
                          <a:ea typeface="Times New Roman" pitchFamily="18" charset="-122"/>
                          <a:cs typeface="Times New Roman" pitchFamily="18" charset="-120"/>
                        </a:rPr>
                        <a:t>Особые требования к ОС</a:t>
                      </a:r>
                      <a:endParaRPr lang="en-US" sz="1800" dirty="0">
                        <a:latin typeface="Times New Roman" charset="0"/>
                        <a:ea typeface="Times New Roman" charset="0"/>
                        <a:cs typeface="Times New Roman" charset="0"/>
                      </a:endParaRPr>
                    </a:p>
                  </a:txBody>
                  <a:tcPr marL="80010" marR="80010" marT="80010" marB="8001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250333"/>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11111"/>
                </a:solidFill>
                <a:latin typeface="Times New Roman" pitchFamily="18" charset="0"/>
                <a:ea typeface="Times New Roman" pitchFamily="18" charset="-122"/>
                <a:cs typeface="Times New Roman" pitchFamily="18" charset="-120"/>
              </a:rPr>
              <a:t>Перед переносом проверяют связь систем, доступ и восстановление из копии.</a:t>
            </a:r>
            <a:endParaRPr lang="en-US" sz="2000" dirty="0"/>
          </a:p>
        </p:txBody>
      </p:sp>
      <p:sp>
        <p:nvSpPr>
          <p:cNvPr id="6" name="Text 3"/>
          <p:cNvSpPr/>
          <p:nvPr/>
        </p:nvSpPr>
        <p:spPr>
          <a:xfrm>
            <a:off x="10693400" y="6202710"/>
            <a:ext cx="68580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55555"/>
                </a:solidFill>
                <a:latin typeface="Times New Roman" pitchFamily="18" charset="0"/>
                <a:ea typeface="Times New Roman" pitchFamily="18" charset="-122"/>
                <a:cs typeface="Times New Roman" pitchFamily="18"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11111"/>
                </a:solidFill>
                <a:latin typeface="Times New Roman" pitchFamily="18" charset="0"/>
                <a:ea typeface="Times New Roman" pitchFamily="18" charset="-122"/>
                <a:cs typeface="Times New Roman" pitchFamily="18" charset="-120"/>
              </a:rPr>
              <a:t>Заключение</a:t>
            </a:r>
            <a:endParaRPr lang="en-US" sz="3000" dirty="0"/>
          </a:p>
        </p:txBody>
      </p:sp>
      <p:sp>
        <p:nvSpPr>
          <p:cNvPr id="3" name="Text 1"/>
          <p:cNvSpPr/>
          <p:nvPr/>
        </p:nvSpPr>
        <p:spPr>
          <a:xfrm>
            <a:off x="854710" y="1403350"/>
            <a:ext cx="10833862" cy="1549400"/>
          </a:xfrm>
          <a:prstGeom prst="rect">
            <a:avLst/>
          </a:prstGeom>
          <a:noFill/>
          <a:ln/>
        </p:spPr>
        <p:txBody>
          <a:bodyPr wrap="square" lIns="0" tIns="0" rIns="0" bIns="0" rtlCol="0" anchor="t">
            <a:normAutofit/>
          </a:bodyPr>
          <a:lstStyle/>
          <a:p>
            <a:pPr algn="l" marL="212090" indent="-212090">
              <a:lnSpc>
                <a:spcPts val="3000"/>
              </a:lnSpc>
              <a:buSzPct val="100000"/>
              <a:buChar char="•"/>
            </a:pPr>
            <a:r>
              <a:rPr lang="en-US" sz="2000" dirty="0">
                <a:solidFill>
                  <a:srgbClr val="111111"/>
                </a:solidFill>
                <a:latin typeface="Times New Roman" pitchFamily="18" charset="0"/>
                <a:ea typeface="Times New Roman" pitchFamily="18" charset="-122"/>
                <a:cs typeface="Times New Roman" pitchFamily="18" charset="-120"/>
              </a:rPr>
              <a:t>Сервисную модель выбирают по объёму работ, который организация готова выполнять сама.</a:t>
            </a:r>
            <a:endParaRPr lang="en-US" sz="2000" dirty="0"/>
          </a:p>
          <a:p>
            <a:pPr algn="l" marL="212090" indent="-212090">
              <a:lnSpc>
                <a:spcPts val="3000"/>
              </a:lnSpc>
              <a:buSzPct val="100000"/>
              <a:buChar char="•"/>
            </a:pPr>
            <a:r>
              <a:rPr lang="en-US" sz="2000" dirty="0">
                <a:solidFill>
                  <a:srgbClr val="111111"/>
                </a:solidFill>
                <a:latin typeface="Times New Roman" pitchFamily="18" charset="0"/>
                <a:ea typeface="Times New Roman" pitchFamily="18" charset="-122"/>
                <a:cs typeface="Times New Roman" pitchFamily="18" charset="-120"/>
              </a:rPr>
              <a:t>Модель развертывания выбирают по требованиям к среде.</a:t>
            </a:r>
            <a:endParaRPr lang="en-US" sz="2000" dirty="0"/>
          </a:p>
          <a:p>
            <a:pPr algn="l" marL="212090" indent="-212090">
              <a:lnSpc>
                <a:spcPts val="3000"/>
              </a:lnSpc>
              <a:buSzPct val="100000"/>
              <a:buChar char="•"/>
            </a:pPr>
            <a:r>
              <a:rPr lang="en-US" sz="2000" dirty="0">
                <a:solidFill>
                  <a:srgbClr val="111111"/>
                </a:solidFill>
                <a:latin typeface="Times New Roman" pitchFamily="18" charset="0"/>
                <a:ea typeface="Times New Roman" pitchFamily="18" charset="-122"/>
                <a:cs typeface="Times New Roman" pitchFamily="18" charset="-120"/>
              </a:rPr>
              <a:t>Для перехода нужно проверить системы, рассчитать расходы, распределить ответственность и испытать перенос.</a:t>
            </a:r>
            <a:endParaRPr lang="en-US" sz="2000" dirty="0"/>
          </a:p>
        </p:txBody>
      </p:sp>
      <p:sp>
        <p:nvSpPr>
          <p:cNvPr id="4" name="Text 2"/>
          <p:cNvSpPr/>
          <p:nvPr/>
        </p:nvSpPr>
        <p:spPr>
          <a:xfrm>
            <a:off x="654304" y="3536950"/>
            <a:ext cx="10883392" cy="52323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111111"/>
                </a:solidFill>
                <a:latin typeface="Times New Roman" pitchFamily="18" charset="0"/>
                <a:ea typeface="Times New Roman" pitchFamily="18" charset="-122"/>
                <a:cs typeface="Times New Roman" pitchFamily="18" charset="-120"/>
              </a:rPr>
              <a:t>Спасибо за внимание!</a:t>
            </a:r>
            <a:endParaRPr lang="en-US" sz="2800" dirty="0"/>
          </a:p>
        </p:txBody>
      </p:sp>
      <p:sp>
        <p:nvSpPr>
          <p:cNvPr id="5" name="Text 3"/>
          <p:cNvSpPr/>
          <p:nvPr/>
        </p:nvSpPr>
        <p:spPr>
          <a:xfrm>
            <a:off x="10693400" y="6202710"/>
            <a:ext cx="685800"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555555"/>
                </a:solidFill>
                <a:latin typeface="Times New Roman" pitchFamily="18" charset="0"/>
                <a:ea typeface="Times New Roman" pitchFamily="18" charset="-122"/>
                <a:cs typeface="Times New Roman" pitchFamily="18" charset="-120"/>
              </a:rPr>
              <a:t>10</a:t>
            </a:r>
            <a:endParaRPr lang="en-US" sz="1400" dirty="0"/>
          </a:p>
        </p:txBody>
      </p:sp>
    </p:spTree>
  </p:cSld>
  <p:clrMapOvr>
    <a:masterClrMapping/>
  </p:clrMapOvr>
</p:sld>
</file>

<file path=ppt/theme/theme1.xml><?xml version="1.0" encoding="utf-8"?>
<a:theme xmlns:a="http://schemas.openxmlformats.org/drawingml/2006/main" name="Облачные вычисления. КР по ХиУД">
  <a:themeElements>
    <a:clrScheme name="Облачные вычисления. КР по ХиУД">
      <a:dk1>
        <a:srgbClr val="111111"/>
      </a:dk1>
      <a:lt1>
        <a:srgbClr val="FFFFFF"/>
      </a:lt1>
      <a:dk2>
        <a:srgbClr val="4D4D4D"/>
      </a:dk2>
      <a:lt2>
        <a:srgbClr val="E7E7E7"/>
      </a:lt2>
      <a:accent1>
        <a:srgbClr val="555555"/>
      </a:accent1>
      <a:accent2>
        <a:srgbClr val="9AA0A6"/>
      </a:accent2>
      <a:accent3>
        <a:srgbClr val="707070"/>
      </a:accent3>
      <a:accent4>
        <a:srgbClr val="949494"/>
      </a:accent4>
      <a:accent5>
        <a:srgbClr val="B8B8B8"/>
      </a:accent5>
      <a:accent6>
        <a:srgbClr val="CFCFCF"/>
      </a:accent6>
      <a:hlink>
        <a:srgbClr val="0563C1"/>
      </a:hlink>
      <a:folHlink>
        <a:srgbClr val="954F72"/>
      </a:folHlink>
    </a:clrScheme>
    <a:fontScheme name="Облачные вычисления. КР по ХиУД">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Облачные вычисления. КР по ХиУД</dc:title>
  <dc:subject/>
  <dc:creator/>
  <cp:lastModifiedBy/>
  <cp:revision>1</cp:revision>
  <dcterms:created xsi:type="dcterms:W3CDTF">2026-10-25T23:29:53Z</dcterms:created>
  <dcterms:modified xsi:type="dcterms:W3CDTF">2026-10-25T23:29:53Z</dcterms:modified>
</cp:coreProperties>
</file>