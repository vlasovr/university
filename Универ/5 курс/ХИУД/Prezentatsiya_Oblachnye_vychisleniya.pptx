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доклад с основной мыслью: облако — это не просто чужой сервер, а модель предоставления вычислительных ресурсов как управляемого сервиса.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Сказать: облако дает быстрый доступ к ресурсам и уменьшает ручную настройку инфраструктуры.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снизу вверх: IaaS дает виртуальную инфраструктуру, PaaS платформу, SaaS готовое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защите удобно не просто перечислить модели, а сказать по какому критерию они отличаются — по владельцу и доступности ресурсов.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схеме пройти слева направо: пользовательский доступ, сеть, балансировка, вычисления и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чем меньше состояние внутри приложения, тем проще масштабировать его горизонтально.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этапы: сначала аудит и выбор кандидатов, потом landing zone, пилот и только после этого массовая миграция.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защите сказать: провайдер отвечает за физическую и базовую платформенную часть, а клиент — за данные и настройки.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объяснить, почему облако не всегда дешевле автоматически: платишь за потребление и ошибки проектирования.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можно держать открытым во время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tech_digital_illustration_concept_a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6101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960120"/>
            <a:ext cx="73152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960120"/>
            <a:ext cx="530352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вычисления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86384" y="2670048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развертывания • инфраструктура • переход в облако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" y="3840480"/>
            <a:ext cx="21945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работа — презентация к докладу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 облака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становятся сервисом, а не отдельным железом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1234440"/>
            <a:ext cx="54864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234440"/>
            <a:ext cx="459028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= общий пул вычислительных ресурсов, доступный по сети и выделяемый по требованию.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806440" y="1097280"/>
            <a:ext cx="2377440" cy="91440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самообслуживание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32520" y="1097280"/>
            <a:ext cx="2377440" cy="91440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network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по сети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806440" y="2743200"/>
            <a:ext cx="2377440" cy="91440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pooling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пул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32520" y="2743200"/>
            <a:ext cx="2377440" cy="91440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потребления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1248" y="2971800"/>
            <a:ext cx="45262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создаются и освобождаются быстро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 масштабируется без покупки серверов заранее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считается по фактическому использованию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NIST SP 800-145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Сервисные модели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выше уровень модели, тем меньше администрирует клиент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1234440"/>
            <a:ext cx="4846320" cy="658368"/>
          </a:xfrm>
          <a:prstGeom prst="rect">
            <a:avLst/>
          </a:prstGeom>
          <a:solidFill>
            <a:srgbClr val="7C3AED">
              <a:alpha val="95000"/>
            </a:srgbClr>
          </a:solidFill>
          <a:ln>
            <a:solidFill>
              <a:srgbClr val="7C3AED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 </a:t>
            </a:r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приложение: почта, CRM, офисные сервисы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2002536"/>
            <a:ext cx="4846320" cy="658368"/>
          </a:xfrm>
          <a:prstGeom prst="rect">
            <a:avLst/>
          </a:prstGeom>
          <a:solidFill>
            <a:srgbClr val="2563EB">
              <a:alpha val="95000"/>
            </a:srgbClr>
          </a:solidFill>
          <a:ln>
            <a:solidFill>
              <a:srgbClr val="2563E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 </a:t>
            </a:r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платформа: runtime, БД, middleware, CI/CD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2770632"/>
            <a:ext cx="4846320" cy="658368"/>
          </a:xfrm>
          <a:prstGeom prst="rect">
            <a:avLst/>
          </a:prstGeom>
          <a:solidFill>
            <a:srgbClr val="38BDF8">
              <a:alpha val="95000"/>
            </a:srgbClr>
          </a:solidFill>
          <a:ln>
            <a:solidFill>
              <a:srgbClr val="38BDF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  </a:t>
            </a:r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виртуальные машины, сеть, диски, балансировщики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" y="3538728"/>
            <a:ext cx="4846320" cy="658368"/>
          </a:xfrm>
          <a:prstGeom prst="rect">
            <a:avLst/>
          </a:prstGeom>
          <a:solidFill>
            <a:srgbClr val="10B981">
              <a:alpha val="85000"/>
            </a:srgbClr>
          </a:solidFill>
          <a:ln>
            <a:solidFill>
              <a:srgbClr val="10B98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Физический слой  </a:t>
            </a:r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ЦОД, серверы, СХД, сеть, питание, охлаждение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4652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ОТВЕТСТВЕННОСТИ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0" y="1508760"/>
            <a:ext cx="4480560" cy="118872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Провайдер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железо + базовая платформа + доступность сервиса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0" y="2971800"/>
            <a:ext cx="4480560" cy="118872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+ права доступа + настройки + приложение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0" y="4617720"/>
            <a:ext cx="45720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мысль: выбор модели — это выбор баланса между контролем и скоростью разработки.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развертывания облака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публичное, частное, гибридное и сообщественное облако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80760" y="1234440"/>
            <a:ext cx="0" cy="4206240"/>
          </a:xfrm>
          <a:prstGeom prst="line">
            <a:avLst/>
          </a:prstGeom>
          <a:noFill/>
          <a:ln w="17780">
            <a:solidFill>
              <a:srgbClr val="3341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337560"/>
            <a:ext cx="10332720" cy="0"/>
          </a:xfrm>
          <a:prstGeom prst="line">
            <a:avLst/>
          </a:prstGeom>
          <a:noFill/>
          <a:ln w="17780">
            <a:solidFill>
              <a:srgbClr val="3341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общие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60120" y="5532120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выделенные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9204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организация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78240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организаций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3000" y="1417320"/>
            <a:ext cx="4160520" cy="123444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массовые сервисы провайдера, быстрый старт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29400" y="1417320"/>
            <a:ext cx="4160520" cy="1234440"/>
          </a:xfrm>
          <a:prstGeom prst="rect">
            <a:avLst/>
          </a:prstGeom>
          <a:solidFill>
            <a:srgbClr val="15233F"/>
          </a:solidFill>
          <a:ln w="12700">
            <a:solidFill>
              <a:srgbClr val="A78BFA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Сообщественное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облако для группы организаций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000" y="3840480"/>
            <a:ext cx="4160520" cy="123444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контроля, выше требования к сопровождению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29400" y="3840480"/>
            <a:ext cx="4160520" cy="123444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связка частной и публичной инфраструктуры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облачных вычислений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каких технических слоев собирается облако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58368" y="1234440"/>
            <a:ext cx="10881360" cy="3063240"/>
          </a:xfrm>
          <a:prstGeom prst="roundRect">
            <a:avLst>
              <a:gd name="adj" fmla="val 3582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loud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990" y="1325880"/>
            <a:ext cx="7090117" cy="2880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572000"/>
            <a:ext cx="102412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compute: виртуальные машины, контейнеры, serverless-функции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VPC/VNet, подсети, маршрутизация, балансировщики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storage/data: объектное хранилище, блоковые диски, управляемые БД</a:t>
            </a:r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layer: мониторинг, логирование, резервное копирование, IAM</a:t>
            </a:r>
            <a:endParaRPr lang="en-US" sz="1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 и отказоустойчивость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 распределяется, состояние выносится в отдельные сервисы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455164" y="21945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12564" y="19659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12564" y="24231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75704" y="17373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75704" y="265176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07424" y="32461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" y="1920240"/>
            <a:ext cx="1417320" cy="82296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971800" y="1874520"/>
            <a:ext cx="1417320" cy="91440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Балансировщик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нагрузки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74920" y="1463040"/>
            <a:ext cx="1417320" cy="77724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instance A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074920" y="2468880"/>
            <a:ext cx="1417320" cy="777240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instance B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406640" y="1463040"/>
            <a:ext cx="1417320" cy="77724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/ Queue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406640" y="2468880"/>
            <a:ext cx="1417320" cy="77724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366760" y="3977640"/>
            <a:ext cx="1691640" cy="822960"/>
          </a:xfrm>
          <a:prstGeom prst="rect">
            <a:avLst/>
          </a:prstGeom>
          <a:solidFill>
            <a:srgbClr val="15233F"/>
          </a:solidFill>
          <a:ln w="12700">
            <a:solidFill>
              <a:srgbClr val="A78BFA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репликация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68680" y="521208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3272" y="5212080"/>
            <a:ext cx="998524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лучше делать stateless: тогда можно добавлять экземпляры под нагрузку и удалять их при спаде.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облачной инфраструктуре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миграция — это управляемый процесс, а не перенос файлов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77240" y="1216152"/>
            <a:ext cx="10607040" cy="2423160"/>
          </a:xfrm>
          <a:prstGeom prst="roundRect">
            <a:avLst>
              <a:gd name="adj" fmla="val 4528"/>
            </a:avLst>
          </a:prstGeom>
          <a:solidFill>
            <a:srgbClr val="F8FAFC"/>
          </a:solidFill>
          <a:ln w="8890">
            <a:solidFill>
              <a:srgbClr val="CAD5E2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mnt/data/extracted_doc_images/cloud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4175" y="1307592"/>
            <a:ext cx="6893169" cy="2240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4041648"/>
            <a:ext cx="101498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оценить приложения, зависимости, данные и требования безопасности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landing zone: сети, политики доступа, мониторинг, резервирование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с пилота, измерить эффект и только потом масштабировать перенос</a:t>
            </a:r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миграции включить FinOps: контроль стоимости и прав доступа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управление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центральная тема — модель разделенной ответственности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1248" y="1243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RESPONSIBILITY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1627632"/>
            <a:ext cx="4754880" cy="1234440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Провайдер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ЦОД • физические серверы • базовая сеть • сервисная платформа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0528" y="1627632"/>
            <a:ext cx="4754880" cy="1234440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• учетные записи • роли • шифрование • настройки приложений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703320"/>
            <a:ext cx="48463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IAM: минимальные права и MFA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данных при хранении и передаче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журналы, мониторинг событий и аудит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копии и проверка восстановления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0" y="3703320"/>
            <a:ext cx="45720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политики и сегментация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секретов и ключей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требованиям законодательства</a:t>
            </a:r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реагирования на инциденты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Стоимость, надежность и риски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выигрыш появляется только при правильном управлении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1325880"/>
            <a:ext cx="3246120" cy="1170432"/>
          </a:xfrm>
          <a:prstGeom prst="rect">
            <a:avLst/>
          </a:prstGeom>
          <a:solidFill>
            <a:srgbClr val="15233F"/>
          </a:solidFill>
          <a:ln w="12700">
            <a:solidFill>
              <a:srgbClr val="10B981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измерять потребление и отключать лишнее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80560" y="1325880"/>
            <a:ext cx="3246120" cy="1170432"/>
          </a:xfrm>
          <a:prstGeom prst="rect">
            <a:avLst/>
          </a:prstGeom>
          <a:solidFill>
            <a:srgbClr val="15233F"/>
          </a:solidFill>
          <a:ln w="12700">
            <a:solidFill>
              <a:srgbClr val="38BDF8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SLA/SLO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проектировать отказоустойчивость, а не надеяться на провайдера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83880" y="1325880"/>
            <a:ext cx="3246120" cy="1170432"/>
          </a:xfrm>
          <a:prstGeom prst="rect">
            <a:avLst/>
          </a:prstGeom>
          <a:solidFill>
            <a:srgbClr val="15233F"/>
          </a:solidFill>
          <a:ln w="12700">
            <a:solidFill>
              <a:srgbClr val="F59E0B">
                <a:alpha val="5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учитывать переносимость сервисов и данных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063240"/>
            <a:ext cx="18288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0" y="3099816"/>
            <a:ext cx="4754880" cy="118872"/>
          </a:xfrm>
          <a:prstGeom prst="rect">
            <a:avLst/>
          </a:prstGeom>
          <a:solidFill>
            <a:srgbClr val="223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0" y="3099816"/>
            <a:ext cx="3899002" cy="1188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566160"/>
            <a:ext cx="18288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сеть/задержки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0" y="3602736"/>
            <a:ext cx="4754880" cy="118872"/>
          </a:xfrm>
          <a:prstGeom prst="rect">
            <a:avLst/>
          </a:prstGeom>
          <a:solidFill>
            <a:srgbClr val="223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3602736"/>
            <a:ext cx="2615184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069080"/>
            <a:ext cx="18288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0" y="4105656"/>
            <a:ext cx="4754880" cy="118872"/>
          </a:xfrm>
          <a:prstGeom prst="rect">
            <a:avLst/>
          </a:prstGeom>
          <a:solidFill>
            <a:srgbClr val="223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0" y="4105656"/>
            <a:ext cx="3328416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572000"/>
            <a:ext cx="18288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0" y="4608576"/>
            <a:ext cx="4754880" cy="118872"/>
          </a:xfrm>
          <a:prstGeom prst="rect">
            <a:avLst/>
          </a:prstGeom>
          <a:solidFill>
            <a:srgbClr val="223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4608576"/>
            <a:ext cx="2948026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5074920"/>
            <a:ext cx="18288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комплаенс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743200" y="5111496"/>
            <a:ext cx="4754880" cy="118872"/>
          </a:xfrm>
          <a:prstGeom prst="rect">
            <a:avLst/>
          </a:prstGeom>
          <a:solidFill>
            <a:srgbClr val="2231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0" y="5111496"/>
            <a:ext cx="3613709" cy="1188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01000" y="297180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2971800"/>
            <a:ext cx="299008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успеха миграции: система стала управляемее, надежнее и прозрачнее по затратам.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7782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для защиты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тезисов, которые закрывают всю тему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19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вычисления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65408" y="6519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51560" y="1325880"/>
            <a:ext cx="9784080" cy="3154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— модель предоставления ресурсов по требованию</a:t>
            </a:r>
            <a:pPr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IaaS/PaaS/SaaS отличаются уровнем ответственности клиента</a:t>
            </a:r>
            <a:pPr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public/private/hybrid/community отличаются способом владения и доступа</a:t>
            </a:r>
            <a:pPr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облака состоит из compute, network, storage, security и ops-слоя</a:t>
            </a:r>
            <a:pPr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в облако требует оценки, пилота, миграции, оптимизации и контроля рисков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051560" y="5074920"/>
            <a:ext cx="54864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16152" y="5074920"/>
            <a:ext cx="9528048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вывод: облачная инфраструктура дает гибкость, но требует архитектурного проектирования и дисциплины эксплуатации.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0352" y="6099048"/>
            <a:ext cx="10972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NIST SP 800-145: service/deployment models and essential characteristics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Облачные вычисления</dc:title>
  <dc:subject>Облачные вычисления</dc:subject>
  <dc:creator>OpenAI</dc:creator>
  <cp:lastModifiedBy>OpenAI</cp:lastModifiedBy>
  <cp:revision>1</cp:revision>
  <dcterms:created xsi:type="dcterms:W3CDTF">2026-06-10T11:40:29Z</dcterms:created>
  <dcterms:modified xsi:type="dcterms:W3CDTF">2026-06-10T11:40:29Z</dcterms:modified>
</cp:coreProperties>
</file>