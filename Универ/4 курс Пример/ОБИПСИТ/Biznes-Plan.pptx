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8" r:id="rId13"/>
    <p:sldId id="266" r:id="rId14"/>
    <p:sldId id="267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276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82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52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62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85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50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14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88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444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8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311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162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99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826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865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236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242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24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AC8EDE-14AA-48AA-B896-D5F50BB3079B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6E02308-DB02-4EB3-A556-4DA1780C4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61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C5D8661-B7AD-4109-9B48-A19B37BFA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8486" y="1566625"/>
            <a:ext cx="7695029" cy="2742541"/>
          </a:xfrm>
        </p:spPr>
        <p:txBody>
          <a:bodyPr/>
          <a:lstStyle/>
          <a:p>
            <a:r>
              <a:rPr lang="ru-RU" sz="4000" dirty="0"/>
              <a:t>ОРГАНИЗАЦИЯ ДЕТСКОГО РАЗВИВАЮЩЕГО ЦЕНТРА «</a:t>
            </a:r>
            <a:r>
              <a:rPr lang="ru-RU" sz="4000" dirty="0" err="1"/>
              <a:t>Happy</a:t>
            </a:r>
            <a:r>
              <a:rPr lang="ru-RU" sz="4000" dirty="0"/>
              <a:t> </a:t>
            </a:r>
            <a:r>
              <a:rPr lang="ru-RU" sz="4000" dirty="0" err="1"/>
              <a:t>Kids</a:t>
            </a:r>
            <a:r>
              <a:rPr lang="ru-RU" sz="4000" dirty="0"/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BB723AFD-32FA-4479-9612-A9E0E0DAD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8485" y="5050971"/>
            <a:ext cx="7695029" cy="788853"/>
          </a:xfrm>
        </p:spPr>
        <p:txBody>
          <a:bodyPr>
            <a:normAutofit/>
          </a:bodyPr>
          <a:lstStyle/>
          <a:p>
            <a:r>
              <a:rPr lang="ru-RU" sz="1800" i="1" dirty="0"/>
              <a:t>Выполнили: </a:t>
            </a:r>
            <a:r>
              <a:rPr lang="ru-RU" sz="1800" i="1" dirty="0" err="1"/>
              <a:t>Кукса</a:t>
            </a:r>
            <a:r>
              <a:rPr lang="ru-RU" sz="1800" i="1" dirty="0"/>
              <a:t> Анна, Седач Александра, </a:t>
            </a:r>
            <a:r>
              <a:rPr lang="ru-RU" sz="1800" i="1" dirty="0" err="1"/>
              <a:t>Погудо</a:t>
            </a:r>
            <a:r>
              <a:rPr lang="ru-RU" sz="1800" i="1" dirty="0"/>
              <a:t> Екатерина и </a:t>
            </a:r>
            <a:r>
              <a:rPr lang="ru-RU" sz="1800" i="1" dirty="0" err="1"/>
              <a:t>Сируть</a:t>
            </a:r>
            <a:r>
              <a:rPr lang="ru-RU" sz="1800" i="1" dirty="0"/>
              <a:t> Екатерина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1A2FA31-309C-4C03-84EE-191C582C1EE8}"/>
              </a:ext>
            </a:extLst>
          </p:cNvPr>
          <p:cNvSpPr txBox="1"/>
          <p:nvPr/>
        </p:nvSpPr>
        <p:spPr>
          <a:xfrm>
            <a:off x="2248485" y="2179503"/>
            <a:ext cx="6112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6295A28D-F4A4-450B-A76B-EE44819BE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71" y="-188686"/>
            <a:ext cx="2902857" cy="290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0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D69232C-BFC7-463F-98CB-D4163E43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253065"/>
            <a:ext cx="9601196" cy="1303867"/>
          </a:xfrm>
        </p:spPr>
        <p:txBody>
          <a:bodyPr/>
          <a:lstStyle/>
          <a:p>
            <a:pPr algn="l"/>
            <a:r>
              <a:rPr lang="ru-RU" dirty="0"/>
              <a:t>Главная идея: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69D0818-EACB-45B7-8813-B78A7752A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14729"/>
            <a:ext cx="9601196" cy="141015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Заключается в том, что не только дети смогут с пользой провести время с преподавателями, но и родители смогут получить необходимую психологическую поддержку, консультацию или помощь.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EC3F2828-1781-4530-AD3B-EC8F698BBA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3072" b="64540"/>
          <a:stretch/>
        </p:blipFill>
        <p:spPr>
          <a:xfrm>
            <a:off x="2490437" y="3657600"/>
            <a:ext cx="7211125" cy="254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91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D20BDC5-3880-42BF-BA6A-BA17E15ED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253065"/>
            <a:ext cx="9601196" cy="1303867"/>
          </a:xfrm>
        </p:spPr>
        <p:txBody>
          <a:bodyPr/>
          <a:lstStyle/>
          <a:p>
            <a:pPr algn="l"/>
            <a:r>
              <a:rPr lang="ru-RU" dirty="0"/>
              <a:t>Все виды услуг: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A4A91A3-1954-43EE-802C-81B359100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44997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занятия для детей в возрасте 2-3 года продолжительностью 1 час 20 мин; </a:t>
            </a:r>
          </a:p>
          <a:p>
            <a:r>
              <a:rPr lang="ru-RU" dirty="0"/>
              <a:t>занятия для детей в возрасте 3-4 года продолжительностью 1 час 30 мин; </a:t>
            </a:r>
          </a:p>
          <a:p>
            <a:r>
              <a:rPr lang="ru-RU" dirty="0"/>
              <a:t>занятия для детей в возрасте 5-7 лет продолжительностью 1 час 50 мин;</a:t>
            </a:r>
          </a:p>
          <a:p>
            <a:r>
              <a:rPr lang="ru-RU" dirty="0"/>
              <a:t>групповые/индивидуальные занятия для родителей с психологом продолжительностью 50 мин - 1 час 50 мин; </a:t>
            </a:r>
          </a:p>
          <a:p>
            <a:r>
              <a:rPr lang="ru-RU" dirty="0"/>
              <a:t>занятия с логопедом (50 мин); </a:t>
            </a:r>
          </a:p>
          <a:p>
            <a:r>
              <a:rPr lang="ru-RU" dirty="0"/>
              <a:t>занятия по английскому языку (1 час 50 мин); </a:t>
            </a:r>
          </a:p>
          <a:p>
            <a:r>
              <a:rPr lang="ru-RU" dirty="0"/>
              <a:t>занятие в театрально-танцевальном направлении (1 час 50 мин).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41BC2CFA-A526-4EFC-8608-D10B1ADEC3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56" r="72885" b="32136"/>
          <a:stretch/>
        </p:blipFill>
        <p:spPr>
          <a:xfrm>
            <a:off x="8784449" y="650594"/>
            <a:ext cx="2112149" cy="171277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0A1341F5-0140-436C-8BA3-C63ED80CBA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44" t="65772" b="4277"/>
          <a:stretch/>
        </p:blipFill>
        <p:spPr>
          <a:xfrm>
            <a:off x="5890952" y="650594"/>
            <a:ext cx="2520160" cy="171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58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99F19B2-148E-4D43-8483-A5A0FA65E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461628"/>
            <a:ext cx="9601196" cy="1303867"/>
          </a:xfrm>
        </p:spPr>
        <p:txBody>
          <a:bodyPr/>
          <a:lstStyle/>
          <a:p>
            <a:r>
              <a:rPr lang="ru-RU" dirty="0"/>
              <a:t>Планировка центра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3CF8CA2C-B2EE-4718-9AAA-A98D3E7A2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38" y="1765495"/>
            <a:ext cx="9916724" cy="4374791"/>
          </a:xfrm>
        </p:spPr>
      </p:pic>
    </p:spTree>
    <p:extLst>
      <p:ext uri="{BB962C8B-B14F-4D97-AF65-F5344CB8AC3E}">
        <p14:creationId xmlns:p14="http://schemas.microsoft.com/office/powerpoint/2010/main" val="2585528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E011091-7FB4-445F-8D3E-15DC8605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425" y="442677"/>
            <a:ext cx="9601196" cy="1303867"/>
          </a:xfrm>
        </p:spPr>
        <p:txBody>
          <a:bodyPr>
            <a:noAutofit/>
          </a:bodyPr>
          <a:lstStyle/>
          <a:p>
            <a:r>
              <a:rPr lang="ru-RU" sz="3200" dirty="0">
                <a:effectLst/>
                <a:latin typeface="Garamond (Заголовки)"/>
                <a:ea typeface="Times New Roman" panose="02020603050405020304" pitchFamily="18" charset="0"/>
              </a:rPr>
              <a:t>Размещение центра на карте и ближайшие конкуренты</a:t>
            </a:r>
            <a:endParaRPr lang="ru-RU" sz="3200" dirty="0">
              <a:latin typeface="Garamond (Заголовки)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8F592DF3-68E2-4426-A145-CB0101F0A75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14584" t="21665" r="18269" b="6784"/>
          <a:stretch/>
        </p:blipFill>
        <p:spPr bwMode="auto">
          <a:xfrm>
            <a:off x="2862248" y="1627048"/>
            <a:ext cx="6313626" cy="37824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Сердце 4">
            <a:extLst>
              <a:ext uri="{FF2B5EF4-FFF2-40B4-BE49-F238E27FC236}">
                <a16:creationId xmlns:a16="http://schemas.microsoft.com/office/drawing/2014/main" xmlns="" id="{0C55D22B-D8F3-4BED-93B4-731BEFF9386A}"/>
              </a:ext>
            </a:extLst>
          </p:cNvPr>
          <p:cNvSpPr/>
          <p:nvPr/>
        </p:nvSpPr>
        <p:spPr>
          <a:xfrm>
            <a:off x="5586828" y="3117850"/>
            <a:ext cx="209983" cy="178594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E44F7DB-3440-42A2-BB3E-6F57C280C98D}"/>
              </a:ext>
            </a:extLst>
          </p:cNvPr>
          <p:cNvSpPr txBox="1"/>
          <p:nvPr/>
        </p:nvSpPr>
        <p:spPr>
          <a:xfrm>
            <a:off x="1790255" y="5675086"/>
            <a:ext cx="8943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ул. </a:t>
            </a:r>
            <a:r>
              <a:rPr lang="ru-RU" dirty="0" err="1"/>
              <a:t>Лобанка</a:t>
            </a:r>
            <a:r>
              <a:rPr lang="ru-RU" dirty="0"/>
              <a:t>, 78 (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2.2 км до ст. м. Каменной горки, рядом с домом автобусная остановка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4683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CDABAF3-1AC2-4D3D-B9F1-4801AB23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50614"/>
            <a:ext cx="9601196" cy="1303867"/>
          </a:xfrm>
        </p:spPr>
        <p:txBody>
          <a:bodyPr>
            <a:normAutofit/>
          </a:bodyPr>
          <a:lstStyle/>
          <a:p>
            <a:r>
              <a:rPr lang="ru-RU" sz="4000" dirty="0">
                <a:effectLst/>
                <a:latin typeface="Garamond (Заголовки)"/>
                <a:ea typeface="Times New Roman" panose="02020603050405020304" pitchFamily="18" charset="0"/>
              </a:rPr>
              <a:t>Ценовая политика центра, р.</a:t>
            </a:r>
            <a:endParaRPr lang="ru-RU" sz="4000" dirty="0">
              <a:latin typeface="Garamond (Заголовки)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xmlns="" id="{1DBF2B64-345A-4A0E-AE50-8F6E313442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919146"/>
              </p:ext>
            </p:extLst>
          </p:nvPr>
        </p:nvGraphicFramePr>
        <p:xfrm>
          <a:off x="2039815" y="1266092"/>
          <a:ext cx="7877906" cy="49050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4566">
                  <a:extLst>
                    <a:ext uri="{9D8B030D-6E8A-4147-A177-3AD203B41FA5}">
                      <a16:colId xmlns:a16="http://schemas.microsoft.com/office/drawing/2014/main" xmlns="" val="1836311193"/>
                    </a:ext>
                  </a:extLst>
                </a:gridCol>
                <a:gridCol w="2389029">
                  <a:extLst>
                    <a:ext uri="{9D8B030D-6E8A-4147-A177-3AD203B41FA5}">
                      <a16:colId xmlns:a16="http://schemas.microsoft.com/office/drawing/2014/main" xmlns="" val="3664392019"/>
                    </a:ext>
                  </a:extLst>
                </a:gridCol>
                <a:gridCol w="2864311">
                  <a:extLst>
                    <a:ext uri="{9D8B030D-6E8A-4147-A177-3AD203B41FA5}">
                      <a16:colId xmlns:a16="http://schemas.microsoft.com/office/drawing/2014/main" xmlns="" val="2595474724"/>
                    </a:ext>
                  </a:extLst>
                </a:gridCol>
              </a:tblGrid>
              <a:tr h="177570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dirty="0">
                          <a:effectLst/>
                        </a:rPr>
                        <a:t>Услуги</a:t>
                      </a:r>
                      <a:endParaRPr lang="ru-RU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dirty="0">
                          <a:effectLst/>
                        </a:rPr>
                        <a:t>Продолжительность</a:t>
                      </a:r>
                      <a:endParaRPr lang="ru-RU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dirty="0">
                          <a:effectLst/>
                        </a:rPr>
                        <a:t>Стоимость 1 занятия, </a:t>
                      </a:r>
                      <a:r>
                        <a:rPr lang="ru-RU" sz="1600" u="none" strike="noStrike" dirty="0" err="1">
                          <a:effectLst/>
                        </a:rPr>
                        <a:t>б.р</a:t>
                      </a:r>
                      <a:r>
                        <a:rPr lang="ru-RU" sz="1600" u="none" strike="noStrike" dirty="0">
                          <a:effectLst/>
                        </a:rPr>
                        <a:t>.</a:t>
                      </a:r>
                      <a:endParaRPr lang="ru-RU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extLst>
                  <a:ext uri="{0D108BD9-81ED-4DB2-BD59-A6C34878D82A}">
                    <a16:rowId xmlns:a16="http://schemas.microsoft.com/office/drawing/2014/main" xmlns="" val="301734421"/>
                  </a:ext>
                </a:extLst>
              </a:tr>
              <a:tr h="330618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Общие занятия 2-3 года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 1 час 20 мин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11,00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1789495062"/>
                  </a:ext>
                </a:extLst>
              </a:tr>
              <a:tr h="330618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Общие занятия 3-4 года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1 час 30 мин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>
                          <a:effectLst/>
                        </a:rPr>
                        <a:t>13,00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3857821025"/>
                  </a:ext>
                </a:extLst>
              </a:tr>
              <a:tr h="177570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Общие занятия 5-7 лет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1 час 50 мин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>
                          <a:effectLst/>
                        </a:rPr>
                        <a:t>15,00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3429576336"/>
                  </a:ext>
                </a:extLst>
              </a:tr>
              <a:tr h="177570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Логопед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50 мин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>
                          <a:effectLst/>
                        </a:rPr>
                        <a:t>20,00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929935146"/>
                  </a:ext>
                </a:extLst>
              </a:tr>
              <a:tr h="330618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Английский для начинающих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50 мин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>
                          <a:effectLst/>
                        </a:rPr>
                        <a:t>10,00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227218314"/>
                  </a:ext>
                </a:extLst>
              </a:tr>
              <a:tr h="330618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Английский для более взрослых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1 час 20 мин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>
                          <a:effectLst/>
                        </a:rPr>
                        <a:t>12,00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3392798103"/>
                  </a:ext>
                </a:extLst>
              </a:tr>
              <a:tr h="330618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Театрально-танцевальные занятия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1 час 50 мин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14,00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3736599751"/>
                  </a:ext>
                </a:extLst>
              </a:tr>
              <a:tr h="177570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Консультация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>
                          <a:effectLst/>
                        </a:rPr>
                        <a:t>10 мин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Бесплатно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1319975389"/>
                  </a:ext>
                </a:extLst>
              </a:tr>
              <a:tr h="330618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Групповые занятия с психологом взрослые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>
                          <a:effectLst/>
                        </a:rPr>
                        <a:t>50 мин - 1 час 50 мин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13,00-23,00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497218783"/>
                  </a:ext>
                </a:extLst>
              </a:tr>
              <a:tr h="330618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Абонемент для группы 2-3 года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>
                          <a:effectLst/>
                        </a:rPr>
                        <a:t>4 занятия по 1 час 20 мин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44,00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3733074781"/>
                  </a:ext>
                </a:extLst>
              </a:tr>
              <a:tr h="330618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Абонемент для группы 3-4 года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>
                          <a:effectLst/>
                        </a:rPr>
                        <a:t>4 занятия по 1 час 30 мин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52,00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2456483537"/>
                  </a:ext>
                </a:extLst>
              </a:tr>
              <a:tr h="330618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Абонемент для группы 5-7 лет 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>
                          <a:effectLst/>
                        </a:rPr>
                        <a:t>4 занятия по 1 час 50 мин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60,00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457663142"/>
                  </a:ext>
                </a:extLst>
              </a:tr>
              <a:tr h="492318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Абонемент для группы английский для начинающих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4 занятия по 50 мин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40,00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4117542627"/>
                  </a:ext>
                </a:extLst>
              </a:tr>
              <a:tr h="492318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u="none" strike="noStrike" dirty="0">
                          <a:effectLst/>
                        </a:rPr>
                        <a:t>Абонемент для группы английский для более взрослых</a:t>
                      </a:r>
                      <a:endParaRPr lang="ru-RU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>
                          <a:effectLst/>
                        </a:rPr>
                        <a:t>4 занятия по 1 час 20 мин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u="none" strike="noStrike" dirty="0">
                          <a:effectLst/>
                        </a:rPr>
                        <a:t>48,00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198" marR="37198" marT="5166" marB="0" anchor="ctr"/>
                </a:tc>
                <a:extLst>
                  <a:ext uri="{0D108BD9-81ED-4DB2-BD59-A6C34878D82A}">
                    <a16:rowId xmlns:a16="http://schemas.microsoft.com/office/drawing/2014/main" xmlns="" val="1597460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9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Программа реализации услуг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Расчеты показывают, что в среднем один клиент оставляет в клубе 14р.  Прогноз динамики спроса на услуги детского клуба (1360 чел. в месяц)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261" y="3590544"/>
            <a:ext cx="3547630" cy="239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B2130B7-2310-499E-81BE-8ADC78EC06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735" y="3590544"/>
            <a:ext cx="2701899" cy="239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76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06745" y="1391522"/>
            <a:ext cx="9778510" cy="855904"/>
          </a:xfrm>
        </p:spPr>
        <p:txBody>
          <a:bodyPr>
            <a:normAutofit fontScale="90000"/>
          </a:bodyPr>
          <a:lstStyle/>
          <a:p>
            <a:r>
              <a:rPr lang="ru-RU" dirty="0"/>
              <a:t>Общая выручка за 1 год составляет 350 880 р.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86349DE-15ED-4322-8B30-44B4FF057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168" y="3238221"/>
            <a:ext cx="9073663" cy="198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3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5401" y="1519547"/>
            <a:ext cx="9601196" cy="689506"/>
          </a:xfrm>
        </p:spPr>
        <p:txBody>
          <a:bodyPr>
            <a:normAutofit fontScale="90000"/>
          </a:bodyPr>
          <a:lstStyle/>
          <a:p>
            <a:r>
              <a:rPr lang="ru-RU" dirty="0"/>
              <a:t>Общая сумма всех затрат – 157 280, 72 р.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xmlns="" id="{65B17407-BB27-4A67-BFC8-A437E3079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301" y="3027651"/>
            <a:ext cx="4467915" cy="2533193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538EF137-1621-4057-88EC-6E2E9C70DB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785" y="3129401"/>
            <a:ext cx="4321368" cy="24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9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5401" y="806642"/>
            <a:ext cx="9601196" cy="1049867"/>
          </a:xfrm>
        </p:spPr>
        <p:txBody>
          <a:bodyPr/>
          <a:lstStyle/>
          <a:p>
            <a:r>
              <a:rPr lang="ru-RU" dirty="0"/>
              <a:t>Организационная структура клуба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684" y="2575043"/>
            <a:ext cx="6427469" cy="287164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930" y="2612040"/>
            <a:ext cx="3121158" cy="283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51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F85BC99-AF57-424F-AF5A-78DD9439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027" y="1262054"/>
            <a:ext cx="10353821" cy="1303867"/>
          </a:xfrm>
        </p:spPr>
        <p:txBody>
          <a:bodyPr>
            <a:normAutofit/>
          </a:bodyPr>
          <a:lstStyle/>
          <a:p>
            <a:pPr algn="l"/>
            <a:r>
              <a:rPr lang="ru-RU" sz="2600" dirty="0">
                <a:effectLst/>
                <a:latin typeface="Garamond (Заголовки)"/>
                <a:ea typeface="Times New Roman" panose="02020603050405020304" pitchFamily="18" charset="0"/>
              </a:rPr>
              <a:t>Итоговая сумма </a:t>
            </a:r>
            <a:r>
              <a:rPr lang="ru-RU" sz="2600" dirty="0">
                <a:latin typeface="Garamond (Заголовки)"/>
                <a:ea typeface="Times New Roman" panose="02020603050405020304" pitchFamily="18" charset="0"/>
              </a:rPr>
              <a:t>о</a:t>
            </a:r>
            <a:r>
              <a:rPr lang="ru-RU" sz="2600" dirty="0">
                <a:effectLst/>
                <a:latin typeface="Garamond (Заголовки)"/>
                <a:ea typeface="Times New Roman" panose="02020603050405020304" pitchFamily="18" charset="0"/>
              </a:rPr>
              <a:t>бщих инвестиционных затрат составляет 23 335, 05 р.</a:t>
            </a:r>
            <a:endParaRPr lang="ru-RU" sz="2600" dirty="0">
              <a:latin typeface="Garamond (Заголовки)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xmlns="" id="{1768F210-BD7E-4845-9C54-46B1547176CF}"/>
              </a:ext>
            </a:extLst>
          </p:cNvPr>
          <p:cNvSpPr txBox="1">
            <a:spLocks/>
          </p:cNvSpPr>
          <p:nvPr/>
        </p:nvSpPr>
        <p:spPr>
          <a:xfrm>
            <a:off x="1218027" y="2200598"/>
            <a:ext cx="10353821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RU" sz="2600" dirty="0">
                <a:latin typeface="Garamond (Заголовки)"/>
                <a:ea typeface="Times New Roman" panose="02020603050405020304" pitchFamily="18" charset="0"/>
              </a:rPr>
              <a:t>Источники финансирования – собственные средства</a:t>
            </a:r>
            <a:endParaRPr lang="ru-RU" sz="2600" dirty="0">
              <a:latin typeface="Garamond (Заголовки)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6EE019E2-BF27-4AF7-91D0-AD6F55F08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208" y="3242831"/>
            <a:ext cx="2889740" cy="274202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C9445BED-38C0-451D-829F-D8F7B0DBB4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32" y="3428957"/>
            <a:ext cx="3277636" cy="2182766"/>
          </a:xfrm>
          <a:prstGeom prst="rect">
            <a:avLst/>
          </a:prstGeom>
        </p:spPr>
      </p:pic>
      <p:sp>
        <p:nvSpPr>
          <p:cNvPr id="17" name="Объект 16">
            <a:extLst>
              <a:ext uri="{FF2B5EF4-FFF2-40B4-BE49-F238E27FC236}">
                <a16:creationId xmlns:a16="http://schemas.microsoft.com/office/drawing/2014/main" xmlns="" id="{5C61B482-9426-406B-A654-B868B9A3F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6625217"/>
            <a:ext cx="9601196" cy="3318936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8498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9995" y="982132"/>
            <a:ext cx="10536700" cy="1303867"/>
          </a:xfrm>
        </p:spPr>
        <p:txBody>
          <a:bodyPr>
            <a:normAutofit/>
          </a:bodyPr>
          <a:lstStyle/>
          <a:p>
            <a:r>
              <a:rPr lang="ru-RU" sz="4000" dirty="0"/>
              <a:t>Чистая прибыль за 1 год – 101 207, 09 р.</a:t>
            </a:r>
            <a:endParaRPr lang="ru-RU" sz="48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3BF48306-570E-4994-BBB8-271F060BD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052" y="2405575"/>
            <a:ext cx="2749946" cy="3513176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875D0638-0B3F-49D5-81E5-4301D4CDEA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042" y="2954103"/>
            <a:ext cx="4334906" cy="252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35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Показатели эффективности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ЧДД будет равен 700 094,471 р</a:t>
            </a:r>
          </a:p>
          <a:p>
            <a:r>
              <a:rPr lang="ru-RU" dirty="0"/>
              <a:t>Срок окупаемости будет около 1 года</a:t>
            </a:r>
          </a:p>
          <a:p>
            <a:r>
              <a:rPr lang="ru-RU" dirty="0"/>
              <a:t>ВНД согласно расчетам будет 684 %</a:t>
            </a:r>
          </a:p>
          <a:p>
            <a:r>
              <a:rPr lang="ru-RU" dirty="0"/>
              <a:t>Индекс рентабельности инвестиций будет равен 13</a:t>
            </a:r>
          </a:p>
          <a:p>
            <a:r>
              <a:rPr lang="ru-RU" dirty="0"/>
              <a:t>Рентабельность активов равна 433%</a:t>
            </a:r>
          </a:p>
          <a:p>
            <a:r>
              <a:rPr lang="ru-RU" dirty="0"/>
              <a:t>Рентабельность оборота будет равна 28,8%</a:t>
            </a:r>
          </a:p>
          <a:p>
            <a:r>
              <a:rPr lang="ru-RU" dirty="0"/>
              <a:t>Рентабельность продукции (реализуемых услуг) будет равна 6,4%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7040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точки безубыточности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выхода на безубыточную работу клубу нужно обслуживать в год не менее 11235 чел. По плану 16 320 чел., т.е. на 45 % больше</a:t>
            </a:r>
          </a:p>
        </p:txBody>
      </p:sp>
      <p:pic>
        <p:nvPicPr>
          <p:cNvPr id="1026" name="Picture 2" descr="https://static.vecteezy.com/system/resources/previews/000/447/669/original/happy-children-learning-in-classroom-vecto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42" t="53804" r="-212" b="-127"/>
          <a:stretch/>
        </p:blipFill>
        <p:spPr bwMode="auto">
          <a:xfrm>
            <a:off x="3454400" y="3639463"/>
            <a:ext cx="4886960" cy="223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100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Юридический план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Данный вид деятельности лицензируется, необходимо получение лицензии на образовательную деятельность. </a:t>
            </a:r>
          </a:p>
          <a:p>
            <a:pPr marL="0" indent="0">
              <a:buNone/>
            </a:pPr>
            <a:r>
              <a:rPr lang="ru-RU" dirty="0"/>
              <a:t>Организационно-правовая форма клуба – общество с ограниченной ответственностью. Учредителями выступают А. </a:t>
            </a:r>
            <a:r>
              <a:rPr lang="ru-RU" dirty="0" err="1"/>
              <a:t>Седач</a:t>
            </a:r>
            <a:r>
              <a:rPr lang="ru-RU" dirty="0"/>
              <a:t>, Е. </a:t>
            </a:r>
            <a:r>
              <a:rPr lang="ru-RU" dirty="0" err="1"/>
              <a:t>Сируть</a:t>
            </a:r>
            <a:r>
              <a:rPr lang="ru-RU" dirty="0"/>
              <a:t>, А. </a:t>
            </a:r>
            <a:r>
              <a:rPr lang="ru-RU" dirty="0" err="1"/>
              <a:t>Кукса</a:t>
            </a:r>
            <a:r>
              <a:rPr lang="ru-RU" dirty="0"/>
              <a:t>, Е. </a:t>
            </a:r>
            <a:r>
              <a:rPr lang="ru-RU" dirty="0" err="1"/>
              <a:t>Погудо</a:t>
            </a:r>
            <a:r>
              <a:rPr lang="ru-RU" dirty="0"/>
              <a:t>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Размер уставного фонда составляет 23 335,05 р. Доля каждого участника составляет одну и ту же величину – 5 833,76 р.</a:t>
            </a:r>
          </a:p>
        </p:txBody>
      </p:sp>
    </p:spTree>
    <p:extLst>
      <p:ext uri="{BB962C8B-B14F-4D97-AF65-F5344CB8AC3E}">
        <p14:creationId xmlns:p14="http://schemas.microsoft.com/office/powerpoint/2010/main" val="65322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19202" y="1332652"/>
            <a:ext cx="9601196" cy="1303867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2050" name="Picture 2" descr="https://static.vecteezy.com/system/resources/previews/000/447/669/original/happy-children-learning-in-classroom-vecto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20" b="48696"/>
          <a:stretch/>
        </p:blipFill>
        <p:spPr bwMode="auto">
          <a:xfrm>
            <a:off x="2636520" y="2484119"/>
            <a:ext cx="7206211" cy="3730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729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246</TotalTime>
  <Words>547</Words>
  <Application>Microsoft Office PowerPoint</Application>
  <PresentationFormat>Произвольный</PresentationFormat>
  <Paragraphs>84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Натуральные материалы</vt:lpstr>
      <vt:lpstr>ОРГАНИЗАЦИЯ ДЕТСКОГО РАЗВИВАЮЩЕГО ЦЕНТРА «Happy Kids»</vt:lpstr>
      <vt:lpstr>Главная идея:</vt:lpstr>
      <vt:lpstr>Все виды услуг:</vt:lpstr>
      <vt:lpstr>Планировка центра</vt:lpstr>
      <vt:lpstr>Размещение центра на карте и ближайшие конкуренты</vt:lpstr>
      <vt:lpstr>Ценовая политика центра, р.</vt:lpstr>
      <vt:lpstr>Программа реализации услуг</vt:lpstr>
      <vt:lpstr>Общая выручка за 1 год составляет 350 880 р.</vt:lpstr>
      <vt:lpstr>Общая сумма всех затрат – 157 280, 72 р.</vt:lpstr>
      <vt:lpstr>Организационная структура клуба</vt:lpstr>
      <vt:lpstr>Итоговая сумма общих инвестиционных затрат составляет 23 335, 05 р.</vt:lpstr>
      <vt:lpstr>Чистая прибыль за 1 год – 101 207, 09 р.</vt:lpstr>
      <vt:lpstr>Показатели эффективности проекта</vt:lpstr>
      <vt:lpstr>Анализ точки безубыточности</vt:lpstr>
      <vt:lpstr>Юридический план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ДЕТСКОГО РАЗВИВАЮЩЕГО ЦЕНТРА «Happy Kids»</dc:title>
  <dc:creator>Александра Седач</dc:creator>
  <cp:lastModifiedBy>Горностай Л.Ч.</cp:lastModifiedBy>
  <cp:revision>15</cp:revision>
  <dcterms:created xsi:type="dcterms:W3CDTF">2020-11-24T08:14:01Z</dcterms:created>
  <dcterms:modified xsi:type="dcterms:W3CDTF">2021-09-27T07:42:04Z</dcterms:modified>
</cp:coreProperties>
</file>