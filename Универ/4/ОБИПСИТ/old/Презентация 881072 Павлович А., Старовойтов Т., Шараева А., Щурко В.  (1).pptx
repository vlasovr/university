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0" r:id="rId3"/>
    <p:sldId id="261" r:id="rId4"/>
    <p:sldId id="270" r:id="rId5"/>
    <p:sldId id="262" r:id="rId6"/>
    <p:sldId id="265" r:id="rId7"/>
    <p:sldId id="263" r:id="rId8"/>
    <p:sldId id="269" r:id="rId9"/>
    <p:sldId id="259" r:id="rId10"/>
    <p:sldId id="267" r:id="rId11"/>
    <p:sldId id="268" r:id="rId12"/>
    <p:sldId id="264" r:id="rId13"/>
    <p:sldId id="266" r:id="rId14"/>
    <p:sldId id="25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FFFFF"/>
    <a:srgbClr val="000000"/>
    <a:srgbClr val="5B9BD5"/>
    <a:srgbClr val="A2B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27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8959446403555383"/>
          <c:y val="0.18784477444125378"/>
          <c:w val="0.63253176175064008"/>
          <c:h val="0.58747977375771665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Численность работников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smtClean="0"/>
                      <a:t>79</a:t>
                    </a:r>
                    <a:r>
                      <a:rPr lang="en-US" baseline="0" dirty="0" smtClean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Лист1!$A$2:$A$3</c:f>
              <c:strCache>
                <c:ptCount val="2"/>
                <c:pt idx="0">
                  <c:v>Руководители</c:v>
                </c:pt>
                <c:pt idx="1">
                  <c:v>Работники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21.2</c:v>
                </c:pt>
                <c:pt idx="1">
                  <c:v>78.8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1056784696391481"/>
          <c:y val="0.87011308220825667"/>
          <c:w val="0.44962665346446401"/>
          <c:h val="4.4699505676014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8866-EE25-4BF7-A5E9-9851569B316D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1644-8190-4E8E-A286-331DFB06F5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04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31644-8190-4E8E-A286-331DFB06F58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68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05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08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38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74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59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2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12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67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43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99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893BA-CACE-472D-9DCC-B8B479F18AF8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7FE5-82A3-42D9-9CDE-034D24C92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62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3" b="9569"/>
          <a:stretch/>
        </p:blipFill>
        <p:spPr>
          <a:xfrm>
            <a:off x="0" y="-29501"/>
            <a:ext cx="12192000" cy="688750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041400" y="-29501"/>
            <a:ext cx="6350000" cy="688750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6200" y="255813"/>
            <a:ext cx="5727700" cy="4989287"/>
          </a:xfrm>
        </p:spPr>
        <p:txBody>
          <a:bodyPr>
            <a:normAutofit/>
          </a:bodyPr>
          <a:lstStyle/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БИЗНЕС-ПЛАН 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инвестиционного проекта</a:t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КУП 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«Экорес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44600" y="6182276"/>
            <a:ext cx="5930900" cy="553720"/>
          </a:xfrm>
        </p:spPr>
        <p:txBody>
          <a:bodyPr>
            <a:normAutofit fontScale="625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ru-RU" b="1" dirty="0" smtClean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Группа 881072</a:t>
            </a:r>
          </a:p>
          <a:p>
            <a:r>
              <a:rPr lang="ru-RU" b="1" dirty="0" smtClean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Авторы: Павлович А., Старовойтов Т., Шараева А., </a:t>
            </a:r>
            <a:r>
              <a:rPr lang="ru-RU" b="1" dirty="0" err="1" smtClean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Щурко</a:t>
            </a:r>
            <a:r>
              <a:rPr lang="ru-RU" b="1" dirty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b="1" dirty="0" smtClean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В. </a:t>
            </a:r>
            <a:endParaRPr lang="ru-RU" b="1" dirty="0">
              <a:ln/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67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07504" y="2186920"/>
            <a:ext cx="5593156" cy="221447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Leelawadee UI" panose="020B0502040204020203" pitchFamily="34" charset="-34"/>
              </a:rPr>
              <a:t>Коммунальное унитарное предприятие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Leelawadee UI" panose="020B0502040204020203" pitchFamily="34" charset="-34"/>
              </a:rPr>
              <a:t>по обращению с отходами </a:t>
            </a:r>
            <a:r>
              <a:rPr lang="ru-RU" sz="3200" b="1" dirty="0" smtClean="0">
                <a:latin typeface="Times New Roman" panose="02020603050405020304" pitchFamily="18" charset="0"/>
                <a:cs typeface="Leelawadee UI" panose="020B0502040204020203" pitchFamily="34" charset="-34"/>
              </a:rPr>
              <a:t>«</a:t>
            </a:r>
            <a:r>
              <a:rPr lang="ru-RU" sz="4000" b="1" dirty="0" smtClean="0">
                <a:latin typeface="Times New Roman" panose="02020603050405020304" pitchFamily="18" charset="0"/>
                <a:cs typeface="Leelawadee UI" panose="020B0502040204020203" pitchFamily="34" charset="-34"/>
              </a:rPr>
              <a:t>Экорес</a:t>
            </a:r>
            <a:r>
              <a:rPr lang="ru-RU" sz="3200" b="1" dirty="0" smtClean="0">
                <a:latin typeface="Times New Roman" panose="02020603050405020304" pitchFamily="18" charset="0"/>
                <a:cs typeface="Leelawadee UI" panose="020B0502040204020203" pitchFamily="34" charset="-34"/>
              </a:rPr>
              <a:t>» 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4" r="50587" b="1691"/>
          <a:stretch/>
        </p:blipFill>
        <p:spPr>
          <a:xfrm>
            <a:off x="7213600" y="-44449"/>
            <a:ext cx="5092700" cy="6902449"/>
          </a:xfrm>
          <a:prstGeom prst="rect">
            <a:avLst/>
          </a:prstGeom>
        </p:spPr>
      </p:pic>
      <p:cxnSp>
        <p:nvCxnSpPr>
          <p:cNvPr id="17" name="Прямая соединительная линия 16"/>
          <p:cNvCxnSpPr/>
          <p:nvPr/>
        </p:nvCxnSpPr>
        <p:spPr>
          <a:xfrm>
            <a:off x="1307505" y="4794249"/>
            <a:ext cx="5593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975446" y="3670895"/>
            <a:ext cx="4945458" cy="994566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 предприятии</a:t>
            </a:r>
            <a:endParaRPr lang="ru-RU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Объект 2"/>
          <p:cNvSpPr txBox="1">
            <a:spLocks/>
          </p:cNvSpPr>
          <p:nvPr/>
        </p:nvSpPr>
        <p:spPr>
          <a:xfrm>
            <a:off x="1307505" y="5174267"/>
            <a:ext cx="5593156" cy="126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организация, главной целью которой является решение экологических, санитарных проблем.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1307504" y="1771649"/>
            <a:ext cx="5593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/>
          <p:cNvSpPr/>
          <p:nvPr/>
        </p:nvSpPr>
        <p:spPr>
          <a:xfrm>
            <a:off x="7213600" y="-44449"/>
            <a:ext cx="5092700" cy="6902449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61" r="16330"/>
          <a:stretch/>
        </p:blipFill>
        <p:spPr>
          <a:xfrm>
            <a:off x="3348430" y="177229"/>
            <a:ext cx="1511301" cy="15025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6069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146968" y="4110415"/>
            <a:ext cx="3657600" cy="1325563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54164" y="871963"/>
            <a:ext cx="5410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0200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размещения офиса компании планируется рассмотреть помещение под офис в г. Минск по адресу Грибоедова ул., 1, Центральный район.</a:t>
            </a:r>
          </a:p>
          <a:p>
            <a:pPr indent="330200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Цена помещения 30.1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руб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м² в мес.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руб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то время, когда общая площадь помещения составляет 65.6 м²</a:t>
            </a:r>
          </a:p>
          <a:p>
            <a:pPr indent="330200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Данное помещение имеет очень удачное расположение от станции метро «Молодежная», а также находиться недалеко от остановки общественного транспорта. Плюсом является удобный подъезд и стоянка.</a:t>
            </a:r>
          </a:p>
          <a:p>
            <a:pPr indent="330200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офис заведены все современные коммуникации: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приточно-вытяжная вентиляция;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кабель; 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сеть;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телефонные сети;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кондиционирование.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4" r="8854"/>
          <a:stretch/>
        </p:blipFill>
        <p:spPr>
          <a:xfrm rot="16200000">
            <a:off x="6520615" y="1211188"/>
            <a:ext cx="6572254" cy="4399865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1554164" y="495300"/>
            <a:ext cx="54102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554164" y="6305550"/>
            <a:ext cx="5227636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20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24" y="228601"/>
            <a:ext cx="7154211" cy="565849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146968" y="4110415"/>
            <a:ext cx="3657600" cy="1325563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258135" y="777953"/>
            <a:ext cx="36725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размещения предприятия по производству и склада планируется рассмотреть помещение в г. Минск по адресу Фабрициуса ул., д. 8.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Цена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помещения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 USD/м²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месяце, в то время когда общая площадь составляет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2500 м².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Данное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помещение очень хорошо подходит для данных целей из-за своей большой площади, удобных путей подъезда и оборудована всеми необходимыми коммуникациями для размещения производства по переработке отходов и размещения склада для временного хранения продукции.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8258135" y="646448"/>
            <a:ext cx="367252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8290780" y="5755658"/>
            <a:ext cx="3548597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98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149" y="218729"/>
            <a:ext cx="6800851" cy="1325563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Организационная структура управления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298149" y="2311879"/>
            <a:ext cx="6462802" cy="410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Среднесписочная численность работников составила 444 человека, в том числе руководители, специалисты и другие служащие 94 человека или 21,2% к общей среднесписочной численности, рабочих – 350 человек или 78,8%.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2021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году прогнозируется среднесписочная численность 431 человек среднемесячная заработная плата 1 084 рубля.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Диаграмма 29"/>
          <p:cNvGraphicFramePr/>
          <p:nvPr>
            <p:extLst>
              <p:ext uri="{D42A27DB-BD31-4B8C-83A1-F6EECF244321}">
                <p14:modId xmlns:p14="http://schemas.microsoft.com/office/powerpoint/2010/main" val="8214348"/>
              </p:ext>
            </p:extLst>
          </p:nvPr>
        </p:nvGraphicFramePr>
        <p:xfrm>
          <a:off x="6760951" y="741872"/>
          <a:ext cx="5160755" cy="5814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235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600326" y="2737642"/>
            <a:ext cx="6800851" cy="1325563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Организационная структура управления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462882" y="3278352"/>
            <a:ext cx="10579593" cy="35055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Заместитель директора выполняет обязанности директора во время его отсутствия, заключает договора с клиентами, контролирует работы всех отделов компании, согласовывает закупки и прочие траты с экономистом компании.</a:t>
            </a: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Экономист осуществляет контроль финансов компании, ведет подсчет доходов и расходов компании, составляет экономический план действий компании.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Начальник коммерческого отдела ведет переговоры с уже имеющемся, а также с потенциальными клиентами. Согласовывает объем и цены оказываемых услуг.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Начальник маркетингового отдела ведет работу по увлечению влияния компании путем размещения рекламных материалов на разных ресурсах.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инженер организует работы по переработке и хранению отходов, составляет смету на проделанные работы, согласовывает с экономическим отделом работы и закупку нового оборудования.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Сотрудники производства занимаются обслуживанием оборудования производства, ручную сортировку, а также доставку сырья от заказчика к местам переработки.</a:t>
            </a: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4869"/>
          <a:stretch/>
        </p:blipFill>
        <p:spPr>
          <a:xfrm>
            <a:off x="2569403" y="292983"/>
            <a:ext cx="7795637" cy="29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8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51" y="-17632"/>
            <a:ext cx="10989047" cy="6875632"/>
          </a:xfrm>
          <a:prstGeom prst="rect">
            <a:avLst/>
          </a:prstGeom>
        </p:spPr>
      </p:pic>
      <p:sp>
        <p:nvSpPr>
          <p:cNvPr id="1036" name="Прямоугольник 1035"/>
          <p:cNvSpPr/>
          <p:nvPr/>
        </p:nvSpPr>
        <p:spPr>
          <a:xfrm>
            <a:off x="2020426" y="464997"/>
            <a:ext cx="9299947" cy="59103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338293" y="3646394"/>
            <a:ext cx="5549900" cy="873313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конкуренты</a:t>
            </a:r>
            <a:endParaRPr lang="ru-RU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69911" y="1994046"/>
            <a:ext cx="3949700" cy="3917949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деятельность: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Вывоз и передача на захоронение твердых коммунальных отходов (ТКО)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раздельного сбора отходов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Вывоз и передача на переработку (использование) строительных отходов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Снос зданий и сооружений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Утилизация (передача на использование) изношенных автошин и других резиносодержащих отходов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отработанных масел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Вывоз и передача на использование, обезвреживание или захоронение опасных отходов 3-го, 4-го классов опасности, ртутьсодержащих отходов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экологической документации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Группа 16"/>
          <p:cNvGrpSpPr/>
          <p:nvPr/>
        </p:nvGrpSpPr>
        <p:grpSpPr>
          <a:xfrm>
            <a:off x="2646930" y="597853"/>
            <a:ext cx="3228975" cy="5441950"/>
            <a:chOff x="7129473" y="646114"/>
            <a:chExt cx="3228975" cy="5441950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9473" y="646114"/>
              <a:ext cx="3228975" cy="1190625"/>
            </a:xfrm>
            <a:prstGeom prst="rect">
              <a:avLst/>
            </a:prstGeom>
          </p:spPr>
        </p:pic>
        <p:cxnSp>
          <p:nvCxnSpPr>
            <p:cNvPr id="7" name="Прямая соединительная линия 6"/>
            <p:cNvCxnSpPr/>
            <p:nvPr/>
          </p:nvCxnSpPr>
          <p:spPr>
            <a:xfrm>
              <a:off x="7296161" y="1900239"/>
              <a:ext cx="3062287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>
              <a:off x="7296161" y="6088064"/>
              <a:ext cx="3062287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6" name="Объект 4"/>
          <p:cNvSpPr txBox="1">
            <a:spLocks/>
          </p:cNvSpPr>
          <p:nvPr/>
        </p:nvSpPr>
        <p:spPr>
          <a:xfrm>
            <a:off x="6795727" y="1994046"/>
            <a:ext cx="4048530" cy="17600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малый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штат сотрудников;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производственная мощность;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малая вариативность перерабатываемых отходов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Объект 4"/>
          <p:cNvSpPr txBox="1">
            <a:spLocks/>
          </p:cNvSpPr>
          <p:nvPr/>
        </p:nvSpPr>
        <p:spPr>
          <a:xfrm>
            <a:off x="6722487" y="3953020"/>
            <a:ext cx="4048530" cy="18276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занимаются обезвреживанием 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медицинских отходов,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радиоактивных отходов,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заготовка вторичных материальных ресурсов, внедрение технологических процессов переработки отходов и возврат в хозяйственный оборот вторичных материальных ресурсов</a:t>
            </a:r>
            <a:endParaRPr lang="ru-RU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6795727" y="792480"/>
            <a:ext cx="3902051" cy="9959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 конкурента 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«ЭКОЛОГИЯ ГОРОДА»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7202738" y="1842136"/>
            <a:ext cx="30622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7202738" y="3815050"/>
            <a:ext cx="30622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51" y="-17632"/>
            <a:ext cx="10989047" cy="6875632"/>
          </a:xfrm>
          <a:prstGeom prst="rect">
            <a:avLst/>
          </a:prstGeom>
        </p:spPr>
      </p:pic>
      <p:sp>
        <p:nvSpPr>
          <p:cNvPr id="1036" name="Прямоугольник 1035"/>
          <p:cNvSpPr/>
          <p:nvPr/>
        </p:nvSpPr>
        <p:spPr>
          <a:xfrm>
            <a:off x="2020426" y="464997"/>
            <a:ext cx="9299947" cy="59103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338293" y="3646394"/>
            <a:ext cx="5549900" cy="873313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конкуренты</a:t>
            </a:r>
            <a:endParaRPr lang="ru-RU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279" y="647700"/>
            <a:ext cx="3548419" cy="904499"/>
          </a:xfrm>
          <a:prstGeom prst="rect">
            <a:avLst/>
          </a:prstGeom>
        </p:spPr>
      </p:pic>
      <p:cxnSp>
        <p:nvCxnSpPr>
          <p:cNvPr id="23" name="Прямая соединительная линия 22"/>
          <p:cNvCxnSpPr/>
          <p:nvPr/>
        </p:nvCxnSpPr>
        <p:spPr>
          <a:xfrm>
            <a:off x="2921110" y="1792570"/>
            <a:ext cx="306228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2898549" y="5980395"/>
            <a:ext cx="306228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2352961" y="2042230"/>
            <a:ext cx="415346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ринимаем следующие виды вторичных материальных ресурсов: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отходы бумаги и картона;</a:t>
            </a:r>
          </a:p>
          <a:p>
            <a:pPr algn="ctr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стеклобой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смешанный (бутылка, банка);</a:t>
            </a:r>
          </a:p>
          <a:p>
            <a:pPr algn="ctr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стеклобой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сортированный (оконное полубелое стекло);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полиэтилен (цветной, прозрачный);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отходы ПЭТ бутылки;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пластмассовую упаковку;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лом черных и цветных металлов от физических лиц;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изношенные шины б/у;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бытовую технику.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Объект 4"/>
          <p:cNvSpPr txBox="1">
            <a:spLocks/>
          </p:cNvSpPr>
          <p:nvPr/>
        </p:nvSpPr>
        <p:spPr>
          <a:xfrm>
            <a:off x="6821067" y="2100726"/>
            <a:ext cx="4048530" cy="17600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степень загруженности;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высокие цены для клиентов;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малый охват территории обслуживания;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малое время работы офиса.</a:t>
            </a:r>
          </a:p>
        </p:txBody>
      </p:sp>
      <p:sp>
        <p:nvSpPr>
          <p:cNvPr id="18" name="Объект 4"/>
          <p:cNvSpPr txBox="1">
            <a:spLocks/>
          </p:cNvSpPr>
          <p:nvPr/>
        </p:nvSpPr>
        <p:spPr>
          <a:xfrm>
            <a:off x="6747827" y="3968260"/>
            <a:ext cx="4048530" cy="18276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занимаются обезвреживанием 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медицинских отходов,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радиоактивных отходов,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заготовка вторичных материальных ресурсов, внедрение технологических процессов переработки отходов и возврат в хозяйственный оборот вторичных материальных ресурсов</a:t>
            </a:r>
            <a:endParaRPr lang="ru-RU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6821067" y="807720"/>
            <a:ext cx="3902051" cy="995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 конкурента 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ОАО Белвторресурсы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7228078" y="1857376"/>
            <a:ext cx="30622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7228078" y="3830290"/>
            <a:ext cx="30622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17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461592" y="4254500"/>
            <a:ext cx="4064000" cy="863603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002210" y="4241789"/>
            <a:ext cx="6597662" cy="2476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из приведенных данных, можно отметить, что конкурентными преимуществами создаваемого предприятия могут выступать следующие особенности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Удобное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месторасположение главного офиса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приемных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отделов.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Штат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 и наличие высококвалифицированных специалистов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91535" y="1238422"/>
            <a:ext cx="6844725" cy="4367880"/>
          </a:xfrm>
          <a:prstGeom prst="rect">
            <a:avLst/>
          </a:prstGeom>
          <a:ln>
            <a:solidFill>
              <a:srgbClr val="000000">
                <a:alpha val="60000"/>
              </a:srgbClr>
            </a:solidFill>
          </a:ln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61" r="16330"/>
          <a:stretch/>
        </p:blipFill>
        <p:spPr>
          <a:xfrm>
            <a:off x="207035" y="234224"/>
            <a:ext cx="1511301" cy="1502532"/>
          </a:xfrm>
          <a:prstGeom prst="rect">
            <a:avLst/>
          </a:prstGeom>
          <a:effectLst/>
        </p:spPr>
      </p:pic>
      <p:grpSp>
        <p:nvGrpSpPr>
          <p:cNvPr id="3" name="Группа 2"/>
          <p:cNvGrpSpPr/>
          <p:nvPr/>
        </p:nvGrpSpPr>
        <p:grpSpPr>
          <a:xfrm>
            <a:off x="1718336" y="2354522"/>
            <a:ext cx="4866172" cy="1606885"/>
            <a:chOff x="1890227" y="101265"/>
            <a:chExt cx="4866172" cy="1606885"/>
          </a:xfrm>
        </p:grpSpPr>
        <p:sp>
          <p:nvSpPr>
            <p:cNvPr id="15" name="Объект 2"/>
            <p:cNvSpPr txBox="1">
              <a:spLocks/>
            </p:cNvSpPr>
            <p:nvPr/>
          </p:nvSpPr>
          <p:spPr>
            <a:xfrm>
              <a:off x="1890227" y="138825"/>
              <a:ext cx="4821627" cy="146497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ru-RU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Преимуществом развития данного предприятия является услуги, которые не предоставляются конкурентами.</a:t>
              </a:r>
            </a:p>
            <a:p>
              <a:pPr marL="0" indent="0" algn="ctr"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ru-RU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Это поможет занять свою нишу в этой отрасли.</a:t>
              </a:r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1934772" y="101265"/>
              <a:ext cx="4821627" cy="1606885"/>
            </a:xfrm>
            <a:prstGeom prst="rect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Прямоугольник 3"/>
          <p:cNvSpPr/>
          <p:nvPr/>
        </p:nvSpPr>
        <p:spPr>
          <a:xfrm>
            <a:off x="1851985" y="42816"/>
            <a:ext cx="58945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видами деятельности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являются захоронение твердых коммунальных и промышленных отходов, обезвреживание медицинских отходов, хранение радиоактивных отходов, заготовка вторичных материальных ресурсов, внедрение технологических процессов переработки отходов и возврат в хозяйственный оборот вторичных материальных ресурсов</a:t>
            </a:r>
          </a:p>
        </p:txBody>
      </p:sp>
    </p:spTree>
    <p:extLst>
      <p:ext uri="{BB962C8B-B14F-4D97-AF65-F5344CB8AC3E}">
        <p14:creationId xmlns:p14="http://schemas.microsoft.com/office/powerpoint/2010/main" val="102687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8" r="5243"/>
          <a:stretch/>
        </p:blipFill>
        <p:spPr>
          <a:xfrm>
            <a:off x="1140372" y="15766"/>
            <a:ext cx="11051628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3073755" y="2643872"/>
            <a:ext cx="7287883" cy="1140372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маркетинга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541729" y="261173"/>
            <a:ext cx="7408532" cy="41058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ru-RU" sz="3800" b="1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Целевой сегмент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ru-RU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Крупные фабрики-производители. </a:t>
            </a:r>
          </a:p>
          <a:p>
            <a:pPr marL="0" indent="0" algn="r">
              <a:buFont typeface="Arial" panose="020B0604020202020204" pitchFamily="34" charset="0"/>
              <a:buNone/>
            </a:pPr>
            <a:endParaRPr lang="ru-RU" sz="3800" b="1" dirty="0" smtClean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ru-RU" sz="3800" b="1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Позиционирование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ru-RU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Предприятие будет позиционироваться как коммерческое предприятие по обращению с отходами для получения прибыли в результате хозяйственной деятельности при сохранении высокого качества оказываемых услуг.</a:t>
            </a:r>
          </a:p>
        </p:txBody>
      </p:sp>
    </p:spTree>
    <p:extLst>
      <p:ext uri="{BB962C8B-B14F-4D97-AF65-F5344CB8AC3E}">
        <p14:creationId xmlns:p14="http://schemas.microsoft.com/office/powerpoint/2010/main" val="392154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0"/>
          <a:stretch/>
        </p:blipFill>
        <p:spPr>
          <a:xfrm>
            <a:off x="1150882" y="0"/>
            <a:ext cx="11041117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54469" y="3452647"/>
            <a:ext cx="5659821" cy="1150882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маркетинга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5564" y="224287"/>
            <a:ext cx="10716911" cy="6435305"/>
          </a:xfrm>
          <a:effectLst>
            <a:glow rad="127000">
              <a:schemeClr val="tx1"/>
            </a:glow>
          </a:effectLst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300" b="1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Товарная политика</a:t>
            </a:r>
          </a:p>
          <a:p>
            <a:pPr marL="0" indent="0">
              <a:buNone/>
            </a:pPr>
            <a:r>
              <a:rPr lang="ru-RU" sz="2900" dirty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Товарная политика заключается в том, что, в связи с усилением осуществления государственного контроля за соблюдением законодательства в области охраны окружающей среды и обращения с коммунальными отходами, повышения экологической и экономической эффективности их обезвреживания, максимального вовлечения коммунальных отходов в гражданский оборот в качестве вторичного </a:t>
            </a:r>
            <a:r>
              <a:rPr lang="ru-RU" sz="2900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сырья.</a:t>
            </a:r>
            <a:endParaRPr lang="ru-RU" sz="2900" dirty="0">
              <a:solidFill>
                <a:schemeClr val="bg1"/>
              </a:solidFill>
              <a:effectLst>
                <a:glow rad="228600">
                  <a:schemeClr val="tx1">
                    <a:alpha val="71000"/>
                  </a:schemeClr>
                </a:glow>
              </a:effectLst>
            </a:endParaRPr>
          </a:p>
          <a:p>
            <a:pPr marL="0" indent="0">
              <a:buNone/>
            </a:pPr>
            <a:endParaRPr lang="ru-RU" sz="3300" b="1" dirty="0" smtClean="0">
              <a:solidFill>
                <a:schemeClr val="bg1"/>
              </a:solidFill>
              <a:effectLst>
                <a:glow rad="228600">
                  <a:schemeClr val="tx1">
                    <a:alpha val="71000"/>
                  </a:schemeClr>
                </a:glow>
              </a:effectLst>
            </a:endParaRPr>
          </a:p>
          <a:p>
            <a:pPr marL="0" indent="0">
              <a:buNone/>
            </a:pPr>
            <a:r>
              <a:rPr lang="ru-RU" sz="3300" b="1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Ценовая политика</a:t>
            </a:r>
          </a:p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При </a:t>
            </a:r>
            <a:r>
              <a:rPr lang="ru-RU" dirty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создании подобного рода предприятия необходимо поддерживать цены на относительно высоком уровне, равному качеству работы. Ценовая политика фирмы должна строиться на принципе «высокое качество — высокая цена». Для максимального использования возможностей производства необходимо рассмотреть возможность введения скидок для оптовых клиентов. </a:t>
            </a:r>
            <a:endParaRPr lang="ru-RU" sz="3300" b="1" dirty="0">
              <a:solidFill>
                <a:schemeClr val="bg1"/>
              </a:solidFill>
              <a:effectLst>
                <a:glow rad="228600">
                  <a:schemeClr val="tx1">
                    <a:alpha val="71000"/>
                  </a:schemeClr>
                </a:glow>
              </a:effectLst>
            </a:endParaRPr>
          </a:p>
          <a:p>
            <a:pPr marL="0" indent="0">
              <a:buNone/>
            </a:pPr>
            <a:endParaRPr lang="ru-RU" sz="3300" b="1" dirty="0" smtClean="0">
              <a:solidFill>
                <a:schemeClr val="bg1"/>
              </a:solidFill>
              <a:effectLst>
                <a:glow rad="228600">
                  <a:schemeClr val="tx1">
                    <a:alpha val="71000"/>
                  </a:schemeClr>
                </a:glow>
              </a:effectLst>
            </a:endParaRPr>
          </a:p>
          <a:p>
            <a:pPr marL="0" indent="0">
              <a:buNone/>
            </a:pPr>
            <a:r>
              <a:rPr lang="ru-RU" sz="3300" b="1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Политика продвижения</a:t>
            </a:r>
          </a:p>
          <a:p>
            <a:pPr marL="0" indent="0">
              <a:buNone/>
            </a:pPr>
            <a:r>
              <a:rPr lang="ru-RU" sz="3300" dirty="0" smtClean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 </a:t>
            </a:r>
            <a:r>
              <a:rPr lang="ru-RU" dirty="0">
                <a:solidFill>
                  <a:schemeClr val="bg1"/>
                </a:solidFill>
                <a:effectLst>
                  <a:glow rad="228600">
                    <a:schemeClr val="tx1">
                      <a:alpha val="71000"/>
                    </a:schemeClr>
                  </a:glow>
                </a:effectLst>
              </a:rPr>
              <a:t>Так как конкурентов не так много в стране, поэтому достаточно создать работающую систему и качественную рекламу по привлечению клиентов. </a:t>
            </a:r>
          </a:p>
        </p:txBody>
      </p:sp>
    </p:spTree>
    <p:extLst>
      <p:ext uri="{BB962C8B-B14F-4D97-AF65-F5344CB8AC3E}">
        <p14:creationId xmlns:p14="http://schemas.microsoft.com/office/powerpoint/2010/main" val="141189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601553" y="3379368"/>
            <a:ext cx="6080185" cy="877079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Рентабельность проекта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3825" y="1156658"/>
            <a:ext cx="6955705" cy="53224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Динамический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окупаемости. </a:t>
            </a:r>
            <a:endParaRPr lang="ru-RU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окупаемости будет приблизительно 3 года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Рентабельность активов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равна: 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 = чистая прибыль / активы = 650 000 / 1 730 000 х 100 % = 37,5 %.</a:t>
            </a:r>
          </a:p>
          <a:p>
            <a:pPr marL="0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Рентабельность оборота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равна: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 = чистая прибыль / выручка от реализации = 655 000 / 33 000 000 х 100 % = 1,98 %.</a:t>
            </a:r>
          </a:p>
          <a:p>
            <a:pPr marL="0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Рентабельность продукции (реализуемых услуг)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равна: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РП = чистая прибыль / затраты =655 000 / 12 560 000 х 100 %= 5,2 %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275" y="2786333"/>
            <a:ext cx="3985725" cy="39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4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8" r="9632"/>
          <a:stretch/>
        </p:blipFill>
        <p:spPr>
          <a:xfrm>
            <a:off x="877080" y="0"/>
            <a:ext cx="11335109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601553" y="3379368"/>
            <a:ext cx="6080185" cy="877079"/>
          </a:xfrm>
        </p:spPr>
        <p:txBody>
          <a:bodyPr/>
          <a:lstStyle/>
          <a:p>
            <a:r>
              <a:rPr lang="ru-RU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Рентабельность проекта</a:t>
            </a: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1464040" y="526930"/>
            <a:ext cx="10161187" cy="3290977"/>
          </a:xfrm>
          <a:prstGeom prst="rect">
            <a:avLst/>
          </a:prstGeom>
          <a:solidFill>
            <a:srgbClr val="FFFFFF">
              <a:alpha val="74902"/>
            </a:srgb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точки безубыточности.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один заказчик оставляет в среднем 50 000 руб. и 30 % от этой суммы на услуги оформления (всего получается 65 000 руб.), то уравнение выручки будет равно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 = 65 000 · х.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в случае производства практически невозможно выделить переменные издержки на одного заказчика, то будем считать, что в данном случае есть только постоянные издержки.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год они составляют 302 806 088 р.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выхода на безубыточную работу предприятия нужно обслуживать в год не менее 4 659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(302 806 088 / 65 000). По плану 7 000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т.е. на 33 % больше.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69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084" y="704850"/>
            <a:ext cx="10375266" cy="58321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1046163"/>
            <a:ext cx="10820400" cy="1239837"/>
          </a:xfrm>
        </p:spPr>
        <p:txBody>
          <a:bodyPr>
            <a:normAutofit/>
          </a:bodyPr>
          <a:lstStyle/>
          <a:p>
            <a:r>
              <a:rPr lang="ru-RU" sz="8000" dirty="0" smtClean="0">
                <a:effectLst>
                  <a:glow rad="355600">
                    <a:srgbClr val="FFFFFF"/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8000" dirty="0">
              <a:effectLst>
                <a:glow rad="355600">
                  <a:srgbClr val="FFFFFF"/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41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859</Words>
  <Application>Microsoft Office PowerPoint</Application>
  <PresentationFormat>Произвольный</PresentationFormat>
  <Paragraphs>118</Paragraphs>
  <Slides>14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БИЗНЕС-ПЛАН  инвестиционного проекта   КУП «Экорес»</vt:lpstr>
      <vt:lpstr>О  предприятии</vt:lpstr>
      <vt:lpstr>Расположение</vt:lpstr>
      <vt:lpstr>Расположение</vt:lpstr>
      <vt:lpstr>Организационная структура управления</vt:lpstr>
      <vt:lpstr>Организационная структура управления</vt:lpstr>
      <vt:lpstr>Основные конкуренты</vt:lpstr>
      <vt:lpstr>Основные конкуренты</vt:lpstr>
      <vt:lpstr>Преимущества</vt:lpstr>
      <vt:lpstr>Стратегия маркетинга</vt:lpstr>
      <vt:lpstr>Стратегия маркетинга</vt:lpstr>
      <vt:lpstr>Рентабельность проекта</vt:lpstr>
      <vt:lpstr>Рентабельность проекта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БИЗНЕС-ПЛАН  инвестиционного проекта   "Коммунальное унитарное предприятие  по обращению с отходами «Экорес»"</dc:title>
  <dc:creator>Angel</dc:creator>
  <cp:lastModifiedBy>Горностай Л.Ч.</cp:lastModifiedBy>
  <cp:revision>45</cp:revision>
  <dcterms:created xsi:type="dcterms:W3CDTF">2021-01-04T13:51:27Z</dcterms:created>
  <dcterms:modified xsi:type="dcterms:W3CDTF">2021-09-27T07:43:32Z</dcterms:modified>
</cp:coreProperties>
</file>