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  <p:sldId id="268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50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Основано на пользовательском реферате: parseval_report_10_pages.docx (титульная часть, введение, формулировка дискретной формы).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«Теорема Парсеваля» (введение, историческая и прикладная мотивация).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о непрерывной и дискретной формах равенства Парсеваля, таблица сравнения форм.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«Постановка задачи» (энергия во временной и частотной областях, физический смысл).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«Математические предпосылки» (L², C^N, скалярное произведение, норма, ортогональность экспонент).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«Геометрическая интерпретация» (ДПФ как переход между базисами, унитарность, сохранение нормы).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пример проверки теоремы для сигнала x[n] = [1, −1, 1, −1], таблица с ручным расчётом.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«Доказательство» (дискретный случай, шаги 1–5, использование ортогональности).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о нормализации громкости в аудиоплеерах и уточнение про perceptual loudness / LUFS.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«Практическая роль теоремы в вычислительных системах» (тест алгоритмов, ошибки нормировки, потеря отсчётов, разработка ПО).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42B7-F7D8-9021-F5BD-2ACC1BCF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42937-3382-D537-9A04-BFBAC978B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569A7-6E7E-695A-4E54-104C0A904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«Математические предпосылки» (L², C^N, скалярное произведение, норма, ортогональность экспонент).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6C3BC-1C48-052F-AEB5-501A5CBB7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9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«Заключение», а также разделы о математических предпосылках, геометрической интерпретации и практической роли.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61264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FF"/>
                </a:solidFill>
              </a:rPr>
              <a:t>ДОКЛАД ПО ТЕОРИИ СИГНАЛОВ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47548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5577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Теорема Парсеваля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3504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2066544"/>
            <a:ext cx="4251960" cy="7040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0358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4C9"/>
                </a:solidFill>
              </a:rPr>
              <a:t>Главная идея: при переходе от сигнала к спектру сохраняется энергия.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" y="4115001"/>
            <a:ext cx="2423160" cy="1874520"/>
          </a:xfrm>
          <a:prstGeom prst="roundRect">
            <a:avLst>
              <a:gd name="adj" fmla="val 878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1024128" y="4371033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FF"/>
                </a:solidFill>
              </a:rPr>
              <a:t>временная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D4FF"/>
                </a:solidFill>
              </a:rPr>
              <a:t>область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" y="5029401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сигнал x[n]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и его энергия Eₜ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55848" y="4115001"/>
            <a:ext cx="2331720" cy="1874520"/>
          </a:xfrm>
          <a:prstGeom prst="roundRect">
            <a:avLst>
              <a:gd name="adj" fmla="val 878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Text 12"/>
          <p:cNvSpPr/>
          <p:nvPr/>
        </p:nvSpPr>
        <p:spPr>
          <a:xfrm>
            <a:off x="3813048" y="4371033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14A"/>
                </a:solidFill>
              </a:rPr>
              <a:t>частотная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B14A"/>
                </a:solidFill>
              </a:rPr>
              <a:t>область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48456" y="5029401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спектр X[k]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и его энергия E_f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" y="13030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4C9"/>
                </a:solidFill>
              </a:rPr>
              <a:t>Власов Р. Е. • 2026</a:t>
            </a:r>
            <a:endParaRPr lang="en-US" sz="950" dirty="0"/>
          </a:p>
        </p:txBody>
      </p:sp>
      <p:pic>
        <p:nvPicPr>
          <p:cNvPr id="19" name="Image 0" descr="/mnt/data/parseval_wave_bg.jpg">
            <a:extLst>
              <a:ext uri="{FF2B5EF4-FFF2-40B4-BE49-F238E27FC236}">
                <a16:creationId xmlns:a16="http://schemas.microsoft.com/office/drawing/2014/main" id="{B9846E3E-FC94-F023-705D-056BC611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20" b="1220"/>
          <a:stretch/>
        </p:blipFill>
        <p:spPr>
          <a:xfrm>
            <a:off x="7217664" y="0"/>
            <a:ext cx="449884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182880" y="13533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именно утверждает теорема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" y="2706624"/>
            <a:ext cx="3794760" cy="1965960"/>
          </a:xfrm>
          <a:prstGeom prst="roundRect">
            <a:avLst>
              <a:gd name="adj" fmla="val 8372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11" name="Text 8"/>
          <p:cNvSpPr/>
          <p:nvPr/>
        </p:nvSpPr>
        <p:spPr>
          <a:xfrm>
            <a:off x="704088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3"/>
                </a:solidFill>
              </a:rPr>
              <a:t>Энергия сигнала одинакова в обоих представлениях: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7F7F3"/>
                </a:solidFill>
              </a:rPr>
              <a:t>во временной области и в частотной области.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09160" y="1170432"/>
            <a:ext cx="6812280" cy="3401568"/>
          </a:xfrm>
          <a:prstGeom prst="roundRect">
            <a:avLst>
              <a:gd name="adj" fmla="val 4138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Shape 10"/>
          <p:cNvSpPr/>
          <p:nvPr/>
        </p:nvSpPr>
        <p:spPr>
          <a:xfrm>
            <a:off x="4983480" y="162763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5148072" y="1554480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фундаментальное утверждение теории Фурье, линейной алгебры и DSP.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83480" y="2286000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3"/>
          <p:cNvSpPr/>
          <p:nvPr/>
        </p:nvSpPr>
        <p:spPr>
          <a:xfrm>
            <a:off x="5148072" y="2212848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Преобразование Фурье не создаёт и не уничтожает энергию, а только перераспределяет её по частотам.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83480" y="2944368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5148072" y="2871216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Именно поэтому по спектру можно корректно оценивать энергию сигнала и проверять алгоритмы.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56048" y="384048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5001768" y="3858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53328" y="3840480"/>
            <a:ext cx="114300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19"/>
          <p:cNvSpPr/>
          <p:nvPr/>
        </p:nvSpPr>
        <p:spPr>
          <a:xfrm>
            <a:off x="6099048" y="38587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радиотехника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370064" y="384048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4" name="Text 21"/>
          <p:cNvSpPr/>
          <p:nvPr/>
        </p:nvSpPr>
        <p:spPr>
          <a:xfrm>
            <a:off x="7415784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аудио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21040" y="384048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Text 23"/>
          <p:cNvSpPr/>
          <p:nvPr/>
        </p:nvSpPr>
        <p:spPr>
          <a:xfrm>
            <a:off x="8366760" y="385876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изображения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784080" y="3840480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8" name="Text 25"/>
          <p:cNvSpPr/>
          <p:nvPr/>
        </p:nvSpPr>
        <p:spPr>
          <a:xfrm>
            <a:off x="9829800" y="38587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сжатие данных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ФОРМУЛИРОВКА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Две формы равенства Парсеваля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76072" y="1234439"/>
            <a:ext cx="5340096" cy="4895031"/>
          </a:xfrm>
          <a:prstGeom prst="roundRect">
            <a:avLst>
              <a:gd name="adj" fmla="val 418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9" name="Shape 7"/>
          <p:cNvSpPr/>
          <p:nvPr/>
        </p:nvSpPr>
        <p:spPr>
          <a:xfrm>
            <a:off x="868680" y="146304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11153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НЕПРЕРЫВНЫЙ СЛУЧАЙ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3168" y="2129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9E6F2"/>
                </a:solidFill>
              </a:rPr>
              <a:t>Для квадратично интегрируемой функции x(t)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52284" y="3898962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63" y="4026978"/>
            <a:ext cx="4462272" cy="9326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2502" y="5495545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FB4C9"/>
                </a:solidFill>
              </a:rPr>
              <a:t>Интерпретация</a:t>
            </a:r>
            <a:r>
              <a:rPr lang="en-US" sz="1300" dirty="0">
                <a:solidFill>
                  <a:srgbClr val="9FB4C9"/>
                </a:solidFill>
              </a:rPr>
              <a:t>: </a:t>
            </a:r>
            <a:r>
              <a:rPr lang="en-US" sz="1300" dirty="0" err="1">
                <a:solidFill>
                  <a:srgbClr val="9FB4C9"/>
                </a:solidFill>
              </a:rPr>
              <a:t>квадрат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нормы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сохраняется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в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пространстве</a:t>
            </a:r>
            <a:r>
              <a:rPr lang="en-US" sz="1300" dirty="0">
                <a:solidFill>
                  <a:srgbClr val="9FB4C9"/>
                </a:solidFill>
              </a:rPr>
              <a:t> L².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5142" y="1234439"/>
            <a:ext cx="5257800" cy="4895011"/>
          </a:xfrm>
          <a:prstGeom prst="roundRect">
            <a:avLst>
              <a:gd name="adj" fmla="val 418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16" name="Shape 13"/>
          <p:cNvSpPr/>
          <p:nvPr/>
        </p:nvSpPr>
        <p:spPr>
          <a:xfrm>
            <a:off x="6473952" y="1463040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4"/>
          <p:cNvSpPr/>
          <p:nvPr/>
        </p:nvSpPr>
        <p:spPr>
          <a:xfrm>
            <a:off x="6519672" y="1481327"/>
            <a:ext cx="1033272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ДИСКРЕТНЫЙ СЛУЧАЙ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19672" y="2128743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9E6F2"/>
                </a:solidFill>
              </a:rPr>
              <a:t>Для конечного дискретного сигнала x[n] длины N: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6465746" y="4032501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2906" y="4141102"/>
            <a:ext cx="4462272" cy="9326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19672" y="5444299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9"/>
                </a:solidFill>
              </a:rPr>
              <a:t>Именно эта форма используется в ДПФ, БПФ, DSP, аудио и связи.</a:t>
            </a:r>
            <a:endParaRPr lang="en-US" sz="13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6EEFCE74-5A9C-072A-49C5-D2A832C93176}"/>
              </a:ext>
            </a:extLst>
          </p:cNvPr>
          <p:cNvSpPr/>
          <p:nvPr/>
        </p:nvSpPr>
        <p:spPr>
          <a:xfrm>
            <a:off x="862332" y="2518218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5D4F2B3E-AFEE-947C-6496-DE8A4E3C0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5800" y="2724912"/>
            <a:ext cx="2873248" cy="640080"/>
          </a:xfrm>
          <a:prstGeom prst="rect">
            <a:avLst/>
          </a:prstGeom>
        </p:spPr>
      </p:pic>
      <p:sp>
        <p:nvSpPr>
          <p:cNvPr id="27" name="Shape 16">
            <a:extLst>
              <a:ext uri="{FF2B5EF4-FFF2-40B4-BE49-F238E27FC236}">
                <a16:creationId xmlns:a16="http://schemas.microsoft.com/office/drawing/2014/main" id="{F0FED267-BED9-0F99-B99F-9A22BBA53A7A}"/>
              </a:ext>
            </a:extLst>
          </p:cNvPr>
          <p:cNvSpPr/>
          <p:nvPr/>
        </p:nvSpPr>
        <p:spPr>
          <a:xfrm>
            <a:off x="6519672" y="2723704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FDC2A8D5-1735-4674-59CE-2498CD3F9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5287" y="2983330"/>
            <a:ext cx="2225361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ПОСТАНОВКА ЗАДАЧИ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603504" y="548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значит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энергия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одинакова в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обоих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представлениях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972800" cy="4160520"/>
          </a:xfrm>
          <a:prstGeom prst="roundRect">
            <a:avLst>
              <a:gd name="adj" fmla="val 395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1603466" y="2295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Сигнал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 x[n]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2999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набор отсчётов во времени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94760" y="2359152"/>
            <a:ext cx="548640" cy="411480"/>
          </a:xfrm>
          <a:prstGeom prst="chevron">
            <a:avLst/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3822192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CFF"/>
                </a:solidFill>
              </a:rPr>
              <a:t>ДПФ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Text 13"/>
          <p:cNvSpPr/>
          <p:nvPr/>
        </p:nvSpPr>
        <p:spPr>
          <a:xfrm>
            <a:off x="5417820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Спектр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 X[k]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28032" y="2999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коэффициенты гармоник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2359152"/>
            <a:ext cx="548640" cy="411480"/>
          </a:xfrm>
          <a:prstGeom prst="chevron">
            <a:avLst/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Text 16"/>
          <p:cNvSpPr/>
          <p:nvPr/>
        </p:nvSpPr>
        <p:spPr>
          <a:xfrm>
            <a:off x="7333488" y="1920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D17C"/>
                </a:solidFill>
              </a:rPr>
              <a:t>сравнение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3D17C"/>
                </a:solidFill>
              </a:rPr>
              <a:t>энергии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8"/>
          <p:cNvSpPr/>
          <p:nvPr/>
        </p:nvSpPr>
        <p:spPr>
          <a:xfrm>
            <a:off x="8887968" y="2121408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3"/>
                </a:solidFill>
              </a:rPr>
              <a:t>Итог: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7F7F3"/>
                </a:solidFill>
              </a:rPr>
              <a:t>энергия та же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68512" y="28712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меняются координаты, 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но не норма сигнала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4041648"/>
            <a:ext cx="7498080" cy="868680"/>
          </a:xfrm>
          <a:prstGeom prst="roundRect">
            <a:avLst>
              <a:gd name="adj" fmla="val 12632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600" y="4206240"/>
            <a:ext cx="72237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2892418" cy="16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МАТЕМАТИЧЕСКИЕ ПРЕДПОСЫЛКИ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формула вообще имеет право работать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61872"/>
            <a:ext cx="3566160" cy="4526280"/>
          </a:xfrm>
          <a:prstGeom prst="roundRect">
            <a:avLst>
              <a:gd name="adj" fmla="val 4615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9" name="Shape 7"/>
          <p:cNvSpPr/>
          <p:nvPr/>
        </p:nvSpPr>
        <p:spPr>
          <a:xfrm>
            <a:off x="896112" y="1499616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41832" y="151790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СКАЛЯРНОЕ ПРОИЗВЕДЕНИЕ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1991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D9E6F2"/>
                </a:solidFill>
              </a:rPr>
              <a:t>Для дискретных сигналов энергия — это квадрат нормы: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27532" y="2935224"/>
            <a:ext cx="3063240" cy="1078992"/>
          </a:xfrm>
          <a:prstGeom prst="roundRect">
            <a:avLst>
              <a:gd name="adj" fmla="val 1016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72" y="2999232"/>
            <a:ext cx="2788920" cy="822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46497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То есть “энергия” здесь — не метафора, а точный аналог квадрата длины вектора.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4480560" y="1261872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3"/>
          <p:cNvSpPr/>
          <p:nvPr/>
        </p:nvSpPr>
        <p:spPr>
          <a:xfrm>
            <a:off x="4718304" y="1499616"/>
            <a:ext cx="1335024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4"/>
          <p:cNvSpPr/>
          <p:nvPr/>
        </p:nvSpPr>
        <p:spPr>
          <a:xfrm>
            <a:off x="4764024" y="151790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ОРТОГОНАЛЬНОСТЬ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70120" y="220724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D9E6F2"/>
                </a:solidFill>
              </a:rPr>
              <a:t>Комплексные экспоненты образуют ортогональную систему.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4732020" y="2935224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9180" y="3017520"/>
            <a:ext cx="2697480" cy="8229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24400" y="46497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Именно эта ортогональность “обнуляет” смешанные члены в доказательстве.</a:t>
            </a:r>
            <a:endParaRPr lang="en-US" sz="1320" dirty="0"/>
          </a:p>
        </p:txBody>
      </p:sp>
      <p:sp>
        <p:nvSpPr>
          <p:cNvPr id="22" name="Shape 18"/>
          <p:cNvSpPr/>
          <p:nvPr/>
        </p:nvSpPr>
        <p:spPr>
          <a:xfrm>
            <a:off x="8193024" y="1261872"/>
            <a:ext cx="3429000" cy="4526280"/>
          </a:xfrm>
          <a:prstGeom prst="roundRect">
            <a:avLst>
              <a:gd name="adj" fmla="val 4800"/>
            </a:avLst>
          </a:prstGeom>
          <a:solidFill>
            <a:srgbClr val="102F52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3" name="Shape 19"/>
          <p:cNvSpPr/>
          <p:nvPr/>
        </p:nvSpPr>
        <p:spPr>
          <a:xfrm>
            <a:off x="8430768" y="1499616"/>
            <a:ext cx="1060704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4" name="Text 20"/>
          <p:cNvSpPr/>
          <p:nvPr/>
        </p:nvSpPr>
        <p:spPr>
          <a:xfrm>
            <a:off x="8476488" y="151790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430768" y="2103119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Если сигнал разложен по ортонормированному базису, то сумма квадратов модулей коэффициентов разложения совпадает с квадратом нормы сигнала.</a:t>
            </a:r>
            <a:endParaRPr lang="en-US" sz="1420" dirty="0"/>
          </a:p>
        </p:txBody>
      </p:sp>
      <p:sp>
        <p:nvSpPr>
          <p:cNvPr id="26" name="Shape 22"/>
          <p:cNvSpPr/>
          <p:nvPr/>
        </p:nvSpPr>
        <p:spPr>
          <a:xfrm>
            <a:off x="8412480" y="365760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9640" y="3822192"/>
            <a:ext cx="2560320" cy="5669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30768" y="47365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Равенство Парсеваля — частный случай именно этого общего факта.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2651760" cy="16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ГЕОМЕТРИЧЕСКАЯ ИНТЕРПРЕТАЦИЯ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Преобразование Фурье как смена базиса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97280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1143000" y="21625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временной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базис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x — координаты сигнала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548640" cy="457200"/>
          </a:xfrm>
          <a:prstGeom prst="chevron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Shape 14"/>
          <p:cNvSpPr/>
          <p:nvPr/>
        </p:nvSpPr>
        <p:spPr>
          <a:xfrm>
            <a:off x="7635240" y="2286000"/>
            <a:ext cx="548640" cy="457200"/>
          </a:xfrm>
          <a:prstGeom prst="chevron">
            <a:avLst/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Shape 15"/>
          <p:cNvSpPr/>
          <p:nvPr/>
        </p:nvSpPr>
        <p:spPr>
          <a:xfrm>
            <a:off x="8503920" y="187452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6"/>
          <p:cNvSpPr/>
          <p:nvPr/>
        </p:nvSpPr>
        <p:spPr>
          <a:xfrm>
            <a:off x="8503920" y="2039514"/>
            <a:ext cx="2362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гармонический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базис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705088" y="29077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X — спектральные координаты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794760" y="4041648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1920" y="4206240"/>
            <a:ext cx="4663440" cy="58521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65960" y="50474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6F2"/>
                </a:solidFill>
              </a:rPr>
              <a:t>То есть ДПФ меняет систему координат, но не длину вектора. Это тот же смысл, что и у ортогонального поворота в обычной геометрии.</a:t>
            </a:r>
            <a:endParaRPr lang="en-US" sz="14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F9971A3-5174-B447-069C-888DB0532536}"/>
              </a:ext>
            </a:extLst>
          </p:cNvPr>
          <p:cNvSpPr/>
          <p:nvPr/>
        </p:nvSpPr>
        <p:spPr>
          <a:xfrm>
            <a:off x="4343400" y="1700784"/>
            <a:ext cx="2971800" cy="1719072"/>
          </a:xfrm>
          <a:prstGeom prst="roundRect">
            <a:avLst>
              <a:gd name="adj" fmla="val 6383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08F9971F-A448-0B3A-98F8-9F4F311B0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9824" y="1970532"/>
            <a:ext cx="877824" cy="365760"/>
          </a:xfrm>
          <a:prstGeom prst="rect">
            <a:avLst/>
          </a:prstGeom>
        </p:spPr>
      </p:pic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4D9EAFD5-1C8F-918B-F543-C8F2A50D3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4361" y="2464308"/>
            <a:ext cx="1437894" cy="310896"/>
          </a:xfrm>
          <a:prstGeom prst="rect">
            <a:avLst/>
          </a:prstGeom>
        </p:spPr>
      </p:pic>
      <p:sp>
        <p:nvSpPr>
          <p:cNvPr id="36" name="Text 34">
            <a:extLst>
              <a:ext uri="{FF2B5EF4-FFF2-40B4-BE49-F238E27FC236}">
                <a16:creationId xmlns:a16="http://schemas.microsoft.com/office/drawing/2014/main" id="{FA94AA41-58CA-410F-2855-D7574ABE67FF}"/>
              </a:ext>
            </a:extLst>
          </p:cNvPr>
          <p:cNvSpPr/>
          <p:nvPr/>
        </p:nvSpPr>
        <p:spPr>
          <a:xfrm>
            <a:off x="4754880" y="28757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Унитарное преобразование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на простом сигнале x[n] = [1, −1, 1, −1]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0972800" cy="4572000"/>
          </a:xfrm>
          <a:prstGeom prst="roundRect">
            <a:avLst>
              <a:gd name="adj" fmla="val 360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868680" y="1508760"/>
            <a:ext cx="3108960" cy="749808"/>
          </a:xfrm>
          <a:prstGeom prst="roundRect">
            <a:avLst>
              <a:gd name="adj" fmla="val 14634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673352"/>
            <a:ext cx="2834640" cy="4937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251460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1097280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FF"/>
                </a:solidFill>
              </a:rPr>
              <a:t>Во временной области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7F7F3"/>
                </a:solidFill>
              </a:rPr>
              <a:t>1² + (−1)² + 1² + (−1)² = 4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97280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4C9"/>
                </a:solidFill>
              </a:rPr>
              <a:t>Eₜ = 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15968" y="196596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3"/>
          <p:cNvSpPr/>
          <p:nvPr/>
        </p:nvSpPr>
        <p:spPr>
          <a:xfrm>
            <a:off x="45720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4155"/>
                </a:solidFill>
              </a:rPr>
              <a:t>Коэффициенты ДПФ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X[0] =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X[1] =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X[2] = 4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X[3] = 0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0" y="41148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вся энергия сосредоточена в одной гармонике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88352" y="251460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7607808" y="27249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14A"/>
                </a:solidFill>
              </a:rPr>
              <a:t>В частотной области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607808" y="3154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7F7F3"/>
                </a:solidFill>
              </a:rPr>
              <a:t>(1/4)·(0 + 0 + 16 + 0) = 4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7607808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4C9"/>
                </a:solidFill>
              </a:rPr>
              <a:t>E_f = 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50109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9E6F2"/>
                </a:solidFill>
              </a:rPr>
              <a:t>Итог: Eₜ = E_f = 4 — теорема подтверждается прямым </a:t>
            </a:r>
            <a:r>
              <a:rPr lang="en-US" sz="1400" dirty="0" err="1">
                <a:solidFill>
                  <a:srgbClr val="D9E6F2"/>
                </a:solidFill>
              </a:rPr>
              <a:t>расчётом</a:t>
            </a:r>
            <a:r>
              <a:rPr lang="en-US" sz="1400" dirty="0">
                <a:solidFill>
                  <a:srgbClr val="D9E6F2"/>
                </a:solidFill>
              </a:rPr>
              <a:t>.</a:t>
            </a:r>
            <a:br>
              <a:rPr lang="ru-RU" sz="1400" dirty="0">
                <a:solidFill>
                  <a:srgbClr val="D9E6F2"/>
                </a:solidFill>
              </a:rPr>
            </a:br>
            <a:r>
              <a:rPr lang="ru-RU" sz="1400" dirty="0">
                <a:solidFill>
                  <a:srgbClr val="D9E6F2"/>
                </a:solidFill>
              </a:rPr>
              <a:t>Пример показывает, что энергия может собраться  в одной частоте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ДОКАЗАТЕЛЬСТВО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ывод</a:t>
            </a:r>
            <a:r>
              <a:rPr lang="ru-RU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дискретного случая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557784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32688" y="1783080"/>
            <a:ext cx="201168" cy="201168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32688" y="17922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07008" y="1773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Начинаем с энергии во времени: Σ|x[n]|² = Σx[n]x*[n]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2423160"/>
            <a:ext cx="201168" cy="201168"/>
          </a:xfrm>
          <a:prstGeom prst="ellipse">
            <a:avLst/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07008" y="2414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Подставляем обратное ДПФ для x[n] и x*[n]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" y="3063240"/>
            <a:ext cx="201168" cy="201168"/>
          </a:xfrm>
          <a:prstGeom prst="ellipse">
            <a:avLst/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4"/>
          <p:cNvSpPr/>
          <p:nvPr/>
        </p:nvSpPr>
        <p:spPr>
          <a:xfrm>
            <a:off x="932688" y="30723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07008" y="3054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Получаем двойную сумму по индексам k и 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2688" y="3703320"/>
            <a:ext cx="201168" cy="201168"/>
          </a:xfrm>
          <a:prstGeom prst="ellipse">
            <a:avLst/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7"/>
          <p:cNvSpPr/>
          <p:nvPr/>
        </p:nvSpPr>
        <p:spPr>
          <a:xfrm>
            <a:off x="932688" y="37124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07008" y="36941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Суммируем по n и используем ортогональность экспонент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343400"/>
            <a:ext cx="201168" cy="201168"/>
          </a:xfrm>
          <a:prstGeom prst="ellipse">
            <a:avLst/>
          </a:prstGeom>
          <a:solidFill>
            <a:srgbClr val="FF7F7F"/>
          </a:solidFill>
          <a:ln w="12700">
            <a:solidFill>
              <a:srgbClr val="FF7F7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20"/>
          <p:cNvSpPr/>
          <p:nvPr/>
        </p:nvSpPr>
        <p:spPr>
          <a:xfrm>
            <a:off x="932688" y="435254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07008" y="4334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Остаются только члены при k = l, отсюда и выходит формула Парсеваля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73952" y="1234440"/>
            <a:ext cx="5074920" cy="2084832"/>
          </a:xfrm>
          <a:prstGeom prst="roundRect">
            <a:avLst>
              <a:gd name="adj" fmla="val 7895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5" name="Shape 23"/>
          <p:cNvSpPr/>
          <p:nvPr/>
        </p:nvSpPr>
        <p:spPr>
          <a:xfrm>
            <a:off x="6720840" y="1627632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26" name="Text 24"/>
          <p:cNvSpPr/>
          <p:nvPr/>
        </p:nvSpPr>
        <p:spPr>
          <a:xfrm>
            <a:off x="6858000" y="17190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обратное ДПФ</a:t>
            </a:r>
            <a:endParaRPr lang="en-US" sz="8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947672"/>
            <a:ext cx="4297680" cy="82296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473952" y="3584448"/>
            <a:ext cx="5074920" cy="2176272"/>
          </a:xfrm>
          <a:prstGeom prst="roundRect">
            <a:avLst>
              <a:gd name="adj" fmla="val 7563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9" name="Shape 26"/>
          <p:cNvSpPr/>
          <p:nvPr/>
        </p:nvSpPr>
        <p:spPr>
          <a:xfrm>
            <a:off x="6720840" y="3913632"/>
            <a:ext cx="4572000" cy="1207008"/>
          </a:xfrm>
          <a:prstGeom prst="roundRect">
            <a:avLst>
              <a:gd name="adj" fmla="val 909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30" name="Text 27"/>
          <p:cNvSpPr/>
          <p:nvPr/>
        </p:nvSpPr>
        <p:spPr>
          <a:xfrm>
            <a:off x="6858000" y="40050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8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4233672"/>
            <a:ext cx="4297680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ПРИМЕНЕНИЯ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612648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Нормализация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громкости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10972800" cy="4572000"/>
          </a:xfrm>
          <a:prstGeom prst="roundRect">
            <a:avLst>
              <a:gd name="adj" fmla="val 360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Shape 8"/>
          <p:cNvSpPr/>
          <p:nvPr/>
        </p:nvSpPr>
        <p:spPr>
          <a:xfrm>
            <a:off x="896112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10"/>
          <p:cNvSpPr/>
          <p:nvPr/>
        </p:nvSpPr>
        <p:spPr>
          <a:xfrm>
            <a:off x="1051560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СИГНАЛ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486163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окна по 1024/2048 отсчётов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2734056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Shape 13"/>
          <p:cNvSpPr/>
          <p:nvPr/>
        </p:nvSpPr>
        <p:spPr>
          <a:xfrm>
            <a:off x="2944368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3054096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3099816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БПФ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35808" y="2458731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получаем спектр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4782312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Shape 18"/>
          <p:cNvSpPr/>
          <p:nvPr/>
        </p:nvSpPr>
        <p:spPr>
          <a:xfrm>
            <a:off x="4992624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Shape 19"/>
          <p:cNvSpPr/>
          <p:nvPr/>
        </p:nvSpPr>
        <p:spPr>
          <a:xfrm>
            <a:off x="5102352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20"/>
          <p:cNvSpPr/>
          <p:nvPr/>
        </p:nvSpPr>
        <p:spPr>
          <a:xfrm>
            <a:off x="5148072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ЭНЕРГИЯ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84064" y="2458731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суммируем |X[k]|² / N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830568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5" name="Shape 23"/>
          <p:cNvSpPr/>
          <p:nvPr/>
        </p:nvSpPr>
        <p:spPr>
          <a:xfrm>
            <a:off x="7040880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Shape 24"/>
          <p:cNvSpPr/>
          <p:nvPr/>
        </p:nvSpPr>
        <p:spPr>
          <a:xfrm>
            <a:off x="7150608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7" name="Text 25"/>
          <p:cNvSpPr/>
          <p:nvPr/>
        </p:nvSpPr>
        <p:spPr>
          <a:xfrm>
            <a:off x="7196328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246767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с целевым уровнем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8878824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Shape 28"/>
          <p:cNvSpPr/>
          <p:nvPr/>
        </p:nvSpPr>
        <p:spPr>
          <a:xfrm>
            <a:off x="9089136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1" name="Shape 29"/>
          <p:cNvSpPr/>
          <p:nvPr/>
        </p:nvSpPr>
        <p:spPr>
          <a:xfrm>
            <a:off x="9198864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2" name="Text 30"/>
          <p:cNvSpPr/>
          <p:nvPr/>
        </p:nvSpPr>
        <p:spPr>
          <a:xfrm>
            <a:off x="9244584" y="2121407"/>
            <a:ext cx="758952" cy="279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МАСШТАБИРОВАНИЕ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80576" y="2483349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усиление или ослабление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896112" y="3337560"/>
            <a:ext cx="5989320" cy="1874520"/>
          </a:xfrm>
          <a:prstGeom prst="roundRect">
            <a:avLst>
              <a:gd name="adj" fmla="val 5854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6" name="Text 34"/>
          <p:cNvSpPr/>
          <p:nvPr/>
        </p:nvSpPr>
        <p:spPr>
          <a:xfrm>
            <a:off x="1133856" y="393192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</a:rPr>
              <a:t>Теорема Парсеваля описывает физическую энергию сигнала. Субъективная loudness человека зависит ещё и от частотного состава, длительности и особенностей слуха.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7150608" y="3337560"/>
            <a:ext cx="4133088" cy="1874520"/>
          </a:xfrm>
          <a:prstGeom prst="roundRect">
            <a:avLst>
              <a:gd name="adj" fmla="val 878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8" name="Text 36"/>
          <p:cNvSpPr/>
          <p:nvPr/>
        </p:nvSpPr>
        <p:spPr>
          <a:xfrm>
            <a:off x="7388352" y="345643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7F3"/>
                </a:solidFill>
              </a:rPr>
              <a:t>Поэтому в реальных аудиосервисах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88352" y="402336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9E6F2"/>
                </a:solidFill>
              </a:rPr>
              <a:t>для итоговой оценки loudness применяют перцептивные меры (например, LUFS по ITU-R BS.1770), а Парсеваль остаётся математической основой для спектральной энергии, RMS и предварительной нормировки.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ПРАКТИЧЕСКАЯ РОЛЬ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теорема нужна в вычислительных системах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1097280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896112" y="1517904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41832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БПФ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39696" y="1517904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10"/>
          <p:cNvSpPr/>
          <p:nvPr/>
        </p:nvSpPr>
        <p:spPr>
          <a:xfrm>
            <a:off x="2185416" y="15361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ФИЛЬТРЫ И СЖАТИЕ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0168" y="1517904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2"/>
          <p:cNvSpPr/>
          <p:nvPr/>
        </p:nvSpPr>
        <p:spPr>
          <a:xfrm>
            <a:off x="3675888" y="1536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КОРРЕКТНОСТИ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1965960"/>
            <a:ext cx="5074920" cy="3291840"/>
          </a:xfrm>
          <a:prstGeom prst="roundRect">
            <a:avLst>
              <a:gd name="adj" fmla="val 5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1115568" y="240487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1280160" y="233172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реализации ДПФ/БПФ можно сравнить энергию сигнала в двух представлениях.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15568" y="318211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равенство заметно нарушается, чаще всего ошибка в нормировке, множителе 1/N или индексах.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15568" y="395935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Text 19"/>
          <p:cNvSpPr/>
          <p:nvPr/>
        </p:nvSpPr>
        <p:spPr>
          <a:xfrm>
            <a:off x="1280160" y="388620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Поэтому теорема работает как быстрый и строгий тест для программ обработки сигналов.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1965960"/>
            <a:ext cx="5047488" cy="3291840"/>
          </a:xfrm>
          <a:prstGeom prst="roundRect">
            <a:avLst>
              <a:gd name="adj" fmla="val 333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3" name="Text 21"/>
          <p:cNvSpPr/>
          <p:nvPr/>
        </p:nvSpPr>
        <p:spPr>
          <a:xfrm>
            <a:off x="6510528" y="2240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Типичные причины ошибки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2633472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неверный множитель 1/N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переставленные индексы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потеря части отсчётов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некорректное сопряжение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ошибки в коде фильтра / FFT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308592" y="4279392"/>
            <a:ext cx="1371600" cy="420624"/>
          </a:xfrm>
          <a:prstGeom prst="roundRect">
            <a:avLst>
              <a:gd name="adj" fmla="val 26087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5752" y="4443984"/>
            <a:ext cx="1097280" cy="1645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10528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Один и тот же инвариант удобно проверять и по времени, и по спектру.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943DE-0A8A-A1CE-F298-EAE059C2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7205D53-8B54-6B37-698F-20ADABE58939}"/>
              </a:ext>
            </a:extLst>
          </p:cNvPr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95E64098-6081-39C0-817C-FDA1BD033233}"/>
              </a:ext>
            </a:extLst>
          </p:cNvPr>
          <p:cNvSpPr/>
          <p:nvPr/>
        </p:nvSpPr>
        <p:spPr>
          <a:xfrm>
            <a:off x="749808" y="749808"/>
            <a:ext cx="10698480" cy="0"/>
          </a:xfrm>
          <a:prstGeom prst="line">
            <a:avLst/>
          </a:prstGeom>
          <a:noFill/>
          <a:ln w="1524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13F1EAA-E60B-66C4-7769-6871F4CD719E}"/>
              </a:ext>
            </a:extLst>
          </p:cNvPr>
          <p:cNvSpPr/>
          <p:nvPr/>
        </p:nvSpPr>
        <p:spPr>
          <a:xfrm>
            <a:off x="749808" y="182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9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86B28F3-5FDA-8101-BA8B-1DE03B7CFD5A}"/>
              </a:ext>
            </a:extLst>
          </p:cNvPr>
          <p:cNvSpPr/>
          <p:nvPr/>
        </p:nvSpPr>
        <p:spPr>
          <a:xfrm>
            <a:off x="11018520" y="164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A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481248B-6D44-DBC5-C1E4-F234799EEBA2}"/>
              </a:ext>
            </a:extLst>
          </p:cNvPr>
          <p:cNvSpPr/>
          <p:nvPr/>
        </p:nvSpPr>
        <p:spPr>
          <a:xfrm>
            <a:off x="749808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Почему </a:t>
            </a:r>
            <a:r>
              <a:rPr lang="en-US" sz="3000" b="1" dirty="0" err="1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теорема</a:t>
            </a:r>
            <a:r>
              <a:rPr lang="en-US" sz="3000" b="1" dirty="0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 </a:t>
            </a:r>
            <a:r>
              <a:rPr lang="en-US" sz="3000" b="1" dirty="0" err="1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важна</a:t>
            </a:r>
            <a:r>
              <a:rPr lang="en-US" sz="3000" b="1" dirty="0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 в инженерии</a:t>
            </a:r>
            <a:endParaRPr lang="en-US" sz="3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3C848194-B9ED-E0C8-5167-9C77BFC7AE4C}"/>
              </a:ext>
            </a:extLst>
          </p:cNvPr>
          <p:cNvSpPr/>
          <p:nvPr/>
        </p:nvSpPr>
        <p:spPr>
          <a:xfrm>
            <a:off x="822960" y="1517904"/>
            <a:ext cx="5532120" cy="4791456"/>
          </a:xfrm>
          <a:prstGeom prst="roundRect">
            <a:avLst>
              <a:gd name="adj" fmla="val 2290"/>
            </a:avLst>
          </a:prstGeom>
          <a:solidFill>
            <a:srgbClr val="0B2347"/>
          </a:solidFill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C670B23B-4152-7C19-AD25-CC1F7CFCB7CD}"/>
              </a:ext>
            </a:extLst>
          </p:cNvPr>
          <p:cNvSpPr/>
          <p:nvPr/>
        </p:nvSpPr>
        <p:spPr>
          <a:xfrm>
            <a:off x="1060704" y="175564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9CF3FF"/>
          </a:solidFill>
          <a:ln w="12700">
            <a:solidFill>
              <a:srgbClr val="9CF3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2AC0E02C-8189-71DB-24E4-967BA5A2F6A4}"/>
              </a:ext>
            </a:extLst>
          </p:cNvPr>
          <p:cNvSpPr/>
          <p:nvPr/>
        </p:nvSpPr>
        <p:spPr>
          <a:xfrm>
            <a:off x="1170432" y="178308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ЭТО ИСПОЛЬЗУЮТ</a:t>
            </a:r>
            <a:endParaRPr lang="en-US" sz="10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23BC7884-2706-1DB3-FB45-76CB4191C64B}"/>
              </a:ext>
            </a:extLst>
          </p:cNvPr>
          <p:cNvSpPr/>
          <p:nvPr/>
        </p:nvSpPr>
        <p:spPr>
          <a:xfrm>
            <a:off x="1097280" y="22128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E9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BC940D95-0AA5-EB53-4D27-9272CE7F6ADD}"/>
              </a:ext>
            </a:extLst>
          </p:cNvPr>
          <p:cNvSpPr/>
          <p:nvPr/>
        </p:nvSpPr>
        <p:spPr>
          <a:xfrm>
            <a:off x="1627632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БПФ и спектральная энергия</a:t>
            </a:r>
            <a:endParaRPr lang="en-US" sz="162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748DF610-F922-7DC1-6943-7A91F5028491}"/>
              </a:ext>
            </a:extLst>
          </p:cNvPr>
          <p:cNvSpPr/>
          <p:nvPr/>
        </p:nvSpPr>
        <p:spPr>
          <a:xfrm>
            <a:off x="1627632" y="25054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сигнал уже переведён в спектр, энергию можно считать без обратного преобразования.</a:t>
            </a:r>
            <a:endParaRPr lang="en-US" sz="131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A2BAD53E-35A9-974A-05B9-FF82818C6C5A}"/>
              </a:ext>
            </a:extLst>
          </p:cNvPr>
          <p:cNvSpPr/>
          <p:nvPr/>
        </p:nvSpPr>
        <p:spPr>
          <a:xfrm>
            <a:off x="1097280" y="32369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6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1BEBDB79-B176-B76E-6F40-A9A8A992AF5F}"/>
              </a:ext>
            </a:extLst>
          </p:cNvPr>
          <p:cNvSpPr/>
          <p:nvPr/>
        </p:nvSpPr>
        <p:spPr>
          <a:xfrm>
            <a:off x="1627632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и OFDM</a:t>
            </a:r>
            <a:endParaRPr lang="en-US" sz="162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161F5A93-858E-5DFD-771D-BFB4FD1CE092}"/>
              </a:ext>
            </a:extLst>
          </p:cNvPr>
          <p:cNvSpPr/>
          <p:nvPr/>
        </p:nvSpPr>
        <p:spPr>
          <a:xfrm>
            <a:off x="1627632" y="35295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Удобно нормировать мощность по поднесущим и корректно оценивать отношение сигнал/шум.</a:t>
            </a:r>
            <a:endParaRPr lang="en-US" sz="131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E09AB19-AC52-005D-BC70-884DDCE09A52}"/>
              </a:ext>
            </a:extLst>
          </p:cNvPr>
          <p:cNvSpPr/>
          <p:nvPr/>
        </p:nvSpPr>
        <p:spPr>
          <a:xfrm>
            <a:off x="1097280" y="42611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E9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135BE9F9-6EFC-F078-CD9C-336470D245BE}"/>
              </a:ext>
            </a:extLst>
          </p:cNvPr>
          <p:cNvSpPr/>
          <p:nvPr/>
        </p:nvSpPr>
        <p:spPr>
          <a:xfrm>
            <a:off x="1627632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алгоритмов</a:t>
            </a:r>
            <a:endParaRPr lang="en-US" sz="162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A9A482AE-193D-2B11-F11C-3C7E45EA4610}"/>
              </a:ext>
            </a:extLst>
          </p:cNvPr>
          <p:cNvSpPr/>
          <p:nvPr/>
        </p:nvSpPr>
        <p:spPr>
          <a:xfrm>
            <a:off x="1627632" y="45537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Нарушение равенства обычно означает ошибку масштаба, индексов или потерю части отсчётов.</a:t>
            </a:r>
            <a:endParaRPr lang="en-US" sz="131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2E196296-7F5F-A6DB-2F4F-7B55DBD6285C}"/>
              </a:ext>
            </a:extLst>
          </p:cNvPr>
          <p:cNvSpPr/>
          <p:nvPr/>
        </p:nvSpPr>
        <p:spPr>
          <a:xfrm>
            <a:off x="1060704" y="5431536"/>
            <a:ext cx="4937760" cy="603504"/>
          </a:xfrm>
          <a:prstGeom prst="roundRect">
            <a:avLst>
              <a:gd name="adj" fmla="val 18182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891B14E-BBCE-AC14-B146-9627B41E15C1}"/>
              </a:ext>
            </a:extLst>
          </p:cNvPr>
          <p:cNvSpPr/>
          <p:nvPr/>
        </p:nvSpPr>
        <p:spPr>
          <a:xfrm>
            <a:off x="1243584" y="5623560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Важно: физическая энергия сигнала ≠ воспринимаемая громкость. Для loudness применяют LUFS / ITU-R BS.1770.</a:t>
            </a:r>
            <a:endParaRPr lang="en-US" sz="10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6E7C4C83-3A50-E0CA-43D2-BB0E62346C36}"/>
              </a:ext>
            </a:extLst>
          </p:cNvPr>
          <p:cNvSpPr/>
          <p:nvPr/>
        </p:nvSpPr>
        <p:spPr>
          <a:xfrm>
            <a:off x="6675120" y="1517904"/>
            <a:ext cx="4663440" cy="4791456"/>
          </a:xfrm>
          <a:prstGeom prst="rect">
            <a:avLst/>
          </a:prstGeom>
          <a:solidFill>
            <a:srgbClr val="0B2347"/>
          </a:solidFill>
          <a:ln w="12700">
            <a:solidFill>
              <a:srgbClr val="0B2347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pic>
        <p:nvPicPr>
          <p:cNvPr id="48" name="Image 0" descr="/mnt/data/parseval_mic.jpg">
            <a:extLst>
              <a:ext uri="{FF2B5EF4-FFF2-40B4-BE49-F238E27FC236}">
                <a16:creationId xmlns:a16="http://schemas.microsoft.com/office/drawing/2014/main" id="{EEB681EB-E7FC-916C-B433-2B26201C1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48" b="15748"/>
          <a:stretch/>
        </p:blipFill>
        <p:spPr>
          <a:xfrm>
            <a:off x="6693408" y="1536192"/>
            <a:ext cx="4626864" cy="4754880"/>
          </a:xfrm>
          <a:prstGeom prst="rect">
            <a:avLst/>
          </a:prstGeom>
        </p:spPr>
      </p:pic>
      <p:sp>
        <p:nvSpPr>
          <p:cNvPr id="49" name="Shape 19">
            <a:extLst>
              <a:ext uri="{FF2B5EF4-FFF2-40B4-BE49-F238E27FC236}">
                <a16:creationId xmlns:a16="http://schemas.microsoft.com/office/drawing/2014/main" id="{31A1897A-E67D-13A5-B6B3-5BA1829ECDEC}"/>
              </a:ext>
            </a:extLst>
          </p:cNvPr>
          <p:cNvSpPr/>
          <p:nvPr/>
        </p:nvSpPr>
        <p:spPr>
          <a:xfrm>
            <a:off x="6986016" y="5559552"/>
            <a:ext cx="4005072" cy="402336"/>
          </a:xfrm>
          <a:prstGeom prst="roundRect">
            <a:avLst>
              <a:gd name="adj" fmla="val 18182"/>
            </a:avLst>
          </a:prstGeom>
          <a:solidFill>
            <a:srgbClr val="07162E">
              <a:alpha val="78000"/>
            </a:srgbClr>
          </a:solidFill>
          <a:ln w="12700">
            <a:solidFill>
              <a:srgbClr val="0716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DA9DEB9-BD03-718D-5107-1E3F6C572FF1}"/>
              </a:ext>
            </a:extLst>
          </p:cNvPr>
          <p:cNvSpPr/>
          <p:nvPr/>
        </p:nvSpPr>
        <p:spPr>
          <a:xfrm>
            <a:off x="7150608" y="5650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практике после FFT энергия «уже лежит» в спектре — именно поэтому Parseval так удобен.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61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12620" y="411480"/>
            <a:ext cx="8366760" cy="804672"/>
          </a:xfrm>
          <a:prstGeom prst="roundRect">
            <a:avLst>
              <a:gd name="adj" fmla="val 13636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Text 7"/>
          <p:cNvSpPr/>
          <p:nvPr/>
        </p:nvSpPr>
        <p:spPr>
          <a:xfrm>
            <a:off x="2141220" y="6583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Преобразование Фурье меняет координаты сигнала, но не его энергию.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05228" y="93268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</a:rPr>
              <a:t>Именно в этом состоит центральный смысл равенства Парсеваля.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Shape 10"/>
          <p:cNvSpPr/>
          <p:nvPr/>
        </p:nvSpPr>
        <p:spPr>
          <a:xfrm>
            <a:off x="1069848" y="1636777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1115568" y="165506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МАТЕМАТИКА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984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Равенство нормы элемента и суммы квадратов модулей коэффициентов по ортогональному базису.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443484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4681728" y="1636777"/>
            <a:ext cx="1115568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4727448" y="1655065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ЛИНЕЙНАЯ АЛГЕБРА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8172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После симметричной нормировки ДПФ — унитарное преобразование, которое сохраняет длину вектора.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04672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2B2316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Shape 18"/>
          <p:cNvSpPr/>
          <p:nvPr/>
        </p:nvSpPr>
        <p:spPr>
          <a:xfrm>
            <a:off x="8293608" y="1636777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Text 19"/>
          <p:cNvSpPr/>
          <p:nvPr/>
        </p:nvSpPr>
        <p:spPr>
          <a:xfrm>
            <a:off x="8339328" y="165506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ИНЖЕНЕРИЯ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Теорема позволяет корректно оценивать энергию, проверять алгоритмы и анализировать спектры.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82980" y="3557017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i="1" dirty="0" err="1">
                <a:solidFill>
                  <a:srgbClr val="9FB4C9"/>
                </a:solidFill>
              </a:rPr>
              <a:t>Если</a:t>
            </a:r>
            <a:r>
              <a:rPr lang="en-US" sz="1320" i="1" dirty="0">
                <a:solidFill>
                  <a:srgbClr val="9FB4C9"/>
                </a:solidFill>
              </a:rPr>
              <a:t> после перехода к спектру энергия изменилась, проблема, как правило, не в теореме, а в нормировке </a:t>
            </a:r>
            <a:r>
              <a:rPr lang="en-US" sz="1320" i="1" dirty="0" err="1">
                <a:solidFill>
                  <a:srgbClr val="9FB4C9"/>
                </a:solidFill>
              </a:rPr>
              <a:t>или</a:t>
            </a:r>
            <a:r>
              <a:rPr lang="en-US" sz="1320" i="1" dirty="0">
                <a:solidFill>
                  <a:srgbClr val="9FB4C9"/>
                </a:solidFill>
              </a:rPr>
              <a:t> </a:t>
            </a:r>
            <a:r>
              <a:rPr lang="en-US" sz="1320" i="1" dirty="0" err="1">
                <a:solidFill>
                  <a:srgbClr val="9FB4C9"/>
                </a:solidFill>
              </a:rPr>
              <a:t>реализации</a:t>
            </a:r>
            <a:endParaRPr lang="en-US" sz="132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A600417-F76E-2249-B8D5-04C59385BA39}"/>
              </a:ext>
            </a:extLst>
          </p:cNvPr>
          <p:cNvSpPr/>
          <p:nvPr/>
        </p:nvSpPr>
        <p:spPr>
          <a:xfrm>
            <a:off x="4170066" y="3870025"/>
            <a:ext cx="3510894" cy="772666"/>
          </a:xfrm>
          <a:prstGeom prst="roundRect">
            <a:avLst>
              <a:gd name="adj" fmla="val 10909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005F894-7495-E49A-B8FB-22DA345E9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7680" y="3973069"/>
            <a:ext cx="3383280" cy="493776"/>
          </a:xfrm>
          <a:prstGeom prst="rect">
            <a:avLst/>
          </a:prstGeom>
        </p:spPr>
      </p:pic>
      <p:sp>
        <p:nvSpPr>
          <p:cNvPr id="26" name="Shape 5">
            <a:extLst>
              <a:ext uri="{FF2B5EF4-FFF2-40B4-BE49-F238E27FC236}">
                <a16:creationId xmlns:a16="http://schemas.microsoft.com/office/drawing/2014/main" id="{41177C8B-88FF-5411-EA6D-E70A0EDBC9B5}"/>
              </a:ext>
            </a:extLst>
          </p:cNvPr>
          <p:cNvSpPr/>
          <p:nvPr/>
        </p:nvSpPr>
        <p:spPr>
          <a:xfrm>
            <a:off x="822960" y="4695445"/>
            <a:ext cx="384048" cy="384048"/>
          </a:xfrm>
          <a:prstGeom prst="ellipse">
            <a:avLst/>
          </a:prstGeom>
          <a:solidFill>
            <a:srgbClr val="4FE9FF"/>
          </a:solidFill>
          <a:ln w="12700">
            <a:solidFill>
              <a:srgbClr val="4FE9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7F384E99-A6E6-7D20-EE1E-4F39B51BFC12}"/>
              </a:ext>
            </a:extLst>
          </p:cNvPr>
          <p:cNvSpPr/>
          <p:nvPr/>
        </p:nvSpPr>
        <p:spPr>
          <a:xfrm>
            <a:off x="822960" y="47685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2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80DA0798-E370-82ED-4751-610AAADC6548}"/>
              </a:ext>
            </a:extLst>
          </p:cNvPr>
          <p:cNvSpPr/>
          <p:nvPr/>
        </p:nvSpPr>
        <p:spPr>
          <a:xfrm>
            <a:off x="1426464" y="4677157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Теорема Парсеваля выражает закон сохранения энергии при переходе между представлениями сигнала.</a:t>
            </a:r>
            <a:endParaRPr lang="en-US" sz="162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7A48DFA-8215-7668-66AF-A9B3FB11DC06}"/>
              </a:ext>
            </a:extLst>
          </p:cNvPr>
          <p:cNvSpPr/>
          <p:nvPr/>
        </p:nvSpPr>
        <p:spPr>
          <a:xfrm>
            <a:off x="1426464" y="5097781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19A9C6AB-5150-4AFD-10BE-7CC747356E36}"/>
              </a:ext>
            </a:extLst>
          </p:cNvPr>
          <p:cNvSpPr/>
          <p:nvPr/>
        </p:nvSpPr>
        <p:spPr>
          <a:xfrm>
            <a:off x="822960" y="5536693"/>
            <a:ext cx="384048" cy="384048"/>
          </a:xfrm>
          <a:prstGeom prst="ellipse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B65F047-6BD4-4ADE-A38B-FE7863DCEE76}"/>
              </a:ext>
            </a:extLst>
          </p:cNvPr>
          <p:cNvSpPr/>
          <p:nvPr/>
        </p:nvSpPr>
        <p:spPr>
          <a:xfrm>
            <a:off x="822960" y="5609845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2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EFD3DD7-928B-C20C-0D9F-4EE5F970DFE2}"/>
              </a:ext>
            </a:extLst>
          </p:cNvPr>
          <p:cNvSpPr/>
          <p:nvPr/>
        </p:nvSpPr>
        <p:spPr>
          <a:xfrm>
            <a:off x="1426464" y="5518405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Математически это следствие ортогональности базиса и унитарности преобразования Фурье.</a:t>
            </a:r>
            <a:endParaRPr lang="en-US" sz="162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26CB463-2AAB-0E11-7C8D-6A172817974D}"/>
              </a:ext>
            </a:extLst>
          </p:cNvPr>
          <p:cNvSpPr/>
          <p:nvPr/>
        </p:nvSpPr>
        <p:spPr>
          <a:xfrm>
            <a:off x="1426464" y="5939029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FAC09A15-86E6-5F82-362D-F7DC8EDC1C61}"/>
              </a:ext>
            </a:extLst>
          </p:cNvPr>
          <p:cNvSpPr/>
          <p:nvPr/>
        </p:nvSpPr>
        <p:spPr>
          <a:xfrm>
            <a:off x="822960" y="6377941"/>
            <a:ext cx="384048" cy="384048"/>
          </a:xfrm>
          <a:prstGeom prst="ellipse">
            <a:avLst/>
          </a:prstGeom>
          <a:solidFill>
            <a:srgbClr val="4FE9FF"/>
          </a:solidFill>
          <a:ln w="12700">
            <a:solidFill>
              <a:srgbClr val="4FE9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5889A79-EAAE-E43F-E3AA-8EA15C9A93A7}"/>
              </a:ext>
            </a:extLst>
          </p:cNvPr>
          <p:cNvSpPr/>
          <p:nvPr/>
        </p:nvSpPr>
        <p:spPr>
          <a:xfrm>
            <a:off x="822960" y="645109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2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E4ED2F85-EEA1-2E29-88CA-0CAB86FF6603}"/>
              </a:ext>
            </a:extLst>
          </p:cNvPr>
          <p:cNvSpPr/>
          <p:nvPr/>
        </p:nvSpPr>
        <p:spPr>
          <a:xfrm>
            <a:off x="1426464" y="6359653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Практически это инструмент для БПФ, фильтрации, связи и быстрой проверки корректности алгоритмов.</a:t>
            </a:r>
            <a:endParaRPr lang="en-US" sz="162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86BDE346-437B-739D-FEA3-B851FCBA2E22}"/>
              </a:ext>
            </a:extLst>
          </p:cNvPr>
          <p:cNvSpPr/>
          <p:nvPr/>
        </p:nvSpPr>
        <p:spPr>
          <a:xfrm>
            <a:off x="1426464" y="6780277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1356</Words>
  <Application>Microsoft Macintosh PowerPoint</Application>
  <PresentationFormat>Широкоэкранный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Inter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Теорема Парсеваля — презентация к реферату</dc:title>
  <dc:subject>Теорема Парсеваля</dc:subject>
  <dc:creator>OpenAI</dc:creator>
  <cp:lastModifiedBy>Roman Vlasov</cp:lastModifiedBy>
  <cp:revision>8</cp:revision>
  <dcterms:created xsi:type="dcterms:W3CDTF">2026-03-08T08:32:28Z</dcterms:created>
  <dcterms:modified xsi:type="dcterms:W3CDTF">2026-05-25T21:31:26Z</dcterms:modified>
</cp:coreProperties>
</file>