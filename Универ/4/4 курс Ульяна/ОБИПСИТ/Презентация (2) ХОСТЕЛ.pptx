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7" r:id="rId2"/>
    <p:sldId id="260" r:id="rId3"/>
    <p:sldId id="261" r:id="rId4"/>
    <p:sldId id="263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80" r:id="rId14"/>
    <p:sldId id="281" r:id="rId15"/>
    <p:sldId id="282" r:id="rId16"/>
    <p:sldId id="284" r:id="rId17"/>
    <p:sldId id="283" r:id="rId18"/>
    <p:sldId id="285" r:id="rId19"/>
    <p:sldId id="286" r:id="rId20"/>
    <p:sldId id="287" r:id="rId21"/>
    <p:sldId id="288" r:id="rId22"/>
    <p:sldId id="256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8"/>
    <a:srgbClr val="FFFFFF"/>
    <a:srgbClr val="000000"/>
    <a:srgbClr val="5B9BD5"/>
    <a:srgbClr val="A2B3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26"/>
  </p:normalViewPr>
  <p:slideViewPr>
    <p:cSldViewPr snapToGrid="0">
      <p:cViewPr>
        <p:scale>
          <a:sx n="86" d="100"/>
          <a:sy n="86" d="100"/>
        </p:scale>
        <p:origin x="1592" y="5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8866-EE25-4BF7-A5E9-9851569B316D}" type="datetimeFigureOut">
              <a:rPr lang="ru-RU" smtClean="0"/>
              <a:pPr/>
              <a:t>09.05.2025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C31644-8190-4E8E-A286-331DFB06F58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0043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C31644-8190-4E8E-A286-331DFB06F580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81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93BA-CACE-472D-9DCC-B8B479F18AF8}" type="datetimeFigureOut">
              <a:rPr lang="ru-RU" smtClean="0"/>
              <a:pPr/>
              <a:t>09.05.2025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7FE5-82A3-42D9-9CDE-034D24C9226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2689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93BA-CACE-472D-9DCC-B8B479F18AF8}" type="datetimeFigureOut">
              <a:rPr lang="ru-RU" smtClean="0"/>
              <a:pPr/>
              <a:t>09.05.2025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7FE5-82A3-42D9-9CDE-034D24C9226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7055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93BA-CACE-472D-9DCC-B8B479F18AF8}" type="datetimeFigureOut">
              <a:rPr lang="ru-RU" smtClean="0"/>
              <a:pPr/>
              <a:t>09.05.2025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7FE5-82A3-42D9-9CDE-034D24C9226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4085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93BA-CACE-472D-9DCC-B8B479F18AF8}" type="datetimeFigureOut">
              <a:rPr lang="ru-RU" smtClean="0"/>
              <a:pPr/>
              <a:t>09.05.2025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7FE5-82A3-42D9-9CDE-034D24C9226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9387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93BA-CACE-472D-9DCC-B8B479F18AF8}" type="datetimeFigureOut">
              <a:rPr lang="ru-RU" smtClean="0"/>
              <a:pPr/>
              <a:t>09.05.2025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7FE5-82A3-42D9-9CDE-034D24C9226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2749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93BA-CACE-472D-9DCC-B8B479F18AF8}" type="datetimeFigureOut">
              <a:rPr lang="ru-RU" smtClean="0"/>
              <a:pPr/>
              <a:t>09.05.2025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7FE5-82A3-42D9-9CDE-034D24C9226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4596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93BA-CACE-472D-9DCC-B8B479F18AF8}" type="datetimeFigureOut">
              <a:rPr lang="ru-RU" smtClean="0"/>
              <a:pPr/>
              <a:t>09.05.2025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7FE5-82A3-42D9-9CDE-034D24C9226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6221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93BA-CACE-472D-9DCC-B8B479F18AF8}" type="datetimeFigureOut">
              <a:rPr lang="ru-RU" smtClean="0"/>
              <a:pPr/>
              <a:t>09.05.2025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7FE5-82A3-42D9-9CDE-034D24C9226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2122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93BA-CACE-472D-9DCC-B8B479F18AF8}" type="datetimeFigureOut">
              <a:rPr lang="ru-RU" smtClean="0"/>
              <a:pPr/>
              <a:t>09.05.2025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7FE5-82A3-42D9-9CDE-034D24C9226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676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93BA-CACE-472D-9DCC-B8B479F18AF8}" type="datetimeFigureOut">
              <a:rPr lang="ru-RU" smtClean="0"/>
              <a:pPr/>
              <a:t>09.05.2025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7FE5-82A3-42D9-9CDE-034D24C9226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4434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93BA-CACE-472D-9DCC-B8B479F18AF8}" type="datetimeFigureOut">
              <a:rPr lang="ru-RU" smtClean="0"/>
              <a:pPr/>
              <a:t>09.05.2025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7FE5-82A3-42D9-9CDE-034D24C9226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4997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5893BA-CACE-472D-9DCC-B8B479F18AF8}" type="datetimeFigureOut">
              <a:rPr lang="ru-RU" smtClean="0"/>
              <a:pPr/>
              <a:t>09.05.2025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F77FE5-82A3-42D9-9CDE-034D24C9226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3621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266695556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119777" y="-29501"/>
            <a:ext cx="6350000" cy="6887501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46200" y="255813"/>
            <a:ext cx="5727700" cy="4989287"/>
          </a:xfrm>
        </p:spPr>
        <p:txBody>
          <a:bodyPr>
            <a:normAutofit/>
          </a:bodyPr>
          <a:lstStyle/>
          <a:p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БИЗНЕС-ПЛАН </a:t>
            </a:r>
            <a:b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инвестиционного проекта</a:t>
            </a:r>
            <a:b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«Организация </a:t>
            </a:r>
            <a:r>
              <a:rPr lang="ru-RU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хостела</a:t>
            </a:r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244599" y="5826034"/>
            <a:ext cx="6083663" cy="909962"/>
          </a:xfrm>
        </p:spPr>
        <p:txBody>
          <a:bodyPr>
            <a:normAutofit fontScale="70000" lnSpcReduction="20000"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ru-RU" b="1" dirty="0">
                <a:ln/>
                <a:solidFill>
                  <a:schemeClr val="tx1">
                    <a:lumMod val="75000"/>
                    <a:lumOff val="25000"/>
                  </a:schemeClr>
                </a:solidFill>
              </a:rPr>
              <a:t>Группа 851003</a:t>
            </a:r>
          </a:p>
          <a:p>
            <a:r>
              <a:rPr lang="ru-RU" b="1" dirty="0">
                <a:ln/>
                <a:solidFill>
                  <a:schemeClr val="tx1">
                    <a:lumMod val="75000"/>
                    <a:lumOff val="25000"/>
                  </a:schemeClr>
                </a:solidFill>
              </a:rPr>
              <a:t>Авторы: Селевич А., Морозов  Ю., </a:t>
            </a:r>
            <a:r>
              <a:rPr lang="ru-RU" b="1" dirty="0" err="1">
                <a:ln/>
                <a:solidFill>
                  <a:schemeClr val="tx1">
                    <a:lumMod val="75000"/>
                    <a:lumOff val="25000"/>
                  </a:schemeClr>
                </a:solidFill>
              </a:rPr>
              <a:t>Бутрим</a:t>
            </a:r>
            <a:r>
              <a:rPr lang="ru-RU" b="1" dirty="0">
                <a:ln/>
                <a:solidFill>
                  <a:schemeClr val="tx1">
                    <a:lumMod val="75000"/>
                    <a:lumOff val="25000"/>
                  </a:schemeClr>
                </a:solidFill>
              </a:rPr>
              <a:t> А., </a:t>
            </a:r>
          </a:p>
          <a:p>
            <a:r>
              <a:rPr lang="ru-RU" b="1" dirty="0" err="1">
                <a:ln/>
                <a:solidFill>
                  <a:schemeClr val="tx1">
                    <a:lumMod val="75000"/>
                    <a:lumOff val="25000"/>
                  </a:schemeClr>
                </a:solidFill>
              </a:rPr>
              <a:t>Синякович</a:t>
            </a:r>
            <a:r>
              <a:rPr lang="ru-RU" b="1" dirty="0">
                <a:ln/>
                <a:solidFill>
                  <a:schemeClr val="tx1">
                    <a:lumMod val="75000"/>
                    <a:lumOff val="25000"/>
                  </a:schemeClr>
                </a:solidFill>
              </a:rPr>
              <a:t> Ю., Шульга К., Кисель А. </a:t>
            </a:r>
          </a:p>
        </p:txBody>
      </p:sp>
    </p:spTree>
    <p:extLst>
      <p:ext uri="{BB962C8B-B14F-4D97-AF65-F5344CB8AC3E}">
        <p14:creationId xmlns:p14="http://schemas.microsoft.com/office/powerpoint/2010/main" val="1810678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8498" y="397305"/>
            <a:ext cx="5593156" cy="1340051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dirty="0">
                <a:latin typeface="Times New Roman"/>
                <a:ea typeface="Calibri"/>
              </a:rPr>
              <a:t>ООО «</a:t>
            </a:r>
            <a:r>
              <a:rPr lang="ru-RU" dirty="0" err="1">
                <a:latin typeface="Times New Roman"/>
                <a:ea typeface="Calibri"/>
              </a:rPr>
              <a:t>Спэйсбокс-хостел</a:t>
            </a:r>
            <a:r>
              <a:rPr lang="ru-RU" dirty="0">
                <a:latin typeface="Times New Roman"/>
                <a:ea typeface="Calibri"/>
              </a:rPr>
              <a:t>»</a:t>
            </a:r>
          </a:p>
          <a:p>
            <a:pPr marL="0" indent="0" algn="ctr">
              <a:buNone/>
            </a:pPr>
            <a:endParaRPr lang="ru-RU" sz="3200" dirty="0">
              <a:latin typeface="Times New Roman"/>
              <a:ea typeface="Calibri"/>
            </a:endParaRPr>
          </a:p>
          <a:p>
            <a:pPr marL="0" indent="0" algn="ctr">
              <a:buNone/>
            </a:pPr>
            <a:endParaRPr lang="ru-RU" sz="3200" dirty="0">
              <a:latin typeface="Times New Roman"/>
              <a:ea typeface="Calibri"/>
            </a:endParaRPr>
          </a:p>
          <a:p>
            <a:pPr marL="0" indent="0" algn="ctr">
              <a:buNone/>
            </a:pPr>
            <a:r>
              <a:rPr lang="ru-RU" sz="3200" dirty="0">
                <a:latin typeface="Times New Roman"/>
                <a:ea typeface="Calibri"/>
              </a:rPr>
              <a:t> </a:t>
            </a:r>
          </a:p>
          <a:p>
            <a:pPr marL="0" indent="0" algn="ctr">
              <a:buNone/>
            </a:pPr>
            <a:r>
              <a:rPr lang="ru-RU" sz="3600" b="1" dirty="0" err="1">
                <a:latin typeface="Times New Roman"/>
                <a:cs typeface="Leelawadee UI" panose="020B0502040204020203" pitchFamily="34" charset="-34"/>
              </a:rPr>
              <a:t>Хостел</a:t>
            </a:r>
            <a:r>
              <a:rPr lang="ru-RU" sz="3600" b="1" dirty="0">
                <a:latin typeface="Times New Roman"/>
                <a:cs typeface="Leelawadee UI" panose="020B0502040204020203" pitchFamily="34" charset="-34"/>
              </a:rPr>
              <a:t> «</a:t>
            </a:r>
            <a:r>
              <a:rPr lang="en-US" sz="3600" b="1" dirty="0" err="1">
                <a:latin typeface="Times New Roman"/>
                <a:cs typeface="Leelawadee UI" panose="020B0502040204020203" pitchFamily="34" charset="-34"/>
              </a:rPr>
              <a:t>SpaceBox</a:t>
            </a:r>
            <a:r>
              <a:rPr lang="ru-RU" sz="3600" b="1" dirty="0">
                <a:latin typeface="Times New Roman"/>
                <a:cs typeface="Leelawadee UI" panose="020B0502040204020203" pitchFamily="34" charset="-34"/>
              </a:rPr>
              <a:t>»</a:t>
            </a:r>
            <a:r>
              <a:rPr lang="ru-RU" sz="3600" b="1" dirty="0">
                <a:latin typeface="Times New Roman" panose="02020603050405020304" pitchFamily="18" charset="0"/>
                <a:cs typeface="Leelawadee UI" panose="020B0502040204020203" pitchFamily="34" charset="-34"/>
              </a:rPr>
              <a:t> </a:t>
            </a:r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Прямая соединительная линия 16"/>
          <p:cNvCxnSpPr/>
          <p:nvPr/>
        </p:nvCxnSpPr>
        <p:spPr>
          <a:xfrm>
            <a:off x="1281380" y="5029380"/>
            <a:ext cx="55931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Заголовок 1"/>
          <p:cNvSpPr>
            <a:spLocks noGrp="1"/>
          </p:cNvSpPr>
          <p:nvPr>
            <p:ph type="title"/>
          </p:nvPr>
        </p:nvSpPr>
        <p:spPr>
          <a:xfrm rot="16200000">
            <a:off x="-1355725" y="4087370"/>
            <a:ext cx="4085866" cy="994566"/>
          </a:xfrm>
        </p:spPr>
        <p:txBody>
          <a:bodyPr/>
          <a:lstStyle/>
          <a:p>
            <a:r>
              <a:rPr lang="ru-RU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  предприятии</a:t>
            </a:r>
          </a:p>
        </p:txBody>
      </p:sp>
      <p:sp>
        <p:nvSpPr>
          <p:cNvPr id="24" name="Объект 2"/>
          <p:cNvSpPr txBox="1">
            <a:spLocks/>
          </p:cNvSpPr>
          <p:nvPr/>
        </p:nvSpPr>
        <p:spPr>
          <a:xfrm>
            <a:off x="1333631" y="5265707"/>
            <a:ext cx="5593156" cy="12663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организация, главной целью которой является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предоставление комфортного и уникального места для ночлега.</a:t>
            </a:r>
          </a:p>
        </p:txBody>
      </p:sp>
      <p:pic>
        <p:nvPicPr>
          <p:cNvPr id="11" name="Рисунок 10" descr="201766690.jpg"/>
          <p:cNvPicPr>
            <a:picLocks noChangeAspect="1"/>
          </p:cNvPicPr>
          <p:nvPr/>
        </p:nvPicPr>
        <p:blipFill>
          <a:blip r:embed="rId2" cstate="print"/>
          <a:srcRect l="14927" r="6289"/>
          <a:stretch>
            <a:fillRect/>
          </a:stretch>
        </p:blipFill>
        <p:spPr>
          <a:xfrm>
            <a:off x="7014761" y="0"/>
            <a:ext cx="5551716" cy="6858000"/>
          </a:xfrm>
          <a:prstGeom prst="rect">
            <a:avLst/>
          </a:prstGeom>
        </p:spPr>
      </p:pic>
      <p:sp>
        <p:nvSpPr>
          <p:cNvPr id="35" name="Прямоугольник 34"/>
          <p:cNvSpPr/>
          <p:nvPr/>
        </p:nvSpPr>
        <p:spPr>
          <a:xfrm>
            <a:off x="6871062" y="0"/>
            <a:ext cx="5695407" cy="68580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3" name="Прямая соединительная линия 12"/>
          <p:cNvCxnSpPr/>
          <p:nvPr/>
        </p:nvCxnSpPr>
        <p:spPr>
          <a:xfrm>
            <a:off x="1224775" y="1040854"/>
            <a:ext cx="55931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0691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16200000">
            <a:off x="-1146968" y="4110415"/>
            <a:ext cx="3657600" cy="1325563"/>
          </a:xfrm>
        </p:spPr>
        <p:txBody>
          <a:bodyPr/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Расположение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554164" y="871963"/>
            <a:ext cx="5437186" cy="529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Aft>
                <a:spcPts val="0"/>
              </a:spcAft>
            </a:pPr>
            <a:r>
              <a:rPr lang="ru-RU" sz="2000" dirty="0" err="1">
                <a:latin typeface="Times New Roman"/>
                <a:ea typeface="Calibri"/>
              </a:rPr>
              <a:t>Хостел</a:t>
            </a:r>
            <a:r>
              <a:rPr lang="ru-RU" sz="2000" dirty="0">
                <a:latin typeface="Times New Roman"/>
                <a:ea typeface="Calibri"/>
              </a:rPr>
              <a:t> представляет собой капсульные комнаты, оснащенные самыми последними технологиями. Есть небольшое пространство с креслами, где можно как поработать за ноутбуком, так и посмотреть телевизор.</a:t>
            </a:r>
          </a:p>
          <a:p>
            <a:pPr indent="450215" algn="just"/>
            <a:r>
              <a:rPr lang="ru-RU" sz="2000" dirty="0">
                <a:latin typeface="Times New Roman"/>
                <a:ea typeface="Calibri"/>
              </a:rPr>
              <a:t>В помещении </a:t>
            </a:r>
            <a:r>
              <a:rPr lang="ru-RU" sz="2000" dirty="0" err="1">
                <a:latin typeface="Times New Roman"/>
                <a:ea typeface="Calibri"/>
              </a:rPr>
              <a:t>хостела</a:t>
            </a:r>
            <a:r>
              <a:rPr lang="ru-RU" sz="2000" dirty="0">
                <a:latin typeface="Times New Roman"/>
                <a:ea typeface="Calibri"/>
              </a:rPr>
              <a:t> около входа есть камеры хранения, кухня, столовая зона, а также санузел.</a:t>
            </a:r>
          </a:p>
          <a:p>
            <a:pPr indent="450215" algn="just"/>
            <a:endParaRPr lang="ru-RU" sz="2000" dirty="0">
              <a:latin typeface="Times New Roman"/>
              <a:ea typeface="Calibri"/>
            </a:endParaRPr>
          </a:p>
          <a:p>
            <a:pPr indent="450215" algn="just"/>
            <a:r>
              <a:rPr lang="ru-RU" sz="2000" dirty="0" err="1">
                <a:latin typeface="Times New Roman"/>
                <a:ea typeface="Calibri"/>
              </a:rPr>
              <a:t>Хостел</a:t>
            </a:r>
            <a:r>
              <a:rPr lang="ru-RU" sz="2000" dirty="0">
                <a:latin typeface="Times New Roman"/>
                <a:ea typeface="Calibri"/>
              </a:rPr>
              <a:t> предоставляет следующие услуги:</a:t>
            </a:r>
          </a:p>
          <a:p>
            <a:pPr lvl="1" indent="450215" algn="just">
              <a:buFont typeface="Arial" pitchFamily="34" charset="0"/>
              <a:buChar char="•"/>
            </a:pPr>
            <a:r>
              <a:rPr lang="ru-RU" sz="2000" dirty="0">
                <a:latin typeface="Times New Roman"/>
                <a:ea typeface="Calibri"/>
              </a:rPr>
              <a:t>проживание в капсульных номерах с вместимостью для 1 человека;</a:t>
            </a:r>
          </a:p>
          <a:p>
            <a:pPr lvl="1" indent="450215" algn="just">
              <a:buFont typeface="Arial" pitchFamily="34" charset="0"/>
              <a:buChar char="•"/>
            </a:pPr>
            <a:r>
              <a:rPr lang="ru-RU" sz="2000" dirty="0">
                <a:latin typeface="Times New Roman"/>
                <a:ea typeface="Calibri"/>
              </a:rPr>
              <a:t>бесплатный WI-FI;</a:t>
            </a:r>
          </a:p>
          <a:p>
            <a:pPr lvl="1" indent="450215" algn="just">
              <a:buFont typeface="Arial" pitchFamily="34" charset="0"/>
              <a:buChar char="•"/>
            </a:pPr>
            <a:r>
              <a:rPr lang="ru-RU" sz="2000" dirty="0">
                <a:latin typeface="Times New Roman"/>
                <a:ea typeface="Calibri"/>
              </a:rPr>
              <a:t>камера хранения;</a:t>
            </a:r>
          </a:p>
          <a:p>
            <a:pPr lvl="1" indent="450215" algn="just">
              <a:buFont typeface="Arial" pitchFamily="34" charset="0"/>
              <a:buChar char="•"/>
            </a:pPr>
            <a:r>
              <a:rPr lang="ru-RU" sz="2000" dirty="0">
                <a:latin typeface="Times New Roman"/>
                <a:ea typeface="Calibri"/>
              </a:rPr>
              <a:t>экстренная уборка;</a:t>
            </a:r>
          </a:p>
          <a:p>
            <a:pPr lvl="1" indent="450215" algn="just">
              <a:buFont typeface="Arial" pitchFamily="34" charset="0"/>
              <a:buChar char="•"/>
            </a:pPr>
            <a:r>
              <a:rPr lang="ru-RU" sz="2000" dirty="0">
                <a:latin typeface="Times New Roman"/>
                <a:ea typeface="Calibri"/>
              </a:rPr>
              <a:t>общая кухня;</a:t>
            </a:r>
          </a:p>
          <a:p>
            <a:pPr lvl="1" indent="450215" algn="just">
              <a:buFont typeface="Arial" pitchFamily="34" charset="0"/>
              <a:buChar char="•"/>
            </a:pPr>
            <a:r>
              <a:rPr lang="ru-RU" sz="2000" dirty="0">
                <a:latin typeface="Times New Roman"/>
                <a:ea typeface="Calibri"/>
              </a:rPr>
              <a:t>телевизор в каждой капсульной комнате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1554164" y="495300"/>
            <a:ext cx="5410200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1554164" y="6305550"/>
            <a:ext cx="5227636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Рисунок 7"/>
          <p:cNvPicPr>
            <a:picLocks noChangeAspect="1" noChangeArrowheads="1"/>
          </p:cNvPicPr>
          <p:nvPr/>
        </p:nvPicPr>
        <p:blipFill>
          <a:blip r:embed="rId2" cstate="print"/>
          <a:srcRect l="12589" t="20234" r="26014" b="9083"/>
          <a:stretch>
            <a:fillRect/>
          </a:stretch>
        </p:blipFill>
        <p:spPr bwMode="auto">
          <a:xfrm rot="5400000">
            <a:off x="6532620" y="1201802"/>
            <a:ext cx="6861178" cy="4457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80201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 descr="8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71650" y="0"/>
            <a:ext cx="10420350" cy="6858001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16200000">
            <a:off x="-1862043" y="3646395"/>
            <a:ext cx="5549900" cy="873313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Общая характеристика рынка</a:t>
            </a:r>
          </a:p>
        </p:txBody>
      </p:sp>
      <p:sp>
        <p:nvSpPr>
          <p:cNvPr id="24" name="Прямоугольник 23"/>
          <p:cNvSpPr/>
          <p:nvPr/>
        </p:nvSpPr>
        <p:spPr>
          <a:xfrm>
            <a:off x="1752601" y="0"/>
            <a:ext cx="6305549" cy="68580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бъект 4"/>
          <p:cNvSpPr txBox="1">
            <a:spLocks/>
          </p:cNvSpPr>
          <p:nvPr/>
        </p:nvSpPr>
        <p:spPr>
          <a:xfrm>
            <a:off x="2057400" y="647700"/>
            <a:ext cx="5410200" cy="58483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dirty="0">
                <a:latin typeface="Times New Roman"/>
                <a:ea typeface="Calibri"/>
              </a:rPr>
              <a:t>На сегодня в столице около 58 </a:t>
            </a:r>
            <a:r>
              <a:rPr lang="ru-RU" dirty="0" err="1">
                <a:latin typeface="Times New Roman"/>
                <a:ea typeface="Calibri"/>
              </a:rPr>
              <a:t>хостелов</a:t>
            </a:r>
            <a:r>
              <a:rPr lang="ru-RU" dirty="0">
                <a:latin typeface="Times New Roman"/>
                <a:ea typeface="Calibri"/>
              </a:rPr>
              <a:t>, во всей Беларуси это значение превосходит значение 100. В условиях кризиса </a:t>
            </a:r>
            <a:r>
              <a:rPr lang="ru-RU" dirty="0" err="1">
                <a:latin typeface="Times New Roman"/>
                <a:ea typeface="Calibri"/>
              </a:rPr>
              <a:t>хостелы</a:t>
            </a:r>
            <a:r>
              <a:rPr lang="ru-RU" dirty="0">
                <a:latin typeface="Times New Roman"/>
                <a:ea typeface="Calibri"/>
              </a:rPr>
              <a:t> пользуются все большей популярностью</a:t>
            </a:r>
          </a:p>
          <a:p>
            <a:pPr marL="0" indent="0" algn="r">
              <a:buNone/>
            </a:pPr>
            <a:r>
              <a:rPr lang="ru-RU" dirty="0">
                <a:latin typeface="Times New Roman"/>
                <a:ea typeface="Calibri"/>
              </a:rPr>
              <a:t>Подобный бизнес развит в Беларуси и занимает прочную позицию, особенно в жизни людей в областных центрах.</a:t>
            </a:r>
          </a:p>
          <a:p>
            <a:pPr marL="0" indent="0" algn="r">
              <a:buNone/>
            </a:pPr>
            <a:endParaRPr lang="ru-RU" dirty="0">
              <a:latin typeface="Times New Roman"/>
              <a:cs typeface="Times New Roman" panose="02020603050405020304" pitchFamily="18" charset="0"/>
            </a:endParaRPr>
          </a:p>
          <a:p>
            <a:pPr marL="0" indent="0" algn="r">
              <a:buNone/>
            </a:pPr>
            <a:r>
              <a:rPr lang="ru-RU" dirty="0">
                <a:latin typeface="Times New Roman"/>
                <a:ea typeface="Calibri"/>
              </a:rPr>
              <a:t>В качестве потенциальных гостей </a:t>
            </a:r>
            <a:r>
              <a:rPr lang="ru-RU" dirty="0" err="1">
                <a:latin typeface="Times New Roman"/>
                <a:ea typeface="Calibri"/>
              </a:rPr>
              <a:t>хостела</a:t>
            </a:r>
            <a:r>
              <a:rPr lang="ru-RU" dirty="0">
                <a:latin typeface="Times New Roman"/>
                <a:ea typeface="Calibri"/>
              </a:rPr>
              <a:t> можно рассматривать все население мира в возрасте от 18 до 35 лет.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105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 descr="8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71650" y="0"/>
            <a:ext cx="10420350" cy="6858001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16200000">
            <a:off x="-1862043" y="3551145"/>
            <a:ext cx="5549900" cy="873313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Оценка емкости и потенциала</a:t>
            </a:r>
          </a:p>
        </p:txBody>
      </p:sp>
      <p:sp>
        <p:nvSpPr>
          <p:cNvPr id="24" name="Прямоугольник 23"/>
          <p:cNvSpPr/>
          <p:nvPr/>
        </p:nvSpPr>
        <p:spPr>
          <a:xfrm>
            <a:off x="1752601" y="0"/>
            <a:ext cx="6305549" cy="68580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бъект 4"/>
          <p:cNvSpPr txBox="1">
            <a:spLocks/>
          </p:cNvSpPr>
          <p:nvPr/>
        </p:nvSpPr>
        <p:spPr>
          <a:xfrm>
            <a:off x="2057400" y="647700"/>
            <a:ext cx="5410200" cy="5848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450215" algn="ctr">
              <a:spcAft>
                <a:spcPts val="0"/>
              </a:spcAft>
              <a:buNone/>
            </a:pPr>
            <a:r>
              <a:rPr lang="ru-RU" sz="3200" dirty="0" err="1">
                <a:latin typeface="Times New Roman"/>
                <a:ea typeface="Calibri"/>
              </a:rPr>
              <a:t>Хостел</a:t>
            </a:r>
            <a:r>
              <a:rPr lang="ru-RU" sz="3200" dirty="0">
                <a:latin typeface="Times New Roman"/>
                <a:ea typeface="Calibri"/>
              </a:rPr>
              <a:t> открывается в мае 2024 года, в месяц планируется обслуживать до 55 постояльцев (в день по 2-3 человека). Этому способствует выгодное расположение </a:t>
            </a:r>
            <a:r>
              <a:rPr lang="ru-RU" sz="3200" dirty="0" err="1">
                <a:latin typeface="Times New Roman"/>
                <a:ea typeface="Calibri"/>
              </a:rPr>
              <a:t>хостела</a:t>
            </a:r>
            <a:r>
              <a:rPr lang="ru-RU" sz="3200" dirty="0">
                <a:latin typeface="Times New Roman"/>
                <a:ea typeface="Calibri"/>
              </a:rPr>
              <a:t> – большое количество достопримечательностей поблизости, выгодное расположение по отношению к главным станциям метро города.</a:t>
            </a:r>
          </a:p>
        </p:txBody>
      </p:sp>
    </p:spTree>
    <p:extLst>
      <p:ext uri="{BB962C8B-B14F-4D97-AF65-F5344CB8AC3E}">
        <p14:creationId xmlns:p14="http://schemas.microsoft.com/office/powerpoint/2010/main" val="963105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16200000">
            <a:off x="-2090643" y="3493995"/>
            <a:ext cx="5549900" cy="873313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конкуренты</a:t>
            </a:r>
          </a:p>
        </p:txBody>
      </p:sp>
      <p:sp>
        <p:nvSpPr>
          <p:cNvPr id="20" name="Объект 4"/>
          <p:cNvSpPr txBox="1">
            <a:spLocks/>
          </p:cNvSpPr>
          <p:nvPr/>
        </p:nvSpPr>
        <p:spPr>
          <a:xfrm>
            <a:off x="742950" y="495300"/>
            <a:ext cx="4876800" cy="584835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7415" indent="-457200"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3200" b="1" dirty="0">
                <a:latin typeface="Times New Roman"/>
                <a:ea typeface="Times New Roman"/>
              </a:rPr>
              <a:t> 	</a:t>
            </a:r>
            <a:r>
              <a:rPr lang="ru-RU" sz="3200" b="1" dirty="0" err="1">
                <a:latin typeface="Times New Roman"/>
                <a:ea typeface="Times New Roman"/>
              </a:rPr>
              <a:t>Хостел</a:t>
            </a:r>
            <a:r>
              <a:rPr lang="ru-RU" sz="3200" b="1" dirty="0">
                <a:latin typeface="Times New Roman"/>
                <a:ea typeface="Times New Roman"/>
              </a:rPr>
              <a:t> «</a:t>
            </a:r>
            <a:r>
              <a:rPr lang="en-US" sz="3200" b="1" dirty="0" err="1">
                <a:latin typeface="Times New Roman"/>
                <a:ea typeface="Times New Roman"/>
              </a:rPr>
              <a:t>Flatcom</a:t>
            </a:r>
            <a:r>
              <a:rPr lang="ru-RU" sz="3200" b="1" dirty="0">
                <a:latin typeface="Times New Roman"/>
                <a:ea typeface="Times New Roman"/>
              </a:rPr>
              <a:t>»</a:t>
            </a:r>
          </a:p>
          <a:p>
            <a:pPr marL="907415" indent="-457200"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2600" b="1" dirty="0">
                <a:latin typeface="Times New Roman"/>
                <a:ea typeface="Times New Roman"/>
              </a:rPr>
              <a:t>Расположение</a:t>
            </a:r>
            <a:r>
              <a:rPr lang="ru-RU" sz="2600" dirty="0">
                <a:latin typeface="Times New Roman"/>
                <a:ea typeface="Times New Roman"/>
              </a:rPr>
              <a:t>: </a:t>
            </a:r>
            <a:r>
              <a:rPr lang="ru-RU" sz="2400" dirty="0">
                <a:latin typeface="Times New Roman"/>
                <a:ea typeface="Calibri"/>
              </a:rPr>
              <a:t>ул. </a:t>
            </a:r>
            <a:r>
              <a:rPr lang="ru-RU" sz="2400" dirty="0" err="1">
                <a:latin typeface="Times New Roman"/>
                <a:ea typeface="Calibri"/>
              </a:rPr>
              <a:t>Притыцкого</a:t>
            </a:r>
            <a:r>
              <a:rPr lang="ru-RU" sz="2400" dirty="0">
                <a:latin typeface="Times New Roman"/>
                <a:ea typeface="Calibri"/>
              </a:rPr>
              <a:t>, 2</a:t>
            </a:r>
            <a:endParaRPr lang="ru-RU" sz="2600" dirty="0">
              <a:latin typeface="Times New Roman"/>
              <a:ea typeface="Times New Roman"/>
            </a:endParaRPr>
          </a:p>
          <a:p>
            <a:pPr marL="907415" indent="-457200"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2600" b="1" dirty="0">
                <a:latin typeface="Times New Roman"/>
                <a:ea typeface="Times New Roman"/>
              </a:rPr>
              <a:t>Время работы</a:t>
            </a:r>
            <a:r>
              <a:rPr lang="ru-RU" sz="2600" dirty="0">
                <a:latin typeface="Times New Roman"/>
                <a:ea typeface="Times New Roman"/>
              </a:rPr>
              <a:t>: 24/7</a:t>
            </a:r>
          </a:p>
          <a:p>
            <a:pPr marL="907415" indent="-457200"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2600" b="1" dirty="0">
                <a:latin typeface="Times New Roman"/>
                <a:ea typeface="Times New Roman"/>
              </a:rPr>
              <a:t>Время </a:t>
            </a:r>
            <a:r>
              <a:rPr lang="ru-RU" sz="2600" b="1" dirty="0" err="1">
                <a:latin typeface="Times New Roman"/>
                <a:ea typeface="Times New Roman"/>
              </a:rPr>
              <a:t>отьезда</a:t>
            </a:r>
            <a:r>
              <a:rPr lang="ru-RU" sz="2600" dirty="0">
                <a:latin typeface="Times New Roman"/>
                <a:ea typeface="Times New Roman"/>
              </a:rPr>
              <a:t>: 12-00</a:t>
            </a:r>
          </a:p>
          <a:p>
            <a:pPr marL="907415" indent="-457200"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2600" b="1" dirty="0" err="1">
                <a:latin typeface="Times New Roman"/>
                <a:ea typeface="Times New Roman"/>
              </a:rPr>
              <a:t>Инф-ия</a:t>
            </a:r>
            <a:r>
              <a:rPr lang="ru-RU" sz="2600" b="1" dirty="0">
                <a:latin typeface="Times New Roman"/>
                <a:ea typeface="Times New Roman"/>
              </a:rPr>
              <a:t> в интернете</a:t>
            </a:r>
            <a:r>
              <a:rPr lang="ru-RU" sz="2600" dirty="0">
                <a:latin typeface="Times New Roman"/>
                <a:ea typeface="Times New Roman"/>
              </a:rPr>
              <a:t>: </a:t>
            </a:r>
            <a:r>
              <a:rPr lang="ru-RU" sz="2400" dirty="0">
                <a:solidFill>
                  <a:srgbClr val="000000"/>
                </a:solidFill>
                <a:latin typeface="Times New Roman"/>
                <a:ea typeface="Calibri"/>
              </a:rPr>
              <a:t>Информация на </a:t>
            </a:r>
            <a:r>
              <a:rPr lang="ru-RU" sz="2400" dirty="0" err="1">
                <a:solidFill>
                  <a:srgbClr val="000000"/>
                </a:solidFill>
                <a:latin typeface="Times New Roman"/>
                <a:ea typeface="Calibri"/>
              </a:rPr>
              <a:t>гугл</a:t>
            </a:r>
            <a:r>
              <a:rPr lang="ru-RU" sz="2400" dirty="0">
                <a:solidFill>
                  <a:srgbClr val="000000"/>
                </a:solidFill>
                <a:latin typeface="Times New Roman"/>
                <a:ea typeface="Calibri"/>
              </a:rPr>
              <a:t> карте (фотографии, время работы), выдача при поисковых запросах, сайт</a:t>
            </a:r>
            <a:endParaRPr lang="ru-RU" sz="2600" dirty="0">
              <a:latin typeface="Times New Roman"/>
              <a:ea typeface="Times New Roman"/>
            </a:endParaRPr>
          </a:p>
          <a:p>
            <a:pPr marL="907415" indent="-457200"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2600" b="1" dirty="0">
                <a:latin typeface="Times New Roman"/>
                <a:ea typeface="Times New Roman"/>
              </a:rPr>
              <a:t>Система скидок</a:t>
            </a:r>
            <a:r>
              <a:rPr lang="ru-RU" sz="2600" dirty="0">
                <a:latin typeface="Times New Roman"/>
                <a:ea typeface="Times New Roman"/>
              </a:rPr>
              <a:t>: нет</a:t>
            </a:r>
          </a:p>
          <a:p>
            <a:pPr marL="907415" indent="-457200"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2600" b="1" dirty="0">
                <a:latin typeface="Times New Roman"/>
                <a:ea typeface="Times New Roman"/>
              </a:rPr>
              <a:t>Парковка</a:t>
            </a:r>
            <a:r>
              <a:rPr lang="ru-RU" sz="2600" dirty="0">
                <a:latin typeface="Times New Roman"/>
                <a:ea typeface="Times New Roman"/>
              </a:rPr>
              <a:t>: есть, платная.</a:t>
            </a:r>
          </a:p>
          <a:p>
            <a:pPr marL="907415" indent="-457200"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2600" b="1" dirty="0">
                <a:latin typeface="Times New Roman"/>
                <a:ea typeface="Times New Roman"/>
              </a:rPr>
              <a:t>Кондиционер</a:t>
            </a:r>
            <a:r>
              <a:rPr lang="ru-RU" sz="2600" dirty="0">
                <a:latin typeface="Times New Roman"/>
                <a:ea typeface="Times New Roman"/>
              </a:rPr>
              <a:t>: есть</a:t>
            </a:r>
          </a:p>
          <a:p>
            <a:pPr marL="907415" indent="-457200"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2600" b="1" dirty="0">
                <a:latin typeface="Times New Roman"/>
                <a:ea typeface="Times New Roman"/>
              </a:rPr>
              <a:t>Размещение с детьми</a:t>
            </a:r>
            <a:r>
              <a:rPr lang="ru-RU" sz="2600" dirty="0">
                <a:latin typeface="Times New Roman"/>
                <a:ea typeface="Times New Roman"/>
              </a:rPr>
              <a:t>: нет</a:t>
            </a:r>
          </a:p>
          <a:p>
            <a:pPr marL="907415" indent="-457200"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2600" b="1" dirty="0">
                <a:latin typeface="Times New Roman"/>
                <a:ea typeface="Times New Roman"/>
              </a:rPr>
              <a:t>Камера хранения</a:t>
            </a:r>
            <a:r>
              <a:rPr lang="ru-RU" sz="2600" dirty="0">
                <a:latin typeface="Times New Roman"/>
                <a:ea typeface="Times New Roman"/>
              </a:rPr>
              <a:t>: есть</a:t>
            </a:r>
          </a:p>
          <a:p>
            <a:pPr marL="907415" indent="-457200">
              <a:spcBef>
                <a:spcPts val="1800"/>
              </a:spcBef>
              <a:spcAft>
                <a:spcPts val="0"/>
              </a:spcAft>
              <a:buNone/>
            </a:pPr>
            <a:endParaRPr lang="ru-RU" sz="3200" b="1" dirty="0">
              <a:latin typeface="Times New Roman"/>
              <a:ea typeface="Times New Roman"/>
            </a:endParaRPr>
          </a:p>
          <a:p>
            <a:pPr marL="907415" indent="-457200">
              <a:spcBef>
                <a:spcPts val="1800"/>
              </a:spcBef>
              <a:spcAft>
                <a:spcPts val="0"/>
              </a:spcAft>
              <a:buNone/>
            </a:pPr>
            <a:endParaRPr lang="ru-RU" sz="3200" b="1" dirty="0">
              <a:latin typeface="Times New Roman"/>
              <a:ea typeface="Times New Roman"/>
            </a:endParaRPr>
          </a:p>
        </p:txBody>
      </p:sp>
      <p:pic>
        <p:nvPicPr>
          <p:cNvPr id="2050" name="Рисунок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5000" y="361950"/>
            <a:ext cx="6477001" cy="611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63105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16200000">
            <a:off x="-2223993" y="3398745"/>
            <a:ext cx="5549900" cy="873313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конкуренты</a:t>
            </a:r>
          </a:p>
        </p:txBody>
      </p:sp>
      <p:sp>
        <p:nvSpPr>
          <p:cNvPr id="20" name="Объект 4"/>
          <p:cNvSpPr txBox="1">
            <a:spLocks/>
          </p:cNvSpPr>
          <p:nvPr/>
        </p:nvSpPr>
        <p:spPr>
          <a:xfrm>
            <a:off x="495300" y="495300"/>
            <a:ext cx="5238750" cy="584835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7415" indent="-457200">
              <a:spcBef>
                <a:spcPts val="1800"/>
              </a:spcBef>
              <a:buNone/>
            </a:pPr>
            <a:r>
              <a:rPr lang="ru-RU" sz="3200" b="1" dirty="0">
                <a:latin typeface="Times New Roman"/>
                <a:ea typeface="Times New Roman"/>
              </a:rPr>
              <a:t> </a:t>
            </a:r>
            <a:r>
              <a:rPr lang="ru-RU" sz="3100" b="1" dirty="0" err="1">
                <a:latin typeface="Times New Roman"/>
                <a:ea typeface="Times New Roman"/>
              </a:rPr>
              <a:t>Хостел</a:t>
            </a:r>
            <a:r>
              <a:rPr lang="ru-RU" sz="3100" b="1" dirty="0">
                <a:latin typeface="Times New Roman"/>
                <a:ea typeface="Times New Roman"/>
              </a:rPr>
              <a:t> «</a:t>
            </a:r>
            <a:r>
              <a:rPr lang="ru-RU" sz="3100" b="1" dirty="0" err="1">
                <a:latin typeface="Times New Roman"/>
                <a:ea typeface="Calibri"/>
              </a:rPr>
              <a:t>Масюковщина</a:t>
            </a:r>
            <a:r>
              <a:rPr lang="ru-RU" sz="3100" b="1" dirty="0">
                <a:latin typeface="Times New Roman"/>
                <a:ea typeface="Times New Roman"/>
              </a:rPr>
              <a:t>»</a:t>
            </a:r>
          </a:p>
          <a:p>
            <a:pPr marL="907415" indent="-457200">
              <a:spcBef>
                <a:spcPts val="1800"/>
              </a:spcBef>
              <a:buNone/>
            </a:pPr>
            <a:r>
              <a:rPr lang="ru-RU" sz="2600" b="1" dirty="0">
                <a:latin typeface="Times New Roman"/>
                <a:ea typeface="Times New Roman"/>
              </a:rPr>
              <a:t>Расположение</a:t>
            </a:r>
            <a:r>
              <a:rPr lang="ru-RU" sz="2600" dirty="0">
                <a:latin typeface="Times New Roman"/>
                <a:ea typeface="Times New Roman"/>
              </a:rPr>
              <a:t>: </a:t>
            </a:r>
            <a:r>
              <a:rPr lang="ru-RU" sz="2400" dirty="0">
                <a:latin typeface="Times New Roman"/>
                <a:ea typeface="Calibri"/>
              </a:rPr>
              <a:t>ул. </a:t>
            </a:r>
            <a:r>
              <a:rPr lang="ru-RU" sz="2400" dirty="0" err="1">
                <a:solidFill>
                  <a:srgbClr val="000000"/>
                </a:solidFill>
                <a:latin typeface="Times New Roman"/>
                <a:ea typeface="Calibri"/>
              </a:rPr>
              <a:t>Ольшевского</a:t>
            </a:r>
            <a:r>
              <a:rPr lang="ru-RU" sz="2400" dirty="0">
                <a:latin typeface="Times New Roman"/>
                <a:ea typeface="Calibri"/>
              </a:rPr>
              <a:t>, 74</a:t>
            </a:r>
            <a:endParaRPr lang="ru-RU" sz="2600" dirty="0">
              <a:latin typeface="Times New Roman"/>
              <a:ea typeface="Times New Roman"/>
            </a:endParaRPr>
          </a:p>
          <a:p>
            <a:pPr marL="907415" indent="-457200"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2600" b="1" dirty="0">
                <a:latin typeface="Times New Roman"/>
                <a:ea typeface="Times New Roman"/>
              </a:rPr>
              <a:t>Время работы</a:t>
            </a:r>
            <a:r>
              <a:rPr lang="ru-RU" sz="2600" dirty="0">
                <a:latin typeface="Times New Roman"/>
                <a:ea typeface="Times New Roman"/>
              </a:rPr>
              <a:t>: 9-00 – 23-00</a:t>
            </a:r>
          </a:p>
          <a:p>
            <a:pPr marL="907415" indent="-457200"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2600" b="1" dirty="0">
                <a:latin typeface="Times New Roman"/>
                <a:ea typeface="Times New Roman"/>
              </a:rPr>
              <a:t>Время </a:t>
            </a:r>
            <a:r>
              <a:rPr lang="ru-RU" sz="2600" b="1" dirty="0" err="1">
                <a:latin typeface="Times New Roman"/>
                <a:ea typeface="Times New Roman"/>
              </a:rPr>
              <a:t>отьезда</a:t>
            </a:r>
            <a:r>
              <a:rPr lang="ru-RU" sz="2600" dirty="0">
                <a:latin typeface="Times New Roman"/>
                <a:ea typeface="Times New Roman"/>
              </a:rPr>
              <a:t>: 12-00</a:t>
            </a:r>
          </a:p>
          <a:p>
            <a:pPr marL="907415" indent="-457200"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2600" b="1" dirty="0" err="1">
                <a:latin typeface="Times New Roman"/>
                <a:ea typeface="Times New Roman"/>
              </a:rPr>
              <a:t>Инф-ия</a:t>
            </a:r>
            <a:r>
              <a:rPr lang="ru-RU" sz="2600" b="1" dirty="0">
                <a:latin typeface="Times New Roman"/>
                <a:ea typeface="Times New Roman"/>
              </a:rPr>
              <a:t> в интернете</a:t>
            </a:r>
            <a:r>
              <a:rPr lang="ru-RU" sz="2600" dirty="0">
                <a:latin typeface="Times New Roman"/>
                <a:ea typeface="Times New Roman"/>
              </a:rPr>
              <a:t>: </a:t>
            </a:r>
            <a:r>
              <a:rPr lang="ru-RU" sz="2400" dirty="0">
                <a:solidFill>
                  <a:srgbClr val="000000"/>
                </a:solidFill>
                <a:latin typeface="Times New Roman"/>
                <a:ea typeface="Calibri"/>
              </a:rPr>
              <a:t>Информация на </a:t>
            </a:r>
            <a:r>
              <a:rPr lang="ru-RU" sz="2400" dirty="0" err="1">
                <a:solidFill>
                  <a:srgbClr val="000000"/>
                </a:solidFill>
                <a:latin typeface="Times New Roman"/>
                <a:ea typeface="Calibri"/>
              </a:rPr>
              <a:t>гугл</a:t>
            </a:r>
            <a:r>
              <a:rPr lang="ru-RU" sz="2400" dirty="0">
                <a:solidFill>
                  <a:srgbClr val="000000"/>
                </a:solidFill>
                <a:latin typeface="Times New Roman"/>
                <a:ea typeface="Calibri"/>
              </a:rPr>
              <a:t> карте (фотографии, время работы)</a:t>
            </a:r>
            <a:endParaRPr lang="ru-RU" sz="2600" dirty="0">
              <a:latin typeface="Times New Roman"/>
              <a:ea typeface="Times New Roman"/>
            </a:endParaRPr>
          </a:p>
          <a:p>
            <a:pPr marL="907415" indent="-457200"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2600" b="1" dirty="0">
                <a:latin typeface="Times New Roman"/>
                <a:ea typeface="Times New Roman"/>
              </a:rPr>
              <a:t>Система скидок</a:t>
            </a:r>
            <a:r>
              <a:rPr lang="ru-RU" sz="2600" dirty="0">
                <a:latin typeface="Times New Roman"/>
                <a:ea typeface="Times New Roman"/>
              </a:rPr>
              <a:t>: нет</a:t>
            </a:r>
          </a:p>
          <a:p>
            <a:pPr marL="907415" indent="-457200"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2600" b="1" dirty="0">
                <a:latin typeface="Times New Roman"/>
                <a:ea typeface="Times New Roman"/>
              </a:rPr>
              <a:t>Парковка</a:t>
            </a:r>
            <a:r>
              <a:rPr lang="ru-RU" sz="2600" dirty="0">
                <a:latin typeface="Times New Roman"/>
                <a:ea typeface="Times New Roman"/>
              </a:rPr>
              <a:t>: есть, бесплатная.</a:t>
            </a:r>
          </a:p>
          <a:p>
            <a:pPr marL="907415" indent="-457200"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2600" b="1" dirty="0">
                <a:latin typeface="Times New Roman"/>
                <a:ea typeface="Times New Roman"/>
              </a:rPr>
              <a:t>Кондиционер</a:t>
            </a:r>
            <a:r>
              <a:rPr lang="ru-RU" sz="2600" dirty="0">
                <a:latin typeface="Times New Roman"/>
                <a:ea typeface="Times New Roman"/>
              </a:rPr>
              <a:t>: есть</a:t>
            </a:r>
          </a:p>
          <a:p>
            <a:pPr marL="907415" indent="-457200"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2600" b="1" dirty="0">
                <a:latin typeface="Times New Roman"/>
                <a:ea typeface="Times New Roman"/>
              </a:rPr>
              <a:t>Размещение с детьми</a:t>
            </a:r>
            <a:r>
              <a:rPr lang="ru-RU" sz="2600" dirty="0">
                <a:latin typeface="Times New Roman"/>
                <a:ea typeface="Times New Roman"/>
              </a:rPr>
              <a:t>: нет</a:t>
            </a:r>
          </a:p>
          <a:p>
            <a:pPr marL="907415" indent="-457200"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2600" b="1" dirty="0">
                <a:latin typeface="Times New Roman"/>
                <a:ea typeface="Times New Roman"/>
              </a:rPr>
              <a:t>Камера хранения</a:t>
            </a:r>
            <a:r>
              <a:rPr lang="ru-RU" sz="2600" dirty="0">
                <a:latin typeface="Times New Roman"/>
                <a:ea typeface="Times New Roman"/>
              </a:rPr>
              <a:t>: нет</a:t>
            </a:r>
          </a:p>
          <a:p>
            <a:pPr marL="907415" indent="-457200">
              <a:spcBef>
                <a:spcPts val="1800"/>
              </a:spcBef>
              <a:spcAft>
                <a:spcPts val="0"/>
              </a:spcAft>
              <a:buNone/>
            </a:pPr>
            <a:endParaRPr lang="ru-RU" sz="3200" b="1" dirty="0">
              <a:latin typeface="Times New Roman"/>
              <a:ea typeface="Times New Roman"/>
            </a:endParaRPr>
          </a:p>
          <a:p>
            <a:pPr marL="907415" indent="-457200">
              <a:spcBef>
                <a:spcPts val="1800"/>
              </a:spcBef>
              <a:spcAft>
                <a:spcPts val="0"/>
              </a:spcAft>
              <a:buNone/>
            </a:pPr>
            <a:endParaRPr lang="ru-RU" sz="3200" b="1" dirty="0">
              <a:latin typeface="Times New Roman"/>
              <a:ea typeface="Times New Roman"/>
            </a:endParaRPr>
          </a:p>
        </p:txBody>
      </p:sp>
      <p:pic>
        <p:nvPicPr>
          <p:cNvPr id="3074" name="Рисунок 2"/>
          <p:cNvPicPr>
            <a:picLocks noChangeAspect="1" noChangeArrowheads="1"/>
          </p:cNvPicPr>
          <p:nvPr/>
        </p:nvPicPr>
        <p:blipFill>
          <a:blip r:embed="rId2" cstate="print"/>
          <a:srcRect r="7042"/>
          <a:stretch>
            <a:fillRect/>
          </a:stretch>
        </p:blipFill>
        <p:spPr bwMode="auto">
          <a:xfrm>
            <a:off x="5622055" y="552450"/>
            <a:ext cx="6512796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63105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main___hostel__doma____shutterstock_1164605263.xq6ypnxpxywf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14400" y="0"/>
            <a:ext cx="112776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16200000">
            <a:off x="-2223993" y="3398745"/>
            <a:ext cx="5549900" cy="873313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конкуренты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876301" y="0"/>
            <a:ext cx="6286499" cy="68580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857251" y="0"/>
            <a:ext cx="6286499" cy="68580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бъект 4"/>
          <p:cNvSpPr txBox="1">
            <a:spLocks/>
          </p:cNvSpPr>
          <p:nvPr/>
        </p:nvSpPr>
        <p:spPr>
          <a:xfrm>
            <a:off x="704850" y="495300"/>
            <a:ext cx="6324600" cy="600075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7415" indent="-457200">
              <a:spcBef>
                <a:spcPts val="1800"/>
              </a:spcBef>
              <a:buNone/>
            </a:pPr>
            <a:r>
              <a:rPr lang="ru-RU" sz="3200" b="1" dirty="0">
                <a:latin typeface="Times New Roman"/>
                <a:ea typeface="Times New Roman"/>
              </a:rPr>
              <a:t> </a:t>
            </a:r>
            <a:r>
              <a:rPr lang="ru-RU" sz="3100" b="1" dirty="0" err="1">
                <a:latin typeface="Times New Roman"/>
                <a:ea typeface="Times New Roman"/>
              </a:rPr>
              <a:t>Хостел</a:t>
            </a:r>
            <a:r>
              <a:rPr lang="ru-RU" sz="3100" b="1" dirty="0">
                <a:latin typeface="Times New Roman"/>
                <a:ea typeface="Times New Roman"/>
              </a:rPr>
              <a:t> «</a:t>
            </a:r>
            <a:r>
              <a:rPr lang="en-US" sz="3100" b="1" dirty="0" err="1">
                <a:latin typeface="Times New Roman"/>
                <a:ea typeface="Times New Roman"/>
              </a:rPr>
              <a:t>SpaceBox</a:t>
            </a:r>
            <a:r>
              <a:rPr lang="ru-RU" sz="3100" b="1" dirty="0">
                <a:latin typeface="Times New Roman"/>
                <a:ea typeface="Times New Roman"/>
              </a:rPr>
              <a:t>»</a:t>
            </a:r>
          </a:p>
          <a:p>
            <a:pPr marL="907415" indent="-457200">
              <a:spcBef>
                <a:spcPts val="1800"/>
              </a:spcBef>
              <a:buNone/>
            </a:pPr>
            <a:r>
              <a:rPr lang="ru-RU" sz="2600" b="1" dirty="0">
                <a:latin typeface="Times New Roman"/>
                <a:ea typeface="Times New Roman"/>
              </a:rPr>
              <a:t>Расположение</a:t>
            </a:r>
            <a:r>
              <a:rPr lang="ru-RU" sz="2600" dirty="0">
                <a:latin typeface="Times New Roman"/>
                <a:ea typeface="Times New Roman"/>
              </a:rPr>
              <a:t>: </a:t>
            </a:r>
            <a:r>
              <a:rPr lang="ru-RU" sz="2400" dirty="0">
                <a:latin typeface="Times New Roman"/>
                <a:ea typeface="Calibri"/>
              </a:rPr>
              <a:t>ул. </a:t>
            </a:r>
            <a:r>
              <a:rPr lang="ru-RU" sz="2400" dirty="0" err="1">
                <a:solidFill>
                  <a:srgbClr val="000000"/>
                </a:solidFill>
                <a:latin typeface="Times New Roman"/>
                <a:ea typeface="Calibri"/>
              </a:rPr>
              <a:t>Евфросиньи</a:t>
            </a:r>
            <a:r>
              <a:rPr lang="ru-RU" sz="2400" dirty="0">
                <a:solidFill>
                  <a:srgbClr val="000000"/>
                </a:solidFill>
                <a:latin typeface="Times New Roman"/>
                <a:ea typeface="Calibri"/>
              </a:rPr>
              <a:t> </a:t>
            </a:r>
            <a:r>
              <a:rPr lang="ru-RU" sz="2400" dirty="0">
                <a:latin typeface="Times New Roman"/>
                <a:ea typeface="Calibri"/>
              </a:rPr>
              <a:t>, </a:t>
            </a:r>
            <a:r>
              <a:rPr lang="en-US" sz="2400" dirty="0">
                <a:latin typeface="Times New Roman"/>
                <a:ea typeface="Calibri"/>
              </a:rPr>
              <a:t>5</a:t>
            </a:r>
            <a:endParaRPr lang="ru-RU" sz="2600" dirty="0">
              <a:latin typeface="Times New Roman"/>
              <a:ea typeface="Times New Roman"/>
            </a:endParaRPr>
          </a:p>
          <a:p>
            <a:pPr marL="907415" indent="-457200"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2600" b="1" dirty="0">
                <a:latin typeface="Times New Roman"/>
                <a:ea typeface="Times New Roman"/>
              </a:rPr>
              <a:t>Время работы</a:t>
            </a:r>
            <a:r>
              <a:rPr lang="ru-RU" sz="2600" dirty="0">
                <a:latin typeface="Times New Roman"/>
                <a:ea typeface="Times New Roman"/>
              </a:rPr>
              <a:t>: </a:t>
            </a:r>
            <a:r>
              <a:rPr lang="en-US" sz="2600" dirty="0">
                <a:latin typeface="Times New Roman"/>
                <a:ea typeface="Times New Roman"/>
              </a:rPr>
              <a:t>24/7</a:t>
            </a:r>
            <a:endParaRPr lang="ru-RU" sz="2600" dirty="0">
              <a:latin typeface="Times New Roman"/>
              <a:ea typeface="Times New Roman"/>
            </a:endParaRPr>
          </a:p>
          <a:p>
            <a:pPr marL="907415" indent="-457200"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2600" b="1" dirty="0">
                <a:latin typeface="Times New Roman"/>
                <a:ea typeface="Times New Roman"/>
              </a:rPr>
              <a:t>Время </a:t>
            </a:r>
            <a:r>
              <a:rPr lang="ru-RU" sz="2600" b="1" dirty="0" err="1">
                <a:latin typeface="Times New Roman"/>
                <a:ea typeface="Times New Roman"/>
              </a:rPr>
              <a:t>отьезда</a:t>
            </a:r>
            <a:r>
              <a:rPr lang="ru-RU" sz="2600" dirty="0">
                <a:latin typeface="Times New Roman"/>
                <a:ea typeface="Times New Roman"/>
              </a:rPr>
              <a:t>: 1</a:t>
            </a:r>
            <a:r>
              <a:rPr lang="en-US" sz="2600" dirty="0">
                <a:latin typeface="Times New Roman"/>
                <a:ea typeface="Times New Roman"/>
              </a:rPr>
              <a:t>3</a:t>
            </a:r>
            <a:r>
              <a:rPr lang="ru-RU" sz="2600" dirty="0">
                <a:latin typeface="Times New Roman"/>
                <a:ea typeface="Times New Roman"/>
              </a:rPr>
              <a:t>-00</a:t>
            </a:r>
            <a:endParaRPr lang="en-US" sz="2600" dirty="0">
              <a:latin typeface="Times New Roman"/>
              <a:ea typeface="Times New Roman"/>
            </a:endParaRPr>
          </a:p>
          <a:p>
            <a:pPr marL="907415" indent="-457200"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2600" b="1" dirty="0" err="1">
                <a:latin typeface="Times New Roman"/>
                <a:ea typeface="Times New Roman"/>
              </a:rPr>
              <a:t>Инф-ия</a:t>
            </a:r>
            <a:r>
              <a:rPr lang="ru-RU" sz="2600" b="1" dirty="0">
                <a:latin typeface="Times New Roman"/>
                <a:ea typeface="Times New Roman"/>
              </a:rPr>
              <a:t> в интернете</a:t>
            </a:r>
            <a:r>
              <a:rPr lang="ru-RU" sz="2600" dirty="0">
                <a:latin typeface="Times New Roman"/>
                <a:ea typeface="Times New Roman"/>
              </a:rPr>
              <a:t>: </a:t>
            </a:r>
            <a:r>
              <a:rPr lang="ru-RU" sz="2600" dirty="0">
                <a:solidFill>
                  <a:srgbClr val="000000"/>
                </a:solidFill>
                <a:latin typeface="Times New Roman"/>
                <a:ea typeface="Calibri"/>
              </a:rPr>
              <a:t>Выдача при поисковых запросах, </a:t>
            </a:r>
            <a:r>
              <a:rPr lang="ru-RU" sz="2600" dirty="0" err="1">
                <a:solidFill>
                  <a:srgbClr val="000000"/>
                </a:solidFill>
                <a:latin typeface="Times New Roman"/>
                <a:ea typeface="Calibri"/>
              </a:rPr>
              <a:t>инстраграм-страница</a:t>
            </a:r>
            <a:r>
              <a:rPr lang="ru-RU" sz="2600" dirty="0">
                <a:solidFill>
                  <a:srgbClr val="000000"/>
                </a:solidFill>
                <a:latin typeface="Times New Roman"/>
                <a:ea typeface="Calibri"/>
              </a:rPr>
              <a:t>, информация на </a:t>
            </a:r>
            <a:r>
              <a:rPr lang="ru-RU" sz="2600" dirty="0" err="1">
                <a:solidFill>
                  <a:srgbClr val="000000"/>
                </a:solidFill>
                <a:latin typeface="Times New Roman"/>
                <a:ea typeface="Calibri"/>
              </a:rPr>
              <a:t>гугл</a:t>
            </a:r>
            <a:r>
              <a:rPr lang="ru-RU" sz="2600" dirty="0">
                <a:solidFill>
                  <a:srgbClr val="000000"/>
                </a:solidFill>
                <a:latin typeface="Times New Roman"/>
                <a:ea typeface="Calibri"/>
              </a:rPr>
              <a:t> карте (фотографии, время работы, ссылка на </a:t>
            </a:r>
            <a:r>
              <a:rPr lang="ru-RU" sz="2600" dirty="0" err="1">
                <a:solidFill>
                  <a:srgbClr val="000000"/>
                </a:solidFill>
                <a:latin typeface="Times New Roman"/>
                <a:ea typeface="Calibri"/>
              </a:rPr>
              <a:t>соц</a:t>
            </a:r>
            <a:r>
              <a:rPr lang="ru-RU" sz="2600" dirty="0">
                <a:solidFill>
                  <a:srgbClr val="000000"/>
                </a:solidFill>
                <a:latin typeface="Times New Roman"/>
                <a:ea typeface="Calibri"/>
              </a:rPr>
              <a:t> сети)</a:t>
            </a:r>
            <a:endParaRPr lang="ru-RU" sz="2600" dirty="0">
              <a:latin typeface="Times New Roman"/>
              <a:ea typeface="Times New Roman"/>
            </a:endParaRPr>
          </a:p>
          <a:p>
            <a:pPr marL="907415" indent="-457200"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2600" b="1" dirty="0">
                <a:latin typeface="Times New Roman"/>
                <a:ea typeface="Times New Roman"/>
              </a:rPr>
              <a:t>Система скидок</a:t>
            </a:r>
            <a:r>
              <a:rPr lang="ru-RU" sz="2600" dirty="0">
                <a:latin typeface="Times New Roman"/>
                <a:ea typeface="Times New Roman"/>
              </a:rPr>
              <a:t>: есть</a:t>
            </a:r>
          </a:p>
          <a:p>
            <a:pPr marL="907415" indent="-457200"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2600" b="1" dirty="0">
                <a:latin typeface="Times New Roman"/>
                <a:ea typeface="Times New Roman"/>
              </a:rPr>
              <a:t>Парковка</a:t>
            </a:r>
            <a:r>
              <a:rPr lang="ru-RU" sz="2600" dirty="0">
                <a:latin typeface="Times New Roman"/>
                <a:ea typeface="Times New Roman"/>
              </a:rPr>
              <a:t>: есть, бесплатная.</a:t>
            </a:r>
          </a:p>
          <a:p>
            <a:pPr marL="907415" indent="-457200"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2600" b="1" dirty="0">
                <a:latin typeface="Times New Roman"/>
                <a:ea typeface="Times New Roman"/>
              </a:rPr>
              <a:t>Кондиционер</a:t>
            </a:r>
            <a:r>
              <a:rPr lang="ru-RU" sz="2600" dirty="0">
                <a:latin typeface="Times New Roman"/>
                <a:ea typeface="Times New Roman"/>
              </a:rPr>
              <a:t>: есть</a:t>
            </a:r>
          </a:p>
          <a:p>
            <a:pPr marL="907415" indent="-457200"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2600" b="1" dirty="0">
                <a:latin typeface="Times New Roman"/>
                <a:ea typeface="Times New Roman"/>
              </a:rPr>
              <a:t>Размещение с детьми</a:t>
            </a:r>
            <a:r>
              <a:rPr lang="ru-RU" sz="2600" dirty="0">
                <a:latin typeface="Times New Roman"/>
                <a:ea typeface="Times New Roman"/>
              </a:rPr>
              <a:t>: нет</a:t>
            </a:r>
          </a:p>
          <a:p>
            <a:pPr marL="907415" indent="-457200"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2600" b="1" dirty="0">
                <a:latin typeface="Times New Roman"/>
                <a:ea typeface="Times New Roman"/>
              </a:rPr>
              <a:t>Камера хранения</a:t>
            </a:r>
            <a:r>
              <a:rPr lang="ru-RU" sz="2600" dirty="0">
                <a:latin typeface="Times New Roman"/>
                <a:ea typeface="Times New Roman"/>
              </a:rPr>
              <a:t>: есть</a:t>
            </a:r>
          </a:p>
          <a:p>
            <a:pPr marL="907415" indent="-457200">
              <a:spcBef>
                <a:spcPts val="1800"/>
              </a:spcBef>
              <a:spcAft>
                <a:spcPts val="0"/>
              </a:spcAft>
              <a:buNone/>
            </a:pPr>
            <a:endParaRPr lang="ru-RU" sz="3200" b="1" dirty="0">
              <a:latin typeface="Times New Roman"/>
              <a:ea typeface="Times New Roman"/>
            </a:endParaRPr>
          </a:p>
          <a:p>
            <a:pPr marL="907415" indent="-457200">
              <a:spcBef>
                <a:spcPts val="1800"/>
              </a:spcBef>
              <a:spcAft>
                <a:spcPts val="0"/>
              </a:spcAft>
              <a:buNone/>
            </a:pPr>
            <a:endParaRPr lang="ru-RU" sz="3200" b="1" dirty="0"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63105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Рисунок 3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04900" y="-24010"/>
            <a:ext cx="11132627" cy="6882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16200000">
            <a:off x="-2223993" y="3398745"/>
            <a:ext cx="5549900" cy="873313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Стратегии </a:t>
            </a:r>
            <a:r>
              <a:rPr lang="ru-RU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маркетинка</a:t>
            </a:r>
            <a:endParaRPr lang="ru-RU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876301" y="0"/>
            <a:ext cx="6286499" cy="68580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857251" y="0"/>
            <a:ext cx="6286499" cy="68580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895351" y="0"/>
            <a:ext cx="6286499" cy="68580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бъект 4"/>
          <p:cNvSpPr txBox="1">
            <a:spLocks/>
          </p:cNvSpPr>
          <p:nvPr/>
        </p:nvSpPr>
        <p:spPr>
          <a:xfrm>
            <a:off x="1009650" y="495300"/>
            <a:ext cx="5886450" cy="6000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450215" algn="just">
              <a:spcAft>
                <a:spcPts val="0"/>
              </a:spcAft>
              <a:buNone/>
            </a:pPr>
            <a:r>
              <a:rPr lang="ru-RU" sz="2600" dirty="0">
                <a:latin typeface="Times New Roman"/>
                <a:ea typeface="Calibri"/>
              </a:rPr>
              <a:t>Основной акцент в данной отрасли следует сделать на создании сайта и площадок в соц. сетях, так как обычно </a:t>
            </a:r>
            <a:r>
              <a:rPr lang="ru-RU" sz="2600" dirty="0" err="1">
                <a:latin typeface="Times New Roman"/>
                <a:ea typeface="Calibri"/>
              </a:rPr>
              <a:t>хостел</a:t>
            </a:r>
            <a:r>
              <a:rPr lang="ru-RU" sz="2600" dirty="0">
                <a:latin typeface="Times New Roman"/>
                <a:ea typeface="Calibri"/>
              </a:rPr>
              <a:t> ищут заранее, исходя из необходимых параметров и отзывов в интернете. </a:t>
            </a:r>
          </a:p>
          <a:p>
            <a:pPr indent="450215" algn="just">
              <a:spcAft>
                <a:spcPts val="0"/>
              </a:spcAft>
            </a:pPr>
            <a:r>
              <a:rPr lang="ru-RU" sz="2600" dirty="0" err="1">
                <a:latin typeface="Times New Roman"/>
                <a:ea typeface="Calibri"/>
              </a:rPr>
              <a:t>tripadvisor.ru</a:t>
            </a:r>
            <a:r>
              <a:rPr lang="ru-RU" sz="2600" dirty="0">
                <a:latin typeface="Times New Roman"/>
                <a:ea typeface="Calibri"/>
              </a:rPr>
              <a:t>, </a:t>
            </a:r>
            <a:r>
              <a:rPr lang="ru-RU" sz="2600" dirty="0" err="1">
                <a:latin typeface="Times New Roman"/>
                <a:ea typeface="Calibri"/>
              </a:rPr>
              <a:t>booking.com</a:t>
            </a:r>
            <a:endParaRPr lang="ru-RU" sz="2600" dirty="0">
              <a:latin typeface="Times New Roman"/>
              <a:ea typeface="Calibri"/>
            </a:endParaRPr>
          </a:p>
          <a:p>
            <a:pPr indent="450215" algn="just">
              <a:spcAft>
                <a:spcPts val="0"/>
              </a:spcAft>
            </a:pPr>
            <a:r>
              <a:rPr lang="ru-RU" sz="2600" dirty="0" err="1">
                <a:latin typeface="Times New Roman"/>
                <a:ea typeface="Calibri"/>
              </a:rPr>
              <a:t>Яндекс.Карты</a:t>
            </a:r>
            <a:r>
              <a:rPr lang="ru-RU" sz="2600" dirty="0">
                <a:latin typeface="Times New Roman"/>
                <a:ea typeface="Calibri"/>
              </a:rPr>
              <a:t> и 2Гис. </a:t>
            </a:r>
          </a:p>
          <a:p>
            <a:pPr indent="450215" algn="just">
              <a:spcAft>
                <a:spcPts val="0"/>
              </a:spcAft>
            </a:pPr>
            <a:r>
              <a:rPr lang="ru-RU" sz="2600" dirty="0" err="1">
                <a:latin typeface="Times New Roman"/>
                <a:ea typeface="Calibri"/>
              </a:rPr>
              <a:t>Relax.by</a:t>
            </a:r>
            <a:endParaRPr lang="ru-RU" sz="2600" dirty="0">
              <a:latin typeface="Times New Roman"/>
              <a:ea typeface="Calibri"/>
            </a:endParaRPr>
          </a:p>
          <a:p>
            <a:pPr indent="450215" algn="just">
              <a:spcAft>
                <a:spcPts val="0"/>
              </a:spcAft>
            </a:pPr>
            <a:r>
              <a:rPr lang="ru-RU" sz="2600" dirty="0" err="1">
                <a:latin typeface="Times New Roman"/>
                <a:ea typeface="Calibri"/>
              </a:rPr>
              <a:t>Инстаграм</a:t>
            </a:r>
            <a:endParaRPr lang="ru-RU" sz="2600" dirty="0">
              <a:latin typeface="Times New Roman"/>
              <a:ea typeface="Calibri"/>
            </a:endParaRPr>
          </a:p>
          <a:p>
            <a:pPr indent="450215" algn="just">
              <a:spcAft>
                <a:spcPts val="0"/>
              </a:spcAft>
            </a:pPr>
            <a:r>
              <a:rPr lang="ru-RU" sz="2600" dirty="0" err="1">
                <a:latin typeface="Times New Roman"/>
                <a:ea typeface="Calibri"/>
              </a:rPr>
              <a:t>Твиттер</a:t>
            </a:r>
            <a:endParaRPr lang="ru-RU" sz="2600" dirty="0">
              <a:latin typeface="Times New Roman"/>
              <a:ea typeface="Calibri"/>
            </a:endParaRPr>
          </a:p>
          <a:p>
            <a:pPr indent="450215" algn="just">
              <a:spcAft>
                <a:spcPts val="0"/>
              </a:spcAft>
              <a:buNone/>
            </a:pPr>
            <a:endParaRPr lang="ru-RU" sz="2600" dirty="0">
              <a:latin typeface="Times New Roman"/>
              <a:ea typeface="Calibri"/>
            </a:endParaRPr>
          </a:p>
          <a:p>
            <a:pPr marL="907415" indent="-457200" algn="just">
              <a:spcBef>
                <a:spcPts val="1800"/>
              </a:spcBef>
              <a:spcAft>
                <a:spcPts val="0"/>
              </a:spcAft>
              <a:buNone/>
            </a:pPr>
            <a:endParaRPr lang="ru-RU" sz="2600" b="1" dirty="0"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63105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16200000">
            <a:off x="-2223993" y="3398745"/>
            <a:ext cx="5549900" cy="873313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Стратегии </a:t>
            </a:r>
            <a:r>
              <a:rPr lang="ru-RU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маркетинка</a:t>
            </a:r>
            <a:endParaRPr lang="ru-RU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876301" y="0"/>
            <a:ext cx="6286499" cy="68580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857251" y="0"/>
            <a:ext cx="6286499" cy="68580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895351" y="0"/>
            <a:ext cx="6286499" cy="68580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бъект 4"/>
          <p:cNvSpPr txBox="1">
            <a:spLocks/>
          </p:cNvSpPr>
          <p:nvPr/>
        </p:nvSpPr>
        <p:spPr>
          <a:xfrm>
            <a:off x="1009650" y="495300"/>
            <a:ext cx="4914900" cy="6000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450215" algn="just">
              <a:spcAft>
                <a:spcPts val="0"/>
              </a:spcAft>
              <a:buNone/>
            </a:pPr>
            <a:r>
              <a:rPr lang="ru-RU" sz="2400" dirty="0">
                <a:latin typeface="Times New Roman"/>
                <a:ea typeface="Calibri"/>
              </a:rPr>
              <a:t>В качестве места для организации </a:t>
            </a:r>
            <a:r>
              <a:rPr lang="ru-RU" sz="2400" dirty="0" err="1">
                <a:latin typeface="Times New Roman"/>
                <a:ea typeface="Calibri"/>
              </a:rPr>
              <a:t>хостела</a:t>
            </a:r>
            <a:r>
              <a:rPr lang="ru-RU" sz="2400" dirty="0">
                <a:latin typeface="Times New Roman"/>
                <a:ea typeface="Calibri"/>
              </a:rPr>
              <a:t> можно рассматривать арендное помещение по адресу: ул. </a:t>
            </a:r>
            <a:r>
              <a:rPr lang="ru-RU" sz="2400" dirty="0" err="1">
                <a:latin typeface="Times New Roman"/>
                <a:ea typeface="Calibri"/>
              </a:rPr>
              <a:t>Евфросиньи</a:t>
            </a:r>
            <a:r>
              <a:rPr lang="ru-RU" sz="2400" dirty="0">
                <a:latin typeface="Times New Roman"/>
                <a:ea typeface="Calibri"/>
              </a:rPr>
              <a:t> Полоцкой, д. 5. Месторасположение очень удачно со следующей позиции:</a:t>
            </a:r>
          </a:p>
          <a:p>
            <a:pPr indent="450215" algn="just">
              <a:spcAft>
                <a:spcPts val="0"/>
              </a:spcAft>
            </a:pPr>
            <a:r>
              <a:rPr lang="ru-RU" sz="2400" dirty="0">
                <a:latin typeface="Times New Roman"/>
                <a:ea typeface="Calibri"/>
              </a:rPr>
              <a:t>центр города</a:t>
            </a:r>
            <a:r>
              <a:rPr lang="en-US" sz="2400" dirty="0">
                <a:latin typeface="Times New Roman"/>
                <a:ea typeface="Calibri"/>
              </a:rPr>
              <a:t>;</a:t>
            </a:r>
            <a:endParaRPr lang="ru-RU" sz="2400" dirty="0">
              <a:latin typeface="Times New Roman"/>
              <a:ea typeface="Calibri"/>
            </a:endParaRPr>
          </a:p>
          <a:p>
            <a:pPr indent="450215">
              <a:spcAft>
                <a:spcPts val="0"/>
              </a:spcAft>
            </a:pPr>
            <a:r>
              <a:rPr lang="ru-RU" sz="2400" dirty="0">
                <a:latin typeface="Times New Roman"/>
                <a:ea typeface="Calibri"/>
              </a:rPr>
              <a:t>большое</a:t>
            </a:r>
            <a:r>
              <a:rPr lang="ru-RU" dirty="0"/>
              <a:t> </a:t>
            </a:r>
            <a:r>
              <a:rPr lang="ru-RU" sz="2400" dirty="0">
                <a:latin typeface="Times New Roman"/>
                <a:ea typeface="Calibri"/>
              </a:rPr>
              <a:t>количество достопримечательностей поблизости</a:t>
            </a:r>
            <a:r>
              <a:rPr lang="en-US" sz="2400" dirty="0">
                <a:latin typeface="Times New Roman"/>
                <a:ea typeface="Calibri"/>
              </a:rPr>
              <a:t>;</a:t>
            </a:r>
            <a:endParaRPr lang="ru-RU" sz="2400" dirty="0">
              <a:latin typeface="Times New Roman"/>
              <a:ea typeface="Calibri"/>
            </a:endParaRPr>
          </a:p>
          <a:p>
            <a:pPr indent="450215">
              <a:spcAft>
                <a:spcPts val="0"/>
              </a:spcAft>
            </a:pPr>
            <a:r>
              <a:rPr lang="ru-RU" sz="2400" dirty="0">
                <a:latin typeface="Times New Roman"/>
                <a:ea typeface="Calibri"/>
              </a:rPr>
              <a:t>большое количество торговых центров, магазинов, кафе и ресторанов;</a:t>
            </a:r>
          </a:p>
          <a:p>
            <a:pPr indent="450215">
              <a:spcAft>
                <a:spcPts val="0"/>
              </a:spcAft>
            </a:pPr>
            <a:r>
              <a:rPr lang="ru-RU" sz="2400" dirty="0">
                <a:latin typeface="Times New Roman"/>
                <a:ea typeface="Calibri"/>
              </a:rPr>
              <a:t>близкое расположение к станции метро.</a:t>
            </a:r>
          </a:p>
        </p:txBody>
      </p:sp>
      <p:pic>
        <p:nvPicPr>
          <p:cNvPr id="5122" name="Рисунок 4"/>
          <p:cNvPicPr>
            <a:picLocks noChangeAspect="1" noChangeArrowheads="1"/>
          </p:cNvPicPr>
          <p:nvPr/>
        </p:nvPicPr>
        <p:blipFill>
          <a:blip r:embed="rId2" cstate="print"/>
          <a:srcRect l="23708" t="17906" r="35218" b="9592"/>
          <a:stretch>
            <a:fillRect/>
          </a:stretch>
        </p:blipFill>
        <p:spPr bwMode="auto">
          <a:xfrm>
            <a:off x="6153150" y="0"/>
            <a:ext cx="60388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63105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 descr="26900513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85850" y="0"/>
            <a:ext cx="11106150" cy="6857999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16200000">
            <a:off x="-2223993" y="3398745"/>
            <a:ext cx="5549900" cy="873313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Производственный план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876301" y="0"/>
            <a:ext cx="6286499" cy="68580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857251" y="0"/>
            <a:ext cx="6286499" cy="68580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бъект 4"/>
          <p:cNvSpPr txBox="1">
            <a:spLocks/>
          </p:cNvSpPr>
          <p:nvPr/>
        </p:nvSpPr>
        <p:spPr>
          <a:xfrm>
            <a:off x="1295400" y="819150"/>
            <a:ext cx="5391150" cy="539115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450215" algn="ctr">
              <a:spcAft>
                <a:spcPts val="0"/>
              </a:spcAft>
              <a:buNone/>
            </a:pPr>
            <a:r>
              <a:rPr lang="ru-RU" sz="3200" dirty="0">
                <a:latin typeface="Times New Roman"/>
                <a:ea typeface="Calibri"/>
              </a:rPr>
              <a:t>Производственный план состоит в обосновании трех составляющих: </a:t>
            </a:r>
          </a:p>
          <a:p>
            <a:pPr indent="450215" algn="ctr">
              <a:spcAft>
                <a:spcPts val="0"/>
              </a:spcAft>
              <a:buNone/>
            </a:pPr>
            <a:endParaRPr lang="ru-RU" sz="3200" dirty="0">
              <a:latin typeface="Times New Roman"/>
              <a:ea typeface="Calibri"/>
            </a:endParaRPr>
          </a:p>
          <a:p>
            <a:pPr indent="450215" algn="just"/>
            <a:r>
              <a:rPr lang="ru-RU" sz="3200" dirty="0">
                <a:latin typeface="Times New Roman"/>
                <a:ea typeface="Calibri"/>
              </a:rPr>
              <a:t>программы производства и реализации продукции (услуг), </a:t>
            </a:r>
          </a:p>
          <a:p>
            <a:pPr indent="450215" algn="just"/>
            <a:r>
              <a:rPr lang="ru-RU" sz="3200" dirty="0">
                <a:latin typeface="Times New Roman"/>
                <a:ea typeface="Calibri"/>
              </a:rPr>
              <a:t>сметы материально-технического снабжения, </a:t>
            </a:r>
          </a:p>
          <a:p>
            <a:pPr indent="450215" algn="just"/>
            <a:r>
              <a:rPr lang="ru-RU" sz="3200" dirty="0">
                <a:latin typeface="Times New Roman"/>
                <a:ea typeface="Calibri"/>
              </a:rPr>
              <a:t>расчета затрат на производство и реализацию продукции (услуг).</a:t>
            </a:r>
          </a:p>
        </p:txBody>
      </p:sp>
    </p:spTree>
    <p:extLst>
      <p:ext uri="{BB962C8B-B14F-4D97-AF65-F5344CB8AC3E}">
        <p14:creationId xmlns:p14="http://schemas.microsoft.com/office/powerpoint/2010/main" val="963105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 descr="26900513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85850" y="0"/>
            <a:ext cx="11106150" cy="6857999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16200000">
            <a:off x="-2223993" y="3398745"/>
            <a:ext cx="5549900" cy="873313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Производственный план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876301" y="0"/>
            <a:ext cx="11315699" cy="215265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1085851" y="0"/>
            <a:ext cx="11106149" cy="215265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бъект 4"/>
          <p:cNvSpPr txBox="1">
            <a:spLocks/>
          </p:cNvSpPr>
          <p:nvPr/>
        </p:nvSpPr>
        <p:spPr>
          <a:xfrm>
            <a:off x="1181100" y="0"/>
            <a:ext cx="11010900" cy="20764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7705" indent="-237490" algn="ctr">
              <a:spcAft>
                <a:spcPts val="1800"/>
              </a:spcAft>
              <a:buNone/>
            </a:pPr>
            <a:r>
              <a:rPr lang="ru-RU" sz="2600" b="1" dirty="0">
                <a:latin typeface="Times New Roman"/>
                <a:ea typeface="Times New Roman"/>
              </a:rPr>
              <a:t>Программа реализации услуг</a:t>
            </a:r>
          </a:p>
          <a:p>
            <a:pPr marL="687705" indent="-237490" algn="ctr">
              <a:spcAft>
                <a:spcPts val="1800"/>
              </a:spcAft>
              <a:buNone/>
            </a:pPr>
            <a:r>
              <a:rPr lang="ru-RU" sz="2600" dirty="0">
                <a:latin typeface="Times New Roman"/>
                <a:ea typeface="Calibri"/>
              </a:rPr>
              <a:t>За ночь в отеле гость/посетитель платит 35р. Исходя из прогноза динамики спроса на услуги клуба (55 чел. в месяц), можно произвести расчет объема оказываемых услуг в стоимостных величинах.</a:t>
            </a:r>
          </a:p>
          <a:p>
            <a:pPr marL="687705" indent="-237490" algn="ctr">
              <a:spcAft>
                <a:spcPts val="1800"/>
              </a:spcAft>
              <a:buNone/>
            </a:pPr>
            <a:endParaRPr lang="ru-RU" sz="2600" b="1" dirty="0">
              <a:latin typeface="Times New Roman"/>
              <a:ea typeface="Times New Roman"/>
            </a:endParaRPr>
          </a:p>
          <a:p>
            <a:pPr marL="687705" indent="-237490" algn="ctr">
              <a:spcAft>
                <a:spcPts val="1800"/>
              </a:spcAft>
              <a:buNone/>
            </a:pPr>
            <a:endParaRPr lang="ru-RU" sz="2600" b="1" dirty="0">
              <a:latin typeface="Times New Roman"/>
              <a:ea typeface="Times New Roman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1085851" y="4171950"/>
            <a:ext cx="11106149" cy="268605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1085851" y="4191000"/>
            <a:ext cx="11106149" cy="26670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/>
        </p:nvGraphicFramePr>
        <p:xfrm>
          <a:off x="1371600" y="4286957"/>
          <a:ext cx="10477501" cy="2437693"/>
        </p:xfrm>
        <a:graphic>
          <a:graphicData uri="http://schemas.openxmlformats.org/drawingml/2006/table">
            <a:tbl>
              <a:tblPr/>
              <a:tblGrid>
                <a:gridCol w="4612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7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04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56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517">
                <a:tc rowSpan="2">
                  <a:txBody>
                    <a:bodyPr/>
                    <a:lstStyle/>
                    <a:p>
                      <a:pPr indent="450215" algn="ctr">
                        <a:spcAft>
                          <a:spcPts val="0"/>
                        </a:spcAft>
                      </a:pPr>
                      <a:r>
                        <a:rPr lang="ru-RU" sz="22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Показатель</a:t>
                      </a:r>
                      <a:endParaRPr lang="ru-RU" sz="2200" b="1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indent="450215" algn="ctr">
                        <a:spcAft>
                          <a:spcPts val="0"/>
                        </a:spcAft>
                      </a:pPr>
                      <a:r>
                        <a:rPr lang="ru-RU" sz="22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По годам реализации проекта</a:t>
                      </a:r>
                      <a:endParaRPr lang="ru-RU" sz="2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447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450215" algn="ctr">
                        <a:spcAft>
                          <a:spcPts val="0"/>
                        </a:spcAft>
                      </a:pPr>
                      <a:r>
                        <a:rPr lang="ru-RU" sz="22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spcAft>
                          <a:spcPts val="0"/>
                        </a:spcAft>
                      </a:pPr>
                      <a:r>
                        <a:rPr lang="ru-RU" sz="22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2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spcAft>
                          <a:spcPts val="0"/>
                        </a:spcAft>
                      </a:pPr>
                      <a:r>
                        <a:rPr lang="ru-RU" sz="22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3</a:t>
                      </a:r>
                      <a:endParaRPr lang="ru-RU" sz="2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spcAft>
                          <a:spcPts val="0"/>
                        </a:spcAft>
                      </a:pPr>
                      <a:r>
                        <a:rPr lang="ru-RU" sz="22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endParaRPr lang="ru-RU" sz="2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777">
                <a:tc>
                  <a:txBody>
                    <a:bodyPr/>
                    <a:lstStyle/>
                    <a:p>
                      <a:pPr indent="450215">
                        <a:spcAft>
                          <a:spcPts val="0"/>
                        </a:spcAft>
                      </a:pPr>
                      <a:r>
                        <a:rPr lang="ru-RU" sz="22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Количество клиентов в год, чел.</a:t>
                      </a:r>
                      <a:endParaRPr lang="ru-RU" sz="2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>
                        <a:spcAft>
                          <a:spcPts val="0"/>
                        </a:spcAft>
                      </a:pPr>
                      <a:r>
                        <a:rPr lang="ru-RU" sz="22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660 </a:t>
                      </a:r>
                      <a:endParaRPr lang="ru-RU" sz="2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>
                        <a:spcAft>
                          <a:spcPts val="0"/>
                        </a:spcAft>
                      </a:pPr>
                      <a:r>
                        <a:rPr lang="ru-RU" sz="22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660 </a:t>
                      </a:r>
                      <a:endParaRPr lang="ru-RU" sz="2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>
                        <a:spcAft>
                          <a:spcPts val="0"/>
                        </a:spcAft>
                      </a:pPr>
                      <a:r>
                        <a:rPr lang="ru-RU" sz="22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660 </a:t>
                      </a:r>
                      <a:endParaRPr lang="ru-RU" sz="2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>
                        <a:spcAft>
                          <a:spcPts val="0"/>
                        </a:spcAft>
                      </a:pPr>
                      <a:r>
                        <a:rPr lang="ru-RU" sz="22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660 </a:t>
                      </a:r>
                      <a:endParaRPr lang="ru-RU" sz="2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pPr indent="450215">
                        <a:spcAft>
                          <a:spcPts val="0"/>
                        </a:spcAft>
                      </a:pPr>
                      <a:r>
                        <a:rPr lang="ru-RU" sz="22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Выручка от 1 клиента, р.</a:t>
                      </a:r>
                      <a:endParaRPr lang="ru-RU" sz="2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>
                        <a:spcAft>
                          <a:spcPts val="0"/>
                        </a:spcAft>
                      </a:pPr>
                      <a:r>
                        <a:rPr lang="ru-RU" sz="22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35 </a:t>
                      </a:r>
                      <a:endParaRPr lang="ru-RU" sz="2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>
                        <a:spcAft>
                          <a:spcPts val="0"/>
                        </a:spcAft>
                      </a:pPr>
                      <a:r>
                        <a:rPr lang="ru-RU" sz="22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35 </a:t>
                      </a:r>
                      <a:endParaRPr lang="ru-RU" sz="2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>
                        <a:spcAft>
                          <a:spcPts val="0"/>
                        </a:spcAft>
                      </a:pPr>
                      <a:r>
                        <a:rPr lang="ru-RU" sz="22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35 </a:t>
                      </a:r>
                      <a:endParaRPr lang="ru-RU" sz="2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>
                        <a:spcAft>
                          <a:spcPts val="0"/>
                        </a:spcAft>
                      </a:pPr>
                      <a:r>
                        <a:rPr lang="ru-RU" sz="22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35 </a:t>
                      </a:r>
                      <a:endParaRPr lang="ru-RU" sz="2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1293">
                <a:tc>
                  <a:txBody>
                    <a:bodyPr/>
                    <a:lstStyle/>
                    <a:p>
                      <a:pPr indent="450215">
                        <a:spcAft>
                          <a:spcPts val="0"/>
                        </a:spcAft>
                      </a:pPr>
                      <a:r>
                        <a:rPr lang="ru-RU" sz="22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Выручка за год, р.</a:t>
                      </a:r>
                      <a:endParaRPr lang="ru-RU" sz="2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>
                        <a:spcAft>
                          <a:spcPts val="0"/>
                        </a:spcAft>
                      </a:pPr>
                      <a:r>
                        <a:rPr lang="ru-RU" sz="22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23 100 </a:t>
                      </a:r>
                      <a:endParaRPr lang="ru-RU" sz="2200" b="1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>
                        <a:spcAft>
                          <a:spcPts val="0"/>
                        </a:spcAft>
                      </a:pPr>
                      <a:r>
                        <a:rPr lang="ru-RU" sz="22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23 100 </a:t>
                      </a:r>
                      <a:endParaRPr lang="ru-RU" sz="2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>
                        <a:spcAft>
                          <a:spcPts val="0"/>
                        </a:spcAft>
                      </a:pPr>
                      <a:r>
                        <a:rPr lang="ru-RU" sz="22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23 100 </a:t>
                      </a:r>
                      <a:endParaRPr lang="ru-RU" sz="2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>
                        <a:spcAft>
                          <a:spcPts val="0"/>
                        </a:spcAft>
                      </a:pPr>
                      <a:r>
                        <a:rPr lang="ru-RU" sz="22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23 100 </a:t>
                      </a:r>
                      <a:endParaRPr lang="ru-RU" sz="2200" b="1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31058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 descr="26900513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85850" y="0"/>
            <a:ext cx="11106150" cy="6857999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16200000">
            <a:off x="-2223993" y="3398745"/>
            <a:ext cx="5549900" cy="873313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Производственный план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876301" y="0"/>
            <a:ext cx="11315699" cy="169545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1085851" y="0"/>
            <a:ext cx="11106149" cy="17145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бъект 4"/>
          <p:cNvSpPr txBox="1">
            <a:spLocks/>
          </p:cNvSpPr>
          <p:nvPr/>
        </p:nvSpPr>
        <p:spPr>
          <a:xfrm>
            <a:off x="1600201" y="0"/>
            <a:ext cx="10054986" cy="1676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450215" algn="ctr">
              <a:spcAft>
                <a:spcPts val="0"/>
              </a:spcAft>
              <a:buNone/>
            </a:pPr>
            <a:r>
              <a:rPr lang="ru-RU" sz="2400" b="1" dirty="0">
                <a:latin typeface="Times New Roman"/>
                <a:ea typeface="Times New Roman"/>
              </a:rPr>
              <a:t>Смета материально-технического снабжения</a:t>
            </a:r>
          </a:p>
          <a:p>
            <a:pPr indent="450215" algn="ctr">
              <a:spcAft>
                <a:spcPts val="0"/>
              </a:spcAft>
              <a:buNone/>
            </a:pPr>
            <a:r>
              <a:rPr lang="ru-RU" sz="2400" dirty="0">
                <a:latin typeface="Times New Roman"/>
                <a:ea typeface="Calibri"/>
              </a:rPr>
              <a:t>Предполагается закупать ежегодно материальные ресурсы. Материальные ресурсы в строке «Прочее» приняты как 20 % от суммарной стоимости остальных видов материальных ресурсов.</a:t>
            </a:r>
          </a:p>
        </p:txBody>
      </p:sp>
      <p:sp>
        <p:nvSpPr>
          <p:cNvPr id="18" name="Прямоугольник 17"/>
          <p:cNvSpPr/>
          <p:nvPr/>
        </p:nvSpPr>
        <p:spPr>
          <a:xfrm>
            <a:off x="1085851" y="3448050"/>
            <a:ext cx="11106149" cy="340995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/>
        </p:nvSpPr>
        <p:spPr>
          <a:xfrm>
            <a:off x="1085851" y="3448050"/>
            <a:ext cx="11106149" cy="340995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14" name="Таблица 13"/>
          <p:cNvGraphicFramePr>
            <a:graphicFrameLocks noGrp="1"/>
          </p:cNvGraphicFramePr>
          <p:nvPr/>
        </p:nvGraphicFramePr>
        <p:xfrm>
          <a:off x="1257300" y="3581403"/>
          <a:ext cx="10648950" cy="2930653"/>
        </p:xfrm>
        <a:graphic>
          <a:graphicData uri="http://schemas.openxmlformats.org/drawingml/2006/table">
            <a:tbl>
              <a:tblPr/>
              <a:tblGrid>
                <a:gridCol w="8357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1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0790">
                <a:tc>
                  <a:txBody>
                    <a:bodyPr/>
                    <a:lstStyle/>
                    <a:p>
                      <a:pPr indent="450215" algn="ctr"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Вид</a:t>
                      </a:r>
                      <a:endParaRPr lang="ru-RU" sz="2400" b="1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54429" marR="5442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Стоимость всего, р.</a:t>
                      </a:r>
                      <a:endParaRPr lang="ru-RU" sz="2400" b="1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54429" marR="5442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006">
                <a:tc>
                  <a:txBody>
                    <a:bodyPr/>
                    <a:lstStyle/>
                    <a:p>
                      <a:pPr indent="450215">
                        <a:spcAft>
                          <a:spcPts val="0"/>
                        </a:spcAft>
                      </a:pPr>
                      <a:r>
                        <a:rPr lang="ru-RU" sz="24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Оборудование для санузла:</a:t>
                      </a:r>
                      <a:endParaRPr lang="ru-RU" sz="24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54429" marR="54429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r>
                        <a:rPr lang="ru-RU" sz="24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438</a:t>
                      </a:r>
                      <a:endParaRPr lang="ru-RU" sz="24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54429" marR="5442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3">
                <a:tc>
                  <a:txBody>
                    <a:bodyPr/>
                    <a:lstStyle/>
                    <a:p>
                      <a:pPr indent="450215"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Оборудование для кухни:</a:t>
                      </a:r>
                      <a:endParaRPr lang="ru-RU" sz="2400" b="1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54429" marR="54429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r>
                        <a:rPr lang="ru-RU" sz="2400" b="1" dirty="0">
                          <a:latin typeface="Times New Roman"/>
                          <a:ea typeface="Calibri"/>
                          <a:cs typeface="Times New Roman"/>
                        </a:rPr>
                        <a:t>628</a:t>
                      </a:r>
                    </a:p>
                  </a:txBody>
                  <a:tcPr marL="54429" marR="5442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006">
                <a:tc>
                  <a:txBody>
                    <a:bodyPr/>
                    <a:lstStyle/>
                    <a:p>
                      <a:pPr indent="450215"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Осветительное оборудование</a:t>
                      </a:r>
                      <a:endParaRPr lang="ru-RU" sz="2400" b="1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54429" marR="54429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r>
                        <a:rPr lang="ru-RU" sz="2400" b="1" dirty="0">
                          <a:latin typeface="Times New Roman"/>
                          <a:ea typeface="Calibri"/>
                          <a:cs typeface="Times New Roman"/>
                        </a:rPr>
                        <a:t>228</a:t>
                      </a:r>
                    </a:p>
                  </a:txBody>
                  <a:tcPr marL="54429" marR="5442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006">
                <a:tc>
                  <a:txBody>
                    <a:bodyPr/>
                    <a:lstStyle/>
                    <a:p>
                      <a:pPr marL="0" marR="0" indent="45021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Оборудование для </a:t>
                      </a:r>
                      <a:r>
                        <a:rPr lang="ru-RU" sz="2400" b="1" dirty="0" err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ресепшена</a:t>
                      </a: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:</a:t>
                      </a:r>
                      <a:endParaRPr lang="ru-RU" sz="2400" b="1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54429" marR="54429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r>
                        <a:rPr lang="ru-RU" sz="2400" b="1" dirty="0">
                          <a:latin typeface="Times New Roman"/>
                          <a:ea typeface="Calibri"/>
                          <a:cs typeface="Times New Roman"/>
                        </a:rPr>
                        <a:t>247</a:t>
                      </a:r>
                    </a:p>
                  </a:txBody>
                  <a:tcPr marL="54429" marR="5442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9252">
                <a:tc>
                  <a:txBody>
                    <a:bodyPr/>
                    <a:lstStyle/>
                    <a:p>
                      <a:pPr indent="450215"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Прочее</a:t>
                      </a:r>
                      <a:endParaRPr lang="ru-RU" sz="2400" b="1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54429" marR="54429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314</a:t>
                      </a:r>
                      <a:endParaRPr lang="ru-RU" sz="2400" b="1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54429" marR="5442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7006">
                <a:tc>
                  <a:txBody>
                    <a:bodyPr/>
                    <a:lstStyle/>
                    <a:p>
                      <a:pPr indent="201295"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ИТОГО</a:t>
                      </a:r>
                      <a:endParaRPr lang="ru-RU" sz="2400" b="1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54429" marR="54429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1882</a:t>
                      </a:r>
                      <a:endParaRPr lang="ru-RU" sz="2400" b="1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54429" marR="5442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3105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 descr="26900513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85850" y="0"/>
            <a:ext cx="11106150" cy="6857999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16200000">
            <a:off x="-2223993" y="3398745"/>
            <a:ext cx="5549900" cy="873313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Производственный план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1085851" y="0"/>
            <a:ext cx="11106149" cy="7239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>
            <a:off x="1085851" y="0"/>
            <a:ext cx="11106149" cy="7239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бъект 4"/>
          <p:cNvSpPr txBox="1">
            <a:spLocks/>
          </p:cNvSpPr>
          <p:nvPr/>
        </p:nvSpPr>
        <p:spPr>
          <a:xfrm>
            <a:off x="1562101" y="114300"/>
            <a:ext cx="10054986" cy="5905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450215" algn="ctr">
              <a:spcAft>
                <a:spcPts val="0"/>
              </a:spcAft>
              <a:buNone/>
            </a:pPr>
            <a:r>
              <a:rPr lang="ru-RU" b="1" dirty="0">
                <a:latin typeface="Times New Roman"/>
                <a:ea typeface="Times New Roman"/>
              </a:rPr>
              <a:t>Расчет затрат на оказание услуг</a:t>
            </a:r>
          </a:p>
          <a:p>
            <a:pPr indent="450215" algn="ctr">
              <a:buNone/>
            </a:pPr>
            <a:endParaRPr lang="ru-RU" dirty="0">
              <a:latin typeface="Times New Roman"/>
              <a:ea typeface="Calibri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1085851" y="3124200"/>
            <a:ext cx="11106149" cy="37338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/>
        </p:nvSpPr>
        <p:spPr>
          <a:xfrm>
            <a:off x="1085851" y="3105150"/>
            <a:ext cx="11106149" cy="375285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11" name="Таблица 10"/>
          <p:cNvGraphicFramePr>
            <a:graphicFrameLocks noGrp="1"/>
          </p:cNvGraphicFramePr>
          <p:nvPr/>
        </p:nvGraphicFramePr>
        <p:xfrm>
          <a:off x="1371601" y="3440429"/>
          <a:ext cx="10477499" cy="3150871"/>
        </p:xfrm>
        <a:graphic>
          <a:graphicData uri="http://schemas.openxmlformats.org/drawingml/2006/table">
            <a:tbl>
              <a:tblPr/>
              <a:tblGrid>
                <a:gridCol w="7469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8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54085">
                <a:tc>
                  <a:txBody>
                    <a:bodyPr/>
                    <a:lstStyle/>
                    <a:p>
                      <a:pPr indent="450215" algn="ctr">
                        <a:spcAft>
                          <a:spcPts val="0"/>
                        </a:spcAft>
                      </a:pPr>
                      <a:r>
                        <a:rPr lang="ru-RU" sz="22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Наименование показателя</a:t>
                      </a:r>
                      <a:endParaRPr lang="ru-RU" sz="2200" b="1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spcAft>
                          <a:spcPts val="0"/>
                        </a:spcAft>
                      </a:pPr>
                      <a:r>
                        <a:rPr lang="ru-RU" sz="22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Годовые расходы на оплату труда, руб.</a:t>
                      </a:r>
                      <a:endParaRPr lang="ru-RU" sz="2200" b="1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8392">
                <a:tc>
                  <a:txBody>
                    <a:bodyPr/>
                    <a:lstStyle/>
                    <a:p>
                      <a:pPr indent="450215">
                        <a:spcAft>
                          <a:spcPts val="0"/>
                        </a:spcAft>
                      </a:pPr>
                      <a:r>
                        <a:rPr lang="ru-RU" sz="2200" b="1" dirty="0">
                          <a:latin typeface="Times New Roman"/>
                          <a:ea typeface="Calibri"/>
                          <a:cs typeface="Times New Roman"/>
                        </a:rPr>
                        <a:t>Итого амортизационных отчислений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r>
                        <a:rPr lang="ru-RU" sz="22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r>
                        <a:rPr lang="ru-RU" sz="2200" b="1" baseline="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 499</a:t>
                      </a:r>
                      <a:endParaRPr lang="ru-RU" sz="2200" b="1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197">
                <a:tc>
                  <a:txBody>
                    <a:bodyPr/>
                    <a:lstStyle/>
                    <a:p>
                      <a:pPr indent="450215">
                        <a:spcAft>
                          <a:spcPts val="0"/>
                        </a:spcAft>
                      </a:pPr>
                      <a:r>
                        <a:rPr lang="ru-RU" sz="2200" b="1" dirty="0">
                          <a:latin typeface="Times New Roman"/>
                          <a:ea typeface="Calibri"/>
                          <a:cs typeface="Times New Roman"/>
                        </a:rPr>
                        <a:t>Смета затрат на</a:t>
                      </a:r>
                      <a:r>
                        <a:rPr lang="ru-RU" sz="2200" b="1" baseline="0" dirty="0">
                          <a:latin typeface="Times New Roman"/>
                          <a:ea typeface="Calibri"/>
                          <a:cs typeface="Times New Roman"/>
                        </a:rPr>
                        <a:t> оказание услуг</a:t>
                      </a:r>
                      <a:endParaRPr lang="ru-RU" sz="2200" b="1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r>
                        <a:rPr lang="ru-RU" sz="2200" b="1" dirty="0">
                          <a:latin typeface="Times New Roman"/>
                          <a:ea typeface="Calibri"/>
                          <a:cs typeface="Times New Roman"/>
                        </a:rPr>
                        <a:t>9 818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9197">
                <a:tc>
                  <a:txBody>
                    <a:bodyPr/>
                    <a:lstStyle/>
                    <a:p>
                      <a:pPr indent="450215">
                        <a:spcAft>
                          <a:spcPts val="0"/>
                        </a:spcAft>
                      </a:pPr>
                      <a:r>
                        <a:rPr lang="ru-RU" sz="22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Итого расходов на оплату труда</a:t>
                      </a:r>
                      <a:endParaRPr lang="ru-RU" sz="2200" b="1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r>
                        <a:rPr lang="ru-RU" sz="22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4 050</a:t>
                      </a:r>
                      <a:endParaRPr lang="ru-RU" sz="2200" b="1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3105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 descr="266695556.jpg"/>
          <p:cNvPicPr>
            <a:picLocks noChangeAspect="1"/>
          </p:cNvPicPr>
          <p:nvPr/>
        </p:nvPicPr>
        <p:blipFill>
          <a:blip r:embed="rId2" cstate="print"/>
          <a:srcRect t="25688" b="23547"/>
          <a:stretch>
            <a:fillRect/>
          </a:stretch>
        </p:blipFill>
        <p:spPr>
          <a:xfrm>
            <a:off x="1162050" y="3695700"/>
            <a:ext cx="11029950" cy="3162300"/>
          </a:xfrm>
          <a:prstGeom prst="rect">
            <a:avLst/>
          </a:prstGeom>
        </p:spPr>
      </p:pic>
      <p:pic>
        <p:nvPicPr>
          <p:cNvPr id="14" name="Рисунок 13" descr="266695556.jpg"/>
          <p:cNvPicPr>
            <a:picLocks noChangeAspect="1"/>
          </p:cNvPicPr>
          <p:nvPr/>
        </p:nvPicPr>
        <p:blipFill>
          <a:blip r:embed="rId2" cstate="print"/>
          <a:srcRect t="25688" b="23547"/>
          <a:stretch>
            <a:fillRect/>
          </a:stretch>
        </p:blipFill>
        <p:spPr>
          <a:xfrm>
            <a:off x="1162050" y="0"/>
            <a:ext cx="11029950" cy="3162300"/>
          </a:xfrm>
          <a:prstGeom prst="rect">
            <a:avLst/>
          </a:prstGeom>
        </p:spPr>
      </p:pic>
      <p:pic>
        <p:nvPicPr>
          <p:cNvPr id="34818" name="Рисунок 2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5350" y="895350"/>
            <a:ext cx="11296650" cy="520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16200000">
            <a:off x="-2223993" y="3398745"/>
            <a:ext cx="5549900" cy="873313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Организационная структура управления</a:t>
            </a:r>
          </a:p>
        </p:txBody>
      </p:sp>
    </p:spTree>
    <p:extLst>
      <p:ext uri="{BB962C8B-B14F-4D97-AF65-F5344CB8AC3E}">
        <p14:creationId xmlns:p14="http://schemas.microsoft.com/office/powerpoint/2010/main" val="9631058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 descr="26900513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85850" y="0"/>
            <a:ext cx="11106150" cy="6857999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16200000">
            <a:off x="-2223993" y="3398745"/>
            <a:ext cx="5549900" cy="873313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Инвестиционный план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876301" y="0"/>
            <a:ext cx="6286499" cy="68580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857251" y="0"/>
            <a:ext cx="6286499" cy="68580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бъект 4"/>
          <p:cNvSpPr txBox="1">
            <a:spLocks/>
          </p:cNvSpPr>
          <p:nvPr/>
        </p:nvSpPr>
        <p:spPr>
          <a:xfrm>
            <a:off x="1295400" y="266700"/>
            <a:ext cx="5543550" cy="6324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450215" algn="ctr">
              <a:spcAft>
                <a:spcPts val="0"/>
              </a:spcAft>
              <a:buNone/>
            </a:pPr>
            <a:r>
              <a:rPr lang="ru-RU" dirty="0">
                <a:latin typeface="Times New Roman"/>
                <a:ea typeface="Calibri"/>
              </a:rPr>
              <a:t>Состав и размер инвестиционных затрат приведены в следующем слайде. При этом затраты по статье «Прочие </a:t>
            </a:r>
            <a:r>
              <a:rPr lang="ru-RU" dirty="0" err="1">
                <a:latin typeface="Times New Roman"/>
                <a:ea typeface="Calibri"/>
              </a:rPr>
              <a:t>внеоборотные</a:t>
            </a:r>
            <a:r>
              <a:rPr lang="ru-RU" dirty="0">
                <a:latin typeface="Times New Roman"/>
                <a:ea typeface="Calibri"/>
              </a:rPr>
              <a:t> активы» приняты на уровне 40 % от суммы остальных </a:t>
            </a:r>
            <a:r>
              <a:rPr lang="ru-RU" dirty="0" err="1">
                <a:latin typeface="Times New Roman"/>
                <a:ea typeface="Calibri"/>
              </a:rPr>
              <a:t>внеоборотных</a:t>
            </a:r>
            <a:r>
              <a:rPr lang="ru-RU" dirty="0">
                <a:latin typeface="Times New Roman"/>
                <a:ea typeface="Calibri"/>
              </a:rPr>
              <a:t> активов. Инвестиции в оборотные активы рассчитывались исходя из планируемой годовой величины себестоимости  (9 818  р. – см. табл. 6) и длительности одного оборота в 30 дней (экспертная оценка).</a:t>
            </a:r>
          </a:p>
        </p:txBody>
      </p:sp>
    </p:spTree>
    <p:extLst>
      <p:ext uri="{BB962C8B-B14F-4D97-AF65-F5344CB8AC3E}">
        <p14:creationId xmlns:p14="http://schemas.microsoft.com/office/powerpoint/2010/main" val="9631058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 descr="26900513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85850" y="0"/>
            <a:ext cx="11106150" cy="6857999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16200000">
            <a:off x="-2223993" y="3398745"/>
            <a:ext cx="5549900" cy="873313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Инвестиционный план</a:t>
            </a:r>
          </a:p>
        </p:txBody>
      </p:sp>
      <p:sp>
        <p:nvSpPr>
          <p:cNvPr id="18" name="Прямоугольник 17"/>
          <p:cNvSpPr/>
          <p:nvPr/>
        </p:nvSpPr>
        <p:spPr>
          <a:xfrm>
            <a:off x="1085851" y="0"/>
            <a:ext cx="11106149" cy="68580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/>
        </p:nvSpPr>
        <p:spPr>
          <a:xfrm>
            <a:off x="1085851" y="0"/>
            <a:ext cx="11106149" cy="68580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1371600" y="209550"/>
          <a:ext cx="10496550" cy="6157552"/>
        </p:xfrm>
        <a:graphic>
          <a:graphicData uri="http://schemas.openxmlformats.org/drawingml/2006/table">
            <a:tbl>
              <a:tblPr/>
              <a:tblGrid>
                <a:gridCol w="5575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75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3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94">
                <a:tc>
                  <a:txBody>
                    <a:bodyPr/>
                    <a:lstStyle/>
                    <a:p>
                      <a:pPr indent="450215" algn="ctr">
                        <a:spcAft>
                          <a:spcPts val="0"/>
                        </a:spcAft>
                      </a:pPr>
                      <a:r>
                        <a:rPr lang="ru-RU" sz="25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Виды затрат</a:t>
                      </a:r>
                      <a:endParaRPr lang="ru-RU" sz="2500" b="1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spcAft>
                          <a:spcPts val="0"/>
                        </a:spcAft>
                      </a:pPr>
                      <a:r>
                        <a:rPr lang="ru-RU" sz="25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На единицу</a:t>
                      </a:r>
                      <a:endParaRPr lang="ru-RU" sz="25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spcAft>
                          <a:spcPts val="0"/>
                        </a:spcAft>
                      </a:pPr>
                      <a:r>
                        <a:rPr lang="ru-RU" sz="25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Общая сумма</a:t>
                      </a:r>
                      <a:endParaRPr lang="ru-RU" sz="25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94">
                <a:tc>
                  <a:txBody>
                    <a:bodyPr/>
                    <a:lstStyle/>
                    <a:p>
                      <a:pPr indent="450215">
                        <a:spcAft>
                          <a:spcPts val="0"/>
                        </a:spcAft>
                      </a:pPr>
                      <a:r>
                        <a:rPr lang="ru-RU" sz="25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Инвестиции во </a:t>
                      </a:r>
                      <a:r>
                        <a:rPr lang="ru-RU" sz="2500" b="1" dirty="0" err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внеоборотные</a:t>
                      </a:r>
                      <a:r>
                        <a:rPr lang="ru-RU" sz="25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 активы</a:t>
                      </a:r>
                      <a:endParaRPr lang="ru-RU" sz="2500" b="1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endParaRPr lang="ru-RU" sz="2500" b="1">
                        <a:solidFill>
                          <a:srgbClr val="000000"/>
                        </a:solidFill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r>
                        <a:rPr lang="ru-RU" sz="25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17 287</a:t>
                      </a:r>
                      <a:endParaRPr lang="ru-RU" sz="25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94">
                <a:tc>
                  <a:txBody>
                    <a:bodyPr/>
                    <a:lstStyle/>
                    <a:p>
                      <a:pPr indent="450215">
                        <a:spcAft>
                          <a:spcPts val="0"/>
                        </a:spcAft>
                      </a:pPr>
                      <a:r>
                        <a:rPr lang="ru-RU" sz="25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Капсула для сна</a:t>
                      </a:r>
                      <a:endParaRPr lang="ru-RU" sz="2500" b="1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r>
                        <a:rPr lang="ru-RU" sz="25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2 438</a:t>
                      </a:r>
                      <a:endParaRPr lang="ru-RU" sz="25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r>
                        <a:rPr lang="ru-RU" sz="25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4 876</a:t>
                      </a:r>
                      <a:endParaRPr lang="ru-RU" sz="25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673">
                <a:tc>
                  <a:txBody>
                    <a:bodyPr/>
                    <a:lstStyle/>
                    <a:p>
                      <a:pPr indent="450215" algn="just">
                        <a:spcAft>
                          <a:spcPts val="0"/>
                        </a:spcAft>
                      </a:pPr>
                      <a:r>
                        <a:rPr lang="ru-RU" sz="25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Капсула для сна с боковым входом</a:t>
                      </a:r>
                      <a:endParaRPr lang="ru-RU" sz="2500" b="1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r>
                        <a:rPr lang="ru-RU" sz="25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2 988</a:t>
                      </a:r>
                      <a:endParaRPr lang="ru-RU" sz="25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r>
                        <a:rPr lang="ru-RU" sz="25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5 976</a:t>
                      </a:r>
                      <a:endParaRPr lang="ru-RU" sz="25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94">
                <a:tc>
                  <a:txBody>
                    <a:bodyPr/>
                    <a:lstStyle/>
                    <a:p>
                      <a:pPr indent="450215" algn="just">
                        <a:spcAft>
                          <a:spcPts val="0"/>
                        </a:spcAft>
                      </a:pPr>
                      <a:r>
                        <a:rPr lang="ru-RU" sz="25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Холодильник с морозильником ATLANT</a:t>
                      </a:r>
                      <a:endParaRPr lang="ru-RU" sz="2500" b="1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r>
                        <a:rPr lang="ru-RU" sz="25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788</a:t>
                      </a:r>
                      <a:endParaRPr lang="ru-RU" sz="25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r>
                        <a:rPr lang="ru-RU" sz="25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788</a:t>
                      </a:r>
                      <a:endParaRPr lang="ru-RU" sz="25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94">
                <a:tc>
                  <a:txBody>
                    <a:bodyPr/>
                    <a:lstStyle/>
                    <a:p>
                      <a:pPr indent="450215" algn="just">
                        <a:spcAft>
                          <a:spcPts val="0"/>
                        </a:spcAft>
                      </a:pPr>
                      <a:r>
                        <a:rPr lang="ru-RU" sz="25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Микроволновая печь LG</a:t>
                      </a:r>
                      <a:endParaRPr lang="ru-RU" sz="25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r>
                        <a:rPr lang="ru-RU" sz="25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229</a:t>
                      </a:r>
                      <a:endParaRPr lang="ru-RU" sz="25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r>
                        <a:rPr lang="ru-RU" sz="25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229</a:t>
                      </a:r>
                      <a:endParaRPr lang="ru-RU" sz="25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694">
                <a:tc>
                  <a:txBody>
                    <a:bodyPr/>
                    <a:lstStyle/>
                    <a:p>
                      <a:pPr indent="450215" algn="just">
                        <a:spcAft>
                          <a:spcPts val="0"/>
                        </a:spcAft>
                      </a:pPr>
                      <a:r>
                        <a:rPr lang="ru-RU" sz="25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Стойка администратора</a:t>
                      </a:r>
                      <a:endParaRPr lang="ru-RU" sz="25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r>
                        <a:rPr lang="ru-RU" sz="25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400</a:t>
                      </a:r>
                      <a:endParaRPr lang="ru-RU" sz="25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r>
                        <a:rPr lang="ru-RU" sz="25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400</a:t>
                      </a:r>
                      <a:endParaRPr lang="ru-RU" sz="25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8694">
                <a:tc>
                  <a:txBody>
                    <a:bodyPr/>
                    <a:lstStyle/>
                    <a:p>
                      <a:pPr indent="450215" algn="just">
                        <a:spcAft>
                          <a:spcPts val="0"/>
                        </a:spcAft>
                      </a:pPr>
                      <a:r>
                        <a:rPr lang="ru-RU" sz="25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Прочие внеоборотные активы</a:t>
                      </a:r>
                      <a:endParaRPr lang="ru-RU" sz="25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endParaRPr lang="ru-RU" sz="2500" b="1">
                        <a:solidFill>
                          <a:srgbClr val="000000"/>
                        </a:solidFill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r>
                        <a:rPr lang="ru-RU" sz="25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5 198</a:t>
                      </a:r>
                      <a:endParaRPr lang="ru-RU" sz="25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694">
                <a:tc>
                  <a:txBody>
                    <a:bodyPr/>
                    <a:lstStyle/>
                    <a:p>
                      <a:pPr indent="450215">
                        <a:spcAft>
                          <a:spcPts val="0"/>
                        </a:spcAft>
                      </a:pPr>
                      <a:r>
                        <a:rPr lang="ru-RU" sz="25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Инвестиции в оборотные активы</a:t>
                      </a:r>
                      <a:endParaRPr lang="ru-RU" sz="2500" b="1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endParaRPr lang="ru-RU" sz="2500" b="1">
                        <a:solidFill>
                          <a:srgbClr val="000000"/>
                        </a:solidFill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r>
                        <a:rPr lang="en-US" sz="25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818</a:t>
                      </a:r>
                      <a:endParaRPr lang="ru-RU" sz="25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8694"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r>
                        <a:rPr lang="ru-RU" sz="25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ИТОГО</a:t>
                      </a:r>
                      <a:endParaRPr lang="ru-RU" sz="25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endParaRPr lang="ru-RU" sz="2500" b="1">
                        <a:solidFill>
                          <a:srgbClr val="000000"/>
                        </a:solidFill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r>
                        <a:rPr lang="en-US" sz="25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18 285</a:t>
                      </a:r>
                      <a:endParaRPr lang="ru-RU" sz="25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8694">
                <a:tc>
                  <a:txBody>
                    <a:bodyPr/>
                    <a:lstStyle/>
                    <a:p>
                      <a:pPr indent="450215" algn="just">
                        <a:spcAft>
                          <a:spcPts val="0"/>
                        </a:spcAft>
                      </a:pPr>
                      <a:r>
                        <a:rPr lang="ru-RU" sz="25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Собственные средства</a:t>
                      </a:r>
                      <a:endParaRPr lang="ru-RU" sz="25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endParaRPr lang="ru-RU" sz="2500" b="1">
                        <a:solidFill>
                          <a:srgbClr val="000000"/>
                        </a:solidFill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r>
                        <a:rPr lang="en-US" sz="25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18 285</a:t>
                      </a:r>
                      <a:endParaRPr lang="ru-RU" sz="25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8694">
                <a:tc>
                  <a:txBody>
                    <a:bodyPr/>
                    <a:lstStyle/>
                    <a:p>
                      <a:pPr indent="450215" algn="just">
                        <a:spcAft>
                          <a:spcPts val="0"/>
                        </a:spcAft>
                      </a:pPr>
                      <a:r>
                        <a:rPr lang="ru-RU" sz="25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Заемные средства</a:t>
                      </a:r>
                      <a:endParaRPr lang="ru-RU" sz="25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endParaRPr lang="ru-RU" sz="2500" b="1">
                        <a:solidFill>
                          <a:srgbClr val="000000"/>
                        </a:solidFill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r>
                        <a:rPr lang="ru-RU" sz="25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2500" b="1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31058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 descr="26900513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2050" y="0"/>
            <a:ext cx="11029950" cy="6857999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16200000">
            <a:off x="-2223993" y="3398745"/>
            <a:ext cx="5549900" cy="873313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 эффективности проекта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1162050" y="0"/>
            <a:ext cx="6000750" cy="68580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1181100" y="0"/>
            <a:ext cx="5962650" cy="68580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бъект 4"/>
          <p:cNvSpPr txBox="1">
            <a:spLocks/>
          </p:cNvSpPr>
          <p:nvPr/>
        </p:nvSpPr>
        <p:spPr>
          <a:xfrm>
            <a:off x="1295400" y="571500"/>
            <a:ext cx="5543550" cy="6324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7705" indent="-237490" algn="ctr">
              <a:spcAft>
                <a:spcPts val="1800"/>
              </a:spcAft>
              <a:buNone/>
            </a:pPr>
            <a:r>
              <a:rPr lang="ru-RU" b="1" dirty="0">
                <a:latin typeface="Times New Roman"/>
                <a:ea typeface="Times New Roman"/>
              </a:rPr>
              <a:t>Чистый дисконтированный доход (ЧДД)</a:t>
            </a:r>
          </a:p>
          <a:p>
            <a:pPr indent="450215" algn="ctr">
              <a:spcAft>
                <a:spcPts val="0"/>
              </a:spcAft>
              <a:buNone/>
            </a:pPr>
            <a:r>
              <a:rPr lang="ru-RU" sz="3200" dirty="0">
                <a:latin typeface="Times New Roman"/>
                <a:ea typeface="Calibri"/>
              </a:rPr>
              <a:t>В данном случае годовой размер чистой прибыли равен 7734 </a:t>
            </a:r>
            <a:r>
              <a:rPr lang="ru-RU" sz="3200" dirty="0" err="1">
                <a:latin typeface="Times New Roman"/>
                <a:ea typeface="Calibri"/>
              </a:rPr>
              <a:t>бел.р</a:t>
            </a:r>
            <a:r>
              <a:rPr lang="ru-RU" sz="3200" dirty="0">
                <a:latin typeface="Times New Roman"/>
                <a:ea typeface="Calibri"/>
              </a:rPr>
              <a:t>., а годовые амортизационные отчисления – 2 499 </a:t>
            </a:r>
            <a:r>
              <a:rPr lang="ru-RU" sz="3200" dirty="0" err="1">
                <a:latin typeface="Times New Roman"/>
                <a:ea typeface="Calibri"/>
              </a:rPr>
              <a:t>бел.р</a:t>
            </a:r>
            <a:r>
              <a:rPr lang="ru-RU" sz="3200" dirty="0">
                <a:latin typeface="Times New Roman"/>
                <a:ea typeface="Calibri"/>
              </a:rPr>
              <a:t>., т.е. годовой чистый доход равен 10 233 </a:t>
            </a:r>
            <a:r>
              <a:rPr lang="ru-RU" sz="3200" dirty="0" err="1">
                <a:latin typeface="Times New Roman"/>
                <a:ea typeface="Calibri"/>
              </a:rPr>
              <a:t>бел.р</a:t>
            </a:r>
            <a:r>
              <a:rPr lang="ru-RU" sz="3200" dirty="0">
                <a:latin typeface="Times New Roman"/>
                <a:ea typeface="Calibri"/>
              </a:rPr>
              <a:t>.  Размер инвестиционных затрат равен 18 105 бел.</a:t>
            </a:r>
          </a:p>
          <a:p>
            <a:pPr marL="687705" indent="-237490" algn="ctr">
              <a:spcAft>
                <a:spcPts val="1800"/>
              </a:spcAft>
              <a:buNone/>
            </a:pPr>
            <a:endParaRPr lang="ru-RU" b="1" dirty="0"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631058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 descr="26900513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85850" y="0"/>
            <a:ext cx="11106150" cy="6857999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16200000">
            <a:off x="-2223993" y="3398745"/>
            <a:ext cx="5549900" cy="873313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Производственный план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876301" y="0"/>
            <a:ext cx="11315699" cy="74295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1085851" y="0"/>
            <a:ext cx="11106149" cy="74295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бъект 4"/>
          <p:cNvSpPr txBox="1">
            <a:spLocks/>
          </p:cNvSpPr>
          <p:nvPr/>
        </p:nvSpPr>
        <p:spPr>
          <a:xfrm>
            <a:off x="2076451" y="0"/>
            <a:ext cx="10054986" cy="6667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7705" indent="-237490">
              <a:spcAft>
                <a:spcPts val="1800"/>
              </a:spcAft>
              <a:buNone/>
            </a:pPr>
            <a:r>
              <a:rPr lang="ru-RU" sz="3200" b="1" dirty="0">
                <a:latin typeface="Times New Roman"/>
                <a:ea typeface="Times New Roman"/>
              </a:rPr>
              <a:t>Чистый дисконтированный доход (ЧДД)</a:t>
            </a:r>
          </a:p>
        </p:txBody>
      </p:sp>
      <p:sp>
        <p:nvSpPr>
          <p:cNvPr id="18" name="Прямоугольник 17"/>
          <p:cNvSpPr/>
          <p:nvPr/>
        </p:nvSpPr>
        <p:spPr>
          <a:xfrm>
            <a:off x="1085851" y="2686050"/>
            <a:ext cx="11106149" cy="417195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/>
        </p:nvSpPr>
        <p:spPr>
          <a:xfrm>
            <a:off x="1085851" y="2705100"/>
            <a:ext cx="11106149" cy="41529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1371601" y="2838449"/>
          <a:ext cx="10534649" cy="3887024"/>
        </p:xfrm>
        <a:graphic>
          <a:graphicData uri="http://schemas.openxmlformats.org/drawingml/2006/table">
            <a:tbl>
              <a:tblPr/>
              <a:tblGrid>
                <a:gridCol w="4276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9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97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35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52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4317">
                <a:tc rowSpan="2">
                  <a:txBody>
                    <a:bodyPr/>
                    <a:lstStyle/>
                    <a:p>
                      <a:pPr indent="450215">
                        <a:spcAft>
                          <a:spcPts val="0"/>
                        </a:spcAft>
                      </a:pPr>
                      <a:r>
                        <a:rPr lang="ru-RU" sz="22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Денежный поток по годам</a:t>
                      </a:r>
                      <a:endParaRPr lang="ru-RU" sz="2200" b="1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513" marR="6751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spcAft>
                          <a:spcPts val="0"/>
                        </a:spcAft>
                      </a:pPr>
                      <a:r>
                        <a:rPr lang="ru-RU" sz="22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513" marR="6751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spcAft>
                          <a:spcPts val="0"/>
                        </a:spcAft>
                      </a:pPr>
                      <a:r>
                        <a:rPr lang="ru-RU" sz="22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2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513" marR="6751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spcAft>
                          <a:spcPts val="0"/>
                        </a:spcAft>
                      </a:pPr>
                      <a:r>
                        <a:rPr lang="ru-RU" sz="22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3</a:t>
                      </a:r>
                      <a:endParaRPr lang="ru-RU" sz="2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513" marR="6751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spcAft>
                          <a:spcPts val="0"/>
                        </a:spcAft>
                      </a:pPr>
                      <a:r>
                        <a:rPr lang="ru-RU" sz="22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endParaRPr lang="ru-RU" sz="2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513" marR="6751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317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r>
                        <a:rPr lang="ru-RU" sz="22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-7872</a:t>
                      </a:r>
                      <a:endParaRPr lang="ru-RU" sz="2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513" marR="6751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r>
                        <a:rPr lang="ru-RU" sz="22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10 233</a:t>
                      </a:r>
                      <a:endParaRPr lang="ru-RU" sz="2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513" marR="6751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r>
                        <a:rPr lang="ru-RU" sz="22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10 233</a:t>
                      </a:r>
                      <a:endParaRPr lang="ru-RU" sz="2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513" marR="6751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r>
                        <a:rPr lang="ru-RU" sz="22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10 233</a:t>
                      </a:r>
                      <a:endParaRPr lang="ru-RU" sz="2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513" marR="6751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474">
                <a:tc>
                  <a:txBody>
                    <a:bodyPr/>
                    <a:lstStyle/>
                    <a:p>
                      <a:pPr indent="450215">
                        <a:spcAft>
                          <a:spcPts val="0"/>
                        </a:spcAft>
                      </a:pPr>
                      <a:r>
                        <a:rPr lang="ru-RU" sz="22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Денежный поток с накоплением</a:t>
                      </a:r>
                      <a:endParaRPr lang="ru-RU" sz="2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513" marR="6751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r>
                        <a:rPr lang="ru-RU" sz="22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-7872</a:t>
                      </a:r>
                      <a:endParaRPr lang="ru-RU" sz="2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513" marR="6751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r>
                        <a:rPr lang="ru-RU" sz="22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2361</a:t>
                      </a:r>
                      <a:endParaRPr lang="ru-RU" sz="2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513" marR="6751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r>
                        <a:rPr lang="ru-RU" sz="22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12 594</a:t>
                      </a:r>
                      <a:endParaRPr lang="ru-RU" sz="2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513" marR="6751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r>
                        <a:rPr lang="ru-RU" sz="22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22 827</a:t>
                      </a:r>
                      <a:endParaRPr lang="ru-RU" sz="2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513" marR="6751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474">
                <a:tc>
                  <a:txBody>
                    <a:bodyPr/>
                    <a:lstStyle/>
                    <a:p>
                      <a:pPr indent="450215">
                        <a:spcAft>
                          <a:spcPts val="0"/>
                        </a:spcAft>
                      </a:pPr>
                      <a:r>
                        <a:rPr lang="ru-RU" sz="22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Коэффициент дисконтирования</a:t>
                      </a:r>
                      <a:endParaRPr lang="ru-RU" sz="2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513" marR="6751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r>
                        <a:rPr lang="ru-RU" sz="22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1,00</a:t>
                      </a:r>
                      <a:endParaRPr lang="ru-RU" sz="2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513" marR="6751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r>
                        <a:rPr lang="ru-RU" sz="22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0,91</a:t>
                      </a:r>
                      <a:endParaRPr lang="ru-RU" sz="2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513" marR="6751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r>
                        <a:rPr lang="ru-RU" sz="22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0,83</a:t>
                      </a:r>
                      <a:endParaRPr lang="ru-RU" sz="2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513" marR="6751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r>
                        <a:rPr lang="ru-RU" sz="22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0,75</a:t>
                      </a:r>
                      <a:endParaRPr lang="ru-RU" sz="2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513" marR="6751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8635">
                <a:tc>
                  <a:txBody>
                    <a:bodyPr/>
                    <a:lstStyle/>
                    <a:p>
                      <a:pPr indent="450215">
                        <a:spcAft>
                          <a:spcPts val="0"/>
                        </a:spcAft>
                      </a:pPr>
                      <a:r>
                        <a:rPr lang="ru-RU" sz="22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Дисконтированный денежный поток по годам</a:t>
                      </a:r>
                      <a:endParaRPr lang="ru-RU" sz="2200" b="1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513" marR="6751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r>
                        <a:rPr lang="ru-RU" sz="22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-7872</a:t>
                      </a:r>
                      <a:endParaRPr lang="ru-RU" sz="2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513" marR="6751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r>
                        <a:rPr lang="ru-RU" sz="22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9 303</a:t>
                      </a:r>
                      <a:endParaRPr lang="ru-RU" sz="2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513" marR="6751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r>
                        <a:rPr lang="ru-RU" sz="22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8 457</a:t>
                      </a:r>
                      <a:endParaRPr lang="ru-RU" sz="2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513" marR="6751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r>
                        <a:rPr lang="ru-RU" sz="22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7 688</a:t>
                      </a:r>
                      <a:endParaRPr lang="ru-RU" sz="2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513" marR="6751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8635">
                <a:tc>
                  <a:txBody>
                    <a:bodyPr/>
                    <a:lstStyle/>
                    <a:p>
                      <a:pPr indent="450215">
                        <a:spcAft>
                          <a:spcPts val="0"/>
                        </a:spcAft>
                      </a:pPr>
                      <a:r>
                        <a:rPr lang="ru-RU" sz="22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Дисконтированный денежный поток с накоплением</a:t>
                      </a:r>
                      <a:endParaRPr lang="ru-RU" sz="2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513" marR="6751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r>
                        <a:rPr lang="ru-RU" sz="22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-7872</a:t>
                      </a:r>
                      <a:endParaRPr lang="ru-RU" sz="2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513" marR="6751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r>
                        <a:rPr lang="ru-RU" sz="22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1 431</a:t>
                      </a:r>
                      <a:endParaRPr lang="ru-RU" sz="2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513" marR="6751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r>
                        <a:rPr lang="ru-RU" sz="2200" b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9 888</a:t>
                      </a:r>
                      <a:endParaRPr lang="ru-RU" sz="2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513" marR="6751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r>
                        <a:rPr lang="ru-RU" sz="22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17 576</a:t>
                      </a:r>
                      <a:endParaRPr lang="ru-RU" sz="2200" b="1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513" marR="6751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31058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 descr="26900513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2050" y="0"/>
            <a:ext cx="11029950" cy="6857999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16200000">
            <a:off x="-2223993" y="3398745"/>
            <a:ext cx="5549900" cy="873313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 эффективности проекта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1162050" y="0"/>
            <a:ext cx="6000750" cy="68580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1181100" y="0"/>
            <a:ext cx="5962650" cy="68580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бъект 4"/>
          <p:cNvSpPr txBox="1">
            <a:spLocks/>
          </p:cNvSpPr>
          <p:nvPr/>
        </p:nvSpPr>
        <p:spPr>
          <a:xfrm>
            <a:off x="1295400" y="571500"/>
            <a:ext cx="5543550" cy="6324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7705" indent="-237490" algn="ctr">
              <a:spcAft>
                <a:spcPts val="1800"/>
              </a:spcAft>
              <a:buNone/>
            </a:pPr>
            <a:r>
              <a:rPr lang="ru-RU" b="1" dirty="0">
                <a:latin typeface="Times New Roman"/>
                <a:ea typeface="Times New Roman"/>
              </a:rPr>
              <a:t>Внутренняя норма доходности (ВНД)</a:t>
            </a:r>
          </a:p>
          <a:p>
            <a:pPr indent="450215" algn="ctr">
              <a:spcAft>
                <a:spcPts val="0"/>
              </a:spcAft>
              <a:buNone/>
            </a:pPr>
            <a:r>
              <a:rPr lang="ru-RU" sz="3200" dirty="0">
                <a:latin typeface="Times New Roman"/>
                <a:ea typeface="Calibri"/>
              </a:rPr>
              <a:t> Для оценки эффективности проекта значение внутренней нормы доходности необходимо сопоставлять с годовой ставкой процента по инвестиционным кредитам. В данном случае ВНД будет лишь чуть больше 10 %.</a:t>
            </a:r>
          </a:p>
          <a:p>
            <a:pPr indent="450215" algn="ctr">
              <a:spcAft>
                <a:spcPts val="0"/>
              </a:spcAft>
              <a:buNone/>
            </a:pPr>
            <a:endParaRPr lang="ru-RU" sz="3200" dirty="0">
              <a:latin typeface="Times New Roman"/>
              <a:ea typeface="Calibri"/>
            </a:endParaRPr>
          </a:p>
          <a:p>
            <a:pPr marL="687705" indent="-237490" algn="ctr">
              <a:spcAft>
                <a:spcPts val="1800"/>
              </a:spcAft>
              <a:buNone/>
            </a:pPr>
            <a:endParaRPr lang="ru-RU" b="1" dirty="0"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631058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 descr="26900513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2050" y="0"/>
            <a:ext cx="11029950" cy="6857999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16200000">
            <a:off x="-2223993" y="3398745"/>
            <a:ext cx="5549900" cy="873313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 эффективности проекта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1828800" y="0"/>
            <a:ext cx="9734550" cy="68580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1809750" y="0"/>
            <a:ext cx="9734550" cy="68580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бъект 4"/>
          <p:cNvSpPr txBox="1">
            <a:spLocks/>
          </p:cNvSpPr>
          <p:nvPr/>
        </p:nvSpPr>
        <p:spPr>
          <a:xfrm>
            <a:off x="2000250" y="0"/>
            <a:ext cx="9582150" cy="68961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7705" indent="-237490" algn="ctr">
              <a:spcAft>
                <a:spcPts val="1800"/>
              </a:spcAft>
              <a:buNone/>
            </a:pPr>
            <a:r>
              <a:rPr lang="ru-RU" b="1" dirty="0">
                <a:latin typeface="Times New Roman"/>
                <a:ea typeface="Times New Roman"/>
              </a:rPr>
              <a:t>Индекс рентабельности инвестиций (ИР)</a:t>
            </a:r>
          </a:p>
          <a:p>
            <a:r>
              <a:rPr lang="ru-RU" dirty="0">
                <a:latin typeface="Times New Roman"/>
                <a:ea typeface="Calibri"/>
              </a:rPr>
              <a:t> </a:t>
            </a:r>
            <a:r>
              <a:rPr lang="ru-RU" b="1" dirty="0"/>
              <a:t>Рентабельность активов</a:t>
            </a:r>
            <a:r>
              <a:rPr lang="ru-RU" dirty="0"/>
              <a:t>: </a:t>
            </a:r>
          </a:p>
          <a:p>
            <a:r>
              <a:rPr lang="ru-RU" dirty="0"/>
              <a:t>РА = чистая прибыль / активы = 7734 / 10233 </a:t>
            </a:r>
            <a:r>
              <a:rPr lang="ru-RU" dirty="0" err="1"/>
              <a:t>х</a:t>
            </a:r>
            <a:r>
              <a:rPr lang="ru-RU" dirty="0"/>
              <a:t> 100 % = 75,5 %.</a:t>
            </a:r>
          </a:p>
          <a:p>
            <a:r>
              <a:rPr lang="ru-RU" b="1" dirty="0"/>
              <a:t>Рентабельность оборота</a:t>
            </a:r>
          </a:p>
          <a:p>
            <a:r>
              <a:rPr lang="ru-RU" dirty="0"/>
              <a:t>РО = чистая прибыль / выручка от реализации = 7734 / 23300 х100 % = 0,33 %.</a:t>
            </a:r>
          </a:p>
          <a:p>
            <a:r>
              <a:rPr lang="ru-RU" b="1" dirty="0"/>
              <a:t>Рентабельность продукции</a:t>
            </a:r>
          </a:p>
          <a:p>
            <a:r>
              <a:rPr lang="ru-RU" dirty="0"/>
              <a:t>РП = чистая прибыль / затраты = 7734 / 9818 </a:t>
            </a:r>
            <a:r>
              <a:rPr lang="ru-RU" dirty="0" err="1"/>
              <a:t>х</a:t>
            </a:r>
            <a:r>
              <a:rPr lang="ru-RU" dirty="0"/>
              <a:t> 100 %= 78,7 %</a:t>
            </a:r>
          </a:p>
          <a:p>
            <a:r>
              <a:rPr lang="ru-RU" b="1" dirty="0"/>
              <a:t>Анализ точки безубыточности</a:t>
            </a:r>
          </a:p>
          <a:p>
            <a:r>
              <a:rPr lang="ru-RU" dirty="0"/>
              <a:t>Так как один клиент оставляет в среднем 35,00 бел. руб., значит у = 35,00 · х.</a:t>
            </a:r>
          </a:p>
          <a:p>
            <a:pPr indent="450215" algn="ctr">
              <a:spcAft>
                <a:spcPts val="0"/>
              </a:spcAft>
              <a:buNone/>
            </a:pPr>
            <a:endParaRPr lang="ru-RU" sz="3200" dirty="0">
              <a:latin typeface="Times New Roman"/>
              <a:ea typeface="Calibri"/>
            </a:endParaRPr>
          </a:p>
          <a:p>
            <a:pPr indent="450215" algn="ctr">
              <a:spcAft>
                <a:spcPts val="0"/>
              </a:spcAft>
              <a:buNone/>
            </a:pPr>
            <a:endParaRPr lang="ru-RU" sz="3200" dirty="0">
              <a:latin typeface="Times New Roman"/>
              <a:ea typeface="Calibri"/>
            </a:endParaRPr>
          </a:p>
          <a:p>
            <a:pPr marL="687705" indent="-237490" algn="ctr">
              <a:spcAft>
                <a:spcPts val="1800"/>
              </a:spcAft>
              <a:buNone/>
            </a:pPr>
            <a:endParaRPr lang="ru-RU" b="1" dirty="0"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631058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main___hostel__doma____shutterstock_1164605263.xq6ypnxpxywf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81050" y="2798763"/>
            <a:ext cx="10820400" cy="1239837"/>
          </a:xfrm>
        </p:spPr>
        <p:txBody>
          <a:bodyPr>
            <a:normAutofit/>
          </a:bodyPr>
          <a:lstStyle/>
          <a:p>
            <a:r>
              <a:rPr lang="ru-RU" sz="8000" dirty="0">
                <a:effectLst>
                  <a:glow rad="355600">
                    <a:srgbClr val="FFFFFF"/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23441932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817</TotalTime>
  <Words>1153</Words>
  <Application>Microsoft Macintosh PowerPoint</Application>
  <PresentationFormat>Широкоэкранный</PresentationFormat>
  <Paragraphs>216</Paragraphs>
  <Slides>22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Тема Office</vt:lpstr>
      <vt:lpstr>БИЗНЕС-ПЛАН  инвестиционного проекта   «Организация хостела»</vt:lpstr>
      <vt:lpstr>О  предприятии</vt:lpstr>
      <vt:lpstr>Расположение</vt:lpstr>
      <vt:lpstr>Общая характеристика рынка</vt:lpstr>
      <vt:lpstr>Оценка емкости и потенциала</vt:lpstr>
      <vt:lpstr>Основные конкуренты</vt:lpstr>
      <vt:lpstr>Основные конкуренты</vt:lpstr>
      <vt:lpstr>Основные конкуренты</vt:lpstr>
      <vt:lpstr>Стратегии маркетинка</vt:lpstr>
      <vt:lpstr>Стратегии маркетинка</vt:lpstr>
      <vt:lpstr>Производственный план</vt:lpstr>
      <vt:lpstr>Производственный план</vt:lpstr>
      <vt:lpstr>Производственный план</vt:lpstr>
      <vt:lpstr>Производственный план</vt:lpstr>
      <vt:lpstr>Организационная структура управления</vt:lpstr>
      <vt:lpstr>Инвестиционный план</vt:lpstr>
      <vt:lpstr>Инвестиционный план</vt:lpstr>
      <vt:lpstr>Показатели эффективности проекта</vt:lpstr>
      <vt:lpstr>Производственный план</vt:lpstr>
      <vt:lpstr>Показатели эффективности проекта</vt:lpstr>
      <vt:lpstr>Показатели эффективности проекта</vt:lpstr>
      <vt:lpstr>Спасибо за внимание!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БИЗНЕС-ПЛАН  инвестиционного проекта   "Коммунальное унитарное предприятие  по обращению с отходами «Экорес»"</dc:title>
  <dc:creator>Angel</dc:creator>
  <cp:lastModifiedBy>Ulyana Procopuk</cp:lastModifiedBy>
  <cp:revision>64</cp:revision>
  <dcterms:created xsi:type="dcterms:W3CDTF">2021-01-04T13:51:27Z</dcterms:created>
  <dcterms:modified xsi:type="dcterms:W3CDTF">2025-05-08T22:00:05Z</dcterms:modified>
</cp:coreProperties>
</file>