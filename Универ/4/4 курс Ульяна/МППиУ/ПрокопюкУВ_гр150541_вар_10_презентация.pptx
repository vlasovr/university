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837" r:id="rId1"/>
  </p:sldMasterIdLst>
  <p:notesMasterIdLst>
    <p:notesMasterId r:id="rId18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1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1"/>
  </p:normalViewPr>
  <p:slideViewPr>
    <p:cSldViewPr snapToGrid="0">
      <p:cViewPr>
        <p:scale>
          <a:sx n="76" d="100"/>
          <a:sy n="76" d="100"/>
        </p:scale>
        <p:origin x="760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FAE5A-814E-A34E-94B9-B97A4F9BEF33}" type="datetimeFigureOut">
              <a:rPr lang="ru-BY" smtClean="0"/>
              <a:t>30.03.2025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F5442-D96B-A740-BC35-59AB47BC6D99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035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3F5442-D96B-A740-BC35-59AB47BC6D99}" type="slidenum">
              <a:rPr lang="ru-BY" smtClean="0"/>
              <a:t>14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7004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1692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6065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1943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05252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069972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2089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2183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89432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6172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7146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2863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0323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7614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12515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26837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442449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1403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D76786A-E36B-4544-B8E9-BA9714F4CCFD}" type="datetimeFigureOut">
              <a:rPr lang="ru-BY" smtClean="0"/>
              <a:t>28.03.2025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59395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2" r:id="rId5"/>
    <p:sldLayoutId id="2147484843" r:id="rId6"/>
    <p:sldLayoutId id="2147484844" r:id="rId7"/>
    <p:sldLayoutId id="2147484845" r:id="rId8"/>
    <p:sldLayoutId id="2147484846" r:id="rId9"/>
    <p:sldLayoutId id="2147484847" r:id="rId10"/>
    <p:sldLayoutId id="2147484848" r:id="rId11"/>
    <p:sldLayoutId id="2147484849" r:id="rId12"/>
    <p:sldLayoutId id="2147484850" r:id="rId13"/>
    <p:sldLayoutId id="2147484851" r:id="rId14"/>
    <p:sldLayoutId id="2147484852" r:id="rId15"/>
    <p:sldLayoutId id="2147484853" r:id="rId16"/>
    <p:sldLayoutId id="21474848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182BC-F306-DBC2-695B-4C33B383F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008" y="1306723"/>
            <a:ext cx="9038734" cy="2759309"/>
          </a:xfrm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3000" dirty="0" err="1"/>
              <a:t>П</a:t>
            </a:r>
            <a:r>
              <a:rPr lang="ru-RU" sz="3000" dirty="0" err="1"/>
              <a:t>резентация</a:t>
            </a:r>
            <a:r>
              <a:rPr lang="ru-RU" sz="3000" dirty="0"/>
              <a:t> на тему:</a:t>
            </a:r>
            <a:br>
              <a:rPr lang="en-US" sz="3000" dirty="0"/>
            </a:br>
            <a:r>
              <a:rPr lang="ru-RU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Учет стадий жизненного цикла программного продукта при</a:t>
            </a:r>
            <a:r>
              <a:rPr lang="en-US" sz="3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использовании маркетинговых</a:t>
            </a:r>
            <a:r>
              <a:rPr lang="en-US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инструментов</a:t>
            </a:r>
            <a:br>
              <a:rPr lang="en-US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3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ариант</a:t>
            </a:r>
            <a:r>
              <a:rPr lang="ru-RU" sz="3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10</a:t>
            </a:r>
            <a:endParaRPr lang="ru-BY" sz="30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DBAD684-CB8C-0138-013D-7C5BFB85C728}"/>
              </a:ext>
            </a:extLst>
          </p:cNvPr>
          <p:cNvSpPr txBox="1">
            <a:spLocks/>
          </p:cNvSpPr>
          <p:nvPr/>
        </p:nvSpPr>
        <p:spPr>
          <a:xfrm>
            <a:off x="3961892" y="4066032"/>
            <a:ext cx="7658100" cy="22400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endParaRPr lang="ru-BY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73DA0-6980-9872-A262-02F8F9CBCC33}"/>
              </a:ext>
            </a:extLst>
          </p:cNvPr>
          <p:cNvSpPr txBox="1"/>
          <p:nvPr/>
        </p:nvSpPr>
        <p:spPr>
          <a:xfrm>
            <a:off x="6517170" y="4881863"/>
            <a:ext cx="5335115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BY" sz="27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Подготовила:</a:t>
            </a:r>
          </a:p>
          <a:p>
            <a:r>
              <a:rPr lang="ru-BY" sz="27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Студентка группы 150541</a:t>
            </a:r>
            <a:br>
              <a:rPr lang="en-US" sz="27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27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П</a:t>
            </a:r>
            <a:r>
              <a:rPr lang="ru-RU" sz="27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рокопюк</a:t>
            </a:r>
            <a:r>
              <a:rPr lang="ru-RU" sz="27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Ульяна Викторовна</a:t>
            </a:r>
            <a:endParaRPr lang="ru-BY" sz="27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8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87C98-20DC-B518-A9D4-34F4A69E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824" y="452718"/>
            <a:ext cx="9404723" cy="1400530"/>
          </a:xfrm>
        </p:spPr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Жизненный цикл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008539-1C55-D5BF-D0B7-41B3C710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952" y="1734714"/>
            <a:ext cx="10451047" cy="4670568"/>
          </a:xfrm>
        </p:spPr>
        <p:txBody>
          <a:bodyPr/>
          <a:lstStyle/>
          <a:p>
            <a:r>
              <a:rPr lang="ru-RU" sz="2400" dirty="0"/>
              <a:t>Жизненный цикл </a:t>
            </a:r>
            <a:r>
              <a:rPr lang="en-US" sz="2400" dirty="0" err="1"/>
              <a:t>пр</a:t>
            </a:r>
            <a:r>
              <a:rPr lang="ru-RU" sz="2400" dirty="0" err="1"/>
              <a:t>одукта</a:t>
            </a:r>
            <a:r>
              <a:rPr lang="ru-RU" sz="2400" dirty="0"/>
              <a:t> — это концепция, описывающая стадии, через которые проходит продукт с момента его появления на рынке до снятия с продаж.</a:t>
            </a:r>
          </a:p>
          <a:p>
            <a:r>
              <a:rPr lang="ru-BY" sz="2400" dirty="0"/>
              <a:t>Жизненный цикл </a:t>
            </a:r>
            <a:r>
              <a:rPr lang="ru-RU" sz="2400" dirty="0"/>
              <a:t>включает в себя следующие этапы:	</a:t>
            </a:r>
            <a:r>
              <a:rPr lang="en-US" sz="2400" dirty="0"/>
              <a:t>			</a:t>
            </a:r>
            <a:r>
              <a:rPr lang="ru-BY" sz="2400" dirty="0"/>
              <a:t>1)</a:t>
            </a:r>
            <a:r>
              <a:rPr lang="ru-RU" sz="2400" dirty="0"/>
              <a:t> Разработка (</a:t>
            </a:r>
            <a:r>
              <a:rPr lang="ru-RU" sz="2400" dirty="0" err="1"/>
              <a:t>предрыночная</a:t>
            </a:r>
            <a:r>
              <a:rPr lang="ru-RU" sz="2400" dirty="0"/>
              <a:t> стадия).</a:t>
            </a:r>
            <a:r>
              <a:rPr lang="en-US" sz="2400" dirty="0"/>
              <a:t>			</a:t>
            </a:r>
            <a:r>
              <a:rPr lang="ru-RU" sz="2400" dirty="0"/>
              <a:t>		</a:t>
            </a:r>
            <a:r>
              <a:rPr lang="en-US" sz="2400" dirty="0"/>
              <a:t>				</a:t>
            </a:r>
            <a:r>
              <a:rPr lang="ru-BY" sz="2400" dirty="0"/>
              <a:t>2) </a:t>
            </a:r>
            <a:r>
              <a:rPr lang="ru-RU" sz="2400" dirty="0"/>
              <a:t>Внедрение (вывод на рынок)</a:t>
            </a:r>
            <a:r>
              <a:rPr lang="en-US" sz="2400" dirty="0"/>
              <a:t>.		</a:t>
            </a:r>
            <a:r>
              <a:rPr lang="ru-RU" sz="2400" dirty="0"/>
              <a:t>		</a:t>
            </a:r>
            <a:r>
              <a:rPr lang="en-US" sz="2400" dirty="0"/>
              <a:t>							</a:t>
            </a:r>
            <a:r>
              <a:rPr lang="ru-BY" sz="2400" dirty="0"/>
              <a:t>3) </a:t>
            </a:r>
            <a:r>
              <a:rPr lang="ru-RU" sz="2400" dirty="0"/>
              <a:t>Рост</a:t>
            </a:r>
            <a:r>
              <a:rPr lang="en-US" sz="2400" dirty="0"/>
              <a:t>.							</a:t>
            </a:r>
            <a:r>
              <a:rPr lang="ru-RU" sz="2400" dirty="0"/>
              <a:t>			</a:t>
            </a:r>
            <a:r>
              <a:rPr lang="en-US" sz="2400" dirty="0"/>
              <a:t>										4) </a:t>
            </a:r>
            <a:r>
              <a:rPr lang="ru-RU" sz="2400" dirty="0"/>
              <a:t>Зрелость</a:t>
            </a:r>
            <a:r>
              <a:rPr lang="en-US" sz="2400" dirty="0"/>
              <a:t>.						</a:t>
            </a:r>
            <a:r>
              <a:rPr lang="ru-RU" sz="2400" dirty="0"/>
              <a:t>		</a:t>
            </a:r>
            <a:r>
              <a:rPr lang="en-US" sz="2400" dirty="0"/>
              <a:t>									5) </a:t>
            </a:r>
            <a:r>
              <a:rPr lang="ru-RU" sz="2400" dirty="0"/>
              <a:t>Спад.</a:t>
            </a:r>
            <a:r>
              <a:rPr lang="en-US" sz="2400" dirty="0"/>
              <a:t>									</a:t>
            </a:r>
            <a:r>
              <a:rPr lang="ru-RU" sz="2400" dirty="0"/>
              <a:t>		</a:t>
            </a:r>
            <a:r>
              <a:rPr lang="en-US" sz="2400" dirty="0"/>
              <a:t>								</a:t>
            </a:r>
            <a:r>
              <a:rPr lang="ru-RU" sz="2400" dirty="0"/>
              <a:t>6) Уход с рынка.</a:t>
            </a:r>
            <a:endParaRPr lang="ru-BY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976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9AEBB-6163-E9F8-C124-D87446E1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30" y="361114"/>
            <a:ext cx="9769477" cy="876020"/>
          </a:xfrm>
        </p:spPr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жизненного цикла продукта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5C2999-D10E-BF8B-F1EC-E4521569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33" y="1504937"/>
            <a:ext cx="8205788" cy="485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7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FE452-038A-B867-E5DF-583AE9BE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220" y="474228"/>
            <a:ext cx="9404723" cy="1400530"/>
          </a:xfrm>
        </p:spPr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Этап разработки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A13261-F76B-EA77-6DC5-252BFCC12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545" y="2252524"/>
            <a:ext cx="10199198" cy="3284676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Этап разработки предшествует выводу продукта на рынок и включает исследование потребностей, планирование, проектирование и создание первой версии. В этот период формируется концепция, тестируются гипотезы и оценивается потенциальная ценность продукта.</a:t>
            </a:r>
            <a:endParaRPr lang="ru-BY" sz="2600" dirty="0"/>
          </a:p>
        </p:txBody>
      </p:sp>
    </p:spTree>
    <p:extLst>
      <p:ext uri="{BB962C8B-B14F-4D97-AF65-F5344CB8AC3E}">
        <p14:creationId xmlns:p14="http://schemas.microsoft.com/office/powerpoint/2010/main" val="247199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9A8E3-6F09-A692-CA6B-A868439D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84" y="452718"/>
            <a:ext cx="9404723" cy="844741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Этап </a:t>
            </a:r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внедрения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E82E24-06A0-569A-CE41-EF499AB8F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984" y="1957269"/>
            <a:ext cx="10392032" cy="4195481"/>
          </a:xfrm>
        </p:spPr>
        <p:txBody>
          <a:bodyPr>
            <a:normAutofit/>
          </a:bodyPr>
          <a:lstStyle/>
          <a:p>
            <a:r>
              <a:rPr lang="ru-RU" sz="2400" dirty="0"/>
              <a:t>Проведение информационной рекламной кампании</a:t>
            </a:r>
            <a:r>
              <a:rPr lang="ru-BY" sz="2400" dirty="0"/>
              <a:t>.</a:t>
            </a:r>
          </a:p>
          <a:p>
            <a:r>
              <a:rPr lang="ru-BY" sz="2400" dirty="0"/>
              <a:t>PR-кампании, публикации в профильных медиа и на отраслевых 	порталах</a:t>
            </a:r>
            <a:r>
              <a:rPr lang="en-US" sz="2400" dirty="0"/>
              <a:t>.</a:t>
            </a:r>
          </a:p>
          <a:p>
            <a:r>
              <a:rPr lang="ru-BY" sz="2400" dirty="0"/>
              <a:t>Бесплатный демо-доступ, freemium-модель</a:t>
            </a:r>
            <a:r>
              <a:rPr lang="en-US" sz="2400" dirty="0"/>
              <a:t>.</a:t>
            </a:r>
            <a:endParaRPr lang="ru-BY" sz="2400" dirty="0"/>
          </a:p>
          <a:p>
            <a:r>
              <a:rPr lang="ru-BY" sz="2400" dirty="0"/>
              <a:t>Работа с микроинфлюенсерами и лидерами мнений</a:t>
            </a:r>
            <a:r>
              <a:rPr lang="en-US" sz="2400" dirty="0"/>
              <a:t>.</a:t>
            </a:r>
            <a:endParaRPr lang="ru-BY" sz="2400" dirty="0"/>
          </a:p>
          <a:p>
            <a:r>
              <a:rPr lang="ru-BY" sz="2400" dirty="0"/>
              <a:t>Создание лендингов и форм сбора подписчиков</a:t>
            </a:r>
            <a:r>
              <a:rPr lang="en-US" sz="2400" dirty="0"/>
              <a:t>.</a:t>
            </a:r>
            <a:endParaRPr lang="ru-BY" sz="2400" dirty="0"/>
          </a:p>
          <a:p>
            <a:r>
              <a:rPr lang="ru-BY" sz="2400" dirty="0"/>
              <a:t>Проведение вебинаров и презентаций продукта.</a:t>
            </a:r>
          </a:p>
          <a:p>
            <a:pPr marL="0" indent="0">
              <a:buNone/>
            </a:pPr>
            <a:endParaRPr lang="ru-BY" sz="2400" dirty="0"/>
          </a:p>
        </p:txBody>
      </p:sp>
    </p:spTree>
    <p:extLst>
      <p:ext uri="{BB962C8B-B14F-4D97-AF65-F5344CB8AC3E}">
        <p14:creationId xmlns:p14="http://schemas.microsoft.com/office/powerpoint/2010/main" val="121008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C64A7-960B-55AC-F60C-F2DA7A35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4741"/>
          </a:xfrm>
        </p:spPr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Этап роста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0AA6CE-D379-04DD-6FC1-83C030959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468" y="1506972"/>
            <a:ext cx="10233066" cy="502132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ru-RU" sz="2400" dirty="0"/>
              <a:t>Укрепление бренда и визуальной идентичности.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/>
              <a:t>Расширение рекламных каналов (видеообзоры, </a:t>
            </a:r>
            <a:r>
              <a:rPr lang="en" sz="2400" dirty="0"/>
              <a:t>e-mail </a:t>
            </a:r>
            <a:r>
              <a:rPr lang="ru-RU" sz="2400" dirty="0"/>
              <a:t>маркетинг, </a:t>
            </a:r>
            <a:r>
              <a:rPr lang="ru-RU" sz="2400" dirty="0" err="1"/>
              <a:t>ретаргетинг</a:t>
            </a:r>
            <a:r>
              <a:rPr lang="ru-RU" sz="2400" dirty="0"/>
              <a:t>).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/>
              <a:t>Работа с отзывами, кейсами и пользовательским контентом.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/>
              <a:t>Развитие программы лояльности и бонусов.</a:t>
            </a:r>
          </a:p>
          <a:p>
            <a:pPr>
              <a:buFont typeface="Wingdings" pitchFamily="2" charset="2"/>
              <a:buChar char="§"/>
            </a:pPr>
            <a:r>
              <a:rPr lang="en" sz="2400" dirty="0"/>
              <a:t>Upsell </a:t>
            </a:r>
            <a:r>
              <a:rPr lang="ru-RU" sz="2400" dirty="0"/>
              <a:t>и </a:t>
            </a:r>
            <a:r>
              <a:rPr lang="en" sz="2400" dirty="0"/>
              <a:t>cross-sell (</a:t>
            </a:r>
            <a:r>
              <a:rPr lang="ru-RU" sz="2400" dirty="0"/>
              <a:t>продажа доп. функций, расширений, интеграций).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/>
              <a:t>Расширение рынков — выход в другие регионы или на международный рынок.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/>
              <a:t>Автоматизация маркетинга и </a:t>
            </a:r>
            <a:r>
              <a:rPr lang="en" sz="2400" dirty="0"/>
              <a:t>CRM-</a:t>
            </a:r>
            <a:r>
              <a:rPr lang="ru-RU" sz="2400" dirty="0"/>
              <a:t>инструменты для удержания клиентов.</a:t>
            </a:r>
          </a:p>
        </p:txBody>
      </p:sp>
    </p:spTree>
    <p:extLst>
      <p:ext uri="{BB962C8B-B14F-4D97-AF65-F5344CB8AC3E}">
        <p14:creationId xmlns:p14="http://schemas.microsoft.com/office/powerpoint/2010/main" val="61062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BAF4D-E3B8-2BD3-FDF4-90FB64C1C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Этап зрелости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09067-25A7-B79A-E2D5-AD1EE8A20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656" y="2056448"/>
            <a:ext cx="10670688" cy="3151505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Этап зрелости характеризуется стабильно высоким уровнем продаж и насыщением рынка. Конкуренция усиливается, поэтому основное внимание уделяется удержанию клиентов, оптимизации затрат и поддержанию лояльности. Важно продлевать жизненный цикл за счёт улучшений, обновлений и расширения функциональности продукта.</a:t>
            </a:r>
            <a:endParaRPr lang="ru-BY" sz="2600" dirty="0"/>
          </a:p>
        </p:txBody>
      </p:sp>
    </p:spTree>
    <p:extLst>
      <p:ext uri="{BB962C8B-B14F-4D97-AF65-F5344CB8AC3E}">
        <p14:creationId xmlns:p14="http://schemas.microsoft.com/office/powerpoint/2010/main" val="2720253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D062-7698-FF1F-2E86-A67F9EB5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Этап спада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84B0E-3360-A675-61D2-BD63C7E2B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604321"/>
            <a:ext cx="10536754" cy="5018902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ru-RU" sz="3800" dirty="0"/>
              <a:t>Снижение цены или временные акции для стимуляции остатков спроса.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Перевод продукта в статус поддерживаемого (без активной разработки).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Перенаправление пользователей на более актуальные решения (</a:t>
            </a:r>
            <a:r>
              <a:rPr lang="en" sz="3800" dirty="0"/>
              <a:t>upgrade offer).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Упрощение и сокращение маркетинговых активностей.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Продажа остаточных лицензий или передача продукта в другую нишу.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Сегментация лояльной аудитории и минимальное сопровождение.</a:t>
            </a:r>
          </a:p>
          <a:p>
            <a:pPr>
              <a:buFont typeface="Wingdings" pitchFamily="2" charset="2"/>
              <a:buChar char="Ø"/>
            </a:pPr>
            <a:r>
              <a:rPr lang="ru-RU" sz="3800" dirty="0"/>
              <a:t>Анализ обратной связи для возможного перезапуска или закрытия.</a:t>
            </a:r>
          </a:p>
          <a:p>
            <a:pPr>
              <a:buFont typeface="Wingdings" pitchFamily="2" charset="2"/>
              <a:buChar char="Ø"/>
            </a:pP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589129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D9BE1-3D14-B48F-DFC7-388D0740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76" y="428005"/>
            <a:ext cx="9857132" cy="1153660"/>
          </a:xfrm>
        </p:spPr>
        <p:txBody>
          <a:bodyPr/>
          <a:lstStyle/>
          <a:p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Кривые жизненного цикла продукта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E3BBF8-E1C4-FB13-B1AE-96591C797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833" y="2390613"/>
            <a:ext cx="8946541" cy="2689653"/>
          </a:xfrm>
        </p:spPr>
        <p:txBody>
          <a:bodyPr>
            <a:normAutofit/>
          </a:bodyPr>
          <a:lstStyle/>
          <a:p>
            <a:r>
              <a:rPr lang="ru-BY" sz="2600" dirty="0"/>
              <a:t>Кривая постоянного роста</a:t>
            </a:r>
          </a:p>
          <a:p>
            <a:r>
              <a:rPr lang="ru-BY" sz="2600" dirty="0"/>
              <a:t>Кривая чередующегося роста и спада</a:t>
            </a:r>
          </a:p>
          <a:p>
            <a:r>
              <a:rPr lang="ru-BY" sz="2600" dirty="0"/>
              <a:t>Сезонная кривая</a:t>
            </a:r>
          </a:p>
          <a:p>
            <a:r>
              <a:rPr lang="ru-BY" sz="2600" dirty="0"/>
              <a:t>Кривая «второго роста»</a:t>
            </a:r>
          </a:p>
          <a:p>
            <a:r>
              <a:rPr lang="ru-BY" sz="2600" dirty="0"/>
              <a:t>Кривая провала</a:t>
            </a:r>
          </a:p>
        </p:txBody>
      </p:sp>
    </p:spTree>
    <p:extLst>
      <p:ext uri="{BB962C8B-B14F-4D97-AF65-F5344CB8AC3E}">
        <p14:creationId xmlns:p14="http://schemas.microsoft.com/office/powerpoint/2010/main" val="284942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0A43-5BC5-983F-18A3-F903CEB6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60" y="229230"/>
            <a:ext cx="8756542" cy="844741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постоянного роста</a:t>
            </a:r>
            <a:b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BY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DF0E38-0D3F-A07A-D59F-3827C78F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816" y="1864916"/>
            <a:ext cx="7122786" cy="4520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E06636-95C2-A98E-FDF1-C4DCD0BEFF74}"/>
              </a:ext>
            </a:extLst>
          </p:cNvPr>
          <p:cNvSpPr txBox="1"/>
          <p:nvPr/>
        </p:nvSpPr>
        <p:spPr>
          <a:xfrm>
            <a:off x="727060" y="1198605"/>
            <a:ext cx="9485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ru-RU" sz="2000" dirty="0">
                <a:latin typeface="+mj-lt"/>
                <a:ea typeface="+mj-ea"/>
                <a:cs typeface="+mj-cs"/>
              </a:rPr>
              <a:t>Высокий спрос на продукт, стабильный рост прибыли и продаж.</a:t>
            </a:r>
            <a:endParaRPr lang="ru-BY" sz="2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309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19B06-6B7C-0358-6EB7-C8A090137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21" y="292080"/>
            <a:ext cx="9404723" cy="795315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«роста-спада»</a:t>
            </a:r>
            <a:endParaRPr lang="ru-BY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05F92F-A898-7CA9-9514-75B8E96B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098" y="2109871"/>
            <a:ext cx="7395804" cy="4456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DE1FFE-73E5-AD2A-C2ED-3C82E4256EDA}"/>
              </a:ext>
            </a:extLst>
          </p:cNvPr>
          <p:cNvSpPr txBox="1"/>
          <p:nvPr/>
        </p:nvSpPr>
        <p:spPr>
          <a:xfrm>
            <a:off x="757321" y="1235593"/>
            <a:ext cx="9837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ru-RU" sz="2000" dirty="0">
                <a:latin typeface="+mj-lt"/>
                <a:ea typeface="+mj-ea"/>
                <a:cs typeface="+mj-cs"/>
              </a:rPr>
              <a:t>Быстрый рост и такой же по динамике спад, сохраняется стабильность</a:t>
            </a:r>
            <a:r>
              <a:rPr lang="en-US" sz="2000" dirty="0">
                <a:latin typeface="+mj-lt"/>
                <a:ea typeface="+mj-ea"/>
                <a:cs typeface="+mj-cs"/>
              </a:rPr>
              <a:t>.</a:t>
            </a:r>
            <a:endParaRPr lang="ru-BY" sz="20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36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DCCD7-F3A7-68AE-6C5D-9F9902CB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387" y="351297"/>
            <a:ext cx="9404723" cy="758244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«Сезонность»</a:t>
            </a:r>
            <a:b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BY" sz="20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242ADC-2F3F-F06E-7D33-F2A61DBFB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47" y="2063610"/>
            <a:ext cx="7105906" cy="4443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F81D19-F46D-510E-FB09-6BF9451BCCDC}"/>
              </a:ext>
            </a:extLst>
          </p:cNvPr>
          <p:cNvSpPr txBox="1"/>
          <p:nvPr/>
        </p:nvSpPr>
        <p:spPr>
          <a:xfrm>
            <a:off x="967387" y="1253030"/>
            <a:ext cx="4280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ru-RU" sz="1800" dirty="0">
                <a:solidFill>
                  <a:schemeClr val="tx1"/>
                </a:solidFill>
              </a:rPr>
              <a:t>Спрос возникает периодически.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427566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32FDA-1351-26ED-AF2B-F316871A4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51" y="304437"/>
            <a:ext cx="9404723" cy="807671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«Гребешок»</a:t>
            </a:r>
            <a:b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BY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EB3E54-2910-FFC8-A4FB-D8C1BDCF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938154"/>
            <a:ext cx="6691070" cy="4615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2214F3-38F7-5AD2-F425-CAED314B8676}"/>
              </a:ext>
            </a:extLst>
          </p:cNvPr>
          <p:cNvSpPr txBox="1"/>
          <p:nvPr/>
        </p:nvSpPr>
        <p:spPr>
          <a:xfrm>
            <a:off x="720251" y="1186691"/>
            <a:ext cx="9140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ru-RU" dirty="0"/>
              <a:t>Кривая с повторяющимися периодами роста, в которой нет этапа спада.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389550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C9011-E986-C165-9310-BEDEBE18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29149"/>
            <a:ext cx="9404723" cy="708817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Кривая провала</a:t>
            </a:r>
            <a:b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b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BY" sz="1800" dirty="0">
              <a:solidFill>
                <a:schemeClr val="accent2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239379-A204-5BCC-F652-42085BC89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938" y="1926698"/>
            <a:ext cx="6308124" cy="4602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E6FD67-8401-348D-2283-ABE761C87A9C}"/>
              </a:ext>
            </a:extLst>
          </p:cNvPr>
          <p:cNvSpPr txBox="1"/>
          <p:nvPr/>
        </p:nvSpPr>
        <p:spPr>
          <a:xfrm>
            <a:off x="646111" y="1333181"/>
            <a:ext cx="9148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ru-RU" dirty="0"/>
              <a:t>П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родукт не доходит до стадии зрелости, а сразу переходит в фазу спада.</a:t>
            </a: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49705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23F66-4E6F-B3AE-AF6A-E5BEBF1E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166" y="403290"/>
            <a:ext cx="9404723" cy="807671"/>
          </a:xfrm>
        </p:spPr>
        <p:txBody>
          <a:bodyPr/>
          <a:lstStyle/>
          <a:p>
            <a:r>
              <a:rPr lang="ru-BY" sz="4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A8AD02-031C-4959-6753-3B29B66F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69" y="1818139"/>
            <a:ext cx="9687798" cy="3786793"/>
          </a:xfrm>
        </p:spPr>
        <p:txBody>
          <a:bodyPr>
            <a:normAutofit/>
          </a:bodyPr>
          <a:lstStyle/>
          <a:p>
            <a:pPr algn="just"/>
            <a:r>
              <a:rPr lang="ru-RU" sz="2600" dirty="0"/>
              <a:t>Анализ жизненного цикла программных продуктов показывает, что эффективная маркетинговая стратегия должна соответствовать текущей стадии развития продукта. Успешная ИТ-компания гибко адаптирует коммуникации в зависимости от узнаваемости, спроса и конкурентной среды, что позволяет рационально использовать ресурсы и укреплять позиции на рынке.</a:t>
            </a:r>
            <a:endParaRPr lang="ru-BY" sz="2600" dirty="0"/>
          </a:p>
        </p:txBody>
      </p:sp>
    </p:spTree>
    <p:extLst>
      <p:ext uri="{BB962C8B-B14F-4D97-AF65-F5344CB8AC3E}">
        <p14:creationId xmlns:p14="http://schemas.microsoft.com/office/powerpoint/2010/main" val="139193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3495D-6909-11DB-604A-437A45C7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56" y="366220"/>
            <a:ext cx="10166051" cy="1462579"/>
          </a:xfrm>
        </p:spPr>
        <p:txBody>
          <a:bodyPr/>
          <a:lstStyle/>
          <a:p>
            <a:r>
              <a:rPr lang="ru-RU" sz="4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Список использованных источников</a:t>
            </a:r>
            <a:b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endParaRPr lang="ru-BY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62F42-2C10-C3D6-C75E-5DB788010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393" y="1496772"/>
            <a:ext cx="8856234" cy="4870161"/>
          </a:xfrm>
        </p:spPr>
        <p:txBody>
          <a:bodyPr>
            <a:noAutofit/>
          </a:bodyPr>
          <a:lstStyle/>
          <a:p>
            <a:pPr marL="685800" algn="just">
              <a:buAutoNum type="arabicPeriod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Котлер, Ф. Маркетинг-менеджмент / Ф. Котлер, К. Л. Келлер. — СПб.: Питер, 2016. — 816 с.	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AutoNum type="arabicPeriod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Ульрих, К. Управление разработкой новых продуктов / К. Ульрих, С. Эппингер. — М.: Альпина Паблишер, 2012. — 432 с. </a:t>
            </a:r>
            <a:endParaRPr lang="en-US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AutoNum type="arabicPeriod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Котлер, Ф. Основы маркетинга / Ф. Котлер. — М.: Вильямс, 2014. — 736 с.	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AutoNum type="arabicPeriod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Мур, Д. Преодолевая пропасть / Д. Мур. — М.: Манн, Иванов и Фербер, 2012. — 320 с.	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Font typeface="Wingdings 3" charset="2"/>
              <a:buAutoNum type="arabicPeriod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Ламб, Ч. Маркетинг / Ч. Ламб, Дж. Хэйр, Д. Маки. — М.: Cengage Learning, 2012. — 880 с.</a:t>
            </a:r>
          </a:p>
        </p:txBody>
      </p:sp>
    </p:spTree>
    <p:extLst>
      <p:ext uri="{BB962C8B-B14F-4D97-AF65-F5344CB8AC3E}">
        <p14:creationId xmlns:p14="http://schemas.microsoft.com/office/powerpoint/2010/main" val="4177252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{7F30E1D7-AADD-7644-B12F-F41D7313BA4C}tf10001062</Template>
  <TotalTime>3254</TotalTime>
  <Words>728</Words>
  <Application>Microsoft Macintosh PowerPoint</Application>
  <PresentationFormat>Широкоэкранный</PresentationFormat>
  <Paragraphs>59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</vt:lpstr>
      <vt:lpstr>Wingdings 3</vt:lpstr>
      <vt:lpstr>Ион</vt:lpstr>
      <vt:lpstr>Презентация на тему: Учет стадий жизненного цикла программного продукта при использовании маркетинговых инструментов Вариант 10</vt:lpstr>
      <vt:lpstr>Жизненный цикл продукта</vt:lpstr>
      <vt:lpstr>Кривая жизненного цикла продукта</vt:lpstr>
      <vt:lpstr>Этап разработки продукта</vt:lpstr>
      <vt:lpstr>Этап внедрения продукта</vt:lpstr>
      <vt:lpstr>Этап роста продукта</vt:lpstr>
      <vt:lpstr>Этап зрелости продукта</vt:lpstr>
      <vt:lpstr>Этап спада продукта</vt:lpstr>
      <vt:lpstr>Кривые жизненного цикла продукта</vt:lpstr>
      <vt:lpstr>Кривая постоянного роста </vt:lpstr>
      <vt:lpstr>Кривая «роста-спада»</vt:lpstr>
      <vt:lpstr>Кривая «Сезонность» </vt:lpstr>
      <vt:lpstr>Кривая «Гребешок» </vt:lpstr>
      <vt:lpstr>Кривая провала  </vt:lpstr>
      <vt:lpstr>Вывод</vt:lpstr>
      <vt:lpstr>Список использованных источников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тему: Учет стадий жизненного цикла программного продукта при использовании маркетинговых инструментов Вариант 10</dc:title>
  <dc:creator>Ulyana Procopuk</dc:creator>
  <cp:lastModifiedBy>Ulyana Procopuk</cp:lastModifiedBy>
  <cp:revision>5</cp:revision>
  <dcterms:created xsi:type="dcterms:W3CDTF">2025-03-28T10:51:13Z</dcterms:created>
  <dcterms:modified xsi:type="dcterms:W3CDTF">2025-03-30T17:05:39Z</dcterms:modified>
</cp:coreProperties>
</file>