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855" r:id="rId1"/>
  </p:sldMasterIdLst>
  <p:notesMasterIdLst>
    <p:notesMasterId r:id="rId15"/>
  </p:notesMasterIdLst>
  <p:sldIdLst>
    <p:sldId id="256" r:id="rId2"/>
    <p:sldId id="257" r:id="rId3"/>
    <p:sldId id="258" r:id="rId4"/>
    <p:sldId id="264" r:id="rId5"/>
    <p:sldId id="259" r:id="rId6"/>
    <p:sldId id="260" r:id="rId7"/>
    <p:sldId id="272" r:id="rId8"/>
    <p:sldId id="273" r:id="rId9"/>
    <p:sldId id="265" r:id="rId10"/>
    <p:sldId id="261" r:id="rId11"/>
    <p:sldId id="266" r:id="rId12"/>
    <p:sldId id="271" r:id="rId13"/>
    <p:sldId id="26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599"/>
  </p:normalViewPr>
  <p:slideViewPr>
    <p:cSldViewPr snapToGrid="0">
      <p:cViewPr varScale="1">
        <p:scale>
          <a:sx n="106" d="100"/>
          <a:sy n="106" d="100"/>
        </p:scale>
        <p:origin x="7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FAE5A-814E-A34E-94B9-B97A4F9BEF33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3F5442-D96B-A740-BC35-59AB47BC6D99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010356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2550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93561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827388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209942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299751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37378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4601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812725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04424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112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9033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206002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336745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9726875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97364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733192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6786A-E36B-4544-B8E9-BA9714F4CCFD}" type="datetimeFigureOut">
              <a:rPr lang="ru-BY" smtClean="0"/>
              <a:t>25.05.2025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83B6431-8354-2C42-9496-BF512B8BD64F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832642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6" r:id="rId1"/>
    <p:sldLayoutId id="2147484857" r:id="rId2"/>
    <p:sldLayoutId id="2147484858" r:id="rId3"/>
    <p:sldLayoutId id="2147484859" r:id="rId4"/>
    <p:sldLayoutId id="2147484860" r:id="rId5"/>
    <p:sldLayoutId id="2147484861" r:id="rId6"/>
    <p:sldLayoutId id="2147484862" r:id="rId7"/>
    <p:sldLayoutId id="2147484863" r:id="rId8"/>
    <p:sldLayoutId id="2147484864" r:id="rId9"/>
    <p:sldLayoutId id="2147484865" r:id="rId10"/>
    <p:sldLayoutId id="2147484866" r:id="rId11"/>
    <p:sldLayoutId id="2147484867" r:id="rId12"/>
    <p:sldLayoutId id="2147484868" r:id="rId13"/>
    <p:sldLayoutId id="2147484869" r:id="rId14"/>
    <p:sldLayoutId id="2147484870" r:id="rId15"/>
    <p:sldLayoutId id="214748487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ibmedia.by/news/it-sektor-vyros-na-zakazah-v-belarusi" TargetMode="External"/><Relationship Id="rId2" Type="http://schemas.openxmlformats.org/officeDocument/2006/relationships/hyperlink" Target="https://sdgs.by/en/news/belarus-improved-its-position-in-the-ict-development-index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tadviser.ru/index.php/&#1057;&#1090;&#1072;&#1090;&#1100;&#1103;:&#1048;&#1050;&#1058;_(&#1088;&#1099;&#1085;&#1086;&#1082;_&#1041;&#1077;&#1083;&#1086;&#1088;&#1091;&#1089;&#1089;&#1080;&#1080;)" TargetMode="External"/><Relationship Id="rId4" Type="http://schemas.openxmlformats.org/officeDocument/2006/relationships/hyperlink" Target="https://bikratings.by/wp-content/uploads/2020/12/it-rynok-respubliki-belarus-2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182BC-F306-DBC2-695B-4C33B383F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034" y="1036245"/>
            <a:ext cx="9038734" cy="2240057"/>
          </a:xfrm>
        </p:spPr>
        <p:txBody>
          <a:bodyPr>
            <a:no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резентация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 тему: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BY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белорусского рынка ИКТ и ПО </a:t>
            </a:r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ru-RU" sz="3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ариант</a:t>
            </a:r>
            <a:r>
              <a:rPr lang="ru-RU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endParaRPr lang="ru-BY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EDBAD684-CB8C-0138-013D-7C5BFB85C728}"/>
              </a:ext>
            </a:extLst>
          </p:cNvPr>
          <p:cNvSpPr txBox="1">
            <a:spLocks/>
          </p:cNvSpPr>
          <p:nvPr/>
        </p:nvSpPr>
        <p:spPr>
          <a:xfrm>
            <a:off x="3961892" y="4066032"/>
            <a:ext cx="7658100" cy="22400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115000"/>
              </a:lnSpc>
              <a:spcAft>
                <a:spcPts val="1000"/>
              </a:spcAft>
            </a:pPr>
            <a:endParaRPr lang="ru-BY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A73DA0-6980-9872-A262-02F8F9CBCC33}"/>
              </a:ext>
            </a:extLst>
          </p:cNvPr>
          <p:cNvSpPr txBox="1"/>
          <p:nvPr/>
        </p:nvSpPr>
        <p:spPr>
          <a:xfrm>
            <a:off x="6712302" y="4967261"/>
            <a:ext cx="4907690" cy="13388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BY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Подготовил:</a:t>
            </a:r>
          </a:p>
          <a:p>
            <a:r>
              <a:rPr lang="ru-BY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</a:t>
            </a:r>
            <a:r>
              <a:rPr lang="en-US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BY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150541</a:t>
            </a:r>
            <a:br>
              <a:rPr lang="en-US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Борсук</a:t>
            </a:r>
            <a:r>
              <a:rPr lang="ru-RU" sz="27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Константин Викторович</a:t>
            </a:r>
            <a:endParaRPr lang="ru-BY" sz="27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8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B87C98-20DC-B518-A9D4-34F4A69E6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981" y="589546"/>
            <a:ext cx="9404723" cy="1263701"/>
          </a:xfrm>
        </p:spPr>
        <p:txBody>
          <a:bodyPr/>
          <a:lstStyle/>
          <a:p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  <a:endParaRPr lang="ru-BY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008539-1C55-D5BF-D0B7-41B3C710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0416" y="2274351"/>
            <a:ext cx="10202779" cy="50167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BY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опубликованном Международным союзом электросвязи (МСЭ) рейтинге развития информационно-коммуникационных технологий (ИКТ) по состоянию на 2024 год Беларусь заняла </a:t>
            </a:r>
            <a:r>
              <a:rPr lang="ru-RU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  <a:r>
              <a:rPr lang="ru-BY" sz="2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-е место среди 176 стран, поднявшись на 5 позиций по сравнению с предыдущим годом. Индекс развития ИКТ (IDI) Беларуси увеличился с 86,9 до 88,5 </a:t>
            </a:r>
            <a:endParaRPr lang="ru-RU" sz="2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769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79AEBB-6163-E9F8-C124-D87446E1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635889"/>
            <a:ext cx="10438876" cy="876020"/>
          </a:xfrm>
        </p:spPr>
        <p:txBody>
          <a:bodyPr/>
          <a:lstStyle/>
          <a:p>
            <a:r>
              <a:rPr lang="ru-BY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 ИКТ и ПО Беларуси (2024 </a:t>
            </a:r>
            <a:r>
              <a:rPr 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од)</a:t>
            </a:r>
            <a:r>
              <a:rPr lang="ru-BY" dirty="0">
                <a:solidFill>
                  <a:srgbClr val="C00000"/>
                </a:solidFill>
              </a:rPr>
              <a:t>	</a:t>
            </a:r>
            <a:r>
              <a:rPr lang="ru-BY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7A69932-FEE7-A7D4-D5C0-5873195E6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652337"/>
            <a:ext cx="7772400" cy="467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076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DFE452-038A-B867-E5DF-583AE9BEB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449" y="510323"/>
            <a:ext cx="9404723" cy="1400530"/>
          </a:xfrm>
        </p:spPr>
        <p:txBody>
          <a:bodyPr/>
          <a:lstStyle/>
          <a:p>
            <a:r>
              <a:rPr lang="ru-BY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рынка ИКТ и ПО Беларуси за 2016-2022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48E1D73-06F9-B277-7D72-643F77DDE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449" y="2068445"/>
            <a:ext cx="8571101" cy="415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992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9A8E3-6F09-A692-CA6B-A868439D7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3458" y="380528"/>
            <a:ext cx="9404723" cy="844741"/>
          </a:xfrm>
        </p:spPr>
        <p:txBody>
          <a:bodyPr>
            <a:normAutofit fontScale="90000"/>
          </a:bodyPr>
          <a:lstStyle/>
          <a:p>
            <a:r>
              <a:rPr lang="ru-BY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характеристики рынка ИКТ и ПО Беларуси за 2018-2023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20BB4AF-CB77-0E93-B305-407D9D76D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865" y="1616370"/>
            <a:ext cx="7772400" cy="507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87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0BBBBD2D-296C-4B88-39B6-B542F8D79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8231" y="575984"/>
            <a:ext cx="8911687" cy="1280890"/>
          </a:xfrm>
        </p:spPr>
        <p:txBody>
          <a:bodyPr/>
          <a:lstStyle/>
          <a:p>
            <a:r>
              <a:rPr lang="ru-BY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Объем производства продукции </a:t>
            </a:r>
            <a:r>
              <a:rPr 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рганизаций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отрасли ИТ,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млрд 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USD</a:t>
            </a: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3996A1C-79BE-7D61-89EB-E068648E6A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044"/>
          <a:stretch/>
        </p:blipFill>
        <p:spPr>
          <a:xfrm>
            <a:off x="3810000" y="2586788"/>
            <a:ext cx="4572000" cy="383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2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FBCA3-B973-400A-C808-4F26ADF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201" y="597097"/>
            <a:ext cx="7213600" cy="762471"/>
          </a:xfrm>
        </p:spPr>
        <p:txBody>
          <a:bodyPr/>
          <a:lstStyle/>
          <a:p>
            <a:r>
              <a:rPr 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кспорт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товаров сферы ИКТ (млн 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SD)</a:t>
            </a: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BA63128-D115-E982-EB8A-D6FC0F68ABD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536"/>
          <a:stretch/>
        </p:blipFill>
        <p:spPr>
          <a:xfrm>
            <a:off x="2489201" y="1552075"/>
            <a:ext cx="7213600" cy="508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368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CF47B6-A0AF-B474-AC63-0DCC0FAA3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557" y="636142"/>
            <a:ext cx="8911687" cy="639205"/>
          </a:xfrm>
        </p:spPr>
        <p:txBody>
          <a:bodyPr/>
          <a:lstStyle/>
          <a:p>
            <a:r>
              <a:rPr 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кспорт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слуг сферы ИКТ (млн 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SD)</a:t>
            </a: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30BBC02-A15A-5ECB-F75F-8BFCEC654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33557" y="1503305"/>
            <a:ext cx="7044325" cy="5258441"/>
          </a:xfrm>
        </p:spPr>
      </p:pic>
    </p:spTree>
    <p:extLst>
      <p:ext uri="{BB962C8B-B14F-4D97-AF65-F5344CB8AC3E}">
        <p14:creationId xmlns:p14="http://schemas.microsoft.com/office/powerpoint/2010/main" val="4166513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BAF4D-E3B8-2BD3-FDF4-90FB64C1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35458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ru-RU" sz="32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егменты</a:t>
            </a:r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ИТ рынка Беларуси в 2025 году</a:t>
            </a: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EBA3CA-F610-3F71-1C3A-6001987807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723"/>
          <a:stretch/>
        </p:blipFill>
        <p:spPr>
          <a:xfrm>
            <a:off x="4319838" y="1904112"/>
            <a:ext cx="3552324" cy="432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253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38D062-7698-FF1F-2E86-A67F9EB57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Отрасли аутсорсинговых услуг компаний</a:t>
            </a: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6584B0E-3360-A675-61D2-BD63C7E2B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1595" y="2293709"/>
            <a:ext cx="10536754" cy="39401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банковский сектор,							</a:t>
            </a:r>
          </a:p>
          <a:p>
            <a:pPr marL="0" indent="0" algn="just">
              <a:buNone/>
            </a:pPr>
            <a:r>
              <a:rPr lang="ru-BY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2)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промышленность и производство,				</a:t>
            </a:r>
          </a:p>
          <a:p>
            <a:pPr marL="0" indent="0" algn="just">
              <a:buNone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3)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логистика и транспорт,							</a:t>
            </a:r>
          </a:p>
          <a:p>
            <a:pPr marL="0" indent="0" algn="just">
              <a:buNone/>
            </a:pPr>
            <a:r>
              <a:rPr lang="ru-BY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4)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авиаперевозки,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								</a:t>
            </a:r>
          </a:p>
          <a:p>
            <a:pPr marL="0" indent="0" algn="just">
              <a:buNone/>
            </a:pPr>
            <a:r>
              <a:rPr lang="ru-RU" sz="25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5)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электронная коммерция и финтех.</a:t>
            </a:r>
          </a:p>
          <a:p>
            <a:pPr>
              <a:buFont typeface="Wingdings" pitchFamily="2" charset="2"/>
              <a:buChar char="Ø"/>
            </a:pPr>
            <a:endParaRPr lang="ru-BY" dirty="0"/>
          </a:p>
        </p:txBody>
      </p:sp>
    </p:spTree>
    <p:extLst>
      <p:ext uri="{BB962C8B-B14F-4D97-AF65-F5344CB8AC3E}">
        <p14:creationId xmlns:p14="http://schemas.microsoft.com/office/powerpoint/2010/main" val="2589129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C30A43-5BC5-983F-18A3-F903CEB6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8186" y="589573"/>
            <a:ext cx="8756542" cy="844741"/>
          </a:xfrm>
        </p:spPr>
        <p:txBody>
          <a:bodyPr>
            <a:normAutofit fontScale="90000"/>
          </a:bodyPr>
          <a:lstStyle/>
          <a:p>
            <a:r>
              <a:rPr lang="ru-BY" sz="33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Прогноз развития рынка ИКТ и ПО в Беларуси на 2026–2027 годы</a:t>
            </a:r>
            <a:r>
              <a:rPr lang="ru-BY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	</a:t>
            </a:r>
            <a:br>
              <a:rPr lang="ru-BY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607AD5-8E1F-BF51-98EC-F348C05EC264}"/>
              </a:ext>
            </a:extLst>
          </p:cNvPr>
          <p:cNvSpPr txBox="1"/>
          <p:nvPr/>
        </p:nvSpPr>
        <p:spPr>
          <a:xfrm>
            <a:off x="1918186" y="2550695"/>
            <a:ext cx="9106211" cy="20159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Рост внутреннего рынка и </a:t>
            </a:r>
            <a:r>
              <a:rPr lang="ru-RU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азвитие цифровых технологий</a:t>
            </a:r>
            <a:r>
              <a:rPr lang="ru-BY" sz="2500" dirty="0"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Стабилизация и переформатирование экспортного потенциала</a:t>
            </a:r>
            <a:r>
              <a:rPr lang="ru-BY" sz="2500" dirty="0">
                <a:effectLst/>
              </a:rPr>
              <a:t> </a:t>
            </a:r>
            <a:endParaRPr lang="ru-BY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продуктовых и смешанных компаний</a:t>
            </a:r>
            <a:r>
              <a:rPr lang="ru-BY" sz="2500" dirty="0">
                <a:effectLst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Кадровая трансформация и развитие человеческого капитала</a:t>
            </a:r>
            <a:r>
              <a:rPr lang="ru-BY" sz="2500" dirty="0">
                <a:effectLst/>
              </a:rPr>
              <a:t> </a:t>
            </a:r>
            <a:endParaRPr lang="ru-BY" sz="2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Развитие инфраструктуры и государственная поддержка</a:t>
            </a:r>
            <a:r>
              <a:rPr lang="ru-BY" sz="2500" dirty="0">
                <a:effectLst/>
              </a:rPr>
              <a:t> </a:t>
            </a:r>
            <a:endParaRPr lang="ru-BY" sz="2500" dirty="0"/>
          </a:p>
        </p:txBody>
      </p:sp>
    </p:spTree>
    <p:extLst>
      <p:ext uri="{BB962C8B-B14F-4D97-AF65-F5344CB8AC3E}">
        <p14:creationId xmlns:p14="http://schemas.microsoft.com/office/powerpoint/2010/main" val="4023093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E23F66-4E6F-B3AE-AF6A-E5BEBF1E9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093" y="643922"/>
            <a:ext cx="9404723" cy="807671"/>
          </a:xfrm>
        </p:spPr>
        <p:txBody>
          <a:bodyPr>
            <a:normAutofit/>
          </a:bodyPr>
          <a:lstStyle/>
          <a:p>
            <a:r>
              <a:rPr lang="ru-BY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A8AD02-031C-4959-6753-3B29B66F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69" y="1818139"/>
            <a:ext cx="9687798" cy="378679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BY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Рынок ИКТ и ПО Беларуси демонстрирует устойчивость в условиях внешнеполитического давления и внутренней трансформации. Несмотря на вызовы, связанные с санкциями и оттоком специалистов, отрасль сохраняет потенциал роста за счёт гибкости, технологической базы и кадрового резерва. ИКТ-сектор остается важной составляющей экономики Беларуси, с потенциалом для дальнейшего развития и увеличения своего вклада в ВВП в ближайшие годы. </a:t>
            </a:r>
            <a:endParaRPr lang="ru-BY" sz="2000" dirty="0"/>
          </a:p>
        </p:txBody>
      </p:sp>
    </p:spTree>
    <p:extLst>
      <p:ext uri="{BB962C8B-B14F-4D97-AF65-F5344CB8AC3E}">
        <p14:creationId xmlns:p14="http://schemas.microsoft.com/office/powerpoint/2010/main" val="1391932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3495D-6909-11DB-604A-437A45C7E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2219" y="368857"/>
            <a:ext cx="6966023" cy="548179"/>
          </a:xfrm>
        </p:spPr>
        <p:txBody>
          <a:bodyPr>
            <a:noAutofit/>
          </a:bodyPr>
          <a:lstStyle/>
          <a:p>
            <a:r>
              <a:rPr lang="ru-RU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использованных источников</a:t>
            </a:r>
            <a:br>
              <a:rPr lang="ru-BY" sz="3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BY" sz="3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F62F42-2C10-C3D6-C75E-5DB788010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0519" y="1092229"/>
            <a:ext cx="8856234" cy="5765771"/>
          </a:xfrm>
        </p:spPr>
        <p:txBody>
          <a:bodyPr>
            <a:noAutofit/>
          </a:bodyPr>
          <a:lstStyle/>
          <a:p>
            <a:pPr marL="685800" algn="just">
              <a:buFont typeface="Wingdings 3" charset="2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Соловьев В.И. Стратегия и тактика конкуренции на рынке программного обеспечения. Опыт экономико-математического моделирования. Монография. - М.: Вега-Инфо, 2010</a:t>
            </a: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r>
              <a:rPr lang="ru-BY" dirty="0">
                <a:effectLst/>
              </a:rPr>
              <a:t>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AutoNum type="arabicPeriod"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Belarus improved its position in the ICT Development Index [Электронный ресурс] // SDGs.by – Национальный координатор по устойчивому развитию. – 2024. – URL: </a:t>
            </a:r>
            <a:r>
              <a:rPr lang="ru-BY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2"/>
              </a:rPr>
              <a:t>https://sdgs.by/en/news/belarus-improved-its-position-in-the-ict-development-index</a:t>
            </a: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685800" algn="just">
              <a:buAutoNum type="arabicPeriod"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Информационное общество в Республике Беларусь. Статистический сборник // Национальный статистический комитет Республики Беларусь. – 20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23</a:t>
            </a: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– 126 с.</a:t>
            </a:r>
            <a:endParaRPr lang="ru-BY" sz="2800" dirty="0">
              <a:effectLst/>
            </a:endParaRPr>
          </a:p>
          <a:p>
            <a:pPr marL="685800" algn="just">
              <a:buAutoNum type="arabicPeriod"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IT-сектор вырос на заказах в Беларуси [Электронный ресурс] // IBMedia.by – Белорусское деловое медиа. – 2024. – URL: </a:t>
            </a:r>
            <a:r>
              <a:rPr lang="ru-BY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https://ibmedia.by/news/it-sektor-vyros-na-zakazah-v-belarusi</a:t>
            </a: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BY" sz="25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Font typeface="Wingdings 3" charset="2"/>
              <a:buAutoNum type="arabicPeriod"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IT-рынок Республики Беларусь: аналитический обзор [Электронный ресурс] / BIConsulting. – Минск, 2020. – 32 с. – URL: </a:t>
            </a:r>
            <a:r>
              <a:rPr lang="ru-BY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https://bikratings.by/wp-content/uploads/2020/12/it-rynok-respubliki-belarus-2.pdf</a:t>
            </a:r>
            <a:endParaRPr lang="ru-BY" sz="1800" u="sng" dirty="0">
              <a:solidFill>
                <a:srgbClr val="0000FF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85800" algn="just">
              <a:buFont typeface="Wingdings 3" charset="2"/>
              <a:buAutoNum type="arabicPeriod"/>
            </a:pP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ИКТ (рынок Бел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оруссии</a:t>
            </a:r>
            <a:r>
              <a:rPr lang="ru-BY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[Электронный ресурс] // TAdviser – портал об информационных технологиях. – 2024. – URL: </a:t>
            </a:r>
            <a:r>
              <a:rPr lang="ru-BY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5"/>
              </a:rPr>
              <a:t>https://www.tadviser.ru/index.php/Статья:ИКТ_(рынок_Белоруссии)</a:t>
            </a:r>
            <a:endParaRPr lang="ru-BY" sz="25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25274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{AD8D0DB0-7DB0-6143-8812-5425600A3BC5}tf10001069</Template>
  <TotalTime>3535</TotalTime>
  <Words>534</Words>
  <Application>Microsoft Macintosh PowerPoint</Application>
  <PresentationFormat>Широкоэкранный</PresentationFormat>
  <Paragraphs>33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</vt:lpstr>
      <vt:lpstr>Wingdings 3</vt:lpstr>
      <vt:lpstr>Легкий дым</vt:lpstr>
      <vt:lpstr>Презентация на тему: Анализ белорусского рынка ИКТ и ПО  Вариант 1</vt:lpstr>
      <vt:lpstr>Введение</vt:lpstr>
      <vt:lpstr>Рынок ИКТ и ПО Беларуси (2024 год)  </vt:lpstr>
      <vt:lpstr>Основные характеристики рынка ИКТ и ПО Беларуси за 2016-2022 </vt:lpstr>
      <vt:lpstr>Основные характеристики рынка ИКТ и ПО Беларуси за 2018-2023 </vt:lpstr>
      <vt:lpstr>Объем производства продукции организаций отрасли ИТ, млрд USD</vt:lpstr>
      <vt:lpstr>Экспорт товаров сферы ИКТ (млн USD)</vt:lpstr>
      <vt:lpstr>Экспорт услуг сферы ИКТ (млн USD)</vt:lpstr>
      <vt:lpstr>Cегменты ИТ рынка Беларуси в 2025 году</vt:lpstr>
      <vt:lpstr>Отрасли аутсорсинговых услуг компаний</vt:lpstr>
      <vt:lpstr>Прогноз развития рынка ИКТ и ПО в Беларуси на 2026–2027 годы    </vt:lpstr>
      <vt:lpstr>Вывод</vt:lpstr>
      <vt:lpstr>Список использованных источников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тему: Учет стадий жизненного цикла программного продукта при использовании маркетинговых инструментов Вариант 10</dc:title>
  <dc:creator>Ulyana Procopuk</dc:creator>
  <cp:lastModifiedBy>Ulyana Procopuk</cp:lastModifiedBy>
  <cp:revision>6</cp:revision>
  <dcterms:created xsi:type="dcterms:W3CDTF">2025-03-28T10:51:13Z</dcterms:created>
  <dcterms:modified xsi:type="dcterms:W3CDTF">2025-05-25T22:04:50Z</dcterms:modified>
</cp:coreProperties>
</file>