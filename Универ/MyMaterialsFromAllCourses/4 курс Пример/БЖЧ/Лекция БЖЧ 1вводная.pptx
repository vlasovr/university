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4" r:id="rId2"/>
    <p:sldMasterId id="2147483768" r:id="rId3"/>
    <p:sldMasterId id="2147483780" r:id="rId4"/>
    <p:sldMasterId id="2147483816" r:id="rId5"/>
    <p:sldMasterId id="2147483828" r:id="rId6"/>
    <p:sldMasterId id="2147483876" r:id="rId7"/>
  </p:sldMasterIdLst>
  <p:sldIdLst>
    <p:sldId id="384" r:id="rId8"/>
    <p:sldId id="256" r:id="rId9"/>
    <p:sldId id="276" r:id="rId10"/>
    <p:sldId id="378" r:id="rId11"/>
    <p:sldId id="380" r:id="rId12"/>
    <p:sldId id="319" r:id="rId13"/>
    <p:sldId id="381" r:id="rId14"/>
    <p:sldId id="305" r:id="rId15"/>
    <p:sldId id="382" r:id="rId16"/>
    <p:sldId id="307" r:id="rId17"/>
    <p:sldId id="385" r:id="rId18"/>
    <p:sldId id="308" r:id="rId19"/>
    <p:sldId id="387" r:id="rId20"/>
    <p:sldId id="388" r:id="rId21"/>
    <p:sldId id="376" r:id="rId22"/>
    <p:sldId id="377" r:id="rId23"/>
    <p:sldId id="356" r:id="rId24"/>
    <p:sldId id="357" r:id="rId25"/>
    <p:sldId id="358" r:id="rId26"/>
    <p:sldId id="359" r:id="rId27"/>
    <p:sldId id="360" r:id="rId28"/>
    <p:sldId id="361" r:id="rId29"/>
    <p:sldId id="379" r:id="rId30"/>
    <p:sldId id="362" r:id="rId31"/>
    <p:sldId id="363" r:id="rId32"/>
    <p:sldId id="364" r:id="rId33"/>
    <p:sldId id="365" r:id="rId34"/>
    <p:sldId id="366" r:id="rId35"/>
    <p:sldId id="367" r:id="rId36"/>
    <p:sldId id="386" r:id="rId37"/>
    <p:sldId id="368" r:id="rId38"/>
    <p:sldId id="369" r:id="rId39"/>
    <p:sldId id="342" r:id="rId40"/>
    <p:sldId id="389" r:id="rId41"/>
    <p:sldId id="348" r:id="rId42"/>
    <p:sldId id="390" r:id="rId43"/>
    <p:sldId id="343" r:id="rId44"/>
    <p:sldId id="344" r:id="rId45"/>
    <p:sldId id="347" r:id="rId46"/>
    <p:sldId id="349" r:id="rId47"/>
    <p:sldId id="354" r:id="rId48"/>
    <p:sldId id="350" r:id="rId49"/>
    <p:sldId id="351" r:id="rId50"/>
    <p:sldId id="352" r:id="rId51"/>
    <p:sldId id="353" r:id="rId52"/>
    <p:sldId id="339" r:id="rId53"/>
    <p:sldId id="355" r:id="rId54"/>
    <p:sldId id="335" r:id="rId55"/>
    <p:sldId id="336" r:id="rId56"/>
    <p:sldId id="296" r:id="rId57"/>
    <p:sldId id="300" r:id="rId58"/>
    <p:sldId id="299" r:id="rId59"/>
    <p:sldId id="303" r:id="rId60"/>
    <p:sldId id="315" r:id="rId61"/>
    <p:sldId id="374" r:id="rId62"/>
    <p:sldId id="375" r:id="rId63"/>
    <p:sldId id="370" r:id="rId64"/>
    <p:sldId id="371" r:id="rId65"/>
    <p:sldId id="373" r:id="rId66"/>
    <p:sldId id="372" r:id="rId6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8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3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23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51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31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08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51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61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92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32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80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173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197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40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33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539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210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325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3012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637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9155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56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389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465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842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8403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234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339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8982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2638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58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71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784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1280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465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842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8403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2344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3398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898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2638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586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71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78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1280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1765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3812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0135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562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5033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5315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223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030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787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1558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9456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8851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5676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50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7461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068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630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928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0300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0317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833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242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67245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451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947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330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4971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1554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26135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277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69738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271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82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/>
              <a:t>01.09.2023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4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83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45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45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5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9000">
              <a:schemeClr val="accent1">
                <a:lumMod val="5000"/>
                <a:lumOff val="95000"/>
              </a:schemeClr>
            </a:gs>
            <a:gs pos="9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AA4C-B10C-47C7-97FE-7B3F6FAE9D0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01.09.2023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533C8-EDDB-45EE-8B47-D29704CA957E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0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484785"/>
            <a:ext cx="8784976" cy="2115666"/>
          </a:xfrm>
        </p:spPr>
        <p:txBody>
          <a:bodyPr>
            <a:noAutofit/>
          </a:bodyPr>
          <a:lstStyle/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en-US" sz="4000" dirty="0" smtClean="0">
                <a:ea typeface="Calibri"/>
                <a:cs typeface="Times New Roman"/>
              </a:rPr>
              <a:t/>
            </a:r>
            <a:br>
              <a:rPr lang="en-US" sz="4000" dirty="0" smtClean="0">
                <a:ea typeface="Calibri"/>
                <a:cs typeface="Times New Roman"/>
              </a:rPr>
            </a:br>
            <a:r>
              <a:rPr lang="ru-RU" sz="4000" b="1" spc="-10" dirty="0" smtClean="0">
                <a:effectLst/>
                <a:latin typeface="Times New Roman"/>
                <a:ea typeface="Calibri"/>
                <a:cs typeface="Times New Roman"/>
              </a:rPr>
              <a:t>«</a:t>
            </a:r>
            <a:r>
              <a:rPr lang="ru-RU" sz="4000" b="1" spc="-10" dirty="0" smtClean="0">
                <a:effectLst/>
                <a:latin typeface="Times New Roman"/>
                <a:ea typeface="Calibri"/>
                <a:cs typeface="Times New Roman"/>
              </a:rPr>
              <a:t>Безопасность жизнедеятельности человека».</a:t>
            </a:r>
            <a:r>
              <a:rPr lang="ru-RU" sz="4000" dirty="0">
                <a:ea typeface="Calibri"/>
                <a:cs typeface="Times New Roman"/>
              </a:rPr>
              <a:t/>
            </a:r>
            <a:br>
              <a:rPr lang="ru-RU" sz="4000" dirty="0">
                <a:ea typeface="Calibri"/>
                <a:cs typeface="Times New Roman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5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59" y="-387424"/>
            <a:ext cx="8784976" cy="2115666"/>
          </a:xfrm>
        </p:spPr>
        <p:txBody>
          <a:bodyPr>
            <a:noAutofit/>
          </a:bodyPr>
          <a:lstStyle/>
          <a:p>
            <a:pPr indent="450215">
              <a:lnSpc>
                <a:spcPct val="115000"/>
              </a:lnSpc>
              <a:spcAft>
                <a:spcPts val="0"/>
              </a:spcAft>
            </a:pPr>
            <a:r>
              <a:rPr lang="en-US" sz="2400" dirty="0" smtClean="0">
                <a:ea typeface="Calibri"/>
                <a:cs typeface="Times New Roman"/>
              </a:rPr>
              <a:t/>
            </a:r>
            <a:br>
              <a:rPr lang="en-US" sz="2400" dirty="0" smtClean="0">
                <a:ea typeface="Calibri"/>
                <a:cs typeface="Times New Roman"/>
              </a:rPr>
            </a:br>
            <a:r>
              <a:rPr lang="ru-RU" sz="2400" b="1" spc="-10" dirty="0" smtClean="0">
                <a:effectLst/>
                <a:latin typeface="Times New Roman"/>
                <a:ea typeface="Calibri"/>
                <a:cs typeface="Times New Roman"/>
              </a:rPr>
              <a:t>Предмет, цель и задачи дисциплины «Безопасность жизнедеятельности человека».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582341"/>
            <a:ext cx="813690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Предмет, цель и задачи дисциплины «Безопасность жизнедеятельности человека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Воздействие среды обитания на человека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Опасности и их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источники. Классификация опасностей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Риск, классификация рисков. Концепция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приемлемого риска. </a:t>
            </a:r>
            <a:r>
              <a:rPr lang="ru-RU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риском. </a:t>
            </a:r>
            <a:endParaRPr lang="ru-RU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400" spc="-1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Принципы</a:t>
            </a:r>
            <a:r>
              <a:rPr lang="ru-RU" sz="24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методы и средства обеспечения безопасности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чрезвычайной ситуации.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чрезвычайных ситуаций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безопасностью жизнедеятельности человека.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31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pPr indent="450215">
              <a:lnSpc>
                <a:spcPts val="27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1 Предмет, цель и задачи дисциплины </a:t>
            </a:r>
            <a:br>
              <a:rPr lang="ru-RU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«Безопасность жизнедеятельности человека».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352928" cy="6021288"/>
          </a:xfrm>
        </p:spPr>
        <p:txBody>
          <a:bodyPr>
            <a:normAutofit/>
          </a:bodyPr>
          <a:lstStyle/>
          <a:p>
            <a:pPr indent="450215" algn="l">
              <a:lnSpc>
                <a:spcPct val="115000"/>
              </a:lnSpc>
              <a:spcAft>
                <a:spcPts val="0"/>
              </a:spcAft>
            </a:pPr>
            <a:r>
              <a:rPr lang="ru-RU" sz="22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Безопасность </a:t>
            </a:r>
            <a:r>
              <a:rPr lang="ru-RU" sz="2200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жизнедеятельности человека</a:t>
            </a:r>
            <a:r>
              <a:rPr lang="ru-RU" sz="22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это область знаний, в которой изучаются опасности, угрожающие человеку, закономерности их проявления и способы защиты.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Объект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36" y="3068960"/>
            <a:ext cx="8691789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539552" y="620688"/>
            <a:ext cx="7776864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разделы в рамках изучения дисциплины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БЖЧ:</a:t>
            </a:r>
          </a:p>
          <a:p>
            <a:pPr marL="0" indent="0">
              <a:buNone/>
            </a:pPr>
            <a:endParaRPr 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населения и объектов от чрезвычайных ситуаций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Охрана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труда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техника безопасности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экологии и энергосбережения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1F89-2E92-4E14-B032-14DE4A52F6A2}" type="slidenum">
              <a:rPr lang="ru-RU" sz="900"/>
              <a:t>4</a:t>
            </a:fld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11076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340768"/>
            <a:ext cx="8229600" cy="4525963"/>
          </a:xfrm>
        </p:spPr>
        <p:txBody>
          <a:bodyPr>
            <a:normAutofit/>
          </a:bodyPr>
          <a:lstStyle/>
          <a:p>
            <a:r>
              <a:rPr lang="ru-RU" sz="2400" b="1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Защита населения в чрезвычайных ситуациях – </a:t>
            </a:r>
            <a:r>
              <a:rPr lang="ru-RU" sz="2400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комплекс правовых, экономических, организационных, инженерно-технических, природоохранных мероприятий, направленных на предупреждение возникновения источников опасностей, подготовку и преодоление последствий чрезвычайных ситуаций с целью сохранения жизни и здоровья людей, снижения ущерба на объектах экономики.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17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704856" cy="4824536"/>
          </a:xfrm>
        </p:spPr>
        <p:txBody>
          <a:bodyPr>
            <a:normAutofit/>
          </a:bodyPr>
          <a:lstStyle/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spc="-1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Охрана труда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это система обеспечения безопасности жизни и здоровья работников в процессе трудовой деятельности, включающая правовые, органи­зационно-технические и лечебно-профилактические мероприятия. </a:t>
            </a:r>
          </a:p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Техника безопасности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это система организационных мероприятий и технических средств, предотвращающих воздействие на работающих опасных и вредных производственных факторов.</a:t>
            </a:r>
          </a:p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sz="2200" b="1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sz="2200" spc="-1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43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124744"/>
            <a:ext cx="7992888" cy="3561259"/>
          </a:xfrm>
        </p:spPr>
        <p:txBody>
          <a:bodyPr>
            <a:normAutofit lnSpcReduction="10000"/>
          </a:bodyPr>
          <a:lstStyle/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600" b="1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Основы экологии и </a:t>
            </a:r>
            <a:r>
              <a:rPr lang="ru-RU" sz="2600" b="1" spc="-1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энергосбережения</a:t>
            </a:r>
          </a:p>
          <a:p>
            <a:pPr indent="450215">
              <a:lnSpc>
                <a:spcPct val="110000"/>
              </a:lnSpc>
              <a:spcBef>
                <a:spcPts val="0"/>
              </a:spcBef>
            </a:pPr>
            <a:endParaRPr lang="ru-RU" sz="2600" b="1" spc="-1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>
              <a:lnSpc>
                <a:spcPct val="110000"/>
              </a:lnSpc>
              <a:spcBef>
                <a:spcPts val="0"/>
              </a:spcBef>
            </a:pPr>
            <a:r>
              <a:rPr lang="ru-RU" sz="2600" b="1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Экология – </a:t>
            </a:r>
            <a:r>
              <a:rPr lang="ru-RU" sz="2600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наука, изучающая отношения общества и природы и результат их взаимодействия</a:t>
            </a:r>
            <a:r>
              <a:rPr lang="ru-RU" sz="2600" spc="-1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indent="450215">
              <a:lnSpc>
                <a:spcPct val="110000"/>
              </a:lnSpc>
              <a:spcBef>
                <a:spcPts val="0"/>
              </a:spcBef>
            </a:pPr>
            <a:r>
              <a:rPr lang="ru-RU" sz="2600" spc="-1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ru-RU" sz="2600" spc="-1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>
              <a:lnSpc>
                <a:spcPct val="110000"/>
              </a:lnSpc>
              <a:spcBef>
                <a:spcPts val="0"/>
              </a:spcBef>
            </a:pPr>
            <a:r>
              <a:rPr lang="ru-RU" sz="2600" b="1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Энергосбережение</a:t>
            </a:r>
            <a:r>
              <a:rPr lang="ru-RU" sz="2600" spc="-1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– комплекс мер для обеспечения эффективного использования энергоресурсов.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390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476672"/>
            <a:ext cx="8352928" cy="4752528"/>
          </a:xfrm>
        </p:spPr>
        <p:txBody>
          <a:bodyPr>
            <a:normAutofit fontScale="77500" lnSpcReduction="20000"/>
          </a:bodyPr>
          <a:lstStyle/>
          <a:p>
            <a:pPr indent="450215" algn="l">
              <a:lnSpc>
                <a:spcPct val="120000"/>
              </a:lnSpc>
              <a:spcBef>
                <a:spcPts val="0"/>
              </a:spcBef>
            </a:pPr>
            <a:r>
              <a:rPr lang="ru-RU" sz="3400" b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Цел</a:t>
            </a:r>
            <a:r>
              <a:rPr lang="ru-RU" sz="3400" b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</a:t>
            </a:r>
            <a:r>
              <a:rPr lang="ru-RU" sz="3400" b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дисциплины «Безопасность жизнедеятельности человека»</a:t>
            </a:r>
            <a:r>
              <a:rPr lang="ru-RU" sz="3400" b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3400" spc="-1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20000"/>
              </a:lnSpc>
              <a:spcBef>
                <a:spcPts val="0"/>
              </a:spcBef>
            </a:pPr>
            <a:endParaRPr lang="ru-RU" sz="3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Достижение </a:t>
            </a:r>
            <a:r>
              <a:rPr lang="ru-RU" sz="35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безаварийной ситуации и готовности к стихийным бедствиям и другим проявлениям природной </a:t>
            </a: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среды;</a:t>
            </a:r>
            <a:endParaRPr lang="ru-RU" sz="350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предупреждение заболеваемости и травматизма;</a:t>
            </a:r>
            <a:endParaRPr lang="ru-RU" sz="35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сохранение </a:t>
            </a:r>
            <a:r>
              <a:rPr lang="ru-RU" sz="35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здоровья;</a:t>
            </a:r>
            <a:endParaRPr lang="ru-RU" sz="35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сохранение </a:t>
            </a:r>
            <a:r>
              <a:rPr lang="ru-RU" sz="35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работоспособности;</a:t>
            </a:r>
            <a:endParaRPr lang="ru-RU" sz="35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сохранение </a:t>
            </a:r>
            <a:r>
              <a:rPr lang="ru-RU" sz="35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качества полезного труда</a:t>
            </a:r>
            <a:r>
              <a:rPr lang="ru-RU" sz="35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ru-RU" sz="35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sz="3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44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764704"/>
            <a:ext cx="8445624" cy="511256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Идентификация опасности, распознание и количественная оценка негативных воздействий среды обитания;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предупреждение воздействия тех или иных негативных факторов на человека;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защита от опасности;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ликвидация отрицательных последствий воздействия опасных и вредных факторов;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обеспечение комфортного состояния среды обитания человека.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300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1340768"/>
            <a:ext cx="7848872" cy="604867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Предметом изучения БЖЧ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является среда обитания человека,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т.е. условия его существования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 обитания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непосредственное окружение организма в данный момент (совокупность физических, химических, биологических, социальных факторов), оказывающее прямое или косвенное воздействие на сам организм или его потомство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88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358484"/>
            <a:ext cx="7848872" cy="4677004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 обитания является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частью окружающей среды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которая включает </a:t>
            </a: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компоненты природной среды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(атмосфера, гидросфера, литосфера, недра);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природные объекты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(экосистемы, ландшафты и т.п.);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природно-антропогенные объекты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(водохранилища, сады);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антропогенные объекты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(постройки, дороги, технические средства).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Техносфера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c</a:t>
            </a:r>
            <a:r>
              <a:rPr lang="ru-RU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реда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обитания, созданная человеком</a:t>
            </a:r>
          </a:p>
          <a:p>
            <a:pPr algn="just"/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4" y="3356992"/>
            <a:ext cx="8951978" cy="335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3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848872" cy="4824536"/>
          </a:xfrm>
        </p:spPr>
        <p:txBody>
          <a:bodyPr>
            <a:normAutofit/>
          </a:bodyPr>
          <a:lstStyle/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позиций БЖЧ интерес представляют такие компоненты окружающей среды, как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гомосфера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200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ноксосфера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2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Гомосфера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пространство, где находится человек в процессе конкретной деятельности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Ноксосфера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пространство, в котором проявляются опасности, т.е. постоянно или периодически существует опасный или вредный фактор.</a:t>
            </a:r>
          </a:p>
          <a:p>
            <a:pPr algn="just"/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92" y="2060848"/>
            <a:ext cx="5542555" cy="373491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815860" y="5949280"/>
            <a:ext cx="732814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50" i="1" dirty="0">
                <a:latin typeface="Arial" panose="020B0604020202020204" pitchFamily="34" charset="0"/>
                <a:cs typeface="Arial" panose="020B0604020202020204" pitchFamily="34" charset="0"/>
              </a:rPr>
              <a:t>Факторы окружающей среды, воздействующие на человека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39552" y="157270"/>
            <a:ext cx="8192236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Таким образом, все элементы, составляющие среду обитания человека, в действии становятся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факторами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влияющими на БЖЧ. Исходя из этого необходимо рассматривать влияние этих факторов на человека как в отдельности, так и в совокупности.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62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1376772"/>
            <a:ext cx="6858000" cy="4623978"/>
          </a:xfrm>
        </p:spPr>
        <p:txBody>
          <a:bodyPr>
            <a:normAutofit/>
          </a:bodyPr>
          <a:lstStyle/>
          <a:p>
            <a:pPr indent="337661" algn="just">
              <a:lnSpc>
                <a:spcPct val="115000"/>
              </a:lnSpc>
            </a:pPr>
            <a:endParaRPr lang="ru-RU" sz="1800" spc="-8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270"/>
            <a:ext cx="8310355" cy="5967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862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04664"/>
            <a:ext cx="8496944" cy="6048672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000" spc="-10" dirty="0" smtClean="0">
                <a:solidFill>
                  <a:schemeClr val="tx1"/>
                </a:solidFill>
                <a:effectLst/>
                <a:latin typeface="Times New Roman"/>
                <a:ea typeface="Calibri"/>
                <a:cs typeface="Times New Roman"/>
              </a:rPr>
              <a:t> </a:t>
            </a:r>
            <a:r>
              <a:rPr lang="ru-RU" sz="2200" b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Безопасность -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Состояние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деятельности, при котором с определенной вероятностью исключено проявление опасностей, или отсутствие чрезмерной опасности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ru-RU" sz="2200" spc="-1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Безопасность жизнедеятельности человека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исследует систему «Человек – Среда обитания».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Основными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ее компонентами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являются: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Человек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, который рассматривается как биосоциальный элемент,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Среда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обитания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, которая может изменяться в зависимости от местоположения человека в пространстве, рода его деятельности и т.д.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Между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этими основными элементами системы осуществляются постоянные взаимосвязи, которые принято разделять на три основных потока: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потоки вещества, потоки энергии и потоки информации.</a:t>
            </a:r>
            <a:endParaRPr lang="ru-RU" sz="2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05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127202"/>
              </p:ext>
            </p:extLst>
          </p:nvPr>
        </p:nvGraphicFramePr>
        <p:xfrm>
          <a:off x="88900" y="2782952"/>
          <a:ext cx="8774620" cy="3598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67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6294">
                <a:tc>
                  <a:txBody>
                    <a:bodyPr/>
                    <a:lstStyle/>
                    <a:p>
                      <a:pPr algn="ctr"/>
                      <a:r>
                        <a:rPr lang="ru-RU" sz="1100" b="1" i="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Комфортные  (оптимальные)</a:t>
                      </a:r>
                      <a:endParaRPr lang="ru-RU" sz="1100" b="1" i="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ru-RU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i="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Допустимые </a:t>
                      </a:r>
                      <a:endParaRPr lang="ru-RU" sz="1100" i="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ru-RU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Опасные </a:t>
                      </a:r>
                      <a:endParaRPr lang="ru-RU" sz="1200" i="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ru-RU" sz="14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i="0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Чрезвычайно   опасные</a:t>
                      </a:r>
                      <a:endParaRPr lang="ru-RU" sz="1200" i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2081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None/>
                      </a:pP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Потоки  соответствуют оптимальным условиям взаимодействия: </a:t>
                      </a:r>
                    </a:p>
                    <a:p>
                      <a:pPr algn="l">
                        <a:buFontTx/>
                        <a:buChar char="-"/>
                      </a:pP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создают оптимальные условия деятельности и</a:t>
                      </a:r>
                      <a:r>
                        <a:rPr lang="ru-RU" sz="1100" b="1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отдыха; </a:t>
                      </a:r>
                    </a:p>
                    <a:p>
                      <a:pPr algn="l">
                        <a:buFontTx/>
                        <a:buChar char="-"/>
                      </a:pP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предпосылки для проявления наивысшей работоспособности</a:t>
                      </a:r>
                      <a:r>
                        <a:rPr lang="ru-RU" sz="1100" b="1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 продуктивности деятельности; 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ru-RU" sz="1100" b="1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гарантируют </a:t>
                      </a: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сохранение </a:t>
                      </a:r>
                      <a:r>
                        <a:rPr lang="ru-RU" sz="11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здоровья человека и целостности компонент среды обитания</a:t>
                      </a:r>
                      <a:endParaRPr lang="ru-RU" sz="1100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Потоки, воздействуя на человека и среду обитания, не оказывают негативного влияния на здоровье, но приводят к дискомфорту, снижая эффективность деятельности человека</a:t>
                      </a:r>
                      <a:endParaRPr lang="ru-RU" sz="1200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Потоки  превышают допустимые уровни и оказывают негативное воздействие на здоровье человека, вызывая при длительном воздействии заболевания, и (или) приводят к деградации природной среды</a:t>
                      </a:r>
                      <a:endParaRPr lang="ru-RU" sz="1200" b="1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Потоки  высоких уровней за короткий период времени могут нанести травму, привести к смерти человека, вызвать разрушения в природной среде</a:t>
                      </a:r>
                      <a:endParaRPr lang="ru-RU" sz="1200" b="1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88900" y="2326788"/>
            <a:ext cx="87746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условий для человека в системе "человек — среда обитания":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8591" y="358615"/>
            <a:ext cx="88626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Аксиома о воздействии среды обитания на человека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«Воздействие среды обитания на человека может быть пози­тивным или негативным, характер воздействия определяют параметры потоков веществ, энергий и информаций».</a:t>
            </a:r>
            <a:endParaRPr lang="ru-RU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94583" y="5422719"/>
            <a:ext cx="856684" cy="502444"/>
          </a:xfrm>
        </p:spPr>
        <p:txBody>
          <a:bodyPr/>
          <a:lstStyle/>
          <a:p>
            <a:fld id="{A4211F89-2E92-4E14-B032-14DE4A52F6A2}" type="slidenum">
              <a:rPr lang="ru-RU" sz="900"/>
              <a:t>16</a:t>
            </a:fld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68594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36568" y="-227358"/>
            <a:ext cx="9144000" cy="1484784"/>
          </a:xfrm>
        </p:spPr>
        <p:txBody>
          <a:bodyPr>
            <a:noAutofit/>
          </a:bodyPr>
          <a:lstStyle/>
          <a:p>
            <a:pPr indent="450215">
              <a:spcAft>
                <a:spcPts val="0"/>
              </a:spcAft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2 Опасности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 их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источники. 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908720"/>
            <a:ext cx="7992888" cy="5373216"/>
          </a:xfrm>
        </p:spPr>
        <p:txBody>
          <a:bodyPr>
            <a:noAutofit/>
          </a:bodyPr>
          <a:lstStyle/>
          <a:p>
            <a:pPr lvl="0" algn="just"/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Одним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из центральных понятий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безопасности жизнедеятельности является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 опасности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/>
            <a:endParaRPr lang="ru-RU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ru-RU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Опасность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явление, процесс, объект, свойства предметов, способные в определенных условиях причинить ущерб здоровью человека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</a:t>
            </a:r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определяющие опасность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угроза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жизни;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нанесения ущерба здоровью; 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нарушение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условий нормального функционирования органов и систем человека.</a:t>
            </a:r>
          </a:p>
          <a:p>
            <a:pPr indent="450215" algn="just">
              <a:spcBef>
                <a:spcPts val="0"/>
              </a:spcBef>
              <a:spcAft>
                <a:spcPts val="0"/>
              </a:spcAft>
            </a:pP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96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Идентификация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(лат.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indentifico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обнаружения и установления количественных, временных, пространственных и иных характеристик, необходимых для разработки профилактических мероприятий, направленных на обеспечение жизнедеятельности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процессе идентификации выявляются номенклатура опасностей, вероятность их проявления, пространственная локализация, возможный ущерб и др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84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6632"/>
            <a:ext cx="8964488" cy="674136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Среди </a:t>
            </a:r>
            <a:r>
              <a:rPr lang="ru-RU" sz="29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источников</a:t>
            </a:r>
            <a:r>
              <a:rPr lang="ru-RU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опасности выделяют 3 группы факторов: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природные, техногенные и социальные.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природным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опасностям относятся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Климатические.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Почвенные.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Геоморфологические.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Биотические.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endParaRPr lang="ru-RU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источникам опасности </a:t>
            </a:r>
            <a:r>
              <a:rPr lang="ru-RU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техногенной сфере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относятся 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Санитарно-гигиенические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Организационные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Психофизиологические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endParaRPr lang="ru-RU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источникам опасности </a:t>
            </a:r>
            <a:r>
              <a:rPr lang="ru-RU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социальной сфере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относятся</a:t>
            </a: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Государственно-правовые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Этно-социальные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 </a:t>
            </a:r>
          </a:p>
          <a:p>
            <a:pPr marL="72000">
              <a:lnSpc>
                <a:spcPct val="120000"/>
              </a:lnSpc>
              <a:spcBef>
                <a:spcPts val="0"/>
              </a:spcBef>
            </a:pPr>
            <a:r>
              <a:rPr lang="ru-RU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Психологические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8838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332656"/>
            <a:ext cx="8640960" cy="5472608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2200" b="1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Таксономия</a:t>
            </a:r>
            <a:r>
              <a:rPr lang="en-US" sz="2200" b="1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- </a:t>
            </a: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Наука о классификации и систематизации сложных явлений, понятий, объектов.</a:t>
            </a:r>
          </a:p>
          <a:p>
            <a:pPr indent="450215" algn="just">
              <a:lnSpc>
                <a:spcPct val="110000"/>
              </a:lnSpc>
              <a:spcBef>
                <a:spcPts val="0"/>
              </a:spcBef>
            </a:pPr>
            <a:endParaRPr lang="ru-RU" sz="2200" b="1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0"/>
              </a:spcBef>
            </a:pPr>
            <a:r>
              <a:rPr lang="ru-RU" sz="2200" b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Классификация опасностей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 </a:t>
            </a:r>
          </a:p>
          <a:p>
            <a:pPr indent="450215" algn="just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происхождению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природные, техногенные, антропогенные, экологические, социальные и биологические;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характеру воздействия на человека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механические, физические, химические, биологические и психофизиологические;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времени проявления отрицательных последствий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импульсивные и кумулятивные; по месту проявления – связанные с литосферой (подземные), гидросферой, атмосферой и космосом;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наносимому ущербу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вызывающие социальный, технический, экологический и экономический ущерб;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по </a:t>
            </a:r>
            <a:r>
              <a:rPr lang="ru-RU" sz="22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сфере проявления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– возникающие в бытовой, дорожно-транспортной, производственной, военной и других средах.</a:t>
            </a:r>
          </a:p>
        </p:txBody>
      </p:sp>
    </p:spTree>
    <p:extLst>
      <p:ext uri="{BB962C8B-B14F-4D97-AF65-F5344CB8AC3E}">
        <p14:creationId xmlns:p14="http://schemas.microsoft.com/office/powerpoint/2010/main" val="39027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568952" cy="59766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Квантификация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(лат.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quatum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сколько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Количественное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для оценки сложных, качественно определяемых понятий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Опасности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потенциалом, качеством, временем существования или воздействия на человека, вероятностью появления, размерами зоны действия.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проявляется с количественной стороны, например, уровень шума, запыленность воздуха, напряжение электрического тока.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отражает его специфические особенности, влияющие на организм человека, например, частотный состав шума, дисперсность пыли, род электрического тока.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Применяются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численные, балльные и другие приемы квантификации.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506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5904656"/>
          </a:xfrm>
        </p:spPr>
        <p:txBody>
          <a:bodyPr>
            <a:normAutofit/>
          </a:bodyPr>
          <a:lstStyle/>
          <a:p>
            <a:pPr indent="450215" algn="l">
              <a:lnSpc>
                <a:spcPct val="110000"/>
              </a:lnSpc>
              <a:spcBef>
                <a:spcPts val="0"/>
              </a:spcBef>
            </a:pP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Потенциальная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опасность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представляет угрозу общего характера, не связанную с пространством и временем воздействия. </a:t>
            </a:r>
          </a:p>
          <a:p>
            <a:pPr indent="450215" algn="l">
              <a:lnSpc>
                <a:spcPct val="110000"/>
              </a:lnSpc>
              <a:spcBef>
                <a:spcPts val="0"/>
              </a:spcBef>
            </a:pP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Реальная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опасность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всегда связана с конкретной угрозой воздействия на человека, она координирована в пространстве и во времени.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457200" algn="l">
              <a:lnSpc>
                <a:spcPct val="110000"/>
              </a:lnSpc>
              <a:spcBef>
                <a:spcPts val="0"/>
              </a:spcBef>
            </a:pPr>
            <a:r>
              <a:rPr lang="ru-RU" sz="22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Реализованная </a:t>
            </a:r>
            <a:r>
              <a:rPr lang="ru-RU" sz="22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опасность </a:t>
            </a:r>
            <a:r>
              <a:rPr lang="ru-RU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факт воздействия реальной опасности на человека и (или) среду обитания, приведший к потере здоровья или к летальному исходу человека, к материальным потерям. </a:t>
            </a:r>
            <a:endParaRPr lang="ru-RU" sz="22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457200" algn="l">
              <a:lnSpc>
                <a:spcPct val="110000"/>
              </a:lnSpc>
              <a:spcBef>
                <a:spcPts val="0"/>
              </a:spcBef>
            </a:pPr>
            <a:endParaRPr lang="ru-RU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0"/>
              </a:spcBef>
            </a:pP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Опасности могут быть реализованы в виде заболеваний, физических увечий, </a:t>
            </a:r>
            <a:r>
              <a:rPr lang="ru-RU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травм</a:t>
            </a: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летального </a:t>
            </a:r>
            <a:r>
              <a:rPr lang="ru-RU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исхода 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в том случае, если зона формирования опасностей (</a:t>
            </a:r>
            <a:r>
              <a:rPr lang="ru-RU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ноксосфера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пересекается с зоной деятельности человека (гомосфера). </a:t>
            </a:r>
          </a:p>
          <a:p>
            <a:pPr indent="450215" algn="just">
              <a:spcBef>
                <a:spcPts val="600"/>
              </a:spcBef>
            </a:pPr>
            <a:endParaRPr lang="ru-RU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8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31" y="620688"/>
            <a:ext cx="8794836" cy="237626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88295" y="3356992"/>
            <a:ext cx="760849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dirty="0"/>
              <a:t>Из аксиомы следует </a:t>
            </a:r>
            <a:r>
              <a:rPr lang="ru-RU" sz="2200" b="1" dirty="0"/>
              <a:t>вывод</a:t>
            </a:r>
            <a:r>
              <a:rPr lang="ru-RU" sz="2200" dirty="0"/>
              <a:t> – </a:t>
            </a:r>
            <a:endParaRPr lang="en-US" sz="2200" dirty="0"/>
          </a:p>
          <a:p>
            <a:pPr algn="ctr"/>
            <a:r>
              <a:rPr lang="ru-RU" sz="2200" dirty="0"/>
              <a:t>несмотря на предпринимаемые защитные меры, всегда сохраняется некоторый остаточный риск.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96792" y="5413398"/>
            <a:ext cx="856684" cy="502444"/>
          </a:xfrm>
        </p:spPr>
        <p:txBody>
          <a:bodyPr/>
          <a:lstStyle/>
          <a:p>
            <a:fld id="{A4211F89-2E92-4E14-B032-14DE4A52F6A2}" type="slidenum">
              <a:rPr lang="ru-RU" sz="900"/>
              <a:t>23</a:t>
            </a:fld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401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pPr indent="450215">
              <a:lnSpc>
                <a:spcPct val="115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Риск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рисков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620688"/>
            <a:ext cx="8964488" cy="6237312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Критерием реализации опасности является риск. Он определяется вероятностью проявления опасности и вероятностью присутствия человека в зоне действия опасности (в опасной зоне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spcBef>
                <a:spcPts val="0"/>
              </a:spcBef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Риск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это вероятность реализации опасности, функция вероятности наступления события и возможного ущерба от него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Риск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может быть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определен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 формуле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>
              <a:spcBef>
                <a:spcPts val="0"/>
              </a:spcBef>
              <a:spcAft>
                <a:spcPts val="0"/>
              </a:spcAft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R=n/N,</a:t>
            </a:r>
          </a:p>
          <a:p>
            <a:pPr indent="450215">
              <a:spcBef>
                <a:spcPts val="0"/>
              </a:spcBef>
              <a:spcAft>
                <a:spcPts val="0"/>
              </a:spcAft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 - число тех или иных неблагоприятных последствий; 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возможное число неблагоприятных последствий за определенный период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риск используется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количественной оценки опасности .</a:t>
            </a:r>
          </a:p>
          <a:p>
            <a:pPr indent="450215" algn="just"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41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640"/>
            <a:ext cx="8784976" cy="666936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Различают мотивированный (обоснованный) и немотивированный (необоснованный) риск. </a:t>
            </a:r>
            <a:endParaRPr lang="ru-RU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случае производственных аварий, пожаров, в целях спасения людей и материальных ценностей человеку приходится идти на </a:t>
            </a:r>
            <a:r>
              <a:rPr lang="ru-RU" sz="3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риск, превышающий приемлемый.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риск считается обоснованным (мотивированным). </a:t>
            </a:r>
            <a:endParaRPr lang="ru-RU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ряда опасных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факторов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величины мотивированного риска, превышающего приемлемый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планируемое повышенное облучение», допускаемое в исключительных случаях для лиц, участвующих в ликвидации последствий радиационных 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аварий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3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Немотивированным (необоснованным) риском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называют риск, превышающий приемлемый и возникающий в результате нежелания работников на производстве соблюдать требования безопасности, использовать средства защиты и т.д., что, как правило, приводит к травмам и формирует предпосылки аварий на производстве.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53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260648"/>
            <a:ext cx="8568952" cy="4525963"/>
          </a:xfrm>
        </p:spPr>
        <p:txBody>
          <a:bodyPr>
            <a:noAutofit/>
          </a:bodyPr>
          <a:lstStyle/>
          <a:p>
            <a:pPr indent="0" algn="just">
              <a:spcBef>
                <a:spcPts val="0"/>
              </a:spcBef>
              <a:buNone/>
            </a:pP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иски систематизируют по 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различным типологическим </a:t>
            </a: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признакам: </a:t>
            </a:r>
            <a:endParaRPr lang="en-US" sz="2200" spc="-2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endParaRPr lang="ru-RU" sz="2200" spc="-20" dirty="0">
              <a:latin typeface="Times New Roman" pitchFamily="18" charset="0"/>
              <a:cs typeface="Times New Roman" pitchFamily="18" charset="0"/>
            </a:endParaRPr>
          </a:p>
          <a:p>
            <a:pPr indent="450215" algn="just">
              <a:spcBef>
                <a:spcPts val="0"/>
              </a:spcBef>
            </a:pPr>
            <a:r>
              <a:rPr lang="ru-RU" sz="2200" i="1" spc="-20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sz="2200" i="1" spc="-20" dirty="0">
                <a:latin typeface="Times New Roman" pitchFamily="18" charset="0"/>
                <a:cs typeface="Times New Roman" pitchFamily="18" charset="0"/>
              </a:rPr>
              <a:t>объекту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 рассматривают риски: </a:t>
            </a:r>
            <a:endParaRPr lang="ru-RU" sz="2200" spc="-2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индивидуальный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, коллективный (социальный), экономический; стратегический, экологический и др.; </a:t>
            </a:r>
          </a:p>
          <a:p>
            <a:pPr indent="450215" algn="just">
              <a:spcBef>
                <a:spcPts val="0"/>
              </a:spcBef>
            </a:pPr>
            <a:r>
              <a:rPr lang="ru-RU" sz="2200" i="1" spc="-20" dirty="0">
                <a:latin typeface="Times New Roman" pitchFamily="18" charset="0"/>
                <a:cs typeface="Times New Roman" pitchFamily="18" charset="0"/>
              </a:rPr>
              <a:t>по местоположению источника опасности относительно объекта 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различают риски: </a:t>
            </a:r>
            <a:endParaRPr lang="ru-RU" sz="2200" spc="-2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внешние 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и внутренние; </a:t>
            </a:r>
          </a:p>
          <a:p>
            <a:pPr indent="450215" algn="just">
              <a:spcBef>
                <a:spcPts val="0"/>
              </a:spcBef>
            </a:pPr>
            <a:r>
              <a:rPr lang="ru-RU" sz="2200" i="1" spc="-20" dirty="0">
                <a:latin typeface="Times New Roman" pitchFamily="18" charset="0"/>
                <a:cs typeface="Times New Roman" pitchFamily="18" charset="0"/>
              </a:rPr>
              <a:t>по субъекту (источнику) 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различают риски: </a:t>
            </a:r>
            <a:endParaRPr lang="ru-RU" sz="2200" spc="-2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природные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, техногенные, социальные,</a:t>
            </a:r>
          </a:p>
          <a:p>
            <a:pPr indent="450215" algn="just">
              <a:spcBef>
                <a:spcPts val="0"/>
              </a:spcBef>
            </a:pPr>
            <a:r>
              <a:rPr lang="ru-RU" sz="2200" i="1" spc="-20" dirty="0">
                <a:latin typeface="Times New Roman" pitchFamily="18" charset="0"/>
                <a:cs typeface="Times New Roman" pitchFamily="18" charset="0"/>
              </a:rPr>
              <a:t>по степени влияния на жизнедеятельность человека 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различают следующие виды риска: </a:t>
            </a:r>
            <a:endParaRPr lang="ru-RU" sz="2200" spc="-2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2200" spc="-20" dirty="0" err="1" smtClean="0">
                <a:latin typeface="Times New Roman" pitchFamily="18" charset="0"/>
                <a:cs typeface="Times New Roman" pitchFamily="18" charset="0"/>
              </a:rPr>
              <a:t>пренебрежимый</a:t>
            </a:r>
            <a:r>
              <a:rPr lang="ru-RU" sz="2200" spc="-20" dirty="0">
                <a:latin typeface="Times New Roman" pitchFamily="18" charset="0"/>
                <a:cs typeface="Times New Roman" pitchFamily="18" charset="0"/>
              </a:rPr>
              <a:t>; приемлемый; чрезмерный</a:t>
            </a:r>
            <a:r>
              <a:rPr lang="ru-RU" sz="2200" spc="-2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indent="450215" algn="just">
              <a:spcBef>
                <a:spcPts val="0"/>
              </a:spcBef>
            </a:pPr>
            <a:endParaRPr lang="ru-RU" sz="2200" spc="-2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Различают также </a:t>
            </a:r>
            <a:r>
              <a:rPr lang="ru-RU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и косвенный риск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риск связан с непосредственным действием на человека той или иной опасности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37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548680"/>
            <a:ext cx="8640960" cy="547260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производственных условиях различают 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и групповой (социальный) риск. </a:t>
            </a:r>
            <a:endParaRPr lang="ru-RU" sz="2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характеризует реализацию опасности определенного вида деятельности для конкретного индивидуума. </a:t>
            </a:r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____________________________________________________________</a:t>
            </a:r>
            <a:r>
              <a:rPr lang="ru-RU" sz="2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производственного травматизма и профессиональной заболеваемости, такие как частота несчастных случаев и профессиональных заболеваний, являются выражением </a:t>
            </a:r>
            <a:r>
              <a:rPr lang="ru-RU" sz="2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индивидуального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производственного риска. </a:t>
            </a:r>
            <a:endParaRPr lang="ru-RU" sz="2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Групповой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социальный риск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представляет собой зависимость между частотой происшествий (аварий, катастроф, стихийных бедствий) и числом пострадавших в них людей.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459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766937"/>
            <a:ext cx="8784976" cy="6091063"/>
          </a:xfrm>
        </p:spPr>
        <p:txBody>
          <a:bodyPr>
            <a:noAutofit/>
          </a:bodyPr>
          <a:lstStyle/>
          <a:p>
            <a:pPr indent="450215" algn="l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Традиционная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концепция риска базируется на категорическом императиве – обеспечить безопасность, не допустить аварий.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 современных условиях используется </a:t>
            </a:r>
            <a:r>
              <a:rPr lang="ru-RU" altLang="ru-RU" sz="2200" i="1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концепция приемлемого  риска </a:t>
            </a: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основанная на принципе </a:t>
            </a:r>
            <a:r>
              <a:rPr lang="ru-RU" altLang="ru-RU" sz="2200" i="1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предвидеть и предупредить</a:t>
            </a: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altLang="ru-RU" sz="2200" dirty="0" smtClean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</a:pPr>
            <a:r>
              <a:rPr lang="ru-RU" alt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Эта </a:t>
            </a: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концепция предусматривает возможность аварии и соответствующие меры по предотвращению ее возникновения и развития</a:t>
            </a:r>
            <a:r>
              <a:rPr lang="ru-RU" alt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altLang="ru-RU" sz="2200" dirty="0" smtClean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</a:pPr>
            <a:endParaRPr lang="ru-RU" altLang="ru-RU" sz="2200" dirty="0" smtClean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</a:pPr>
            <a:r>
              <a:rPr lang="ru-RU" sz="22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Приемлемый </a:t>
            </a:r>
            <a:r>
              <a:rPr lang="ru-RU" sz="22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риск сочетает в себе технические, экономические, социальные и политические аспекты и представляет некоторый компромисс между уровнем безопасности и возможностями ее достижения. </a:t>
            </a:r>
            <a:endParaRPr lang="ru-RU" sz="2200" b="1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</a:pPr>
            <a:endParaRPr lang="ru-RU" sz="22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0215" algn="l">
              <a:spcBef>
                <a:spcPts val="0"/>
              </a:spcBef>
            </a:pP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Суть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концепции приемлемого риска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состоит в стремлении к такому уровню безопасности, с которым общество готово мириться в данный период времени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1560" y="300499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Концепция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приемлемого риска </a:t>
            </a:r>
          </a:p>
        </p:txBody>
      </p:sp>
    </p:spTree>
    <p:extLst>
      <p:ext uri="{BB962C8B-B14F-4D97-AF65-F5344CB8AC3E}">
        <p14:creationId xmlns:p14="http://schemas.microsoft.com/office/powerpoint/2010/main" val="423727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692696"/>
            <a:ext cx="8136904" cy="6669360"/>
          </a:xfrm>
          <a:gradFill>
            <a:gsLst>
              <a:gs pos="95000">
                <a:schemeClr val="bg1"/>
              </a:gs>
              <a:gs pos="9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</a:t>
            </a:r>
            <a:r>
              <a:rPr lang="ru-RU" alt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сновные </a:t>
            </a: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положения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концепции приемлемого риска </a:t>
            </a:r>
            <a:r>
              <a:rPr lang="ru-RU" alt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algn="l">
              <a:spcBef>
                <a:spcPts val="0"/>
              </a:spcBef>
            </a:pPr>
            <a:endParaRPr lang="ru-RU" altLang="ru-RU" sz="2200" dirty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• любые объекты, процессы, явления потенциально опасны для человека.</a:t>
            </a:r>
          </a:p>
          <a:p>
            <a:pPr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• любая деятельность потенциально опасна для человека;</a:t>
            </a:r>
          </a:p>
          <a:p>
            <a:pPr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• ни в одном виде деятельности нельзя добиться абсолютной безопасности;</a:t>
            </a:r>
          </a:p>
          <a:p>
            <a:pPr algn="l">
              <a:spcBef>
                <a:spcPts val="0"/>
              </a:spcBef>
            </a:pPr>
            <a:r>
              <a:rPr lang="ru-RU" alt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• безопасность любой системы может быть доступна с любой степенью вероятности (&lt;1).</a:t>
            </a:r>
          </a:p>
          <a:p>
            <a:pPr indent="450215"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Обеспечить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безопасность – это значит достичь приемлемого риска</a:t>
            </a:r>
            <a:endParaRPr lang="ru-RU" altLang="ru-RU" sz="2200" dirty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Aft>
                <a:spcPts val="0"/>
              </a:spcAft>
            </a:pPr>
            <a:endParaRPr lang="ru-RU" sz="1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Максимально </a:t>
            </a:r>
            <a:r>
              <a:rPr lang="ru-RU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приемлемым уровнем индивидуального риска гибели обычно считается </a:t>
            </a:r>
            <a:r>
              <a:rPr lang="ru-RU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10</a:t>
            </a:r>
            <a:r>
              <a:rPr lang="ru-RU" sz="1800" i="1" baseline="30000" dirty="0" smtClean="0">
                <a:solidFill>
                  <a:schemeClr val="tx1"/>
                </a:solidFill>
                <a:latin typeface="Times New Roman"/>
                <a:ea typeface="Calibri"/>
              </a:rPr>
              <a:t>-6</a:t>
            </a:r>
            <a:r>
              <a:rPr lang="en-US" sz="1800" i="1" baseline="30000" dirty="0" smtClean="0">
                <a:solidFill>
                  <a:schemeClr val="tx1"/>
                </a:solidFill>
                <a:latin typeface="Times New Roman"/>
                <a:ea typeface="Calibri"/>
              </a:rPr>
              <a:t> </a:t>
            </a:r>
            <a:r>
              <a:rPr lang="ru-RU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чел</a:t>
            </a:r>
            <a:r>
              <a:rPr lang="en-US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/</a:t>
            </a:r>
            <a:r>
              <a:rPr lang="ru-RU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год</a:t>
            </a:r>
            <a:r>
              <a:rPr lang="ru-RU" sz="1800" i="1" dirty="0">
                <a:solidFill>
                  <a:schemeClr val="tx1"/>
                </a:solidFill>
                <a:latin typeface="Times New Roman"/>
                <a:ea typeface="Calibri"/>
              </a:rPr>
              <a:t>. </a:t>
            </a:r>
            <a:endParaRPr lang="ru-RU" sz="1800" i="1" dirty="0" smtClean="0">
              <a:solidFill>
                <a:schemeClr val="tx1"/>
              </a:solidFill>
              <a:latin typeface="Times New Roman"/>
              <a:ea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Пренебрежительно </a:t>
            </a:r>
            <a:r>
              <a:rPr lang="ru-RU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малым считается индивидуальный риск гибели </a:t>
            </a:r>
            <a:r>
              <a:rPr lang="ru-RU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10</a:t>
            </a:r>
            <a:r>
              <a:rPr lang="ru-RU" sz="1800" i="1" baseline="30000" dirty="0" smtClean="0">
                <a:solidFill>
                  <a:schemeClr val="tx1"/>
                </a:solidFill>
                <a:latin typeface="Times New Roman"/>
                <a:ea typeface="Calibri"/>
              </a:rPr>
              <a:t>-8 </a:t>
            </a:r>
            <a:r>
              <a:rPr lang="ru-RU" sz="1800" i="1" dirty="0" smtClean="0">
                <a:solidFill>
                  <a:schemeClr val="tx1"/>
                </a:solidFill>
                <a:latin typeface="Times New Roman"/>
                <a:ea typeface="Calibri"/>
              </a:rPr>
              <a:t>чел/год</a:t>
            </a:r>
            <a:r>
              <a:rPr lang="ru-RU" sz="1800" i="1" dirty="0">
                <a:solidFill>
                  <a:schemeClr val="tx1"/>
                </a:solidFill>
                <a:latin typeface="Times New Roman"/>
                <a:ea typeface="Calibri"/>
              </a:rPr>
              <a:t>. </a:t>
            </a:r>
            <a:endParaRPr lang="ru-RU" sz="18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96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404664"/>
            <a:ext cx="7026554" cy="564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0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568952" cy="648072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риском -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законодательных, организационных, инженерно-технических, технологических, административных мер для обеспечения безопасности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 по управлению риском: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совершенствование технических систем и объектов;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непрерывная подготовка человека по вопросам безопасности на всех ступенях воспитания и обучения;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оперативное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реагирование на последствия аварий, катастроф и стихийных бедствий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i="1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Управление риском </a:t>
            </a:r>
            <a:r>
              <a:rPr lang="ru-RU" sz="2600" spc="-1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включает разработку </a:t>
            </a:r>
            <a:r>
              <a:rPr lang="ru-RU" sz="26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рекомендаций по уменьшению уровня риска в случае, если степень риска выше приемлемой. Для этого выполняются: прогноз рисков, выявление влияющих факторов, выбор оптимального варианта снижения рисков.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871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634082"/>
          </a:xfrm>
        </p:spPr>
        <p:txBody>
          <a:bodyPr>
            <a:normAutofit/>
          </a:bodyPr>
          <a:lstStyle/>
          <a:p>
            <a:pPr algn="l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Методы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оценки рисков.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688632"/>
          </a:xfrm>
        </p:spPr>
        <p:txBody>
          <a:bodyPr>
            <a:normAutofit fontScale="62500" lnSpcReduction="20000"/>
          </a:bodyPr>
          <a:lstStyle/>
          <a:p>
            <a:pPr marL="0" indent="36000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экспертных оценок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представляет собой комплекс логических и математических процедур, направленных на получение заключения эксперта по определенному кругу вопросов. Преимуществом данного метода является возможность использования для принятия оптимальных управленских решений опыта и интуиции компетентного специалиста, характеристики риска могут устанавливаться экспертным путем. </a:t>
            </a:r>
            <a:endParaRPr lang="ru-RU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000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специфика </a:t>
            </a: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статистических методов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в выявлении вероятности появления потерь. В основе данного метода находятся статистические данные предыдущего периода, определение сферы риска и коэффициента риска. </a:t>
            </a:r>
            <a:endParaRPr lang="ru-RU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000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помощи </a:t>
            </a:r>
            <a:r>
              <a:rPr lang="ru-RU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аналитических методов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также можно выявить вероятность появления потерь. Это делается с помощью математических моделей и применяется для анализа рисков инвестиционных проектов.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95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20688"/>
            <a:ext cx="9144000" cy="692696"/>
          </a:xfrm>
        </p:spPr>
        <p:txBody>
          <a:bodyPr>
            <a:noAutofit/>
          </a:bodyPr>
          <a:lstStyle/>
          <a:p>
            <a:pPr lvl="0" indent="450215" algn="l">
              <a:lnSpc>
                <a:spcPct val="115000"/>
              </a:lnSpc>
              <a:spcBef>
                <a:spcPct val="20000"/>
              </a:spcBef>
            </a:pPr>
            <a:r>
              <a:rPr lang="ru-RU" sz="2400" b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4</a:t>
            </a:r>
            <a:r>
              <a:rPr lang="ru-RU" sz="2400" b="1" spc="-1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Принципы</a:t>
            </a:r>
            <a:r>
              <a:rPr lang="ru-RU" sz="2400" b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методы и средства обеспечения </a:t>
            </a:r>
            <a:r>
              <a:rPr lang="ru-RU" sz="2400" b="1" spc="-1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безопасности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1700808"/>
            <a:ext cx="8136904" cy="3478071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2200" b="1" i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Принципы безопасности </a:t>
            </a:r>
            <a:r>
              <a:rPr lang="ru-RU" sz="2200" b="1" i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жизнедеятельности</a:t>
            </a:r>
            <a:r>
              <a:rPr lang="en-US" sz="2200" b="1" i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Это 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основные направления деятельности и элементарные составляющие процесса обеспечения 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безопасности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l">
              <a:spcBef>
                <a:spcPts val="0"/>
              </a:spcBef>
            </a:pPr>
            <a:endParaRPr lang="en-US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</a:pPr>
            <a:r>
              <a:rPr lang="ru-RU" sz="2200" i="1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Принципы БЖД отражают многообразие путей и методов обеспечения 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безопасности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465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20688"/>
            <a:ext cx="8496944" cy="554461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3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признаку реализации 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они подразделяются на следующие группы</a:t>
            </a:r>
            <a: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endParaRPr lang="ru-RU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Ориентирующие (принцип системного подхода, профессионального отбора, принцип нормирования негативных воздействий и т.п.).</a:t>
            </a:r>
          </a:p>
          <a:p>
            <a:pPr>
              <a:lnSpc>
                <a:spcPct val="120000"/>
              </a:lnSpc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Управленческие (принцип контроля, принцип стимулирования деятельности, направленной на повышение безопасности, принципы ответственности, обратных связей и др.).</a:t>
            </a:r>
          </a:p>
          <a:p>
            <a:pPr>
              <a:lnSpc>
                <a:spcPct val="120000"/>
              </a:lnSpc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Организационные (защита временем, когда регламентируется время, в течение которого допускается воздействие на человека негативных факторов, принцип рациональной организации труда, организация санитарно-защитных зон и др.).</a:t>
            </a:r>
          </a:p>
          <a:p>
            <a:pPr>
              <a:lnSpc>
                <a:spcPct val="120000"/>
              </a:lnSpc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 (группа принципов подразумевает использование конкретных технических решений для повышения безопасности).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200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60648"/>
            <a:ext cx="7920880" cy="64807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техническим принципам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БЖЧ относятся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количеством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снижение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количественных характеристик негативных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воздействий (интенсивности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шума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негативного фактора в источнике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(за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счет проектирования более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совершенных технических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автомобильные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двигатели с низким содержанием вредных веществ в выхлопных газах, мониторы компьютеров, обладающие незначительными уровнями электромагнитного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излучения);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93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836712"/>
            <a:ext cx="8424936" cy="4669979"/>
          </a:xfrm>
        </p:spPr>
        <p:txBody>
          <a:bodyPr>
            <a:normAutofit fontScale="92500"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расстоянием - интенсивность ряда негативных воздействий убывает с расстоянием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с помощью ограждений  - экранирование; блокировка; </a:t>
            </a:r>
            <a:endParaRPr lang="ru-RU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слабого звена - применение предохранителей  (плавких предохранителей в электрической цепи, размыкающих цепь при возникновении аварийного режима), предохранительных клапанов, мембран, которые в опасной ситуации сбрасывают избыточное давление.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493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620688"/>
            <a:ext cx="8280920" cy="6237312"/>
          </a:xfrm>
        </p:spPr>
        <p:txBody>
          <a:bodyPr>
            <a:normAutofit/>
          </a:bodyPr>
          <a:lstStyle/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Обеспечение безопасности может быть достигнуто реализацией трех основных методов: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Метод А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состоит в пространственном разделении рабочей зоны, где находится человек в процессе деятельности (гомосфера), и пространства, в котором постоянно или периодически возникают опасности (</a:t>
            </a:r>
            <a:r>
              <a:rPr lang="ru-RU" sz="2200" spc="-1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ноксосфера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Метод Б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заключается в нормализации </a:t>
            </a:r>
            <a:r>
              <a:rPr lang="ru-RU" sz="2200" spc="-1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ноксосферы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путем исключения опасностей, используя комплекс средств защиты.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Метод В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включает систему приемов и средств, направленных на адаптацию человека к соответствующей среде и повышению его защищенности (обучение, профессиональный отбор и др.)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 практике для решения вопросов безопасности используется комбинация этих методов.</a:t>
            </a:r>
            <a:endParaRPr lang="ru-RU" sz="2200" i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09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620688"/>
            <a:ext cx="8568952" cy="6237312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2200" b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Средства </a:t>
            </a:r>
            <a:r>
              <a:rPr lang="ru-RU" sz="2200" b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БЖЧ -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Средства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защиты человека от различных опасностей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2200" spc="-1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защиты работающих подразделяются </a:t>
            </a:r>
            <a:r>
              <a:rPr lang="ru-RU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характеру их применения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endParaRPr lang="ru-RU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коллективной защиты (СКЗ) и </a:t>
            </a:r>
            <a:endParaRPr lang="ru-RU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индивидуальной защиты (СИЗ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ru-RU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endParaRPr lang="ru-RU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СИЗ 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 СКЗ  делятся на группы в зависимости от характера опасностей, от которых они защищают, конструктивного исполнения, области применения и др. </a:t>
            </a:r>
            <a:endParaRPr lang="ru-RU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2200" spc="-1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СКЗ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классифицируется в зависимости опасных и вредных факторов (СКЗ от шума, вибрации и т.п.).</a:t>
            </a: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СИЗ классифицируется в основном в зависимости от защищаемых видов органов (СИЗ органов дыхания, рук, головы, лица, глаз, слуха и т.д.).</a:t>
            </a:r>
          </a:p>
          <a:p>
            <a:pPr indent="450215" algn="just">
              <a:lnSpc>
                <a:spcPct val="115000"/>
              </a:lnSpc>
              <a:spcAft>
                <a:spcPts val="0"/>
              </a:spcAf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01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88640"/>
            <a:ext cx="8712968" cy="666936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техническому исполнению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СКЗ могут быть разделены по следующим группам: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-ограждения;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блокировочные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тормозные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сигнализация;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приборы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 автоматического контроля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 дистанционного управления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заземление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зануление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вентиляция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отопление, кондиционирование.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средствам БЖЧ следует также отнести так называемые приспособления для организации безопасности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(трапы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леса).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СИЗ относятся скафандры, противогазы, респираторы, шлемы (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пневмошлемы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противошумовые), маски, рукавицы из специальных материалов, защитные очки, предохранительные пояса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должны обеспечивать нормальные условия для деятельности человека. 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требование должно быть в первую очередь учтено при создании СИЗ, поскольку многие СИЗ создают существенные неудобства и зачастую резко снижают работоспособность человека. СИЗ обязательно должны оцениваться по защитным и функциональным показателям</a:t>
            </a:r>
            <a:r>
              <a:rPr lang="ru-RU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36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218" y="1340768"/>
            <a:ext cx="8589856" cy="629301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организме человека выделяют основные системы защиты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системы покровных тканей (кожа, слизистые оболочки),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иммунная система,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терморегуляции,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система регуляции частоты сердечных сокращений,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система регуляции кровяного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система обеспечения постоянства внутренней среды организма (гомеостаз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149489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Физиологические аспекты безопасности жизнедеятельности человека</a:t>
            </a:r>
          </a:p>
        </p:txBody>
      </p:sp>
    </p:spTree>
    <p:extLst>
      <p:ext uri="{BB962C8B-B14F-4D97-AF65-F5344CB8AC3E}">
        <p14:creationId xmlns:p14="http://schemas.microsoft.com/office/powerpoint/2010/main" val="366402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188640"/>
            <a:ext cx="8424936" cy="6336704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sz="2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Гомеостаз</a:t>
            </a:r>
            <a:r>
              <a:rPr lang="ru-RU" sz="2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Относительное динамическое постоянство состава и свойств внутренней среды и устойчивость основных физиологических функций организма</a:t>
            </a:r>
            <a:r>
              <a:rPr lang="ru-RU" sz="21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endParaRPr lang="ru-RU" sz="21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Когда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 гомеостаза нарушены, то есть когда характеристики человека не совпадают с характеристиками окружающей среды, то возможно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снижение работоспособности (тонуса, жизнедеятельности),</a:t>
            </a: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развитие заболеваний,</a:t>
            </a: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травматизм,</a:t>
            </a:r>
          </a:p>
          <a:p>
            <a:pPr algn="l"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смерть</a:t>
            </a:r>
          </a:p>
          <a:p>
            <a:pPr algn="l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Любые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физиологические, физические, химические или эмоциональные воздействия, например, температура воздуха, изменение атмосферного давления или радость, печаль, могут быть поводом к выходу организма из состояния динамического равновесия.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4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052736"/>
            <a:ext cx="8856984" cy="54006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528" y="116632"/>
            <a:ext cx="51906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Гомеостаз обеспечивает нервная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3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88640"/>
            <a:ext cx="8856984" cy="64087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spc="-10" dirty="0" smtClean="0">
                <a:latin typeface="Times New Roman"/>
                <a:ea typeface="Calibri"/>
              </a:rPr>
              <a:t>     </a:t>
            </a:r>
            <a:r>
              <a:rPr lang="ru-RU" sz="2200" spc="-10" dirty="0" smtClean="0">
                <a:latin typeface="Times New Roman"/>
                <a:ea typeface="Calibri"/>
              </a:rPr>
              <a:t>Поддержание </a:t>
            </a:r>
            <a:r>
              <a:rPr lang="ru-RU" sz="2200" spc="-10" dirty="0">
                <a:latin typeface="Times New Roman"/>
                <a:ea typeface="Calibri"/>
              </a:rPr>
              <a:t>жизнедеятельности </a:t>
            </a:r>
            <a:r>
              <a:rPr lang="ru-RU" sz="2200" spc="-10" dirty="0" smtClean="0">
                <a:latin typeface="Times New Roman"/>
                <a:ea typeface="Calibri"/>
              </a:rPr>
              <a:t>является </a:t>
            </a:r>
            <a:r>
              <a:rPr lang="ru-RU" sz="2200" spc="-10" dirty="0">
                <a:latin typeface="Times New Roman"/>
                <a:ea typeface="Calibri"/>
              </a:rPr>
              <a:t>для организма довольно сложной задачей.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человека постоянно действует поток внешних раздражителей, а также разнообразная информация о внутренних процессах в организме. </a:t>
            </a:r>
            <a:r>
              <a:rPr lang="ru-RU" sz="2200" spc="-10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</a:t>
            </a:r>
            <a:r>
              <a:rPr lang="ru-RU" sz="2200" spc="-10" dirty="0" smtClean="0">
                <a:latin typeface="Times New Roman"/>
                <a:ea typeface="Calibri"/>
              </a:rPr>
              <a:t>Эта </a:t>
            </a:r>
            <a:r>
              <a:rPr lang="ru-RU" sz="2200" spc="-10" dirty="0">
                <a:latin typeface="Times New Roman"/>
                <a:ea typeface="Calibri"/>
              </a:rPr>
              <a:t>информация подвергается </a:t>
            </a:r>
            <a:r>
              <a:rPr lang="ru-RU" sz="2200" spc="-10" dirty="0" smtClean="0">
                <a:latin typeface="Times New Roman"/>
                <a:ea typeface="Calibri"/>
              </a:rPr>
              <a:t>переработке </a:t>
            </a:r>
            <a:r>
              <a:rPr lang="ru-RU" sz="2200" spc="-10" dirty="0">
                <a:latin typeface="Times New Roman"/>
                <a:ea typeface="Calibri"/>
              </a:rPr>
              <a:t>на различных уровнях </a:t>
            </a:r>
            <a:r>
              <a:rPr lang="ru-RU" sz="2200" spc="-10" dirty="0" smtClean="0">
                <a:latin typeface="Times New Roman"/>
                <a:ea typeface="Calibri"/>
              </a:rPr>
              <a:t>нервной </a:t>
            </a:r>
            <a:r>
              <a:rPr lang="ru-RU" sz="2200" spc="-10" dirty="0">
                <a:latin typeface="Times New Roman"/>
                <a:ea typeface="Calibri"/>
              </a:rPr>
              <a:t>системы.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Принять информацию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правильно отреагировать нам помогают органы чувств, каждый из которых реагирует только на один вид раздражителя.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Сигналы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внешнего мира они преобразовывают в сигналы нервной системы – нервные импульсы.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Мозг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принимает эти сигналы, перерабатывает и определяет модель поведения.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Рецепторы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(органы чувств), пути передачи нервных импульсов и специальные зоны коры больших полушарий мозга составляют единую систему – анализатор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Нервная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функционирует посредством анализаторов.</a:t>
            </a:r>
          </a:p>
          <a:p>
            <a:pPr marL="0" indent="0">
              <a:buNone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0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60648"/>
            <a:ext cx="8964488" cy="648072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Анализаторы</a:t>
            </a:r>
            <a:r>
              <a:rPr lang="ru-RU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Подсистемы центральной нервной системы человека, обеспечивающие прием информационных сигналов из внешней среды</a:t>
            </a:r>
            <a:r>
              <a:rPr lang="ru-RU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Центральной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частью анализатора является зона в коре головного мозга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Периферическая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– рецепторы - находится на поверхности тела (зрительные, слуховые, обонятельные, вкусовые, тактильные) и во внутренних органах и системах (анализатор давления, кинестетические,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вестибулярные). Проводящие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нервные пути соединяют рецепторы с соответствующими зонами мозга.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анализаторов: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Экстероцептивные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(воспринимает информацию извне)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зрительный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слуховой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осязательный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(тактильный),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вкусовой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болевой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Интероцептивные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(воспринимает информацию изнутри)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66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620688"/>
            <a:ext cx="8496944" cy="583264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обеспечивают приспособительные реакции организма к изменениям внешней и внутренней среды в течение определенного времени реакции, характерного для данного анализатора и психических особенностей конкретного человека.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реакции человека к действию 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раздражителей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начала подачи сигнала до ответной реакции, является одним из важнейших факторов профессионального отбора, определяющим психофизиологические возможности человека выполнять работу с соблюдением требований безопасности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простой реакции в самых благоприятных случаях </a:t>
            </a:r>
            <a:r>
              <a:rPr lang="ru-RU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не </a:t>
            </a:r>
            <a:r>
              <a:rPr 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0,15 с, распознавание зрительных образов </a:t>
            </a:r>
            <a:r>
              <a:rPr lang="ru-RU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не </a:t>
            </a:r>
            <a:r>
              <a:rPr lang="ru-RU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менее 0,4 с.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1848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6672"/>
            <a:ext cx="8280920" cy="6264696"/>
          </a:xfrm>
        </p:spPr>
        <p:txBody>
          <a:bodyPr>
            <a:normAutofit/>
          </a:bodyPr>
          <a:lstStyle/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Приспособительные </a:t>
            </a:r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реакции </a:t>
            </a:r>
            <a:r>
              <a:rPr lang="ru-RU" sz="2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организма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 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Реакции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организма на внешние воздействия (условные и безусловные рефлексы, иммунитет,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иммуннореактивность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сенсибилизация, адаптация, боль и др.), обеспечивающие неизменность внутренней среды организма и безопасность человека при действии на него агрессивных факторов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Компенсация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изменений факторов среды обитания оказывается возможной благодаря активации систем, ответственных за </a:t>
            </a:r>
            <a:r>
              <a:rPr lang="ru-RU" sz="22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адаптацию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/>
            <a:r>
              <a:rPr lang="ru-RU" sz="22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Адаптация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(от лат. </a:t>
            </a:r>
            <a:r>
              <a:rPr lang="ru-RU" sz="2200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adapto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приспособление</a:t>
            </a: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Приспособление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организма к условиям деятельности. </a:t>
            </a:r>
            <a:r>
              <a:rPr lang="ru-RU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Различают </a:t>
            </a:r>
            <a:r>
              <a:rPr lang="ru-RU" sz="22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физиологическую, психофизиологическую, социально-психическую, социальную и иные виды адаптации.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10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116632"/>
            <a:ext cx="8388424" cy="6237312"/>
          </a:xfrm>
        </p:spPr>
        <p:txBody>
          <a:bodyPr>
            <a:normAutofit/>
          </a:bodyPr>
          <a:lstStyle/>
          <a:p>
            <a:pPr indent="450215" algn="just">
              <a:lnSpc>
                <a:spcPct val="115000"/>
              </a:lnSpc>
              <a:spcAft>
                <a:spcPts val="0"/>
              </a:spcAft>
            </a:pPr>
            <a:r>
              <a:rPr lang="ru-RU" sz="2400" i="1" spc="-10" dirty="0" smtClean="0">
                <a:solidFill>
                  <a:schemeClr val="tx1"/>
                </a:solidFill>
                <a:effectLst/>
                <a:latin typeface="Times New Roman"/>
                <a:ea typeface="Calibri"/>
                <a:cs typeface="Times New Roman"/>
              </a:rPr>
              <a:t>. 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i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Защитные приспособительные реакции имеют три стадии</a:t>
            </a:r>
            <a:r>
              <a:rPr lang="ru-RU" sz="2200" b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endParaRPr lang="ru-RU" sz="22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нормальная физиологическая реакция (гомеостаз);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нормальные адаптационные изменения;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патофизиологические адаптационные изменения </a:t>
            </a:r>
            <a:endParaRPr lang="en-US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en-US" sz="2200" spc="-1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Вмешательство внешних факторов в состояние гомеостаза приводит к адаптивной перестройке организма, в результате которой одна или несколько функциональных систем компенсируют возможные нарушения и восстанавливают равновесие.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безвыходных ситуациях, когда раздражитель чрезмерно силен, эффективная адаптация не формируется и сохраняется нарушение гомеостаза.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Вызываемый этими нарушениями стресс достигает чрезмерной интенсивности и длительности, в такой ситуации возможно развитие заболевания</a:t>
            </a:r>
            <a:r>
              <a:rPr lang="ru-RU" sz="2200" b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endParaRPr lang="ru-RU" sz="22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82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9144000" cy="476672"/>
          </a:xfrm>
        </p:spPr>
        <p:txBody>
          <a:bodyPr>
            <a:noAutofit/>
          </a:bodyPr>
          <a:lstStyle/>
          <a:p>
            <a:pPr indent="450215" algn="l">
              <a:lnSpc>
                <a:spcPct val="115000"/>
              </a:lnSpc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Понятие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чрезвычайной ситуации. 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512973"/>
            <a:ext cx="8640960" cy="6012371"/>
          </a:xfrm>
        </p:spPr>
        <p:txBody>
          <a:bodyPr>
            <a:normAutofit/>
          </a:bodyPr>
          <a:lstStyle/>
          <a:p>
            <a:pPr indent="450215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Реализованные опасности принято разделять на происшествия, чрезвычайные происшествия, аварии, катастрофы и стихийные бедствия.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Происшествие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событие, состоящее из негативного воздействия с причинением ущерба людским, природным или материальным ресурсам.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Чрезвычайное происшествие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(ЧП) - событие, происходящее кратковременно и обладающее высоким уровнем негативного воздействия на людей, природные и материальные ресурсы. К ЧП относятся крупные аварии, катастрофы и стихийные бедствия.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2200" i="1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Авария</a:t>
            </a:r>
            <a:r>
              <a:rPr lang="ru-RU" sz="2200" spc="-1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- происшествие в технической системе, не сопровождающееся гибелью людей, при котором восстановление технических средств невозможно или экономически нецелесообразно.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63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764704"/>
            <a:ext cx="7992888" cy="6237312"/>
          </a:xfrm>
        </p:spPr>
        <p:txBody>
          <a:bodyPr>
            <a:normAutofit/>
          </a:bodyPr>
          <a:lstStyle/>
          <a:p>
            <a:pPr lvl="0" indent="450215" algn="just">
              <a:lnSpc>
                <a:spcPct val="120000"/>
              </a:lnSpc>
            </a:pPr>
            <a:r>
              <a:rPr lang="ru-RU" sz="2200" i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Катастрофа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- происшествие в технической системе, сопровождающееся гибелью или пропажей без вести людей.</a:t>
            </a:r>
            <a:endParaRPr lang="ru-RU" sz="2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lvl="0" indent="450215" algn="just">
              <a:lnSpc>
                <a:spcPct val="120000"/>
              </a:lnSpc>
            </a:pPr>
            <a:r>
              <a:rPr lang="ru-RU" sz="2200" i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Стихийное бедствие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- происшествие, связанное со стихийными явлениями на Земле и приведшее к разрушению биосферы, </a:t>
            </a:r>
            <a:r>
              <a:rPr lang="ru-RU" sz="2200" spc="-10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техносферы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к гибели или потере здоровья людей.</a:t>
            </a:r>
            <a:endParaRPr lang="ru-RU" sz="2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lvl="0" indent="450215" algn="just">
              <a:lnSpc>
                <a:spcPct val="120000"/>
              </a:lnSpc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2200" i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Чрезвычайная ситуация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(ЧС) - состояние объекта, территории или акватории, как правило, после ЧП, при котором возникает угроза жизни и здоровью для группы людей, наносится материальный ущерб населению и экономике, деградирует природная среда</a:t>
            </a:r>
            <a:r>
              <a:rPr lang="ru-RU" sz="2200" spc="-1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lvl="0" indent="450215" algn="just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Классификацию ЧС можно проводить по разным признакам. В мировой практике их делят на ЧС природного и техногенного  происхождения.</a:t>
            </a:r>
            <a:endParaRPr lang="ru-RU" sz="2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lvl="0" indent="450215" algn="just">
              <a:lnSpc>
                <a:spcPct val="120000"/>
              </a:lnSpc>
            </a:pPr>
            <a:endParaRPr lang="ru-RU" sz="2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3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116632"/>
            <a:ext cx="8640960" cy="6597352"/>
          </a:xfrm>
        </p:spPr>
        <p:txBody>
          <a:bodyPr>
            <a:normAutofit fontScale="92500"/>
          </a:bodyPr>
          <a:lstStyle/>
          <a:p>
            <a:pPr indent="450215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Характеристика </a:t>
            </a:r>
            <a:r>
              <a:rPr lang="ru-RU" sz="2400" b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природных чрезвычайных ситуаций</a:t>
            </a: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24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 источникам природных ЧС относятся: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ru-RU" sz="2400" b="1" i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геологические и геофизические явления</a:t>
            </a:r>
            <a:r>
              <a:rPr lang="ru-RU" sz="24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ru-RU" sz="2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землетрясения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оползни, просадка 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грунта, 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эрозия почв и др.;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ru-RU" sz="2400" b="1" i="1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гидрологические и гидрогеологические явления</a:t>
            </a:r>
            <a:r>
              <a:rPr lang="ru-RU" sz="24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endParaRPr lang="ru-RU" sz="2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just">
              <a:lnSpc>
                <a:spcPct val="11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наводнения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половодья, паводки, низкие и высокие уровни грунтовых вод, ранний ледостав, затопления и др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.;</a:t>
            </a:r>
          </a:p>
          <a:p>
            <a:pPr lvl="0" algn="just">
              <a:lnSpc>
                <a:spcPct val="110000"/>
              </a:lnSpc>
              <a:spcBef>
                <a:spcPts val="0"/>
              </a:spcBef>
              <a:tabLst>
                <a:tab pos="457200" algn="l"/>
              </a:tabLst>
            </a:pPr>
            <a:r>
              <a:rPr lang="ru-RU" sz="2400" b="1" i="1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метеорологические и агрометеорологические явления</a:t>
            </a:r>
            <a:r>
              <a:rPr lang="ru-RU" sz="24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endParaRPr lang="ru-RU" sz="2400" dirty="0">
              <a:solidFill>
                <a:prstClr val="black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бури, ураганы, смерчи, шквалы, вертикальные вихри;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дождь, сильный снегопад, гроза, крупный </a:t>
            </a:r>
            <a:r>
              <a:rPr lang="ru-RU" sz="2200" spc="-1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град;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сильная метель, если в течение 12 часов и более преобладающая скорость ветра 15 м/с и более с выпадением снега;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сильный гололед, если диаметр отложений на проводах 20 мм и более;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сильный мороз, если температура воздуха достигает -38</a:t>
            </a:r>
            <a:r>
              <a:rPr lang="ru-RU" sz="2200" spc="-1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</a:t>
            </a: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 и ниже;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сильная жара, если температура воздуха достигает +38</a:t>
            </a:r>
            <a:r>
              <a:rPr lang="ru-RU" sz="2200" spc="-1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</a:t>
            </a: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 и выше;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Font typeface="Times New Roman" panose="02020603050405020304" pitchFamily="18" charset="0"/>
              <a:buChar char="⁻"/>
              <a:tabLst>
                <a:tab pos="810260" algn="l"/>
              </a:tabLst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заморозки, если температура 0</a:t>
            </a:r>
            <a:r>
              <a:rPr lang="ru-RU" sz="2200" spc="-1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</a:t>
            </a: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 и ниже в июне – августе, приводящие к гибели сельскохозяйственной продукции не менее, чем на 1/3 территории административного района;</a:t>
            </a:r>
            <a:endParaRPr lang="ru-RU" sz="22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endParaRPr lang="ru-RU" sz="24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34290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654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603031"/>
            <a:ext cx="8172400" cy="6237312"/>
          </a:xfrm>
        </p:spPr>
        <p:txBody>
          <a:bodyPr>
            <a:normAutofit/>
          </a:bodyPr>
          <a:lstStyle/>
          <a:p>
            <a:pPr marL="0" lvl="1" algn="l">
              <a:spcBef>
                <a:spcPts val="0"/>
              </a:spcBef>
              <a:spcAft>
                <a:spcPts val="0"/>
              </a:spcAft>
              <a:buFont typeface="Times New Roman"/>
              <a:buChar char="–"/>
              <a:tabLst>
                <a:tab pos="810260" algn="l"/>
              </a:tabLst>
            </a:pP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засуха, если наблюдается сочетание высоких температур, дефицита осадков, низкой влажности воздуха, малых </a:t>
            </a:r>
            <a:r>
              <a:rPr lang="ru-RU" sz="2000" spc="-1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влагозапасов</a:t>
            </a: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в почве, приводящие к снижению урожая или его гибели не менее, как на 1/3 территории административного района;</a:t>
            </a:r>
            <a:endParaRPr lang="ru-RU" sz="2000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marL="0" lvl="1" algn="l">
              <a:spcBef>
                <a:spcPts val="0"/>
              </a:spcBef>
              <a:spcAft>
                <a:spcPts val="0"/>
              </a:spcAft>
              <a:buFont typeface="Times New Roman"/>
              <a:buChar char="–"/>
              <a:tabLst>
                <a:tab pos="810260" algn="l"/>
              </a:tabLst>
            </a:pP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суховей, если температура воздуха составляет + 25</a:t>
            </a:r>
            <a:r>
              <a:rPr lang="ru-RU" sz="2000" spc="-1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 и выше, при скорости ветра более 5 м/</a:t>
            </a:r>
            <a:r>
              <a:rPr lang="en-US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и низкой влажности;</a:t>
            </a:r>
            <a:endParaRPr lang="ru-RU" sz="2000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marL="0" lvl="1" algn="l">
              <a:spcBef>
                <a:spcPts val="0"/>
              </a:spcBef>
              <a:spcAft>
                <a:spcPts val="0"/>
              </a:spcAft>
              <a:buFont typeface="Times New Roman"/>
              <a:buChar char="–"/>
              <a:tabLst>
                <a:tab pos="810260" algn="l"/>
              </a:tabLst>
            </a:pP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сильный туман, если видимость менее 100 м;</a:t>
            </a:r>
            <a:endParaRPr lang="ru-RU" sz="2000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marL="0" lvl="1" algn="l">
              <a:spcBef>
                <a:spcPts val="0"/>
              </a:spcBef>
              <a:spcAft>
                <a:spcPts val="0"/>
              </a:spcAft>
              <a:buFont typeface="Times New Roman"/>
              <a:buChar char="–"/>
              <a:tabLst>
                <a:tab pos="810260" algn="l"/>
              </a:tabLst>
            </a:pPr>
            <a:r>
              <a:rPr lang="ru-RU" sz="2000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природные пожары (лесные, полевые, торфяные) и др. </a:t>
            </a:r>
            <a:endParaRPr lang="ru-RU" sz="2000" spc="-10" dirty="0" smtClean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lvl="1" algn="l">
              <a:spcBef>
                <a:spcPts val="0"/>
              </a:spcBef>
              <a:spcAft>
                <a:spcPts val="0"/>
              </a:spcAft>
              <a:buFont typeface="Times New Roman"/>
              <a:buChar char="–"/>
              <a:tabLst>
                <a:tab pos="810260" algn="l"/>
              </a:tabLst>
            </a:pPr>
            <a:endParaRPr lang="ru-RU" sz="2000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marL="3429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ru-RU" sz="2200" b="1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космические явления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(падения на Землю космических тел, опасные космические излучения и др.);</a:t>
            </a:r>
            <a:endParaRPr lang="ru-RU" sz="20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marL="3429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ru-RU" sz="2200" b="1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гелиофизические явления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(нарушение условий распространения радиоволн и др.).</a:t>
            </a:r>
            <a:endParaRPr lang="ru-RU" sz="2000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817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260648"/>
            <a:ext cx="8568952" cy="6165304"/>
          </a:xfrm>
        </p:spPr>
        <p:txBody>
          <a:bodyPr>
            <a:normAutofit/>
          </a:bodyPr>
          <a:lstStyle/>
          <a:p>
            <a:pPr indent="450215" algn="just">
              <a:spcBef>
                <a:spcPts val="0"/>
              </a:spcBef>
              <a:spcAft>
                <a:spcPts val="0"/>
              </a:spcAft>
            </a:pPr>
            <a:r>
              <a:rPr lang="ru-RU" sz="2400" b="1" i="1" u="sng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К </a:t>
            </a:r>
            <a:r>
              <a:rPr lang="ru-RU" sz="2400" b="1" i="1" u="sng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источникам техногенных ЧС относятся</a:t>
            </a:r>
            <a:r>
              <a:rPr lang="ru-RU" sz="24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pPr indent="450215" algn="just">
              <a:spcBef>
                <a:spcPts val="0"/>
              </a:spcBef>
              <a:spcAft>
                <a:spcPts val="0"/>
              </a:spcAf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0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транспортные аварии и катастрофы (железнодорожные, авиационные, автомобильные, на газо- и нефтепроводах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,,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линиях электропередач, на водном транспорте, в метро);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пожары и взрывы на объектах;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аварии и катастрофы на объектах с выбросом вредных веществ (радиоактивных веществ, сильно  действующих ядовитых веществ и др.);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аварии и катастрофы на коммунальных системах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жизнеобеспечения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(канализация, водоснабжение,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электроснабжение); 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аварии и катастрофы на очистных сооружениях;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гидродинамические аварии и катастрофы (прорыв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плотин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, дамб);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обрушение зданий и сооружений;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•	аварии на </a:t>
            </a:r>
            <a:r>
              <a:rPr lang="ru-RU" sz="2200" spc="-1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электросистемах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817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476672"/>
          </a:xfrm>
        </p:spPr>
        <p:txBody>
          <a:bodyPr>
            <a:noAutofit/>
          </a:bodyPr>
          <a:lstStyle/>
          <a:p>
            <a:pPr lvl="0" indent="450215" algn="l">
              <a:lnSpc>
                <a:spcPct val="115000"/>
              </a:lnSpc>
              <a:spcBef>
                <a:spcPct val="20000"/>
              </a:spcBef>
            </a:pPr>
            <a:r>
              <a:rPr lang="ru-RU" sz="2400" b="1" dirty="0" smtClean="0">
                <a:latin typeface="Times New Roman"/>
                <a:ea typeface="Calibri"/>
                <a:cs typeface="Times New Roman"/>
              </a:rPr>
              <a:t>6 Управление </a:t>
            </a:r>
            <a:r>
              <a:rPr lang="ru-RU" sz="2400" b="1" dirty="0">
                <a:latin typeface="Times New Roman"/>
                <a:ea typeface="Calibri"/>
                <a:cs typeface="Times New Roman"/>
              </a:rPr>
              <a:t>безопасностью жизнедеятельности </a:t>
            </a:r>
            <a:r>
              <a:rPr lang="ru-RU" sz="2400" b="1" dirty="0" smtClean="0">
                <a:latin typeface="Times New Roman"/>
                <a:ea typeface="Calibri"/>
                <a:cs typeface="Times New Roman"/>
              </a:rPr>
              <a:t>человека</a:t>
            </a:r>
            <a:endParaRPr lang="ru-RU" sz="24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556" y="476672"/>
            <a:ext cx="8244916" cy="6237312"/>
          </a:xfrm>
        </p:spPr>
        <p:txBody>
          <a:bodyPr>
            <a:normAutofit/>
          </a:bodyPr>
          <a:lstStyle/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i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Критерии </a:t>
            </a:r>
            <a:r>
              <a:rPr lang="ru-RU" sz="2200" b="1" i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безопасности - </a:t>
            </a:r>
            <a:r>
              <a:rPr lang="ru-RU" sz="2200" i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Ограничения </a:t>
            </a:r>
            <a:r>
              <a:rPr lang="ru-RU" sz="2200" i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на концентрации веществ и потоки энергий в жизненном пространстве, а при авариях допустимая вероятность (риск) возникновения подобного события</a:t>
            </a:r>
            <a:r>
              <a:rPr lang="ru-RU" sz="2200" i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Управление безопасностью </a:t>
            </a:r>
            <a:r>
              <a:rPr lang="ru-RU" sz="2200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жизнедеятельности - </a:t>
            </a:r>
            <a:r>
              <a:rPr lang="ru-RU" sz="22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Это </a:t>
            </a:r>
            <a:r>
              <a:rPr lang="ru-RU" sz="2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управление охраной труда и обеспечением необходимых условий труда, управление охраной окружающей среды, обеспечением безопасности населения и территорий в чрезвычайных ситуациях</a:t>
            </a:r>
            <a:r>
              <a:rPr lang="ru-RU" sz="220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l"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Управление безопасностью жизнедеятельности состоит в подготовке, принятии и реализации решений, обеспечивающих безопасность и сохранение здоровья человека в среде обитания, предотвращение или снижение риска возникновения чрезвычайных ситуаций. При этом объективно соблюдаются условия экономической и технической целесообразности.</a:t>
            </a:r>
          </a:p>
          <a:p>
            <a:pPr indent="450215" algn="just">
              <a:spcBef>
                <a:spcPts val="0"/>
              </a:spcBef>
              <a:spcAft>
                <a:spcPts val="0"/>
              </a:spcAft>
            </a:pPr>
            <a:endParaRPr lang="ru-RU" sz="240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853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771079"/>
            <a:ext cx="9144000" cy="476672"/>
          </a:xfrm>
        </p:spPr>
        <p:txBody>
          <a:bodyPr>
            <a:noAutofit/>
          </a:bodyPr>
          <a:lstStyle/>
          <a:p>
            <a:pPr algn="l">
              <a:spcAft>
                <a:spcPts val="0"/>
              </a:spcAft>
            </a:pP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Система управления безопасностью жизнедеятельности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(СУБЖ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- Совокупность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органов управления, реализующая определенными методами функции управления в целях достижения заданного, социально приемлемого уровня безопасности.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2996952"/>
            <a:ext cx="8172400" cy="3861048"/>
          </a:xfrm>
        </p:spPr>
        <p:txBody>
          <a:bodyPr>
            <a:normAutofit/>
          </a:bodyPr>
          <a:lstStyle/>
          <a:p>
            <a:pPr indent="450215" algn="just">
              <a:lnSpc>
                <a:spcPct val="115000"/>
              </a:lnSpc>
              <a:spcAft>
                <a:spcPts val="0"/>
              </a:spcAf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Объект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" r="6627" b="6627"/>
          <a:stretch/>
        </p:blipFill>
        <p:spPr>
          <a:xfrm>
            <a:off x="3419873" y="4293096"/>
            <a:ext cx="144015" cy="14401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72" y="1772816"/>
            <a:ext cx="8776055" cy="432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507288" cy="564949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безопасностью жизнедеятельности состоит из следующих взаимосвязанных функций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учет, анализ и оценка состояния безопасности в системе «человек – среда обитания»;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прогнозирование условий жизнедеятельности;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планирование мероприятий для достижения целей и задач управления;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организация, координация выполнения работ и оперативное управление;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активизация и стимулирование обеспечения высокого уровня безопасности;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определение эффективности мероприятий;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контроль состояния безопасности и функционирования СУБЖ.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51537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620688"/>
            <a:ext cx="8424936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средствам управления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БЖЧ относятся: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(подготовка) населения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профессиональный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отбор;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медицинский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отбор;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психологические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воздействия на субъекты управления;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рационализация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режимов труда и отдыха; 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организационные средства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защиты; 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льгот и компенсаций и др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 жизнедеятельность может быть обеспечена только при комфортном (или допустимом) состояниях взаимодействия человека со средой обитания (опасное и чрезвычайное опасное - недопустимы для процессов жизнедеятельности человека, сохранения и развития природной среды).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37198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568952" cy="6552728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Основой законодательного обеспечения безопасности является основной закон государства – Конституция РБ.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правовой основе БЖД 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- законы </a:t>
            </a:r>
            <a:r>
              <a:rPr lang="ru-RU" sz="2200" spc="-1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и подзаконные акты; нормативно-техническая документация</a:t>
            </a:r>
            <a:r>
              <a:rPr lang="ru-RU" sz="2200" spc="-1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ru-RU" sz="22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Правовую основу организации работ </a:t>
            </a:r>
            <a:r>
              <a:rPr lang="ru-RU" sz="2200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в чрезвычайных ситуациях </a:t>
            </a:r>
            <a:r>
              <a:rPr lang="ru-RU" sz="22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и в связи с ликвидацией их последствий составляют законы:</a:t>
            </a:r>
          </a:p>
          <a:p>
            <a:pPr marL="342900" lvl="0" indent="-34290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2200" spc="-10" dirty="0">
              <a:solidFill>
                <a:prstClr val="black"/>
              </a:solidFill>
              <a:latin typeface="Times New Roman"/>
              <a:ea typeface="Calibri"/>
              <a:cs typeface="Times New Roman"/>
            </a:endParaRP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ru-RU" sz="2200" dirty="0">
                <a:solidFill>
                  <a:prstClr val="black"/>
                </a:solidFill>
                <a:ea typeface="Calibri"/>
                <a:cs typeface="Times New Roman"/>
              </a:rPr>
              <a:t> 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Закон Республики Беларусь «О санитарно-эпидемиологическом благополучии населения» от 1993 г., </a:t>
            </a: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Закон Республики Беларусь « О здравоохранении» от 1993 г.,</a:t>
            </a:r>
            <a:endParaRPr lang="ru-RU" sz="22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Закон Республики Беларусь «О радиационной безопасности населения» от 1998 г., </a:t>
            </a: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Закон Республики Беларусь «О защите населения и территорий от чрезвычайных ситуаций природного и техногенного характера» от 1998 г., </a:t>
            </a: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Закон Республики Беларусь «О правовом режиме территорий, подвергшихся радиоактивному загрязнению в результате аварии на Чернобыльской АЭС» от 1991 г. и др.</a:t>
            </a:r>
          </a:p>
          <a:p>
            <a:pPr lvl="0" algn="l">
              <a:lnSpc>
                <a:spcPct val="110000"/>
              </a:lnSpc>
              <a:spcBef>
                <a:spcPts val="0"/>
              </a:spcBef>
            </a:pPr>
            <a:endParaRPr lang="ru-RU" sz="2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lvl="0" indent="-34290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spc="-6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Среди законодательных актов </a:t>
            </a:r>
            <a:r>
              <a:rPr lang="ru-RU" sz="2200" i="1" spc="-6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 охране труда </a:t>
            </a:r>
            <a:r>
              <a:rPr lang="ru-RU" sz="2200" spc="-6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– Трудовой кодекс РБ.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400" spc="-10" dirty="0" smtClean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2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7584" y="476672"/>
            <a:ext cx="7776864" cy="6093296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spc="-1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</a:t>
            </a: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Беларуси принят ряд законов </a:t>
            </a:r>
            <a:r>
              <a:rPr lang="ru-RU" sz="2200" i="1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области охраны окружающей среды и рационального использования природных ресурсов. </a:t>
            </a:r>
          </a:p>
          <a:p>
            <a:pPr lvl="0" algn="just"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2006 г. вступил в действие Закон Республики Беларусь «О гидрометеорологической деятельности», </a:t>
            </a:r>
          </a:p>
          <a:p>
            <a:pPr lvl="0" algn="just"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2007 г. – Законы «О животном мире» и «Об обращении с отходами», </a:t>
            </a:r>
          </a:p>
          <a:p>
            <a:pPr lvl="0" algn="just"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2008 г. – Закон «Об охране атмосферного воздуха» и Кодексы Республики Беларусь о недрах и о земле.</a:t>
            </a:r>
            <a:endParaRPr lang="ru-RU" sz="22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 2009 г. – Закон «О государственной экологической экспертизе» и др. </a:t>
            </a:r>
          </a:p>
          <a:p>
            <a:pPr lvl="0" algn="just">
              <a:spcBef>
                <a:spcPts val="0"/>
              </a:spcBef>
            </a:pPr>
            <a:r>
              <a:rPr lang="ru-RU" sz="2200" spc="-10" dirty="0">
                <a:solidFill>
                  <a:prstClr val="black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Экологические правоотношения регулируются также Гражданским кодексом, Уголовным кодексом, Кодексом об административных правонарушениях.</a:t>
            </a: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2200" spc="-60" dirty="0">
              <a:solidFill>
                <a:prstClr val="black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spcAft>
                <a:spcPts val="0"/>
              </a:spcAf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7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476672"/>
            <a:ext cx="8208912" cy="5976664"/>
          </a:xfrm>
        </p:spPr>
        <p:txBody>
          <a:bodyPr>
            <a:normAutofit lnSpcReduction="10000"/>
          </a:bodyPr>
          <a:lstStyle/>
          <a:p>
            <a:pPr lvl="0" algn="just">
              <a:spcBef>
                <a:spcPts val="0"/>
              </a:spcBef>
            </a:pPr>
            <a:r>
              <a:rPr lang="ru-RU" sz="2200" b="1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Нормативно-техническая документация (НТД</a:t>
            </a:r>
            <a:r>
              <a:rPr lang="ru-RU" sz="2200" spc="-1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) – это государственный стандарт, стандарт предприятия, технические условия, технические описания, рецептуры и другая документация, закрепляющая требования к качеству продукции</a:t>
            </a:r>
            <a:r>
              <a:rPr lang="ru-RU" sz="2200" spc="-1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indent="450215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Нормативно-техническая </a:t>
            </a:r>
            <a:r>
              <a:rPr lang="ru-RU" sz="2000" i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документация необходима в работе инженеров, проектировщиков, конструкторов в разных отраслях </a:t>
            </a:r>
            <a:r>
              <a:rPr lang="ru-RU" sz="2000" i="1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экономики РБ. </a:t>
            </a:r>
          </a:p>
          <a:p>
            <a:pPr indent="450215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indent="450215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Нормативно-техническая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документация составляет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обширную группу документов, таких 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как: 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гигиенические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нормативы (ГН),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санитарные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нормы (СН),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санитарные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правила (СП),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санитарные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нормы и правила (СанПиН),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строительные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нормы и правила (СНиП),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правила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безопасности (ПБ), 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государственные 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и отраслевые стандарты (ГОСТы, ОСТы).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3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5616" y="188640"/>
            <a:ext cx="7848872" cy="6381328"/>
          </a:xfrm>
        </p:spPr>
        <p:txBody>
          <a:bodyPr>
            <a:normAutofit/>
          </a:bodyPr>
          <a:lstStyle/>
          <a:p>
            <a:pPr lvl="0" algn="just">
              <a:spcBef>
                <a:spcPts val="0"/>
              </a:spcBef>
            </a:pPr>
            <a:endParaRPr lang="ru-RU" sz="2200" i="1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Нормирование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в области охраны окружающей среды заключается в установлении </a:t>
            </a:r>
            <a:r>
              <a:rPr lang="ru-RU" sz="2200" b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нормативов качества окружающей среды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 </a:t>
            </a:r>
            <a:endParaRPr lang="ru-RU" sz="2200" spc="-10" dirty="0" smtClean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Нормативы качества окружающей среды устанавливаются на уровне, обеспечивающем экологическую безопасность, и применяются для оценки состояния окружающей среды и нормирования допустимого воздействия на нее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b="1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К нормативам качества окружающей среды относятся:</a:t>
            </a:r>
            <a:endParaRPr lang="ru-RU" sz="2200" b="1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- нормативы предельно допустимых концентраций химических и иных веществ;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- нормативы предельно допустимых физических </a:t>
            </a:r>
            <a:r>
              <a:rPr lang="ru-RU" sz="2200" spc="-10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воздействий и </a:t>
            </a:r>
            <a:r>
              <a:rPr lang="ru-RU" sz="2200" spc="-1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др.</a:t>
            </a:r>
            <a:endParaRPr lang="ru-RU" sz="22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indent="450215" algn="just">
              <a:lnSpc>
                <a:spcPct val="115000"/>
              </a:lnSpc>
              <a:spcAft>
                <a:spcPts val="0"/>
              </a:spcAft>
            </a:pPr>
            <a:endParaRPr lang="ru-RU" sz="18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82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8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0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4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5610</TotalTime>
  <Words>4472</Words>
  <Application>Microsoft Office PowerPoint</Application>
  <PresentationFormat>Экран (4:3)</PresentationFormat>
  <Paragraphs>420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60</vt:i4>
      </vt:variant>
    </vt:vector>
  </HeadingPairs>
  <TitlesOfParts>
    <vt:vector size="73" baseType="lpstr">
      <vt:lpstr>Arial</vt:lpstr>
      <vt:lpstr>Calibri</vt:lpstr>
      <vt:lpstr>Courier New</vt:lpstr>
      <vt:lpstr>Symbol</vt:lpstr>
      <vt:lpstr>Times New Roman</vt:lpstr>
      <vt:lpstr>Verdana</vt:lpstr>
      <vt:lpstr>Тема Office</vt:lpstr>
      <vt:lpstr>8_Тема Office</vt:lpstr>
      <vt:lpstr>10_Тема Office</vt:lpstr>
      <vt:lpstr>11_Тема Office</vt:lpstr>
      <vt:lpstr>13_Тема Office</vt:lpstr>
      <vt:lpstr>14_Тема Office</vt:lpstr>
      <vt:lpstr>6_Тема Office</vt:lpstr>
      <vt:lpstr> «Безопасность жизнедеятельности человека». </vt:lpstr>
      <vt:lpstr> Предмет, цель и задачи дисциплины «Безопасность жизнедеятельности человека».</vt:lpstr>
      <vt:lpstr>1 Предмет, цель и задачи дисциплины  «Безопасность жизнедеятельности человека».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 Опасности и их источники.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 Риск, классификация рисков.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Методы оценки рисков.</vt:lpstr>
      <vt:lpstr>4 Принципы, методы и средства обеспечения безопасности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5 Понятие о чрезвычайной ситуации.  .</vt:lpstr>
      <vt:lpstr>Презентация PowerPoint</vt:lpstr>
      <vt:lpstr>Презентация PowerPoint</vt:lpstr>
      <vt:lpstr>Презентация PowerPoint</vt:lpstr>
      <vt:lpstr>Презентация PowerPoint</vt:lpstr>
      <vt:lpstr>6 Управление безопасностью жизнедеятельности человека</vt:lpstr>
      <vt:lpstr>Система управления безопасностью жизнедеятельности (СУБЖ) - Совокупность органов управления, реализующая определенными методами функции управления в целях достижения заданного, социально приемлемого уровня безопасности.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1.  Предмет, цель и задачи дисциплины «Безопасность жизнедеятельности человека».</dc:title>
  <dc:creator>INNA</dc:creator>
  <cp:lastModifiedBy>Henadzi Babraunichy</cp:lastModifiedBy>
  <cp:revision>180</cp:revision>
  <dcterms:created xsi:type="dcterms:W3CDTF">2014-08-24T13:43:03Z</dcterms:created>
  <dcterms:modified xsi:type="dcterms:W3CDTF">2023-09-01T18:41:08Z</dcterms:modified>
</cp:coreProperties>
</file>