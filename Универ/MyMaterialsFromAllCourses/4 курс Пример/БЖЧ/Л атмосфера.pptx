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62"/>
  </p:notesMasterIdLst>
  <p:sldIdLst>
    <p:sldId id="309" r:id="rId2"/>
    <p:sldId id="565" r:id="rId3"/>
    <p:sldId id="612" r:id="rId4"/>
    <p:sldId id="602" r:id="rId5"/>
    <p:sldId id="604" r:id="rId6"/>
    <p:sldId id="288" r:id="rId7"/>
    <p:sldId id="613" r:id="rId8"/>
    <p:sldId id="614" r:id="rId9"/>
    <p:sldId id="570" r:id="rId10"/>
    <p:sldId id="624" r:id="rId11"/>
    <p:sldId id="625" r:id="rId12"/>
    <p:sldId id="626" r:id="rId13"/>
    <p:sldId id="631" r:id="rId14"/>
    <p:sldId id="636" r:id="rId15"/>
    <p:sldId id="637" r:id="rId16"/>
    <p:sldId id="446" r:id="rId17"/>
    <p:sldId id="640" r:id="rId18"/>
    <p:sldId id="596" r:id="rId19"/>
    <p:sldId id="618" r:id="rId20"/>
    <p:sldId id="525" r:id="rId21"/>
    <p:sldId id="477" r:id="rId22"/>
    <p:sldId id="619" r:id="rId23"/>
    <p:sldId id="622" r:id="rId24"/>
    <p:sldId id="621" r:id="rId25"/>
    <p:sldId id="620" r:id="rId26"/>
    <p:sldId id="635" r:id="rId27"/>
    <p:sldId id="547" r:id="rId28"/>
    <p:sldId id="627" r:id="rId29"/>
    <p:sldId id="575" r:id="rId30"/>
    <p:sldId id="539" r:id="rId31"/>
    <p:sldId id="597" r:id="rId32"/>
    <p:sldId id="632" r:id="rId33"/>
    <p:sldId id="623" r:id="rId34"/>
    <p:sldId id="550" r:id="rId35"/>
    <p:sldId id="559" r:id="rId36"/>
    <p:sldId id="628" r:id="rId37"/>
    <p:sldId id="629" r:id="rId38"/>
    <p:sldId id="638" r:id="rId39"/>
    <p:sldId id="639" r:id="rId40"/>
    <p:sldId id="568" r:id="rId41"/>
    <p:sldId id="642" r:id="rId42"/>
    <p:sldId id="643" r:id="rId43"/>
    <p:sldId id="644" r:id="rId44"/>
    <p:sldId id="577" r:id="rId45"/>
    <p:sldId id="647" r:id="rId46"/>
    <p:sldId id="578" r:id="rId47"/>
    <p:sldId id="646" r:id="rId48"/>
    <p:sldId id="580" r:id="rId49"/>
    <p:sldId id="579" r:id="rId50"/>
    <p:sldId id="546" r:id="rId51"/>
    <p:sldId id="630" r:id="rId52"/>
    <p:sldId id="554" r:id="rId53"/>
    <p:sldId id="641" r:id="rId54"/>
    <p:sldId id="610" r:id="rId55"/>
    <p:sldId id="606" r:id="rId56"/>
    <p:sldId id="633" r:id="rId57"/>
    <p:sldId id="607" r:id="rId58"/>
    <p:sldId id="634" r:id="rId59"/>
    <p:sldId id="574" r:id="rId60"/>
    <p:sldId id="609" r:id="rId61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00"/>
    <a:srgbClr val="000000"/>
    <a:srgbClr val="800000"/>
    <a:srgbClr val="33CCCC"/>
    <a:srgbClr val="777777"/>
    <a:srgbClr val="336699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9539" autoAdjust="0"/>
  </p:normalViewPr>
  <p:slideViewPr>
    <p:cSldViewPr>
      <p:cViewPr varScale="1">
        <p:scale>
          <a:sx n="69" d="100"/>
          <a:sy n="69" d="100"/>
        </p:scale>
        <p:origin x="12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52D132E-A782-42BB-B781-ADBDD5CDE64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819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C6D77D-8B4F-4941-A651-27B7632B01E7}" type="slidenum">
              <a:rPr lang="ru-RU" altLang="ru-RU" smtClean="0"/>
              <a:pPr>
                <a:spcBef>
                  <a:spcPct val="0"/>
                </a:spcBef>
              </a:pPr>
              <a:t>1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C08DF08-18B9-4DE2-A4E0-13CCBCA9B51D}" type="slidenum">
              <a:rPr lang="ru-RU" altLang="ru-RU" smtClean="0"/>
              <a:pPr>
                <a:spcBef>
                  <a:spcPct val="0"/>
                </a:spcBef>
              </a:pPr>
              <a:t>6</a:t>
            </a:fld>
            <a:endParaRPr lang="ru-RU" altLang="ru-RU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B8CCEB-8416-4A1B-8918-33E80AD3D720}" type="slidenum">
              <a:rPr lang="ru-RU" altLang="ru-RU" smtClean="0"/>
              <a:pPr>
                <a:spcBef>
                  <a:spcPct val="0"/>
                </a:spcBef>
              </a:pPr>
              <a:t>7</a:t>
            </a:fld>
            <a:endParaRPr lang="ru-RU" altLang="ru-RU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1843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92F4EB-A870-48E6-9752-147A633474D6}" type="slidenum">
              <a:rPr lang="ru-RU" altLang="ru-RU" smtClean="0"/>
              <a:pPr>
                <a:spcBef>
                  <a:spcPct val="0"/>
                </a:spcBef>
              </a:pPr>
              <a:t>8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F76C7A-977B-4ED5-8226-B511886567AB}" type="slidenum">
              <a:rPr lang="ru-RU" altLang="ru-RU" smtClean="0"/>
              <a:pPr>
                <a:spcBef>
                  <a:spcPct val="0"/>
                </a:spcBef>
              </a:pPr>
              <a:t>9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0877F-BA12-4406-9080-9EA668278603}" type="slidenum">
              <a:rPr lang="ru-RU" altLang="ru-RU" smtClean="0"/>
              <a:pPr>
                <a:spcBef>
                  <a:spcPct val="0"/>
                </a:spcBef>
              </a:pPr>
              <a:t>14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28676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CBA9DDD-0F89-47FA-A3C1-F26EDEFC2A77}" type="slidenum">
              <a:rPr lang="ru-RU" altLang="ru-RU"/>
              <a:pPr algn="r" eaLnBrk="1" hangingPunct="1">
                <a:spcBef>
                  <a:spcPct val="0"/>
                </a:spcBef>
              </a:pPr>
              <a:t>15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30724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3E969C-6CD3-4D36-95F3-43C6707F8903}" type="slidenum">
              <a:rPr lang="ru-RU" altLang="ru-RU"/>
              <a:pPr algn="r" eaLnBrk="1" hangingPunct="1">
                <a:spcBef>
                  <a:spcPct val="0"/>
                </a:spcBef>
              </a:pPr>
              <a:t>16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57659D-3261-455F-9559-C8E0F1DCEDBC}" type="slidenum">
              <a:rPr lang="ru-RU" altLang="ru-RU" smtClean="0"/>
              <a:pPr>
                <a:spcBef>
                  <a:spcPct val="0"/>
                </a:spcBef>
              </a:pPr>
              <a:t>18</a:t>
            </a:fld>
            <a:endParaRPr lang="ru-RU" altLang="ru-RU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C02BA2-4111-44E2-9973-B62B1F157D7E}" type="slidenum">
              <a:rPr lang="ru-RU" altLang="ru-RU" smtClean="0"/>
              <a:pPr>
                <a:spcBef>
                  <a:spcPct val="0"/>
                </a:spcBef>
              </a:pPr>
              <a:t>20</a:t>
            </a:fld>
            <a:endParaRPr lang="ru-RU" altLang="ru-RU" smtClean="0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38916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5CF4C8F-0994-45C8-8E32-C555F6EBB4A0}" type="slidenum">
              <a:rPr lang="ru-RU" altLang="ru-RU">
                <a:latin typeface="Tahoma" panose="020B0604030504040204" pitchFamily="34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ru-RU" altLang="ru-RU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4403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84271F-2A6C-4FE5-A97F-F8B22BD14659}" type="slidenum">
              <a:rPr lang="ru-RU" altLang="ru-RU" smtClean="0"/>
              <a:pPr>
                <a:spcBef>
                  <a:spcPct val="0"/>
                </a:spcBef>
              </a:pPr>
              <a:t>25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5530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C13AD2-4E81-47EA-BD8C-445DA2658B5E}" type="slidenum">
              <a:rPr lang="ru-RU" altLang="ru-RU" smtClean="0"/>
              <a:pPr>
                <a:spcBef>
                  <a:spcPct val="0"/>
                </a:spcBef>
              </a:pPr>
              <a:t>35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62468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40E248-B7A1-42F8-9BAA-E6E66BB7915A}" type="slidenum">
              <a:rPr lang="ru-RU" altLang="ru-RU" sz="1200" smtClean="0"/>
              <a:pPr/>
              <a:t>41</a:t>
            </a:fld>
            <a:endParaRPr lang="ru-RU" altLang="ru-RU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0A876C-CFCE-41EA-840C-2A0207FC209A}" type="slidenum">
              <a:rPr lang="ru-RU" altLang="ru-RU" sz="1200" smtClean="0"/>
              <a:pPr/>
              <a:t>44</a:t>
            </a:fld>
            <a:endParaRPr lang="ru-RU" altLang="ru-RU" sz="1200" smtClean="0"/>
          </a:p>
        </p:txBody>
      </p:sp>
      <p:sp>
        <p:nvSpPr>
          <p:cNvPr id="665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69636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80A00B-7893-4AE6-A613-3A0DA9FBFD75}" type="slidenum">
              <a:rPr lang="ru-RU" altLang="ru-RU" smtClean="0"/>
              <a:pPr>
                <a:spcBef>
                  <a:spcPct val="0"/>
                </a:spcBef>
              </a:pPr>
              <a:t>46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72708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4ECD0F-DB6D-490A-AFCB-BA994D80989F}" type="slidenum">
              <a:rPr lang="ru-RU" altLang="ru-RU" smtClean="0"/>
              <a:pPr>
                <a:spcBef>
                  <a:spcPct val="0"/>
                </a:spcBef>
              </a:pPr>
              <a:t>48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76804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4A11F4-F3E6-464D-B833-D4FCDE85565C}" type="slidenum">
              <a:rPr lang="ru-RU" altLang="ru-RU" smtClean="0"/>
              <a:pPr>
                <a:spcBef>
                  <a:spcPct val="0"/>
                </a:spcBef>
              </a:pPr>
              <a:t>51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smtClean="0">
              <a:latin typeface="Arial" panose="020B0604020202020204" pitchFamily="34" charset="0"/>
            </a:endParaRPr>
          </a:p>
        </p:txBody>
      </p:sp>
      <p:sp>
        <p:nvSpPr>
          <p:cNvPr id="78852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070E19-87D8-493C-8292-18706E1794F6}" type="slidenum">
              <a:rPr lang="ru-RU" altLang="ru-RU" sz="1200" smtClean="0"/>
              <a:pPr/>
              <a:t>52</a:t>
            </a:fld>
            <a:endParaRPr lang="ru-RU" altLang="ru-RU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335463" y="1169988"/>
            <a:ext cx="4814887" cy="4994275"/>
            <a:chOff x="4334933" y="1169931"/>
            <a:chExt cx="4814835" cy="4993802"/>
          </a:xfrm>
        </p:grpSpPr>
        <p:cxnSp>
          <p:nvCxnSpPr>
            <p:cNvPr id="5" name="Straight Connector 16"/>
            <p:cNvCxnSpPr/>
            <p:nvPr/>
          </p:nvCxnSpPr>
          <p:spPr>
            <a:xfrm flipH="1">
              <a:off x="6009727" y="1169931"/>
              <a:ext cx="3133691" cy="31350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8"/>
            <p:cNvCxnSpPr/>
            <p:nvPr/>
          </p:nvCxnSpPr>
          <p:spPr>
            <a:xfrm flipH="1">
              <a:off x="4334933" y="1349301"/>
              <a:ext cx="4814835" cy="48144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20"/>
            <p:cNvCxnSpPr/>
            <p:nvPr/>
          </p:nvCxnSpPr>
          <p:spPr>
            <a:xfrm flipH="1">
              <a:off x="5225510" y="1469940"/>
              <a:ext cx="3911558" cy="39112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21"/>
            <p:cNvCxnSpPr/>
            <p:nvPr/>
          </p:nvCxnSpPr>
          <p:spPr>
            <a:xfrm flipH="1">
              <a:off x="5304885" y="1308030"/>
              <a:ext cx="3838534" cy="38397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22"/>
            <p:cNvCxnSpPr/>
            <p:nvPr/>
          </p:nvCxnSpPr>
          <p:spPr>
            <a:xfrm flipH="1">
              <a:off x="5706518" y="1769949"/>
              <a:ext cx="3430550" cy="343026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/>
          <a:lstStyle>
            <a:lvl1pPr algn="l">
              <a:defRPr sz="4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A203E-E4EC-452F-8506-22B15F069F8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8333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81832-0723-4317-A316-D84F76038E2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34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/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E7304-42A4-4422-9137-17D403AE576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4234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F5A68-9B0B-4E73-86C1-0934126AF58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9459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EA930-2D90-4AC4-A447-DB72097C581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2024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0F8DF-8907-40B9-9885-B40BDCB7ACF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13214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91F78-7546-4572-96E8-F6EF9A49FF0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658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D5F9F-329B-420B-AAE5-BB104F07B3B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310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8039E1-2A1D-4FD8-8493-1B272AAF760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3563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1E9E2-436F-471D-BBB5-A5AA7018710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7671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/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728ED-46D4-47A5-A2C8-B307731B78C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37493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8600" y="711200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ru-RU" sz="8000" smtClean="0"/>
              <a:t>“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96200" y="2768600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ru-RU" sz="8000" smtClean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/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27EA1-10CD-4E95-A53A-44FD40D468E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2692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/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A1BA0-2591-478D-964E-74BC930170C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883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8600" y="711200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ru-RU" sz="8000" smtClean="0"/>
              <a:t>“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96200" y="2768600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ru-RU" sz="8000" smtClean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/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D51E2-2BBB-4D69-964F-EE21969031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5073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/>
          <a:lstStyle>
            <a:lvl1pPr>
              <a:defRPr lang="en-US" sz="2800" b="0" dirty="0"/>
            </a:lvl1pPr>
          </a:lstStyle>
          <a:p>
            <a:pPr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B204E-3CA2-4A69-AAA7-EC60B03CB5E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0188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>
            <a:lvl1pPr algn="l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17AB2-1149-4841-8DFC-D58CFCA91BB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39911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43D10-B959-45BE-B1B3-5979D361160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34259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6948" y="277724"/>
            <a:ext cx="8230104" cy="114337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6948" y="1600275"/>
            <a:ext cx="4074733" cy="453093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12319" y="1600275"/>
            <a:ext cx="4074733" cy="22117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12319" y="3919497"/>
            <a:ext cx="4074733" cy="221171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B5129-39A9-4EF7-B4C1-CCDBD5623D4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95828869"/>
      </p:ext>
    </p:extLst>
  </p:cSld>
  <p:clrMapOvr>
    <a:masterClrMapping/>
  </p:clrMapOvr>
  <p:transition spd="slow" advClick="0" advTm="7000"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87000">
              <a:srgbClr val="FFFFFF"/>
            </a:gs>
            <a:gs pos="91000">
              <a:srgbClr val="D0E4FD"/>
            </a:gs>
            <a:gs pos="98000">
              <a:srgbClr val="509CF6"/>
            </a:gs>
            <a:gs pos="100000">
              <a:srgbClr val="509CF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6670675" y="3894138"/>
            <a:ext cx="2470150" cy="2659062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746" y="3259666"/>
              <a:ext cx="912188" cy="91189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5724"/>
              <a:ext cx="2981857" cy="298280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1737" y="3581511"/>
              <a:ext cx="1897197" cy="18965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130" y="3433998"/>
              <a:ext cx="1740055" cy="17394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388" y="3985732"/>
              <a:ext cx="1264798" cy="12643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788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3400" y="533400"/>
            <a:ext cx="6554788" cy="376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9500" y="6172200"/>
            <a:ext cx="1201738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hangingPunct="1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838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hangingPunct="1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3988" y="5578475"/>
            <a:ext cx="85725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D74B81DE-5C15-45E4-89A2-E75116B9E4D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237" r:id="rId1"/>
    <p:sldLayoutId id="2147484223" r:id="rId2"/>
    <p:sldLayoutId id="2147484224" r:id="rId3"/>
    <p:sldLayoutId id="2147484225" r:id="rId4"/>
    <p:sldLayoutId id="2147484226" r:id="rId5"/>
    <p:sldLayoutId id="2147484227" r:id="rId6"/>
    <p:sldLayoutId id="2147484228" r:id="rId7"/>
    <p:sldLayoutId id="2147484229" r:id="rId8"/>
    <p:sldLayoutId id="2147484230" r:id="rId9"/>
    <p:sldLayoutId id="2147484231" r:id="rId10"/>
    <p:sldLayoutId id="2147484232" r:id="rId11"/>
    <p:sldLayoutId id="2147484238" r:id="rId12"/>
    <p:sldLayoutId id="2147484233" r:id="rId13"/>
    <p:sldLayoutId id="2147484239" r:id="rId14"/>
    <p:sldLayoutId id="2147484234" r:id="rId15"/>
    <p:sldLayoutId id="2147484235" r:id="rId16"/>
    <p:sldLayoutId id="2147484236" r:id="rId17"/>
    <p:sldLayoutId id="2147484240" r:id="rId18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2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eaLnBrk="0" fontAlgn="base" hangingPunct="0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1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36513" y="260350"/>
            <a:ext cx="9144001" cy="64293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r>
              <a:rPr lang="ru-RU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Атмосфера, источники загрязнения атмосферы, охрана воздушного бассейна.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</a:br>
            <a:endParaRPr lang="ru-RU" sz="2400" b="1" dirty="0" smtClean="0"/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179388" y="1196975"/>
            <a:ext cx="865981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800" u="sng">
                <a:solidFill>
                  <a:srgbClr val="000000"/>
                </a:solidFill>
              </a:rPr>
              <a:t>Цель:</a:t>
            </a:r>
            <a:r>
              <a:rPr lang="ru-RU" altLang="ru-RU" sz="1800">
                <a:solidFill>
                  <a:srgbClr val="000000"/>
                </a:solidFill>
              </a:rPr>
              <a:t> оценить роль атмосферы в жизнедеятельности человека, обозначить основные источники загрязнения атмосферы, рассмотреть качество атмосферного воздуха в Республике Беларусь и основные направления охраны воздушного бассейна. </a:t>
            </a:r>
            <a:endParaRPr lang="en-US" altLang="ru-RU" sz="1800">
              <a:solidFill>
                <a:srgbClr val="000000"/>
              </a:solidFill>
            </a:endParaRPr>
          </a:p>
          <a:p>
            <a:pPr algn="just" eaLnBrk="1" hangingPunct="1"/>
            <a:endParaRPr lang="ru-RU" altLang="ru-RU" sz="1800">
              <a:solidFill>
                <a:srgbClr val="000000"/>
              </a:solidFill>
            </a:endParaRPr>
          </a:p>
          <a:p>
            <a:pPr eaLnBrk="1" hangingPunct="1"/>
            <a:r>
              <a:rPr lang="ru-RU" altLang="ru-RU" sz="2000" u="sng">
                <a:solidFill>
                  <a:srgbClr val="000000"/>
                </a:solidFill>
              </a:rPr>
              <a:t>План занятия:</a:t>
            </a:r>
            <a:endParaRPr lang="ru-RU" altLang="ru-RU" sz="2000">
              <a:solidFill>
                <a:srgbClr val="000000"/>
              </a:solidFill>
            </a:endParaRPr>
          </a:p>
          <a:p>
            <a:pPr algn="just" eaLnBrk="1" hangingPunct="1"/>
            <a:r>
              <a:rPr lang="ru-RU" altLang="ru-RU" sz="2000">
                <a:solidFill>
                  <a:srgbClr val="000000"/>
                </a:solidFill>
              </a:rPr>
              <a:t>1. Роль атмосферы в жизнедеятельности людей. Характеристика и состояние атмосферы. </a:t>
            </a:r>
          </a:p>
          <a:p>
            <a:pPr algn="just" eaLnBrk="1" hangingPunct="1"/>
            <a:r>
              <a:rPr lang="ru-RU" altLang="ru-RU" sz="2000">
                <a:solidFill>
                  <a:srgbClr val="000000"/>
                </a:solidFill>
              </a:rPr>
              <a:t>2. Классификация источников загрязнения атмосферы. Последствия загрязнения атмосферы. </a:t>
            </a:r>
          </a:p>
          <a:p>
            <a:pPr algn="just" eaLnBrk="1" hangingPunct="1"/>
            <a:r>
              <a:rPr lang="ru-RU" altLang="ru-RU" sz="2000">
                <a:solidFill>
                  <a:srgbClr val="000000"/>
                </a:solidFill>
              </a:rPr>
              <a:t>3. Качество атмосферного воздуха в Республике Беларусь, нормирование атмосферного загрязнения. Основные направления охраны атмосферы. </a:t>
            </a:r>
            <a:endParaRPr lang="en-US" altLang="ru-RU" sz="2000">
              <a:solidFill>
                <a:srgbClr val="000000"/>
              </a:solidFill>
            </a:endParaRPr>
          </a:p>
          <a:p>
            <a:pPr algn="just" eaLnBrk="1" hangingPunct="1"/>
            <a:endParaRPr lang="en-US" altLang="ru-RU" sz="2000">
              <a:solidFill>
                <a:srgbClr val="000000"/>
              </a:solidFill>
            </a:endParaRPr>
          </a:p>
          <a:p>
            <a:pPr eaLnBrk="1" hangingPunct="1"/>
            <a:r>
              <a:rPr lang="ru-RU" altLang="ru-RU" sz="1800" u="sng">
                <a:solidFill>
                  <a:srgbClr val="000000"/>
                </a:solidFill>
              </a:rPr>
              <a:t>Ключевые определения</a:t>
            </a:r>
            <a:r>
              <a:rPr lang="ru-RU" altLang="ru-RU" sz="1800">
                <a:solidFill>
                  <a:srgbClr val="000000"/>
                </a:solidFill>
              </a:rPr>
              <a:t>: атмосфера, атмосферный воздух,  загрязнение атмосферы, естественное загрязнение, ПДК, санитарно-защитная зона.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788" cy="152400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9219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7488" y="758825"/>
            <a:ext cx="8866187" cy="5694363"/>
          </a:xfrm>
        </p:spPr>
      </p:pic>
      <p:sp>
        <p:nvSpPr>
          <p:cNvPr id="9220" name="Прямоугольник 2"/>
          <p:cNvSpPr>
            <a:spLocks noChangeArrowheads="1"/>
          </p:cNvSpPr>
          <p:nvPr/>
        </p:nvSpPr>
        <p:spPr bwMode="auto">
          <a:xfrm>
            <a:off x="119063" y="0"/>
            <a:ext cx="9001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>
                <a:solidFill>
                  <a:schemeClr val="bg1"/>
                </a:solidFill>
              </a:rPr>
              <a:t>АТМОСФЕРА ЗЕМЛИ (ОТ ГРЕЧ. ATMOS - ПАР И SPHAIRA -ШАР) - ЭТО ГАЗОВАЯ, ВОЗДУШНАЯ ОБОЛОЧКА, ОКРУЖАЮЩАЯ ЗЕМЛЮ.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9" t="19460" r="24863" b="34010"/>
          <a:stretch>
            <a:fillRect/>
          </a:stretch>
        </p:blipFill>
        <p:spPr bwMode="auto">
          <a:xfrm>
            <a:off x="452438" y="908050"/>
            <a:ext cx="8569325" cy="428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172450" y="6097588"/>
            <a:ext cx="857250" cy="669925"/>
          </a:xfrm>
        </p:spPr>
        <p:txBody>
          <a:bodyPr/>
          <a:lstStyle/>
          <a:p>
            <a:pPr>
              <a:defRPr/>
            </a:pPr>
            <a:fld id="{425B5B2B-F4EC-4061-A136-C570ACD060D3}" type="slidenum">
              <a:rPr lang="ru-RU" sz="1200" smtClean="0"/>
              <a:pPr>
                <a:defRPr/>
              </a:pPr>
              <a:t>3</a:t>
            </a:fld>
            <a:endParaRPr 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950" y="404813"/>
            <a:ext cx="8712200" cy="583247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тропосфере: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концентрируется 100 % водяных паров,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наблюдаются все метеорологические явления (образование туманов, облаков; выпадение осадков - дождя, снега)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силу активного перемещения воздушных масс формируется погода и климат.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температура воздуха в тропосфере уменьшается с подъемом на высоту на 0,5-0,65 °С на каждые 100 м подъема. </a:t>
            </a:r>
            <a:endParaRPr lang="en-US" altLang="ru-RU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ru-RU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стратосфере: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значительная разреженность воздуха,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минимальная влажность,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почти полное отсутствие облаков, пыли земного происхождения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особый температурный режим, связан с образованием озона (О</a:t>
            </a:r>
            <a:r>
              <a:rPr lang="ru-RU" altLang="ru-RU" baseline="-250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под действием ультрафиолетового излучения Солнца.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ru-RU" altLang="ru-RU" smtClean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ru-RU" altLang="ru-RU" sz="150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Заголовок 1"/>
          <p:cNvSpPr>
            <a:spLocks noGrp="1"/>
          </p:cNvSpPr>
          <p:nvPr>
            <p:ph type="ctrTitle"/>
          </p:nvPr>
        </p:nvSpPr>
        <p:spPr>
          <a:xfrm>
            <a:off x="179388" y="3078163"/>
            <a:ext cx="8964612" cy="377825"/>
          </a:xfrm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lnSpc>
                <a:spcPct val="107000"/>
              </a:lnSpc>
              <a:defRPr/>
            </a:pPr>
            <a:r>
              <a:rPr lang="ru-RU" altLang="ru-RU" sz="1900" b="1" cap="none" smtClean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ЗАЩИТНАЯ РОЛЬ ОЗОНА В АТМОСФЕРЕ</a:t>
            </a:r>
            <a:r>
              <a:rPr lang="en-US" altLang="ru-RU" sz="1900" b="1" cap="none" smtClean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ru-RU" sz="1900" b="1" cap="none" smtClean="0">
                <a:ln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1800" b="1" cap="none" smtClean="0">
                <a:ln>
                  <a:noFill/>
                </a:ln>
                <a:solidFill>
                  <a:srgbClr val="015692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Озоновый слой - </a:t>
            </a:r>
            <a:r>
              <a:rPr lang="ru-RU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Часть стратосферы на высоте от 12 до 50 км, в которой под воздействием ультрафиолетового излучения Солнца молекулярный кислород (О</a:t>
            </a:r>
            <a:r>
              <a:rPr lang="ru-RU" altLang="ru-RU" sz="1800" cap="none" baseline="-25000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ru-RU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) разрушается на атомы, которые затем соединяются с другими молекулами О</a:t>
            </a:r>
            <a:r>
              <a:rPr lang="ru-RU" altLang="ru-RU" sz="1800" cap="none" baseline="-25000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ru-RU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, образуя озон (О</a:t>
            </a:r>
            <a:r>
              <a:rPr lang="ru-RU" altLang="ru-RU" sz="1800" cap="none" baseline="-25000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ru-RU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).</a:t>
            </a:r>
            <a:r>
              <a:rPr lang="en-US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altLang="ru-RU" sz="1800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Относительно высокая концентрация озона (около 8 мл/м3) поглощает опасные ультрафиолетовые лучи и защищает все биологические виды от губительного излучения. Наибольшая плотность озона встречается на высоте 20-25 км. Озоновый слой атмосферы также </a:t>
            </a:r>
            <a:r>
              <a:rPr lang="ru-RU" altLang="ru-RU" sz="1800" i="1" cap="none" smtClean="0">
                <a:ln>
                  <a:noFill/>
                </a:ln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защищает от проникновения космических тел и метеоритов.</a:t>
            </a:r>
            <a:r>
              <a:rPr lang="ru-RU" altLang="ru-RU" sz="2200" cap="none" smtClean="0">
                <a:ln>
                  <a:noFill/>
                </a:ln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altLang="ru-RU" sz="2200" cap="none" smtClean="0">
                <a:ln>
                  <a:noFill/>
                </a:ln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altLang="ru-RU" sz="1900" b="1" cap="none" smtClean="0">
              <a:ln>
                <a:noFill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267075"/>
            <a:ext cx="5329237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ctrTitle"/>
          </p:nvPr>
        </p:nvSpPr>
        <p:spPr bwMode="auto">
          <a:xfrm>
            <a:off x="179388" y="-554038"/>
            <a:ext cx="8856662" cy="2305051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АТМОСФЕРНЫЙ ВОЗДУХ — ЭТО МЕХАНИЧЕСКАЯ СМЕСЬ ГАЗОВ С ВЗВЕШЕННЫМИ КАПЛЯМИ ВОДЫ, ПЫЛИ, КРИСТАЛЛАМИ ЛЬДА  </a:t>
            </a:r>
            <a:br>
              <a:rPr lang="ru-RU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ru-RU" altLang="ru-RU" sz="1600" cap="none" smtClean="0">
                <a:ln>
                  <a:noFill/>
                </a:ln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altLang="ru-RU" sz="1600" b="1" cap="none" smtClean="0">
                <a:ln>
                  <a:noFill/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АТМОСФЕРНЫЙ ВОЗДУХ </a:t>
            </a:r>
            <a:r>
              <a:rPr lang="ru-RU" altLang="ru-RU" sz="1600" cap="none" smtClean="0">
                <a:ln>
                  <a:noFill/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ЯВЛЯЕТСЯ ОДНИМ ИЗ ВАЖНЕЙШИХ ЭЛЕМЕНТОВ ОКРУЖАЮЩЕЙ СРЕДЫ И ПРЕДСТАВЛЯЕТ СОБОЙ МЕХАНИЧЕСКУЮ СМЕСЬ ГАЗОВ, ПЫЛИ КАПЕЛЕК ВОДЫ, КРИСТАЛЛОВ ЛЬДА И Т. Д. </a:t>
            </a:r>
            <a:endParaRPr lang="ru-RU" altLang="ru-RU" sz="1600" cap="none" smtClean="0">
              <a:ln>
                <a:noFill/>
              </a:ln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31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0" y="2852738"/>
            <a:ext cx="9144000" cy="2786062"/>
          </a:xfrm>
        </p:spPr>
        <p:txBody>
          <a:bodyPr/>
          <a:lstStyle/>
          <a:p>
            <a:pPr eaLnBrk="1" hangingPunct="1"/>
            <a:endParaRPr lang="en-US" altLang="ru-RU" smtClean="0">
              <a:solidFill>
                <a:srgbClr val="0F496F"/>
              </a:solidFill>
            </a:endParaRPr>
          </a:p>
          <a:p>
            <a:pPr eaLnBrk="1" hangingPunct="1"/>
            <a:endParaRPr lang="en-US" altLang="ru-RU" smtClean="0">
              <a:solidFill>
                <a:srgbClr val="0F496F"/>
              </a:solidFill>
            </a:endParaRPr>
          </a:p>
        </p:txBody>
      </p:sp>
      <p:pic>
        <p:nvPicPr>
          <p:cNvPr id="13316" name="Picture 2" descr="Состав атмосферы Земли - Картинка 14388/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89113"/>
            <a:ext cx="6696075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0"/>
            <a:ext cx="6554788" cy="1524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атмосферы</a:t>
            </a:r>
          </a:p>
        </p:txBody>
      </p:sp>
      <p:pic>
        <p:nvPicPr>
          <p:cNvPr id="15363" name="Объект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981075"/>
            <a:ext cx="8586788" cy="52308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1055688"/>
            <a:ext cx="8629650" cy="4029075"/>
          </a:xfrm>
        </p:spPr>
        <p:txBody>
          <a:bodyPr/>
          <a:lstStyle/>
          <a:p>
            <a:pPr marL="257175" indent="-257175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r>
              <a:rPr lang="ru-RU" sz="1800" dirty="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Загрязнения можно разделить на </a:t>
            </a:r>
            <a:r>
              <a:rPr lang="ru-RU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природные</a:t>
            </a:r>
            <a:r>
              <a:rPr lang="ru-RU" sz="1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возникающие в результате </a:t>
            </a:r>
            <a:r>
              <a:rPr lang="ru-RU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естественных</a:t>
            </a:r>
            <a:r>
              <a:rPr lang="ru-RU" sz="1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причин </a:t>
            </a:r>
            <a:r>
              <a:rPr lang="ru-RU" sz="1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1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антропогенные</a:t>
            </a:r>
            <a:r>
              <a:rPr lang="ru-RU" sz="1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возникшие в результате хозяйственной деятельности человека.</a:t>
            </a:r>
            <a:br>
              <a:rPr lang="ru-RU" sz="1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45400-034F-496B-8B2A-874A6697F0F3}" type="slidenum">
              <a:rPr lang="ru-RU" sz="1000" smtClean="0"/>
              <a:pPr>
                <a:defRPr/>
              </a:pPr>
              <a:t>8</a:t>
            </a:fld>
            <a:endParaRPr lang="ru-RU" sz="1000" dirty="0"/>
          </a:p>
        </p:txBody>
      </p:sp>
      <p:sp>
        <p:nvSpPr>
          <p:cNvPr id="17412" name="AutoShape 9"/>
          <p:cNvSpPr>
            <a:spLocks noChangeAspect="1" noChangeArrowheads="1" noTextEdit="1"/>
          </p:cNvSpPr>
          <p:nvPr/>
        </p:nvSpPr>
        <p:spPr bwMode="gray">
          <a:xfrm flipH="1">
            <a:off x="4738688" y="3184525"/>
            <a:ext cx="512762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468313" y="908050"/>
            <a:ext cx="8162925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800" b="1" cap="all" dirty="0">
                <a:ln w="3175" cmpd="sng">
                  <a:noFill/>
                </a:ln>
                <a:solidFill>
                  <a:srgbClr val="3333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Загрязнение атмосферы – привнесение новых, не характерных для неё веществ или повышенное их содержание сверх допустимого уровня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39700"/>
            <a:ext cx="7920037" cy="1638300"/>
          </a:xfrm>
        </p:spPr>
        <p:txBody>
          <a:bodyPr/>
          <a:lstStyle/>
          <a:p>
            <a:pPr algn="ctr" eaLnBrk="1" hangingPunct="1">
              <a:defRPr/>
            </a:pPr>
            <a:r>
              <a:rPr lang="ru-RU" sz="1800" b="1" dirty="0" smtClean="0">
                <a:solidFill>
                  <a:srgbClr val="333300"/>
                </a:solidFill>
                <a:latin typeface="Times New Roman" pitchFamily="18" charset="0"/>
                <a:cs typeface="Times New Roman" pitchFamily="18" charset="0"/>
              </a:rPr>
              <a:t>Загрязнение атмосферы</a:t>
            </a:r>
            <a:endParaRPr lang="en-US" sz="1800" b="1" dirty="0">
              <a:solidFill>
                <a:srgbClr val="3333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59" name="AutoShape 3"/>
          <p:cNvSpPr>
            <a:spLocks noChangeArrowheads="1"/>
          </p:cNvSpPr>
          <p:nvPr/>
        </p:nvSpPr>
        <p:spPr bwMode="auto">
          <a:xfrm>
            <a:off x="4787900" y="1844675"/>
            <a:ext cx="4105275" cy="3671888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ru-RU" altLang="ru-RU" sz="1800">
              <a:solidFill>
                <a:srgbClr val="0D1259"/>
              </a:solidFill>
              <a:latin typeface="Verdana" panose="020B0604030504040204" pitchFamily="34" charset="0"/>
            </a:endParaRPr>
          </a:p>
        </p:txBody>
      </p:sp>
      <p:sp>
        <p:nvSpPr>
          <p:cNvPr id="19460" name="AutoShape 5"/>
          <p:cNvSpPr>
            <a:spLocks noChangeArrowheads="1"/>
          </p:cNvSpPr>
          <p:nvPr/>
        </p:nvSpPr>
        <p:spPr bwMode="auto">
          <a:xfrm>
            <a:off x="179388" y="1916113"/>
            <a:ext cx="3535362" cy="32639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ru-RU" altLang="ru-RU" sz="1800">
              <a:solidFill>
                <a:srgbClr val="0D1259"/>
              </a:solidFill>
              <a:latin typeface="Verdana" panose="020B0604030504040204" pitchFamily="34" charset="0"/>
            </a:endParaRP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179388" y="2492375"/>
            <a:ext cx="35591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Проникновение космических частиц, </a:t>
            </a:r>
          </a:p>
          <a:p>
            <a:pPr algn="ctr"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chemeClr val="bg1"/>
                </a:solidFill>
              </a:rPr>
              <a:t>выдувание и эрозия почв, выветривание горных пород, </a:t>
            </a:r>
          </a:p>
          <a:p>
            <a:pPr algn="ctr" eaLnBrk="1" hangingPunct="1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chemeClr val="bg1"/>
                </a:solidFill>
              </a:rPr>
              <a:t>пыльные бури,</a:t>
            </a:r>
          </a:p>
          <a:p>
            <a:pPr algn="ctr"/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 вулканический пепел, </a:t>
            </a:r>
          </a:p>
          <a:p>
            <a:pPr algn="ctr"/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морская соль, </a:t>
            </a:r>
          </a:p>
          <a:p>
            <a:pPr algn="ctr"/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дым лесных пожаров</a:t>
            </a:r>
            <a:endParaRPr lang="en-US" altLang="ru-RU" sz="180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3016" name="Freeform 8"/>
          <p:cNvSpPr>
            <a:spLocks/>
          </p:cNvSpPr>
          <p:nvPr/>
        </p:nvSpPr>
        <p:spPr bwMode="gray">
          <a:xfrm>
            <a:off x="3708400" y="1628775"/>
            <a:ext cx="676275" cy="931863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ru-RU" sz="1800">
              <a:solidFill>
                <a:srgbClr val="0D1259"/>
              </a:solidFill>
              <a:latin typeface="Arial" charset="0"/>
            </a:endParaRPr>
          </a:p>
        </p:txBody>
      </p:sp>
      <p:sp>
        <p:nvSpPr>
          <p:cNvPr id="19463" name="AutoShape 9"/>
          <p:cNvSpPr>
            <a:spLocks noChangeAspect="1" noChangeArrowheads="1" noTextEdit="1"/>
          </p:cNvSpPr>
          <p:nvPr/>
        </p:nvSpPr>
        <p:spPr bwMode="gray">
          <a:xfrm flipH="1">
            <a:off x="4794250" y="3103563"/>
            <a:ext cx="6826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3018" name="Freeform 10"/>
          <p:cNvSpPr>
            <a:spLocks/>
          </p:cNvSpPr>
          <p:nvPr/>
        </p:nvSpPr>
        <p:spPr bwMode="gray">
          <a:xfrm flipH="1">
            <a:off x="4356100" y="1628775"/>
            <a:ext cx="677863" cy="931863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ru-RU" sz="1800">
              <a:solidFill>
                <a:srgbClr val="0D1259"/>
              </a:solidFill>
              <a:latin typeface="Arial" charset="0"/>
            </a:endParaRPr>
          </a:p>
        </p:txBody>
      </p:sp>
      <p:sp>
        <p:nvSpPr>
          <p:cNvPr id="19465" name="Text Box 20"/>
          <p:cNvSpPr txBox="1">
            <a:spLocks noChangeArrowheads="1"/>
          </p:cNvSpPr>
          <p:nvPr/>
        </p:nvSpPr>
        <p:spPr bwMode="auto">
          <a:xfrm>
            <a:off x="5219700" y="2349500"/>
            <a:ext cx="3455988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b="1" i="1">
                <a:solidFill>
                  <a:srgbClr val="000000"/>
                </a:solidFill>
              </a:rPr>
              <a:t>Производственная  и бытовая деятельность человека </a:t>
            </a:r>
            <a:r>
              <a:rPr lang="ru-RU" altLang="ru-RU" sz="1800">
                <a:solidFill>
                  <a:srgbClr val="000000"/>
                </a:solidFill>
              </a:rPr>
              <a:t>–</a:t>
            </a:r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Промышленность </a:t>
            </a:r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Транспорт </a:t>
            </a:r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Сельскохозяйственная деятельность.</a:t>
            </a:r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ru-RU" altLang="ru-RU" sz="1800">
                <a:solidFill>
                  <a:schemeClr val="bg1"/>
                </a:solidFill>
                <a:cs typeface="Arial" panose="020B0604020202020204" pitchFamily="34" charset="0"/>
              </a:rPr>
              <a:t>Накопление, сжигание и переработка бытовых отходов</a:t>
            </a:r>
            <a:endParaRPr lang="en-US" altLang="ru-RU" sz="1800">
              <a:solidFill>
                <a:srgbClr val="000000"/>
              </a:solidFill>
            </a:endParaRPr>
          </a:p>
        </p:txBody>
      </p:sp>
      <p:sp>
        <p:nvSpPr>
          <p:cNvPr id="19466" name="TextBox 18"/>
          <p:cNvSpPr txBox="1">
            <a:spLocks noChangeArrowheads="1"/>
          </p:cNvSpPr>
          <p:nvPr/>
        </p:nvSpPr>
        <p:spPr bwMode="auto">
          <a:xfrm>
            <a:off x="684213" y="1989138"/>
            <a:ext cx="21955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1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Естественное</a:t>
            </a:r>
          </a:p>
        </p:txBody>
      </p:sp>
      <p:sp>
        <p:nvSpPr>
          <p:cNvPr id="19467" name="TextBox 19"/>
          <p:cNvSpPr txBox="1">
            <a:spLocks noChangeArrowheads="1"/>
          </p:cNvSpPr>
          <p:nvPr/>
        </p:nvSpPr>
        <p:spPr bwMode="auto">
          <a:xfrm>
            <a:off x="5508625" y="1989138"/>
            <a:ext cx="27320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1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8763" y="4095750"/>
            <a:ext cx="4346575" cy="950913"/>
          </a:xfrm>
        </p:spPr>
        <p:txBody>
          <a:bodyPr>
            <a:normAutofit fontScale="90000"/>
          </a:bodyPr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r>
              <a:rPr lang="ru-RU" sz="2100" b="1" dirty="0">
                <a:solidFill>
                  <a:srgbClr val="333300"/>
                </a:solidFill>
                <a:latin typeface="Times New Roman" pitchFamily="18" charset="0"/>
                <a:cs typeface="Times New Roman" pitchFamily="18" charset="0"/>
              </a:rPr>
              <a:t>Загрязнение атмосферного воздуха от природных источников: </a:t>
            </a:r>
            <a:r>
              <a:rPr lang="ru-RU" sz="21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1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675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675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2025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Естественное загрязнение </a:t>
            </a:r>
            <a:r>
              <a:rPr lang="ru-RU" sz="2025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обуславливается природными процессами, таким как вулканическая деятельность, эрозия (разрушение, выветривание горных пород и почвы), дым от лесных пожаров. </a:t>
            </a:r>
            <a:br>
              <a:rPr lang="ru-RU" sz="2025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025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В воздух попадают различные продукты растительного, животного и микробиологического происхождения. </a:t>
            </a:r>
            <a:br>
              <a:rPr lang="ru-RU" sz="2025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025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Объект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88" y="1057275"/>
            <a:ext cx="2185987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25" y="2492375"/>
            <a:ext cx="2238375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Прямоугольник 3"/>
          <p:cNvSpPr>
            <a:spLocks noChangeArrowheads="1"/>
          </p:cNvSpPr>
          <p:nvPr/>
        </p:nvSpPr>
        <p:spPr bwMode="auto">
          <a:xfrm>
            <a:off x="4821238" y="4457700"/>
            <a:ext cx="39941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6858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частности, в следствии извержения вулкана Кракатау в 1883 г. в атмосферу было выброшено около 150 млрд. т пыли и пепла. Мелкие пылевые частицы держались в верхних слоях атмосферы в течение нескольких лет. </a:t>
            </a:r>
          </a:p>
        </p:txBody>
      </p:sp>
      <p:sp>
        <p:nvSpPr>
          <p:cNvPr id="21510" name="Прямоугольник 7"/>
          <p:cNvSpPr>
            <a:spLocks noChangeArrowheads="1"/>
          </p:cNvSpPr>
          <p:nvPr/>
        </p:nvSpPr>
        <p:spPr bwMode="auto">
          <a:xfrm>
            <a:off x="346075" y="5046663"/>
            <a:ext cx="3762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57175" indent="-2571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ru-RU" altLang="ru-RU" sz="180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извержении вулканов в атмосферу выбрасывается большое число газов, паров воды, твердых частиц, пепла и пыли.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F96D1C-51CB-4120-9E86-F93169D5C8DC}" type="slidenum">
              <a:rPr lang="ru-RU" sz="1000" smtClean="0"/>
              <a:pPr>
                <a:defRPr/>
              </a:pPr>
              <a:t>10</a:t>
            </a:fld>
            <a:endParaRPr lang="ru-RU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44513" y="1103313"/>
            <a:ext cx="3903662" cy="35718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800" b="1" dirty="0">
                <a:solidFill>
                  <a:srgbClr val="333300"/>
                </a:solidFill>
                <a:latin typeface="Times New Roman" pitchFamily="18" charset="0"/>
                <a:cs typeface="Times New Roman" pitchFamily="18" charset="0"/>
              </a:rPr>
              <a:t>Загрязнение атмосферы в результате пыльных бурь </a:t>
            </a:r>
          </a:p>
        </p:txBody>
      </p:sp>
      <p:sp>
        <p:nvSpPr>
          <p:cNvPr id="22531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5216525"/>
            <a:ext cx="6858000" cy="676275"/>
          </a:xfrm>
        </p:spPr>
        <p:txBody>
          <a:bodyPr/>
          <a:lstStyle/>
          <a:p>
            <a:pPr algn="just"/>
            <a:endParaRPr lang="ru-RU" altLang="ru-RU" sz="18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altLang="ru-RU" sz="18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9138" y="1914525"/>
            <a:ext cx="3914775" cy="3543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57175" indent="-257175" algn="just" defTabSz="685800">
              <a:buFont typeface="Wingdings" panose="05000000000000000000" pitchFamily="2" charset="2"/>
              <a:buChar char="q"/>
              <a:defRPr/>
            </a:pPr>
            <a:r>
              <a:rPr lang="ru-RU" sz="1725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Пыльные бури </a:t>
            </a:r>
            <a:r>
              <a:rPr lang="ru-RU" sz="1725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появляются в связи с переносом сильным ветром мельчайших частиц почвы, поднятых с земной поверхности. При этом в атмосферный воздух поднимается до 50 млн. т пыли. </a:t>
            </a:r>
          </a:p>
          <a:p>
            <a:pPr marL="257175" indent="-257175" algn="just" defTabSz="685800">
              <a:buFont typeface="Wingdings" panose="05000000000000000000" pitchFamily="2" charset="2"/>
              <a:buChar char="q"/>
              <a:defRPr/>
            </a:pPr>
            <a:r>
              <a:rPr lang="ru-RU" sz="1725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Причинами пыльных бурь являются засуха, суховеи; провоцируют их интенсивная распашка, выпас скота, сведение лесов и кустарников. Самый часты пыльные бури в степных, полупустынных и пустынных районах.</a:t>
            </a:r>
          </a:p>
        </p:txBody>
      </p:sp>
      <p:pic>
        <p:nvPicPr>
          <p:cNvPr id="2253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1914525"/>
            <a:ext cx="3883025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0C65C-6FD0-4F8D-BD4E-AFC308CE6276}" type="slidenum">
              <a:rPr lang="ru-RU" sz="1000" smtClean="0"/>
              <a:pPr>
                <a:defRPr/>
              </a:pPr>
              <a:t>11</a:t>
            </a:fld>
            <a:endParaRPr lang="ru-RU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57250"/>
            <a:ext cx="6858000" cy="5730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2100" b="1" dirty="0">
                <a:solidFill>
                  <a:srgbClr val="333300"/>
                </a:solidFill>
                <a:latin typeface="Times New Roman" pitchFamily="18" charset="0"/>
                <a:cs typeface="Times New Roman" pitchFamily="18" charset="0"/>
              </a:rPr>
              <a:t>Загрязнение атмосферы в результате лесных пожаров</a:t>
            </a:r>
          </a:p>
        </p:txBody>
      </p:sp>
      <p:sp>
        <p:nvSpPr>
          <p:cNvPr id="2355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2713" y="1484313"/>
            <a:ext cx="8715375" cy="1836737"/>
          </a:xfrm>
        </p:spPr>
        <p:txBody>
          <a:bodyPr/>
          <a:lstStyle/>
          <a:p>
            <a:pPr algn="just"/>
            <a:r>
              <a:rPr lang="ru-RU" altLang="ru-RU" sz="1800" smtClean="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Крупные лесные и степные пожары, выбрасывают значительное количество канцерогенных веществ. </a:t>
            </a:r>
          </a:p>
          <a:p>
            <a:pPr algn="just"/>
            <a:r>
              <a:rPr lang="ru-RU" altLang="ru-RU" sz="1800" smtClean="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опасны низовые лесные пожары (составляют до 90 %), верховые (горит полог (крона) деревьев леса) и подземные (почвенные, связанные с возгоранием торфа). 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3536950"/>
            <a:ext cx="2276475" cy="212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3536950"/>
            <a:ext cx="2184400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25" y="3536950"/>
            <a:ext cx="2079625" cy="212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AECBD5-F3EB-4640-923C-8935D121007D}" type="slidenum">
              <a:rPr lang="ru-RU" sz="1000" smtClean="0"/>
              <a:pPr>
                <a:defRPr/>
              </a:pPr>
              <a:t>12</a:t>
            </a:fld>
            <a:endParaRPr lang="ru-RU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763" y="908050"/>
            <a:ext cx="7881937" cy="409098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630C9F-30DC-45FB-B366-B04F928EF5AD}" type="slidenum">
              <a:rPr lang="en-US" sz="1100" smtClean="0"/>
              <a:pPr>
                <a:defRPr/>
              </a:pPr>
              <a:t>13</a:t>
            </a:fld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5988" y="3175"/>
            <a:ext cx="6858000" cy="5889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2400" dirty="0">
                <a:solidFill>
                  <a:schemeClr val="bg1"/>
                </a:solidFill>
              </a:rPr>
              <a:t>Антропогенные источники загрязнения</a:t>
            </a:r>
          </a:p>
        </p:txBody>
      </p:sp>
      <p:pic>
        <p:nvPicPr>
          <p:cNvPr id="25603" name="Picture 5" descr="Картинка 11 из 1929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9175" y="1268413"/>
            <a:ext cx="4314825" cy="4310062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FA5A4D-52BB-4B45-8743-10C96CC0D5DC}" type="slidenum">
              <a:rPr lang="en-US" sz="1000" smtClean="0"/>
              <a:pPr>
                <a:defRPr/>
              </a:pPr>
              <a:t>14</a:t>
            </a:fld>
            <a:endParaRPr lang="en-US" sz="1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61975"/>
            <a:ext cx="5065713" cy="53244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ru-RU" sz="2000" b="1" i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Они распределяются следующим образом: 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теплоэнергетика (оксиды углерода, серы и азота, пыль, металлы); 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транспорт (оксиды углерода и азота, углеводороды, тяжелые металлы); 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черная металлургия (пыль, диоксид серы, фтористые газы, металлы); 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производство строительных материалов (пыль). 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нефтепереработка (углеводороды, сероводород, </a:t>
            </a:r>
            <a:r>
              <a:rPr lang="ru-RU" sz="20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дурнопахнущие</a:t>
            </a:r>
            <a:r>
              <a:rPr lang="ru-RU" sz="2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газы)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0BF650-317A-4605-869F-13B25B75A8C5}" type="slidenum">
              <a:rPr lang="en-US" sz="1000" smtClean="0"/>
              <a:pPr>
                <a:defRPr/>
              </a:pPr>
              <a:t>15</a:t>
            </a:fld>
            <a:endParaRPr lang="en-US" sz="1000" dirty="0"/>
          </a:p>
        </p:txBody>
      </p:sp>
      <p:sp>
        <p:nvSpPr>
          <p:cNvPr id="18534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614363" y="1588"/>
            <a:ext cx="7462837" cy="990600"/>
          </a:xfrm>
        </p:spPr>
        <p:txBody>
          <a:bodyPr/>
          <a:lstStyle/>
          <a:p>
            <a:pPr eaLnBrk="1" hangingPunct="1">
              <a:defRPr/>
            </a:pPr>
            <a:r>
              <a:rPr lang="ru-RU" sz="1800" b="1" i="1" dirty="0">
                <a:solidFill>
                  <a:srgbClr val="002060"/>
                </a:solidFill>
              </a:rPr>
              <a:t>Структура выбросов загрязняющих веществ от автотранспорта</a:t>
            </a:r>
          </a:p>
        </p:txBody>
      </p:sp>
      <p:pic>
        <p:nvPicPr>
          <p:cNvPr id="27652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9475" y="1196975"/>
            <a:ext cx="8183563" cy="46799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29699" name="Rectangle 7"/>
          <p:cNvSpPr>
            <a:spLocks noChangeArrowheads="1"/>
          </p:cNvSpPr>
          <p:nvPr/>
        </p:nvSpPr>
        <p:spPr bwMode="auto">
          <a:xfrm>
            <a:off x="323850" y="395288"/>
            <a:ext cx="8682038" cy="646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600" b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Оксид углерода (СО) - </a:t>
            </a:r>
            <a:r>
              <a:rPr lang="ru-RU" altLang="ru-RU" sz="160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Угарный газ, образующийся в результате неполного сгорания топлива. Считается, что более 80% глобальных выбросов СО связано с автотранспортом. Для человека является ядом, вызывая хроническое и острое отравление, вредно влияет на сердечно-сосудистую систему человека. Действие оксида углерода усиливается в присутствии углеводородов в выхлопных газах, которые также являются канцерогенами, обладают раздражающим действием.</a:t>
            </a:r>
          </a:p>
          <a:p>
            <a:r>
              <a:rPr lang="ru-RU" altLang="ru-RU" sz="1600" b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Полициклические ароматические углеводороды (ПАУ)  </a:t>
            </a:r>
            <a:r>
              <a:rPr lang="ru-RU" altLang="ru-RU" sz="160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Сложные углеводы, состоящие из нескольких компонентов, от двух до пяти. Образуются при неполном сгорании органических веществ из ацетиленовых интермедиатов. Источники их поступления в окружающую среду - выхлопные газы автомобилей.</a:t>
            </a:r>
          </a:p>
          <a:p>
            <a:r>
              <a:rPr lang="ru-RU" altLang="ru-RU" sz="160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Ароматические углеводороды. К ним относятся бензол, толуол, этилбензол, ксилол и др. Поступают в атмосферу с частицами сажи. Соединения оказывают вредное воздействие на центральную нервную систему, снижают мышечную и умственную активность, вызывают головную боль и головокружение</a:t>
            </a:r>
          </a:p>
          <a:p>
            <a:r>
              <a:rPr lang="ru-RU" altLang="ru-RU" sz="1600" b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Свинец</a:t>
            </a:r>
            <a:r>
              <a:rPr lang="ru-RU" altLang="ru-RU" sz="160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- Особенности воздействия свинца на человека. Наиболее высокая концентрация свинца в атмосферном воздухе, как правило, наблюдается в зимний период, что связано с дополнительными выбросами в атмосферу продуктов сжигания топлива. Свинец широко используется при производстве электротехнических изделий, кабельной продукции, защитных экранов от гамма-излучений, аккумуляторов, красок и т.д. Свинец влияет на нервную систему человека, сердечно-сосудистую систему. Это вещество остается в организме надолго, накапливаясь в костях и тканях.</a:t>
            </a:r>
          </a:p>
          <a:p>
            <a:endParaRPr lang="ru-RU" altLang="ru-RU" sz="140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700" name="Rectangle 18"/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341438"/>
            <a:ext cx="5602287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ChangeArrowheads="1"/>
          </p:cNvSpPr>
          <p:nvPr/>
        </p:nvSpPr>
        <p:spPr bwMode="auto">
          <a:xfrm>
            <a:off x="-4243388" y="2076450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9264" name="Group 48"/>
          <p:cNvGraphicFramePr>
            <a:graphicFrameLocks noGrp="1"/>
          </p:cNvGraphicFramePr>
          <p:nvPr/>
        </p:nvGraphicFramePr>
        <p:xfrm>
          <a:off x="250825" y="476250"/>
          <a:ext cx="8713787" cy="6121401"/>
        </p:xfrm>
        <a:graphic>
          <a:graphicData uri="http://schemas.openxmlformats.org/drawingml/2006/table">
            <a:tbl>
              <a:tblPr/>
              <a:tblGrid>
                <a:gridCol w="182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0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508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Загрязнения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Основные </a:t>
                      </a:r>
                      <a:r>
                        <a:rPr kumimoji="0" lang="ru-RU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естественные источники</a:t>
                      </a:r>
                      <a:endParaRPr kumimoji="0" lang="ru-RU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Основные </a:t>
                      </a:r>
                      <a:r>
                        <a:rPr kumimoji="0" lang="ru-RU" sz="1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антропогенные источники</a:t>
                      </a:r>
                      <a:endParaRPr kumimoji="0" lang="ru-RU" sz="1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0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Твердые частицы (зола, пыль)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Извержения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 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вулканов, пылевые бури, лесные пожары и пр.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Сжигание топлива в промышленности, </a:t>
                      </a:r>
                      <a:r>
                        <a:rPr kumimoji="0" lang="ru-RU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пром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. строительных материалов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987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S</a:t>
                      </a: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0</a:t>
                      </a:r>
                      <a:r>
                        <a:rPr kumimoji="0" lang="ru-RU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2</a:t>
                      </a:r>
                      <a:endParaRPr kumimoji="0" lang="ru-R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Вулканические извержения 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Работа ТЭС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4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NO</a:t>
                      </a:r>
                      <a:endParaRPr kumimoji="0" lang="en-GB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Лесные пожары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автотранспорт, работа ТЭС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06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СО</a:t>
                      </a:r>
                      <a:endParaRPr kumimoji="0" lang="ru-R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Лесные пожары 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Автотранспорт, черная металлургия  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99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Летучие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углеводороды,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(фреоны)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Лесные пожары, выделения природного метана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Автотранспорт, сжигание отходов, холодильная техника  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ПАУ</a:t>
                      </a:r>
                      <a:endParaRPr kumimoji="0" lang="ru-RU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-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Автотранспорт, химические заводы, </a:t>
                      </a:r>
                      <a:r>
                        <a:rPr kumimoji="0" lang="ru-RU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нефтепрерабатывающие</a:t>
                      </a:r>
                      <a:r>
                        <a:rPr kumimoji="0" 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charset="-52"/>
                          <a:cs typeface="Arial" charset="0"/>
                        </a:rPr>
                        <a:t> заводы</a:t>
                      </a:r>
                      <a:endParaRPr kumimoji="0" lang="ru-RU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charset="-52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2805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15888"/>
            <a:ext cx="5832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Объект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549275"/>
            <a:ext cx="8834437" cy="60848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3562350"/>
            <a:ext cx="7561263" cy="4286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1400" b="1" dirty="0" smtClean="0">
                <a:solidFill>
                  <a:srgbClr val="000000"/>
                </a:solidFill>
              </a:rPr>
              <a:t>загрязнение атмосферы выбросами двуокиси азота </a:t>
            </a:r>
          </a:p>
        </p:txBody>
      </p:sp>
      <p:pic>
        <p:nvPicPr>
          <p:cNvPr id="3584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3921125"/>
            <a:ext cx="5537200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Рисунок 7"/>
          <p:cNvPicPr>
            <a:picLocks noChangeAspect="1"/>
          </p:cNvPicPr>
          <p:nvPr/>
        </p:nvPicPr>
        <p:blipFill>
          <a:blip r:embed="rId4" cstate="print">
            <a:lum bright="-2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84138"/>
            <a:ext cx="8856663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7000">
    <p:blinds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Содержимое 2"/>
          <p:cNvSpPr>
            <a:spLocks noGrp="1"/>
          </p:cNvSpPr>
          <p:nvPr>
            <p:ph sz="quarter" idx="2"/>
          </p:nvPr>
        </p:nvSpPr>
        <p:spPr>
          <a:xfrm>
            <a:off x="179388" y="22225"/>
            <a:ext cx="9128125" cy="3521075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sz="1600" smtClean="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Известно воздействие на человека и окружающую среду следующих </a:t>
            </a:r>
            <a:r>
              <a:rPr lang="ru-RU" altLang="ru-RU" sz="1600" i="1" smtClean="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соединений </a:t>
            </a:r>
            <a:r>
              <a:rPr lang="ru-RU" altLang="ru-RU" sz="1600" b="1" smtClean="0">
                <a:solidFill>
                  <a:srgbClr val="0070C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серы: SO</a:t>
            </a:r>
            <a:r>
              <a:rPr lang="ru-RU" altLang="ru-RU" sz="1600" b="1" baseline="-25000" smtClean="0">
                <a:solidFill>
                  <a:srgbClr val="0070C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ru-RU" altLang="ru-RU" sz="1600" b="1" smtClean="0">
                <a:solidFill>
                  <a:srgbClr val="0070C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 (диоксид серы) и SO</a:t>
            </a:r>
            <a:r>
              <a:rPr lang="ru-RU" altLang="ru-RU" sz="1600" b="1" baseline="-25000" smtClean="0">
                <a:solidFill>
                  <a:srgbClr val="0070C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ru-RU" altLang="ru-RU" sz="1600" b="1" smtClean="0">
                <a:solidFill>
                  <a:srgbClr val="0070C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 (триоксид серы).</a:t>
            </a:r>
            <a:r>
              <a:rPr lang="ru-RU" altLang="ru-RU" sz="1600" i="1" smtClean="0">
                <a:solidFill>
                  <a:srgbClr val="0070C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ru-RU" altLang="ru-RU" sz="1600" smtClean="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Оксиды серы образуются при сжигании различных видов топлива, которые обычно имеют примеси серы, при нефтепереработке. Основными источниками загрязнения являются автотранспорт, металлургическая промышленность, теплоэлектростанции и котельные. Эти газы обладают резким характерным запахом, ощущаются при малых концентрациях. У человека оксиды серы раздражают верхние дыхательные пути. Длительное воздействие даже при относительно низких концентрациях оксидов серы увеличивает смертность от сердечно-сосудистых заболеваний, обуславливает появление бронхитов, астмы и других респираторных заболеваний.</a:t>
            </a:r>
            <a:endParaRPr lang="ru-RU" altLang="ru-RU" sz="160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eaLnBrk="1" hangingPunct="1"/>
            <a:endParaRPr lang="ru-RU" altLang="ru-RU" sz="2800" smtClean="0"/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 sz="1800">
              <a:latin typeface="Tahoma" panose="020B0604030504040204" pitchFamily="34" charset="0"/>
            </a:endParaRPr>
          </a:p>
        </p:txBody>
      </p:sp>
      <p:graphicFrame>
        <p:nvGraphicFramePr>
          <p:cNvPr id="37892" name="Object 1"/>
          <p:cNvGraphicFramePr>
            <a:graphicFrameLocks noChangeAspect="1"/>
          </p:cNvGraphicFramePr>
          <p:nvPr/>
        </p:nvGraphicFramePr>
        <p:xfrm>
          <a:off x="1763713" y="2924175"/>
          <a:ext cx="5318125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Слайд" r:id="rId4" imgW="3384414" imgH="2538723" progId="PowerPoint.Slide.12">
                  <p:embed/>
                </p:oleObj>
              </mc:Choice>
              <mc:Fallback>
                <p:oleObj name="Слайд" r:id="rId4" imgW="3384414" imgH="2538723" progId="PowerPoint.Slide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24175"/>
                        <a:ext cx="5318125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 advTm="7000">
    <p:blinds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ъект 3"/>
          <p:cNvSpPr>
            <a:spLocks noGrp="1"/>
          </p:cNvSpPr>
          <p:nvPr>
            <p:ph sz="quarter" idx="2"/>
          </p:nvPr>
        </p:nvSpPr>
        <p:spPr>
          <a:xfrm>
            <a:off x="-23813" y="404813"/>
            <a:ext cx="8964613" cy="2211387"/>
          </a:xfrm>
        </p:spPr>
        <p:txBody>
          <a:bodyPr/>
          <a:lstStyle/>
          <a:p>
            <a:r>
              <a:rPr lang="ru-RU" altLang="ru-RU" sz="1800" smtClean="0">
                <a:solidFill>
                  <a:srgbClr val="333300"/>
                </a:solidFill>
              </a:rPr>
              <a:t>Антропогенная эмиссия соединений оксидов серы, азота и аэрозолей аммиака при взаимодействии с атмосферной, гидросферной или почвенной влагой приводят к образованию </a:t>
            </a:r>
            <a:r>
              <a:rPr lang="ru-RU" altLang="ru-RU" sz="1800" i="1" smtClean="0">
                <a:solidFill>
                  <a:srgbClr val="333300"/>
                </a:solidFill>
              </a:rPr>
              <a:t>кислотных осадков</a:t>
            </a:r>
            <a:r>
              <a:rPr lang="ru-RU" altLang="ru-RU" sz="1800" smtClean="0">
                <a:solidFill>
                  <a:srgbClr val="333300"/>
                </a:solidFill>
              </a:rPr>
              <a:t>. </a:t>
            </a:r>
            <a:endParaRPr lang="en-US" altLang="ru-RU" sz="1800" smtClean="0">
              <a:solidFill>
                <a:srgbClr val="333300"/>
              </a:solidFill>
            </a:endParaRPr>
          </a:p>
          <a:p>
            <a:r>
              <a:rPr lang="ru-RU" altLang="ru-RU" sz="1800" smtClean="0">
                <a:solidFill>
                  <a:srgbClr val="333300"/>
                </a:solidFill>
              </a:rPr>
              <a:t>Кислотные осадки в виде аэрозолей обволакивают хвою и листву деревьев, прямой ущерб от которых выражается в химическом ожоге растений, приводит к повышению кислотности водоемов, выщелачиванию почв, что в свою очередь влияет на жизнедеятельность растений и животных.</a:t>
            </a:r>
          </a:p>
          <a:p>
            <a:endParaRPr lang="ru-RU" altLang="ru-RU" sz="180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067EEC-350D-424D-A7BC-8E17BA486ACA}" type="slidenum">
              <a:rPr lang="ru-RU" altLang="ru-RU" sz="1000" smtClean="0"/>
              <a:pPr>
                <a:defRPr/>
              </a:pPr>
              <a:t>22</a:t>
            </a:fld>
            <a:endParaRPr lang="ru-RU" altLang="ru-RU" sz="1000" dirty="0"/>
          </a:p>
        </p:txBody>
      </p:sp>
      <p:pic>
        <p:nvPicPr>
          <p:cNvPr id="39940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776538"/>
            <a:ext cx="4103688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2776538"/>
            <a:ext cx="4203700" cy="280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7000">
    <p:blinds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/>
        </p:nvSpPr>
        <p:spPr>
          <a:xfrm>
            <a:off x="123825" y="173038"/>
            <a:ext cx="9020175" cy="1655762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b="1">
                <a:solidFill>
                  <a:srgbClr val="333300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Смог-</a:t>
            </a:r>
            <a:r>
              <a:rPr lang="ru-RU" altLang="ru-RU" sz="1800">
                <a:solidFill>
                  <a:srgbClr val="333300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rgbClr val="333300"/>
                </a:solidFill>
                <a:latin typeface="Century Gothic" panose="020B0502020202020204" pitchFamily="34" charset="0"/>
              </a:rPr>
              <a:t>Токсический туман, опасное загрязнение атмосферного воздуха, характеризующееся сочетанием пылевых частиц и капель тумана.</a:t>
            </a:r>
          </a:p>
          <a:p>
            <a:r>
              <a:rPr lang="ru-RU" altLang="ru-RU" sz="1800">
                <a:solidFill>
                  <a:srgbClr val="333300"/>
                </a:solidFill>
                <a:latin typeface="Century Gothic" panose="020B0502020202020204" pitchFamily="34" charset="0"/>
              </a:rPr>
              <a:t>Образуется главным образом при инверсиях температуры в пределах городов и промышленных центров. Его образование связанно с фотохимическими процессами, возникающими при выбросах углеводородов и окислов азота.</a:t>
            </a:r>
            <a:endParaRPr lang="ru-RU" altLang="ru-RU" sz="1800">
              <a:solidFill>
                <a:srgbClr val="333300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0963" name="Picture 2" descr="http://im3-tub-by.yandex.net/i?id=29ee8f6df5ae809efcfaeff02353430d-117-144&amp;n=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916113"/>
            <a:ext cx="3321050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Box 4"/>
          <p:cNvSpPr txBox="1">
            <a:spLocks noChangeArrowheads="1"/>
          </p:cNvSpPr>
          <p:nvPr/>
        </p:nvSpPr>
        <p:spPr bwMode="auto">
          <a:xfrm>
            <a:off x="-828675" y="1844675"/>
            <a:ext cx="3211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>
                <a:solidFill>
                  <a:schemeClr val="bg1"/>
                </a:solidFill>
              </a:rPr>
              <a:t>Пекин</a:t>
            </a:r>
          </a:p>
        </p:txBody>
      </p:sp>
      <p:pic>
        <p:nvPicPr>
          <p:cNvPr id="40965" name="Picture 4" descr="http://im3-tub-by.yandex.net/i?id=b531c907dc166afb0e540667d00032d4-12-144&amp;n=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012950"/>
            <a:ext cx="4078288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7"/>
          <p:cNvSpPr txBox="1">
            <a:spLocks noChangeArrowheads="1"/>
          </p:cNvSpPr>
          <p:nvPr/>
        </p:nvSpPr>
        <p:spPr bwMode="auto">
          <a:xfrm>
            <a:off x="6732588" y="2060575"/>
            <a:ext cx="2674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olidFill>
                  <a:schemeClr val="bg1"/>
                </a:solidFill>
              </a:rPr>
              <a:t>Сингапур</a:t>
            </a:r>
          </a:p>
          <a:p>
            <a:pPr eaLnBrk="1" hangingPunct="1"/>
            <a:endParaRPr lang="ru-RU" altLang="ru-RU">
              <a:solidFill>
                <a:schemeClr val="bg1"/>
              </a:solidFill>
            </a:endParaRPr>
          </a:p>
        </p:txBody>
      </p:sp>
      <p:pic>
        <p:nvPicPr>
          <p:cNvPr id="40967" name="Рисунок 8" descr="pic1_sm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437063"/>
            <a:ext cx="3465513" cy="23368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8" name="TextBox 9"/>
          <p:cNvSpPr txBox="1">
            <a:spLocks noChangeArrowheads="1"/>
          </p:cNvSpPr>
          <p:nvPr/>
        </p:nvSpPr>
        <p:spPr bwMode="auto">
          <a:xfrm>
            <a:off x="179388" y="4652963"/>
            <a:ext cx="316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olidFill>
                  <a:schemeClr val="bg1"/>
                </a:solidFill>
              </a:rPr>
              <a:t>Лос-Анджелес</a:t>
            </a:r>
          </a:p>
        </p:txBody>
      </p:sp>
      <p:pic>
        <p:nvPicPr>
          <p:cNvPr id="40969" name="Picture 6" descr="http://im1-tub-by.yandex.net/i?id=fa3f0c054db3ef2099e8df20fc9352aa-29-144&amp;n=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4432300"/>
            <a:ext cx="4278312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0" name="TextBox 11"/>
          <p:cNvSpPr txBox="1">
            <a:spLocks noChangeArrowheads="1"/>
          </p:cNvSpPr>
          <p:nvPr/>
        </p:nvSpPr>
        <p:spPr bwMode="auto">
          <a:xfrm>
            <a:off x="4787900" y="4724400"/>
            <a:ext cx="2000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>
                <a:solidFill>
                  <a:schemeClr val="bg1"/>
                </a:solidFill>
              </a:rPr>
              <a:t>Москва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286750" y="6103938"/>
            <a:ext cx="857250" cy="669925"/>
          </a:xfrm>
        </p:spPr>
        <p:txBody>
          <a:bodyPr/>
          <a:lstStyle/>
          <a:p>
            <a:pPr>
              <a:defRPr/>
            </a:pPr>
            <a:fld id="{BEA6E6EC-3D09-45A3-B242-F6DD82164882}" type="slidenum">
              <a:rPr lang="ru-RU" altLang="ru-RU" sz="1200" smtClean="0"/>
              <a:pPr>
                <a:defRPr/>
              </a:pPr>
              <a:t>23</a:t>
            </a:fld>
            <a:endParaRPr lang="ru-RU" alt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Прямоугольник 1"/>
          <p:cNvSpPr>
            <a:spLocks noChangeArrowheads="1"/>
          </p:cNvSpPr>
          <p:nvPr/>
        </p:nvSpPr>
        <p:spPr bwMode="auto">
          <a:xfrm>
            <a:off x="107950" y="692150"/>
            <a:ext cx="903605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Взвешенные частицы дыма и сажи поглощают солнечный свет, при этом теряется значительная часть ультрафиолетовых лучей. Ультрафиолетовая недостаточность часто становится причиной заболеваний рахитом и авитаминозом.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Загрязненный воздух вызывает раздражения и болезни дыхательных путей -</a:t>
            </a:r>
            <a:r>
              <a:rPr lang="en-US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бронхит, эмфизему, астму.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Особенно опасны воздействия на человека канцерогенных веществ, которые способствуют развитию раковых и других опухолевых образований. Канцерогенные вещества образуются в результате частичного синтеза при неполном сгорании топлива. </a:t>
            </a:r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Оксид углерода (угарный газ) снижает способность крови переносить кислород к тканям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Оксиды азота и серы при наличии влаги превращаются в кислоту и поражают слизистые оболочки организма.</a:t>
            </a:r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endParaRPr lang="ru-RU" altLang="ru-RU" sz="170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ru-RU" altLang="ru-RU" sz="1600" i="1">
                <a:solidFill>
                  <a:schemeClr val="bg1"/>
                </a:solidFill>
              </a:rPr>
              <a:t>В настоящее время около 4,5 миллиарда человек во всем мире подвергаются воздействию уровней загрязнения частиц, которые по меньшей мере вдвое превышают то, что Всемирная организация здравоохранения считает безопасными.</a:t>
            </a:r>
          </a:p>
          <a:p>
            <a:pPr algn="just" eaLnBrk="1" hangingPunct="1"/>
            <a:endParaRPr lang="ru-RU" altLang="ru-RU" sz="19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87" name="Прямоугольник 2"/>
          <p:cNvSpPr>
            <a:spLocks noChangeArrowheads="1"/>
          </p:cNvSpPr>
          <p:nvPr/>
        </p:nvSpPr>
        <p:spPr bwMode="auto">
          <a:xfrm>
            <a:off x="827088" y="115888"/>
            <a:ext cx="6858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 загрязнения атмосферы</a:t>
            </a:r>
            <a:endParaRPr lang="ru-RU" altLang="ru-RU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9"/>
          <p:cNvSpPr>
            <a:spLocks noChangeAspect="1" noChangeArrowheads="1" noTextEdit="1"/>
          </p:cNvSpPr>
          <p:nvPr/>
        </p:nvSpPr>
        <p:spPr bwMode="gray">
          <a:xfrm flipH="1">
            <a:off x="4868863" y="2995613"/>
            <a:ext cx="909637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3011" name="Прямоугольник 2"/>
          <p:cNvSpPr>
            <a:spLocks noChangeArrowheads="1"/>
          </p:cNvSpPr>
          <p:nvPr/>
        </p:nvSpPr>
        <p:spPr bwMode="auto">
          <a:xfrm>
            <a:off x="179388" y="908050"/>
            <a:ext cx="8964612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800" b="1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 масштабу распространения з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агрязнение атмосферного воздуха может быть локальным, региональным и глобальным. </a:t>
            </a:r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/>
            <a:endParaRPr lang="ru-RU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/>
            <a:r>
              <a:rPr lang="ru-RU" altLang="ru-RU" sz="1800" b="1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Локальные</a:t>
            </a:r>
            <a:r>
              <a:rPr lang="en-US" altLang="ru-RU" sz="1800" b="1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загрязнение небольшого участка, обычно вокруг предприятия, города или его части, населенного пункта</a:t>
            </a:r>
            <a:r>
              <a:rPr lang="en-US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ru-RU" altLang="ru-RU" sz="1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Локальное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загрязнение обусловлено одним или несколькими источниками выбросов, зона влияния которых определяется, главным образом, изменчивой скоростью и направлением ветра. </a:t>
            </a:r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/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/>
            <a:r>
              <a:rPr lang="ru-RU" altLang="ru-RU" sz="1800" b="1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Региональные</a:t>
            </a:r>
            <a:r>
              <a:rPr lang="en-US" altLang="ru-RU" sz="1800" b="1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обнаруживаются в пределах значительного пространства (региона), но не распространены повсеместно.</a:t>
            </a:r>
            <a:r>
              <a:rPr lang="en-US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 </a:t>
            </a:r>
            <a:r>
              <a:rPr lang="ru-RU" altLang="ru-RU" sz="1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региональным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загрязнением понимается загрязнение атмосферного воздуха на территории в сотни километров, которая находится под воздействием выбросов крупных производственных ком­плексов. </a:t>
            </a:r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/>
            <a:endParaRPr lang="en-US" altLang="ru-RU" sz="180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 eaLnBrk="1" hangingPunct="1"/>
            <a:r>
              <a:rPr lang="ru-RU" altLang="ru-RU" sz="1800" b="1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Глобальные</a:t>
            </a:r>
            <a:r>
              <a:rPr lang="ru-RU" altLang="ru-RU" sz="1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(фоново-биосферные) </a:t>
            </a:r>
            <a:r>
              <a:rPr lang="en-US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обнаруживаются в любой точке планеты далеко от его источника загрязнения.</a:t>
            </a:r>
            <a:r>
              <a:rPr lang="en-US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altLang="ru-RU" sz="1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Глобальное</a:t>
            </a:r>
            <a:r>
              <a:rPr lang="ru-RU" altLang="ru-RU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загрязнение, распространяется на тысячи километров от источника загрязнения и нередко смыкается в пределах всего земного шара. Это относится, прежде всего, к Северному полушарию планеты.</a:t>
            </a:r>
          </a:p>
        </p:txBody>
      </p:sp>
      <p:pic>
        <p:nvPicPr>
          <p:cNvPr id="4301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-61913"/>
            <a:ext cx="5372100" cy="768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lum bright="-3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r="6017" b="17654"/>
          <a:stretch>
            <a:fillRect/>
          </a:stretch>
        </p:blipFill>
        <p:spPr bwMode="auto">
          <a:xfrm>
            <a:off x="4986338" y="1095375"/>
            <a:ext cx="2957512" cy="304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Прямоугольник 1"/>
          <p:cNvSpPr>
            <a:spLocks noChangeArrowheads="1"/>
          </p:cNvSpPr>
          <p:nvPr/>
        </p:nvSpPr>
        <p:spPr bwMode="auto">
          <a:xfrm>
            <a:off x="179388" y="2990850"/>
            <a:ext cx="3683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57175" indent="-2571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altLang="ru-RU" sz="150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Самое большое пятно очень сильного загрязнения (более 40 Ки на 1 км2) находится в Беларуси — 2,6 км2, далее идут Украина — 0, 56 км - и Россия — 0,46 км2. 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altLang="ru-RU" sz="1500">
              <a:solidFill>
                <a:srgbClr val="33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ru-RU" altLang="ru-RU" sz="150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других странах Европы загрязнение не превышает 2 — 5 Ки на 1 км, такие пятна были обнаружены в Финляндии, Австрии, Швеции и Франции. </a:t>
            </a:r>
          </a:p>
        </p:txBody>
      </p:sp>
      <p:sp>
        <p:nvSpPr>
          <p:cNvPr id="45060" name="Прямоугольник 2"/>
          <p:cNvSpPr>
            <a:spLocks noChangeArrowheads="1"/>
          </p:cNvSpPr>
          <p:nvPr/>
        </p:nvSpPr>
        <p:spPr bwMode="auto">
          <a:xfrm>
            <a:off x="195263" y="1455738"/>
            <a:ext cx="38068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57175" indent="-2571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ru-RU" altLang="ru-RU" sz="1500">
                <a:solidFill>
                  <a:srgbClr val="33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Крупнейшей катастрофой явился взрыв ядерного реактора на Чернобыльской АЭС в 1986 г. Радиоактивное загрязнение такими элементами, как цезий-137, стронций-90, плутоний распространилось по всей Европе. </a:t>
            </a:r>
          </a:p>
        </p:txBody>
      </p:sp>
      <p:pic>
        <p:nvPicPr>
          <p:cNvPr id="45061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1" r="1810"/>
          <a:stretch>
            <a:fillRect/>
          </a:stretch>
        </p:blipFill>
        <p:spPr bwMode="auto">
          <a:xfrm>
            <a:off x="4854575" y="4386263"/>
            <a:ext cx="4513263" cy="117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A2487D-3139-4424-8A36-A9FDD020C451}" type="slidenum">
              <a:rPr lang="en-US" sz="1000" smtClean="0"/>
              <a:pPr>
                <a:defRPr/>
              </a:pPr>
              <a:t>26</a:t>
            </a:fld>
            <a:endParaRPr lang="en-US" sz="1000" dirty="0"/>
          </a:p>
        </p:txBody>
      </p:sp>
      <p:sp>
        <p:nvSpPr>
          <p:cNvPr id="45063" name="Прямоугольник 4"/>
          <p:cNvSpPr>
            <a:spLocks noChangeArrowheads="1"/>
          </p:cNvSpPr>
          <p:nvPr/>
        </p:nvSpPr>
        <p:spPr bwMode="auto">
          <a:xfrm>
            <a:off x="201613" y="712788"/>
            <a:ext cx="4151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b="1" i="1">
                <a:solidFill>
                  <a:srgbClr val="333300"/>
                </a:solidFill>
              </a:rPr>
              <a:t>Пример глобального загрязнения</a:t>
            </a:r>
          </a:p>
        </p:txBody>
      </p:sp>
    </p:spTree>
  </p:cSld>
  <p:clrMapOvr>
    <a:masterClrMapping/>
  </p:clrMapOvr>
  <p:transition advClick="0" advTm="700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404813"/>
            <a:ext cx="8591550" cy="61198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ru-RU" altLang="ru-RU" b="1" u="sng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Основные направления охраны атмосферы</a:t>
            </a:r>
            <a:r>
              <a:rPr lang="ru-RU" altLang="ru-RU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altLang="ru-RU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ru-RU" altLang="ru-RU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Правовое регулирование</a:t>
            </a:r>
            <a:r>
              <a:rPr lang="ru-RU" alt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состояния воздушной среды в нашей стране осуществляется в соответствии с Конституцией Республики Беларусь, Законом Республики Беларусь «Об охране атмосферного воздуха» (1997). В случае нарушения условий и требований, должен быть приостановлен или запрещен вплоть до прекращения деятельности предприятий, учреждений. </a:t>
            </a:r>
          </a:p>
          <a:p>
            <a:pPr marL="0" indent="0" eaLnBrk="1" hangingPunct="1">
              <a:buClrTx/>
            </a:pP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Наблюдение и контроль за состоянием воздушного бассейна страны осуществляется в рамках </a:t>
            </a:r>
            <a:r>
              <a:rPr lang="ru-RU" altLang="ru-RU" b="1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Национальной системы мониторинга Республики Беларусь</a:t>
            </a: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 </a:t>
            </a:r>
            <a:endParaRPr lang="en-US" altLang="ru-RU" smtClean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ClrTx/>
            </a:pP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Наблюдение за состоянием атмосферного воздуха по химическим, физическим, биологическим и другим показателям проводят органы гидрометеорологической и санитарно-эпидемиологической служб. Они располагают широкой сетью станций и постов наблюдения, соответствующими лабораториями.</a:t>
            </a:r>
            <a:endParaRPr lang="en-US" altLang="ru-RU" smtClean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indent="0" eaLnBrk="1" hangingPunct="1"/>
            <a:endParaRPr lang="ru-RU" altLang="ru-RU" sz="18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9091" r="45372" b="4915"/>
          <a:stretch>
            <a:fillRect/>
          </a:stretch>
        </p:blipFill>
        <p:spPr bwMode="auto">
          <a:xfrm>
            <a:off x="488950" y="0"/>
            <a:ext cx="7305675" cy="631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8762F2-E33E-4475-9AA9-68A25613D2CE}" type="slidenum">
              <a:rPr lang="ru-RU" altLang="ru-RU" sz="1200" smtClean="0"/>
              <a:pPr>
                <a:defRPr/>
              </a:pPr>
              <a:t>28</a:t>
            </a:fld>
            <a:endParaRPr lang="ru-RU" altLang="ru-RU" sz="1200" dirty="0"/>
          </a:p>
        </p:txBody>
      </p:sp>
    </p:spTree>
  </p:cSld>
  <p:clrMapOvr>
    <a:masterClrMapping/>
  </p:clrMapOvr>
  <p:transition spd="slow" advClick="0" advTm="7000">
    <p:blinds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8575"/>
            <a:ext cx="8820150" cy="6264275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Качество атмосферного воздуха</a:t>
            </a: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ru-RU" altLang="ru-RU" i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совокупность присущих ему свойств, которые определяют степень воздействия химических, физических и биологических факторов на окружающую среду.</a:t>
            </a: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Это совокупность физических, химических и биологических свойств атмосферного воздуха, отражающих степень его соответствия гигиеническим и экологических нормативам.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mtClean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b="1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Качество</a:t>
            </a: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атмосферного воздуха регулируется </a:t>
            </a:r>
            <a:r>
              <a:rPr lang="ru-RU" altLang="ru-RU" b="1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нормативами</a:t>
            </a: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 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</a:pP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предельных объемов образования загрязняющих веществ;    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</a:pP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потребления атмосферного воздуха для производственных нужд;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</a:pP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выбросов загрязняющих веществ в атмосферный воздух.</a:t>
            </a:r>
          </a:p>
          <a:p>
            <a:pPr marL="0" indent="0">
              <a:lnSpc>
                <a:spcPct val="90000"/>
              </a:lnSpc>
              <a:buClr>
                <a:srgbClr val="000000"/>
              </a:buClr>
            </a:pPr>
            <a:r>
              <a:rPr lang="ru-RU" altLang="ru-RU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предельно допустимых концентраций загрязняющих веществ в атмосферном воздухе.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975100"/>
            <a:ext cx="5783262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Рисунок 6"/>
          <p:cNvPicPr>
            <a:picLocks noChangeAspect="1" noChangeArrowheads="1"/>
          </p:cNvPicPr>
          <p:nvPr/>
        </p:nvPicPr>
        <p:blipFill>
          <a:blip r:embed="rId3">
            <a:lum bright="-2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4791075"/>
            <a:ext cx="8642350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Прямоугольник 1"/>
          <p:cNvSpPr>
            <a:spLocks noChangeArrowheads="1"/>
          </p:cNvSpPr>
          <p:nvPr/>
        </p:nvSpPr>
        <p:spPr bwMode="auto">
          <a:xfrm>
            <a:off x="468313" y="404813"/>
            <a:ext cx="8675687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ПДК (Предельно-допустимая концентрация вредных веществ)</a:t>
            </a:r>
            <a:r>
              <a:rPr lang="ru-RU" altLang="ru-RU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</a:t>
            </a:r>
            <a:r>
              <a:rPr lang="en-US" altLang="ru-RU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концентрация вредного вещества, которая за время воздействия не влияет на здоровье человека или компоненты экосистемы.</a:t>
            </a:r>
          </a:p>
          <a:p>
            <a:r>
              <a:rPr lang="ru-RU" altLang="ru-RU" sz="2000" i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Отражает предельно допустимое максимальное содержание вредных веществ в атмосферном воздухе при котором отсутствует вредное воздействие на здоровье человека и </a:t>
            </a:r>
            <a:r>
              <a:rPr lang="ru-RU" altLang="ru-RU" sz="2000" i="1">
                <a:solidFill>
                  <a:srgbClr val="333300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на окружающую среду</a:t>
            </a:r>
            <a:r>
              <a:rPr lang="ru-RU" altLang="ru-RU" sz="2000" i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altLang="ru-RU" sz="1800" i="1">
                <a:solidFill>
                  <a:srgbClr val="333300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Около 600 вредных веществ для воздуха нормировано, т.е. имеют утвержденную ПДК. </a:t>
            </a:r>
            <a:r>
              <a:rPr lang="ru-RU" altLang="ru-RU" sz="1800" i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endParaRPr lang="ru-RU" altLang="ru-RU" sz="1800" b="1" i="1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68413"/>
            <a:ext cx="878522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A49FD2-F7ED-4CD9-91E4-025DEABD66FC}" type="slidenum">
              <a:rPr lang="ru-RU" altLang="ru-RU" sz="1200" smtClean="0"/>
              <a:pPr>
                <a:defRPr/>
              </a:pPr>
              <a:t>32</a:t>
            </a:fld>
            <a:endParaRPr lang="ru-RU" altLang="ru-RU" sz="1200" dirty="0"/>
          </a:p>
        </p:txBody>
      </p:sp>
      <p:sp>
        <p:nvSpPr>
          <p:cNvPr id="51203" name="Прямоугольник 3"/>
          <p:cNvSpPr>
            <a:spLocks noChangeArrowheads="1"/>
          </p:cNvSpPr>
          <p:nvPr/>
        </p:nvSpPr>
        <p:spPr bwMode="auto">
          <a:xfrm>
            <a:off x="323850" y="325438"/>
            <a:ext cx="8496300" cy="586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ru-RU" altLang="ru-RU" sz="1800" i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 санитарной оценки воздушной среды используют показатели:</a:t>
            </a:r>
            <a:endParaRPr lang="ru-RU" altLang="ru-RU" sz="180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altLang="ru-RU" sz="1800" b="1" i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ПДКр.з.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- </a:t>
            </a:r>
            <a:r>
              <a:rPr lang="ru-RU" altLang="ru-RU" sz="1800" b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Предельно допустимая концентрация вредного вещества в воздухе рабочей зоны 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концентрация, которая при ежедневной работе в течение 8 часов, на протяжении всего рабочего стажа не должна вызывать заболевания или отклонения в состоянии здоровья, обнаруживаемые современными методами исследования, в процессе работы или в отдаленные сроки жизни настоящего и последующего поколений.</a:t>
            </a:r>
            <a:endParaRPr lang="ru-RU" altLang="ru-RU" sz="180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altLang="ru-RU" sz="1800" b="1" i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ПДКм.р. 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</a:t>
            </a:r>
            <a:r>
              <a:rPr lang="ru-RU" altLang="ru-RU" sz="1800" b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Предельно допустимая концентрация максимальная разовая,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мг/м</a:t>
            </a:r>
            <a:r>
              <a:rPr lang="ru-RU" altLang="ru-RU" sz="1800" baseline="300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- концентрация вредного вещества в воздухе населенных мест, не вызывающая при вдыхании в течение 20 минут рефлекторных реакций в организме человека.</a:t>
            </a:r>
            <a:endParaRPr lang="ru-RU" altLang="ru-RU" sz="180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altLang="ru-RU" sz="1800" b="1" i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ПДКс.с. 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</a:t>
            </a:r>
            <a:r>
              <a:rPr lang="ru-RU" altLang="ru-RU" sz="1800" b="1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Предельно допустимая концентрация среднесуточная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мг/м</a:t>
            </a:r>
            <a:r>
              <a:rPr lang="ru-RU" altLang="ru-RU" sz="1800" baseline="300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ru-RU" altLang="ru-RU" sz="1800">
                <a:solidFill>
                  <a:srgbClr val="1D212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- концентрация вредного вещества в воздухе населенных мест, которая не должна оказывать на человека прямого или косвенного воздействия при неограниченно долгом (</a:t>
            </a:r>
            <a:r>
              <a:rPr lang="ru-RU" altLang="ru-RU" sz="180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годы) вдыхании.</a:t>
            </a:r>
          </a:p>
          <a:p>
            <a:endParaRPr lang="ru-RU" altLang="ru-RU" sz="180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altLang="en-US"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Средние за сутки значения сравниваются с ПДК среднесуточной (ПДКс.с.), а максимальные – с максимально разовой (ПДКм.р.).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Прямоугольник 2"/>
          <p:cNvSpPr>
            <a:spLocks noChangeArrowheads="1"/>
          </p:cNvSpPr>
          <p:nvPr/>
        </p:nvSpPr>
        <p:spPr bwMode="auto">
          <a:xfrm>
            <a:off x="323850" y="196850"/>
            <a:ext cx="8820150" cy="635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Качество атмосферного воздуха принято оценивать по </a:t>
            </a:r>
            <a:r>
              <a:rPr lang="ru-RU" altLang="ru-RU" sz="2000" i="1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потенциальной и реальной </a:t>
            </a: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опасности. </a:t>
            </a:r>
          </a:p>
          <a:p>
            <a:pPr>
              <a:lnSpc>
                <a:spcPct val="107000"/>
              </a:lnSpc>
            </a:pP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	К </a:t>
            </a:r>
            <a:r>
              <a:rPr lang="ru-RU" altLang="ru-RU" sz="2000" i="1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потенциальной</a:t>
            </a: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 опасности относят возможность попадания вредного вещества в отдельные органы человека:</a:t>
            </a:r>
          </a:p>
          <a:p>
            <a:pPr>
              <a:lnSpc>
                <a:spcPct val="107000"/>
              </a:lnSpc>
            </a:pPr>
            <a:endParaRPr lang="ru-RU" altLang="ru-RU" sz="2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– средняя смертельная доза </a:t>
            </a:r>
            <a:r>
              <a:rPr lang="ru-RU" altLang="ru-RU" sz="2000" i="1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при введении в желудок </a:t>
            </a: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- доза вещества, вызывающая гибель 50% людей и животных при однократном введении, (мг/кг);</a:t>
            </a:r>
            <a:endParaRPr lang="ru-RU" altLang="ru-RU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– средняя смертельная доза </a:t>
            </a:r>
            <a:r>
              <a:rPr lang="ru-RU" altLang="ru-RU" sz="2000" i="1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при нанесении на кожу </a:t>
            </a: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- доза вещества, вызывающая гибель 50% людей и животных при однократном нанесении на кожу, (мг/кг);</a:t>
            </a:r>
            <a:endParaRPr lang="ru-RU" altLang="ru-RU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–средняя смертельная концентрация </a:t>
            </a:r>
            <a:r>
              <a:rPr lang="ru-RU" altLang="ru-RU" sz="2000" i="1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в воздухе </a:t>
            </a: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- концентрация вещества, вызывающая гибель 50% людей и животных при 2-4 -х часовом ингаляционном воздействии, (мг/м. куб);</a:t>
            </a:r>
            <a:endParaRPr lang="ru-RU" altLang="ru-RU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–коэффициент возможности </a:t>
            </a:r>
            <a:r>
              <a:rPr lang="ru-RU" altLang="ru-RU" sz="2000" i="1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ингаляционного отравления </a:t>
            </a:r>
            <a:r>
              <a:rPr lang="ru-RU" altLang="ru-RU" sz="2000">
                <a:solidFill>
                  <a:srgbClr val="1D2125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(КВИО) - отношение максимально допустимой концентрации вредного вещества в воздухе при 20 °С к средней смертельной концентрации вещества при двухчасовом воздействии на человека или животного.</a:t>
            </a:r>
            <a:endParaRPr lang="ru-RU" altLang="ru-RU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510587" cy="64928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altLang="ru-RU" sz="2000" b="1" i="1" dirty="0" smtClean="0">
                <a:solidFill>
                  <a:srgbClr val="000000"/>
                </a:solidFill>
              </a:rPr>
              <a:t>индекс загрязнения атмосферы (ИЗА)</a:t>
            </a:r>
            <a:r>
              <a:rPr lang="ru-RU" altLang="ru-RU" sz="2000" b="1" i="1" dirty="0" smtClean="0"/>
              <a:t> </a:t>
            </a:r>
            <a:r>
              <a:rPr lang="ru-RU" altLang="ru-RU" sz="2000" dirty="0" smtClean="0"/>
              <a:t>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2333625"/>
            <a:ext cx="7870825" cy="1655763"/>
          </a:xfrm>
        </p:spPr>
        <p:txBody>
          <a:bodyPr/>
          <a:lstStyle/>
          <a:p>
            <a:pPr marL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ru-RU" altLang="ru-RU" sz="1800" b="1" u="sng" smtClean="0">
                <a:solidFill>
                  <a:srgbClr val="000000"/>
                </a:solidFill>
              </a:rPr>
              <a:t>пыль </a:t>
            </a:r>
          </a:p>
          <a:p>
            <a:pPr marL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ru-RU" altLang="ru-RU" sz="1800" b="1" u="sng" smtClean="0">
                <a:solidFill>
                  <a:srgbClr val="000000"/>
                </a:solidFill>
              </a:rPr>
              <a:t>диоксид серы </a:t>
            </a:r>
          </a:p>
          <a:p>
            <a:pPr marL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ru-RU" altLang="ru-RU" sz="1800" b="1" u="sng" smtClean="0">
                <a:solidFill>
                  <a:srgbClr val="000000"/>
                </a:solidFill>
              </a:rPr>
              <a:t>оксид углерода </a:t>
            </a:r>
          </a:p>
          <a:p>
            <a:pPr marL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ru-RU" altLang="ru-RU" sz="1800" b="1" u="sng" smtClean="0">
                <a:solidFill>
                  <a:srgbClr val="000000"/>
                </a:solidFill>
              </a:rPr>
              <a:t>диоксид азота</a:t>
            </a:r>
          </a:p>
          <a:p>
            <a:pPr marL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ru-RU" altLang="ru-RU" sz="1800" b="1" u="sng" smtClean="0">
                <a:solidFill>
                  <a:srgbClr val="000000"/>
                </a:solidFill>
              </a:rPr>
              <a:t>формальдегид</a:t>
            </a:r>
          </a:p>
        </p:txBody>
      </p:sp>
      <p:sp>
        <p:nvSpPr>
          <p:cNvPr id="53252" name="Прямоугольник 2"/>
          <p:cNvSpPr>
            <a:spLocks noChangeArrowheads="1"/>
          </p:cNvSpPr>
          <p:nvPr/>
        </p:nvSpPr>
        <p:spPr bwMode="auto">
          <a:xfrm>
            <a:off x="417513" y="896938"/>
            <a:ext cx="8785225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altLang="ru-RU" sz="2000" b="1">
                <a:solidFill>
                  <a:schemeClr val="bg1"/>
                </a:solidFill>
              </a:rPr>
              <a:t>ИЗА = </a:t>
            </a:r>
            <a:r>
              <a:rPr lang="el-GR" altLang="ru-RU" sz="2000" b="1">
                <a:solidFill>
                  <a:schemeClr val="bg1"/>
                </a:solidFill>
              </a:rPr>
              <a:t>Σ</a:t>
            </a:r>
            <a:r>
              <a:rPr lang="en-US" altLang="ru-RU" sz="2000" b="1">
                <a:solidFill>
                  <a:schemeClr val="bg1"/>
                </a:solidFill>
              </a:rPr>
              <a:t> </a:t>
            </a:r>
            <a:r>
              <a:rPr lang="ru-RU" altLang="ru-RU" sz="2000" b="1">
                <a:solidFill>
                  <a:schemeClr val="bg1"/>
                </a:solidFill>
              </a:rPr>
              <a:t>(</a:t>
            </a:r>
            <a:r>
              <a:rPr lang="ru-RU" altLang="ru-RU" b="1">
                <a:solidFill>
                  <a:schemeClr val="bg1"/>
                </a:solidFill>
              </a:rPr>
              <a:t>q</a:t>
            </a:r>
            <a:r>
              <a:rPr lang="ru-RU" altLang="ru-RU" sz="2000" b="1">
                <a:solidFill>
                  <a:schemeClr val="bg1"/>
                </a:solidFill>
              </a:rPr>
              <a:t>ср.i/ПДКi) Сi</a:t>
            </a:r>
          </a:p>
          <a:p>
            <a:r>
              <a:rPr lang="ru-RU" altLang="ru-RU" sz="1800">
                <a:solidFill>
                  <a:schemeClr val="bg1"/>
                </a:solidFill>
              </a:rPr>
              <a:t>q ср.i - средняя концентрация i-того вещества;</a:t>
            </a:r>
          </a:p>
          <a:p>
            <a:r>
              <a:rPr lang="ru-RU" altLang="ru-RU" sz="1800">
                <a:solidFill>
                  <a:schemeClr val="bg1"/>
                </a:solidFill>
              </a:rPr>
              <a:t>ПДКi -  среднесуточная предельно допустимая концентрация   i-того вещества;</a:t>
            </a:r>
          </a:p>
          <a:p>
            <a:r>
              <a:rPr lang="ru-RU" altLang="ru-RU" sz="1800">
                <a:solidFill>
                  <a:schemeClr val="bg1"/>
                </a:solidFill>
              </a:rPr>
              <a:t>Сi   - коэффициент, зависящий от класса опасности i-того  вещества</a:t>
            </a:r>
          </a:p>
        </p:txBody>
      </p:sp>
      <p:sp>
        <p:nvSpPr>
          <p:cNvPr id="53253" name="Прямоугольник 3"/>
          <p:cNvSpPr>
            <a:spLocks noChangeArrowheads="1"/>
          </p:cNvSpPr>
          <p:nvPr/>
        </p:nvSpPr>
        <p:spPr bwMode="auto">
          <a:xfrm>
            <a:off x="257175" y="4121150"/>
            <a:ext cx="878522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>
                <a:solidFill>
                  <a:schemeClr val="bg1"/>
                </a:solidFill>
              </a:rPr>
              <a:t>Уровень загрязнения воздуха</a:t>
            </a:r>
            <a:endParaRPr lang="en-US" altLang="ru-RU" sz="1800">
              <a:solidFill>
                <a:schemeClr val="bg1"/>
              </a:solidFill>
            </a:endParaRPr>
          </a:p>
          <a:p>
            <a:r>
              <a:rPr lang="ru-RU" altLang="ru-RU" sz="1800" b="1" u="sng">
                <a:solidFill>
                  <a:schemeClr val="bg1"/>
                </a:solidFill>
              </a:rPr>
              <a:t>высокий</a:t>
            </a:r>
            <a:r>
              <a:rPr lang="ru-RU" altLang="ru-RU" sz="1800">
                <a:solidFill>
                  <a:schemeClr val="bg1"/>
                </a:solidFill>
              </a:rPr>
              <a:t> - средние значения концентрации примесей в </a:t>
            </a:r>
            <a:r>
              <a:rPr lang="ru-RU" altLang="ru-RU" sz="1800" b="1">
                <a:solidFill>
                  <a:schemeClr val="bg1"/>
                </a:solidFill>
              </a:rPr>
              <a:t>воздухе выше средних по республике</a:t>
            </a:r>
            <a:r>
              <a:rPr lang="ru-RU" altLang="ru-RU" sz="1800">
                <a:solidFill>
                  <a:schemeClr val="bg1"/>
                </a:solidFill>
              </a:rPr>
              <a:t> или ИЗА превышает 7; </a:t>
            </a:r>
          </a:p>
          <a:p>
            <a:r>
              <a:rPr lang="ru-RU" altLang="ru-RU" sz="1800" b="1" u="sng">
                <a:solidFill>
                  <a:schemeClr val="bg1"/>
                </a:solidFill>
              </a:rPr>
              <a:t>повышенный</a:t>
            </a:r>
            <a:r>
              <a:rPr lang="ru-RU" altLang="ru-RU" sz="1800">
                <a:solidFill>
                  <a:schemeClr val="bg1"/>
                </a:solidFill>
              </a:rPr>
              <a:t> - концентрации примесей в </a:t>
            </a:r>
            <a:r>
              <a:rPr lang="ru-RU" altLang="ru-RU" sz="1800" b="1">
                <a:solidFill>
                  <a:schemeClr val="bg1"/>
                </a:solidFill>
              </a:rPr>
              <a:t>отдельных случаях </a:t>
            </a:r>
            <a:r>
              <a:rPr lang="ru-RU" altLang="ru-RU" sz="1800">
                <a:solidFill>
                  <a:schemeClr val="bg1"/>
                </a:solidFill>
              </a:rPr>
              <a:t>превышали ПДК; </a:t>
            </a:r>
          </a:p>
          <a:p>
            <a:r>
              <a:rPr lang="ru-RU" altLang="ru-RU" sz="1800" b="1" u="sng">
                <a:solidFill>
                  <a:schemeClr val="bg1"/>
                </a:solidFill>
              </a:rPr>
              <a:t>низкий</a:t>
            </a:r>
            <a:r>
              <a:rPr lang="ru-RU" altLang="ru-RU" sz="1800">
                <a:solidFill>
                  <a:schemeClr val="bg1"/>
                </a:solidFill>
              </a:rPr>
              <a:t> - среднегодовое содержание примесей в пределах или ниже принятых стандартов качества воздуха.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95288" y="188913"/>
          <a:ext cx="8280400" cy="6675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93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город</a:t>
                      </a:r>
                      <a:endParaRPr lang="ru-RU" sz="1600" dirty="0"/>
                    </a:p>
                  </a:txBody>
                  <a:tcPr marL="91434" marR="91434" marT="45714" marB="45714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ИЗА</a:t>
                      </a:r>
                      <a:endParaRPr lang="ru-RU" sz="1600" dirty="0"/>
                    </a:p>
                  </a:txBody>
                  <a:tcPr marL="91434" marR="91434" marT="45714" marB="45714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Опасный – более14</a:t>
                      </a:r>
                      <a:endParaRPr lang="ru-RU" sz="1600" dirty="0"/>
                    </a:p>
                  </a:txBody>
                  <a:tcPr marL="91434" marR="91434"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1.Речица</a:t>
                      </a:r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9,5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Высокий – 7-14</a:t>
                      </a:r>
                      <a:endParaRPr lang="ru-RU" sz="1800" b="1" baseline="-25000" dirty="0"/>
                    </a:p>
                  </a:txBody>
                  <a:tcPr marL="91434" marR="91434" marT="45714" marB="4571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2.Гомель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8,6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Высокий – 7-14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3. Витебск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5,7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4. Светлогорск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5,6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5.Полоцк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5,6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6. Орша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5,4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7. Брест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5,2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8. Новополоцк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5,2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9. Бобруйск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5,1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10. Солигорск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5,0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Повышенный- 5-7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11. Могилев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4,8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Низкий –до 5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12. Минск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4,7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Низкий –до 5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13. Гродно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4,7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Низкий –до 5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14. Пинск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3,9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Низкий –до 5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15. Мозырь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3,7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Низкий –до 5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6259"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16. </a:t>
                      </a:r>
                      <a:r>
                        <a:rPr lang="ru-RU" sz="2000" b="1" dirty="0" err="1" smtClean="0"/>
                        <a:t>Новогрудок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/>
                        <a:t>1,8</a:t>
                      </a:r>
                      <a:endParaRPr lang="ru-RU" sz="2000" b="1" dirty="0"/>
                    </a:p>
                  </a:txBody>
                  <a:tcPr marL="91434" marR="91434" marT="45714" marB="45714"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/>
                        <a:t>Низкий –до 5</a:t>
                      </a:r>
                      <a:endParaRPr lang="ru-RU" sz="1800" b="1" dirty="0"/>
                    </a:p>
                  </a:txBody>
                  <a:tcPr marL="91434" marR="91434" marT="45714" marB="45714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188913"/>
            <a:ext cx="8964612" cy="6426200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90A4FD-CE91-4169-A7BC-6B51082B3FEE}" type="slidenum">
              <a:rPr lang="ru-RU" altLang="ru-RU" sz="1200" smtClean="0"/>
              <a:pPr>
                <a:defRPr/>
              </a:pPr>
              <a:t>36</a:t>
            </a:fld>
            <a:endParaRPr lang="ru-RU" alt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350"/>
            <a:ext cx="5359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2576513"/>
            <a:ext cx="4697412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850" y="260350"/>
            <a:ext cx="8569325" cy="58324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b="1" i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направления охраны атмосферы</a:t>
            </a:r>
            <a:r>
              <a:rPr lang="ru-RU" altLang="ru-RU" i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ru-RU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</a:pP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Основными направлениями защиты воздушного бассейна являются: 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а) </a:t>
            </a:r>
            <a:r>
              <a:rPr lang="ru-RU" altLang="ru-RU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технологические мероприятия </a:t>
            </a:r>
            <a:endParaRPr lang="ru-RU" altLang="ru-RU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б) </a:t>
            </a:r>
            <a:r>
              <a:rPr lang="ru-RU" altLang="ru-RU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санитарно-технические мероприятия </a:t>
            </a:r>
          </a:p>
          <a:p>
            <a:pPr>
              <a:spcBef>
                <a:spcPct val="0"/>
              </a:spcBef>
            </a:pP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в) </a:t>
            </a:r>
            <a:r>
              <a:rPr lang="ru-RU" altLang="ru-RU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пространственно-планировочные мероприятия </a:t>
            </a:r>
            <a:endParaRPr lang="ru-RU" altLang="ru-RU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г) </a:t>
            </a:r>
            <a:r>
              <a:rPr lang="ru-RU" altLang="ru-RU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контрольно-запретительные мероприятия </a:t>
            </a:r>
            <a:r>
              <a:rPr lang="ru-RU" altLang="ru-RU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(введение величин предельно допустимых концентраций веществ и предельно допустимых выбросов в окружающую среду, запрещение производства отдельных веществ, мониторинг загрязнения воздуха).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64B3B4-05D3-454D-B224-EDD00020C194}" type="slidenum">
              <a:rPr lang="en-US" sz="1000" smtClean="0"/>
              <a:pPr>
                <a:defRPr/>
              </a:pPr>
              <a:t>38</a:t>
            </a:fld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F40613-7904-4620-A752-E5679F65B541}" type="slidenum">
              <a:rPr lang="en-US" sz="1000" smtClean="0"/>
              <a:pPr>
                <a:defRPr/>
              </a:pPr>
              <a:t>39</a:t>
            </a:fld>
            <a:endParaRPr lang="en-US" sz="1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82588" y="307975"/>
            <a:ext cx="8510587" cy="44021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Технологические мероприятия </a:t>
            </a: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– </a:t>
            </a:r>
          </a:p>
          <a:p>
            <a:pPr>
              <a:defRPr/>
            </a:pPr>
            <a:endParaRPr lang="ru-RU" sz="20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улучшение технологии производства и сжигания топлива, </a:t>
            </a: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создание новых технологий, основанных на частично или полностью замкнутых циклах, </a:t>
            </a: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внедрение малоотходных или безотходных технологий, исключающих попадание в атмосферу вредных веществ, </a:t>
            </a: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соответствующая подготовка сырья, замена сухих технологических способов на мокрые (предварительное очищение топлива и сырья от вредных примесей, применение </a:t>
            </a:r>
            <a:r>
              <a:rPr lang="ru-RU" sz="2000" dirty="0" err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гидрообеспыливания</a:t>
            </a: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замену местных котельных установок на централизованное теплоснабжение, </a:t>
            </a: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sz="20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перевод машин на электропривод и др.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1619250"/>
            <a:ext cx="8016875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19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862013"/>
            <a:ext cx="63341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Объект 3"/>
          <p:cNvSpPr>
            <a:spLocks noGrp="1"/>
          </p:cNvSpPr>
          <p:nvPr>
            <p:ph idx="1"/>
          </p:nvPr>
        </p:nvSpPr>
        <p:spPr>
          <a:xfrm>
            <a:off x="533400" y="533400"/>
            <a:ext cx="7999413" cy="5272088"/>
          </a:xfrm>
        </p:spPr>
        <p:txBody>
          <a:bodyPr/>
          <a:lstStyle/>
          <a:p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0825" y="333375"/>
            <a:ext cx="8893175" cy="619125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Методы очистки </a:t>
            </a:r>
            <a:r>
              <a:rPr lang="ru-RU" sz="2900" dirty="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определяются 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природой загрязнителей. </a:t>
            </a:r>
            <a:endParaRPr lang="en-US" sz="29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en-US" sz="29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900" b="1" i="1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Очистка 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удаление (выделение, улавливание) примесей из различных сред.</a:t>
            </a:r>
            <a:endParaRPr lang="en-US" sz="29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Существующие методы очистки можно разделить на две группы: некаталитические (абсорбционные и адсорбционные) и каталитические</a:t>
            </a:r>
            <a:r>
              <a:rPr lang="ru-RU" sz="2900" dirty="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  <a:defRPr/>
            </a:pPr>
            <a:endParaRPr lang="ru-RU" sz="29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900" b="1" i="1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Обезвреживание 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обработка примесей до безвредного для людей, животных, растений и в целом для окружающей среды состояния</a:t>
            </a:r>
            <a:r>
              <a:rPr lang="ru-RU" sz="2900" dirty="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29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900" b="1" i="1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Обеззараживание 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</a:t>
            </a:r>
            <a:r>
              <a:rPr lang="ru-RU" sz="2900" dirty="0" err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инактивация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(дезактивация) микроорганизмов различных видов, находящихся в </a:t>
            </a:r>
            <a:r>
              <a:rPr lang="ru-RU" sz="2900" dirty="0" err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газовоздушных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выбросах, жидких и твердых средах</a:t>
            </a:r>
            <a:r>
              <a:rPr lang="ru-RU" sz="2900" dirty="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2900" dirty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900" b="1" i="1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Дезодорация 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- обработка </a:t>
            </a:r>
            <a:r>
              <a:rPr lang="ru-RU" sz="2900" dirty="0" err="1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одорантов</a:t>
            </a:r>
            <a:r>
              <a:rPr lang="ru-RU" sz="2900" dirty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(веществ, обладающих запахом), содержащихся в воздухе, воде или твердых средах, с целью устранения или снижения интенсивности запахов.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478F48-6EAD-4169-A00F-E5F3785B3D35}" type="slidenum">
              <a:rPr lang="en-US" sz="1000" smtClean="0"/>
              <a:pPr>
                <a:defRPr/>
              </a:pPr>
              <a:t>41</a:t>
            </a:fld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484313"/>
            <a:ext cx="8359775" cy="2078037"/>
          </a:xfrm>
        </p:spPr>
      </p:pic>
      <p:pic>
        <p:nvPicPr>
          <p:cNvPr id="63491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49275"/>
            <a:ext cx="49101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857250"/>
            <a:ext cx="7886700" cy="993775"/>
          </a:xfrm>
        </p:spPr>
        <p:txBody>
          <a:bodyPr/>
          <a:lstStyle/>
          <a:p>
            <a:pPr>
              <a:defRPr/>
            </a:pPr>
            <a:r>
              <a:rPr lang="ru-RU" sz="1350" b="1" dirty="0"/>
              <a:t>МЕТОДЫ И ОБОРУДОВАНИЕ ДЛЯ ОЧИСТКИ АТМОСФЕРЫ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64515" name="Объект 2"/>
          <p:cNvSpPr>
            <a:spLocks noGrp="1"/>
          </p:cNvSpPr>
          <p:nvPr>
            <p:ph idx="1"/>
          </p:nvPr>
        </p:nvSpPr>
        <p:spPr>
          <a:xfrm>
            <a:off x="250825" y="982663"/>
            <a:ext cx="8597900" cy="5495925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endParaRPr lang="ru-RU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sz="1800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Сухие пылеуловители </a:t>
            </a:r>
            <a:r>
              <a:rPr lang="ru-RU" altLang="ru-RU" sz="180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Сухие пылеуловители предназначены для грубой механической очистки от крупной и тяжелой пыли. Принцип работы - оседание частиц под действием центробежной силы и силы тяжести. Широкое распространение получили циклоны различных видов: одиночные, групповые, батарейные.</a:t>
            </a:r>
            <a:endParaRPr lang="en-US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endParaRPr lang="ru-RU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sz="180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</a:t>
            </a:r>
            <a:r>
              <a:rPr lang="ru-RU" altLang="ru-RU" sz="1800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пылеосадительных камерах </a:t>
            </a:r>
            <a:r>
              <a:rPr lang="ru-RU" altLang="ru-RU" sz="180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используется гравитационное осаждение частиц из потока газов. Для достижения приемлемой эффективности очистки газов необходимо, чтобы частицы находились в пылеосадительной камере возможно более продолжительное время. Поэтому пылеосадительные камеры, рассчитанные на осаждение относительно крупных частиц являются громоздкими сооружениями.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endParaRPr lang="ru-RU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endParaRPr lang="ru-RU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1200" smtClean="0">
              <a:solidFill>
                <a:srgbClr val="333300"/>
              </a:solidFill>
            </a:endParaRPr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800" smtClean="0"/>
          </a:p>
          <a:p>
            <a:pPr marL="0" indent="0">
              <a:lnSpc>
                <a:spcPct val="80000"/>
              </a:lnSpc>
            </a:pPr>
            <a:endParaRPr lang="ru-RU" altLang="ru-RU" sz="5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CEF05C-2635-4B11-AB6D-6EE0FD7B86AE}" type="slidenum">
              <a:rPr lang="en-US" sz="1000" smtClean="0"/>
              <a:pPr>
                <a:defRPr/>
              </a:pPr>
              <a:t>43</a:t>
            </a:fld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2" t="7149" r="9540" b="12662"/>
          <a:stretch>
            <a:fillRect/>
          </a:stretch>
        </p:blipFill>
        <p:spPr>
          <a:xfrm>
            <a:off x="468313" y="5300663"/>
            <a:ext cx="3806825" cy="1081087"/>
          </a:xfrm>
        </p:spPr>
      </p:pic>
      <p:pic>
        <p:nvPicPr>
          <p:cNvPr id="65539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7" t="777" r="17998" b="58026"/>
          <a:stretch>
            <a:fillRect/>
          </a:stretch>
        </p:blipFill>
        <p:spPr bwMode="auto">
          <a:xfrm>
            <a:off x="492125" y="3933825"/>
            <a:ext cx="380841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Прямоугольник 2"/>
          <p:cNvSpPr>
            <a:spLocks noChangeArrowheads="1"/>
          </p:cNvSpPr>
          <p:nvPr/>
        </p:nvSpPr>
        <p:spPr bwMode="auto">
          <a:xfrm>
            <a:off x="395288" y="188913"/>
            <a:ext cx="58023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b="1">
                <a:solidFill>
                  <a:schemeClr val="bg1"/>
                </a:solidFill>
              </a:rPr>
              <a:t>Аппараты сухой очистки</a:t>
            </a:r>
            <a:br>
              <a:rPr lang="ru-RU" altLang="ru-RU" b="1">
                <a:solidFill>
                  <a:schemeClr val="bg1"/>
                </a:solidFill>
              </a:rPr>
            </a:br>
            <a:r>
              <a:rPr lang="ru-RU" altLang="ru-RU" b="1">
                <a:solidFill>
                  <a:schemeClr val="bg1"/>
                </a:solidFill>
              </a:rPr>
              <a:t/>
            </a:r>
            <a:br>
              <a:rPr lang="ru-RU" altLang="ru-RU" b="1">
                <a:solidFill>
                  <a:schemeClr val="bg1"/>
                </a:solidFill>
              </a:rPr>
            </a:br>
            <a:endParaRPr lang="ru-RU" altLang="ru-RU" b="1">
              <a:solidFill>
                <a:schemeClr val="bg1"/>
              </a:solidFill>
            </a:endParaRPr>
          </a:p>
        </p:txBody>
      </p:sp>
      <p:pic>
        <p:nvPicPr>
          <p:cNvPr id="65541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6" t="50935" r="45720" b="-7460"/>
          <a:stretch>
            <a:fillRect/>
          </a:stretch>
        </p:blipFill>
        <p:spPr bwMode="auto">
          <a:xfrm>
            <a:off x="407988" y="1808163"/>
            <a:ext cx="3155950" cy="16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70" t="-162" r="1099" b="6677"/>
          <a:stretch>
            <a:fillRect/>
          </a:stretch>
        </p:blipFill>
        <p:spPr bwMode="auto">
          <a:xfrm>
            <a:off x="4572000" y="1628775"/>
            <a:ext cx="2233613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3" name="Рисунок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1" b="29163"/>
          <a:stretch>
            <a:fillRect/>
          </a:stretch>
        </p:blipFill>
        <p:spPr bwMode="auto">
          <a:xfrm>
            <a:off x="6948488" y="1628775"/>
            <a:ext cx="1793875" cy="218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4" name="Прямоугольник 6"/>
          <p:cNvSpPr>
            <a:spLocks noChangeArrowheads="1"/>
          </p:cNvSpPr>
          <p:nvPr/>
        </p:nvSpPr>
        <p:spPr bwMode="auto">
          <a:xfrm>
            <a:off x="6443663" y="1052513"/>
            <a:ext cx="1019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b="1" i="1">
                <a:solidFill>
                  <a:schemeClr val="bg1"/>
                </a:solidFill>
              </a:rPr>
              <a:t>циклон</a:t>
            </a:r>
          </a:p>
        </p:txBody>
      </p:sp>
      <p:sp>
        <p:nvSpPr>
          <p:cNvPr id="65545" name="Прямоугольник 7"/>
          <p:cNvSpPr>
            <a:spLocks noChangeArrowheads="1"/>
          </p:cNvSpPr>
          <p:nvPr/>
        </p:nvSpPr>
        <p:spPr bwMode="auto">
          <a:xfrm>
            <a:off x="323850" y="908050"/>
            <a:ext cx="2884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b="1" i="1">
                <a:solidFill>
                  <a:schemeClr val="bg1"/>
                </a:solidFill>
              </a:rPr>
              <a:t>пылеосадочная камера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331913" y="5084763"/>
            <a:ext cx="2071687" cy="25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1050" dirty="0">
                <a:solidFill>
                  <a:schemeClr val="bg1"/>
                </a:solidFill>
              </a:rPr>
              <a:t>Каналы впуска и выпуска газа</a:t>
            </a:r>
          </a:p>
        </p:txBody>
      </p:sp>
      <p:pic>
        <p:nvPicPr>
          <p:cNvPr id="65547" name="Рисунок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6165850"/>
            <a:ext cx="24733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8" name="Прямоугольник 13"/>
          <p:cNvSpPr>
            <a:spLocks noChangeArrowheads="1"/>
          </p:cNvSpPr>
          <p:nvPr/>
        </p:nvSpPr>
        <p:spPr bwMode="auto">
          <a:xfrm>
            <a:off x="323850" y="1412875"/>
            <a:ext cx="16541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i="1">
                <a:solidFill>
                  <a:schemeClr val="bg1"/>
                </a:solidFill>
              </a:rPr>
              <a:t>прямоточная</a:t>
            </a:r>
          </a:p>
        </p:txBody>
      </p:sp>
      <p:sp>
        <p:nvSpPr>
          <p:cNvPr id="65549" name="Прямоугольник 14"/>
          <p:cNvSpPr>
            <a:spLocks noChangeArrowheads="1"/>
          </p:cNvSpPr>
          <p:nvPr/>
        </p:nvSpPr>
        <p:spPr bwMode="auto">
          <a:xfrm>
            <a:off x="468313" y="3357563"/>
            <a:ext cx="2409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i="1">
                <a:solidFill>
                  <a:schemeClr val="bg1"/>
                </a:solidFill>
              </a:rPr>
              <a:t>лабиринтного типа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857250"/>
            <a:ext cx="7886700" cy="993775"/>
          </a:xfrm>
        </p:spPr>
        <p:txBody>
          <a:bodyPr/>
          <a:lstStyle/>
          <a:p>
            <a:pPr>
              <a:defRPr/>
            </a:pPr>
            <a:r>
              <a:rPr lang="ru-RU" sz="1350" b="1" dirty="0"/>
              <a:t>МЕТОДЫ И ОБОРУДОВАНИЕ ДЛЯ ОЧИСТКИ АТМОСФЕРЫ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67587" name="Объект 2"/>
          <p:cNvSpPr>
            <a:spLocks noGrp="1"/>
          </p:cNvSpPr>
          <p:nvPr>
            <p:ph idx="1"/>
          </p:nvPr>
        </p:nvSpPr>
        <p:spPr>
          <a:xfrm>
            <a:off x="776288" y="549275"/>
            <a:ext cx="7875587" cy="5927725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endParaRPr lang="ru-RU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sz="1800" b="1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Мокрые пылеуловители </a:t>
            </a:r>
            <a:r>
              <a:rPr lang="ru-RU" altLang="ru-RU" sz="180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Мокрые пылеуловители характеризуются высокой эффективностью очистки от мелкодисперсной пыли размером до 2 мкм. </a:t>
            </a:r>
            <a:endParaRPr lang="en-US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r>
              <a:rPr lang="ru-RU" altLang="ru-RU" sz="1800" smtClean="0">
                <a:solidFill>
                  <a:srgbClr val="3333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Работают по принципу осаждения частиц пыли на поверхность капель под действием сил инерции или броуновского движения.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 3" panose="05040102010807070707" pitchFamily="18" charset="2"/>
              <a:buNone/>
            </a:pPr>
            <a:endParaRPr lang="ru-RU" altLang="ru-RU" sz="1800" smtClean="0">
              <a:solidFill>
                <a:srgbClr val="3333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1200" smtClean="0">
              <a:solidFill>
                <a:srgbClr val="333300"/>
              </a:solidFill>
            </a:endParaRPr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800" smtClean="0"/>
          </a:p>
          <a:p>
            <a:pPr marL="0" indent="0"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800" smtClean="0"/>
          </a:p>
          <a:p>
            <a:pPr marL="0" indent="0">
              <a:lnSpc>
                <a:spcPct val="80000"/>
              </a:lnSpc>
            </a:pPr>
            <a:endParaRPr lang="ru-RU" altLang="ru-RU" sz="500" smtClean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24BDFC-FC76-4AEE-A82D-F3E3ADD977B5}" type="slidenum">
              <a:rPr lang="en-US" sz="1000" smtClean="0"/>
              <a:pPr>
                <a:defRPr/>
              </a:pPr>
              <a:t>45</a:t>
            </a:fld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3988" y="1006475"/>
            <a:ext cx="4916487" cy="1143000"/>
          </a:xfrm>
        </p:spPr>
        <p:txBody>
          <a:bodyPr/>
          <a:lstStyle/>
          <a:p>
            <a:pPr>
              <a:defRPr/>
            </a:pPr>
            <a:r>
              <a:rPr lang="ru-RU" sz="1350" dirty="0">
                <a:solidFill>
                  <a:schemeClr val="bg1"/>
                </a:solidFill>
              </a:rPr>
              <a:t/>
            </a:r>
            <a:br>
              <a:rPr lang="ru-RU" sz="1350" dirty="0">
                <a:solidFill>
                  <a:schemeClr val="bg1"/>
                </a:solidFill>
              </a:rPr>
            </a:br>
            <a:r>
              <a:rPr lang="ru-RU" sz="1350" dirty="0"/>
              <a:t/>
            </a:r>
            <a:br>
              <a:rPr lang="ru-RU" sz="1350" dirty="0"/>
            </a:br>
            <a:endParaRPr lang="ru-RU" sz="1350" dirty="0"/>
          </a:p>
        </p:txBody>
      </p:sp>
      <p:pic>
        <p:nvPicPr>
          <p:cNvPr id="68611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48" t="2205" r="47771" b="57990"/>
          <a:stretch>
            <a:fillRect/>
          </a:stretch>
        </p:blipFill>
        <p:spPr bwMode="auto">
          <a:xfrm>
            <a:off x="395288" y="1138238"/>
            <a:ext cx="3671887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60350"/>
            <a:ext cx="40767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5" r="47363"/>
          <a:stretch>
            <a:fillRect/>
          </a:stretch>
        </p:blipFill>
        <p:spPr bwMode="auto">
          <a:xfrm>
            <a:off x="250825" y="2825750"/>
            <a:ext cx="3889375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01" t="50410" r="2"/>
          <a:stretch>
            <a:fillRect/>
          </a:stretch>
        </p:blipFill>
        <p:spPr bwMode="auto">
          <a:xfrm>
            <a:off x="5435600" y="1628775"/>
            <a:ext cx="3055938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Рисунок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256" b="55473"/>
          <a:stretch>
            <a:fillRect/>
          </a:stretch>
        </p:blipFill>
        <p:spPr bwMode="auto">
          <a:xfrm>
            <a:off x="395288" y="4752975"/>
            <a:ext cx="38163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388" y="2924175"/>
            <a:ext cx="8759825" cy="99536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800" b="1" i="1" cap="none" dirty="0">
                <a:solidFill>
                  <a:srgbClr val="333300"/>
                </a:solidFill>
              </a:rPr>
              <a:t>Фильтры</a:t>
            </a:r>
            <a:r>
              <a:rPr lang="ru-RU" sz="1800" cap="none" dirty="0">
                <a:solidFill>
                  <a:srgbClr val="333300"/>
                </a:solidFill>
              </a:rPr>
              <a:t/>
            </a:r>
            <a:br>
              <a:rPr lang="ru-RU" sz="1800" cap="none" dirty="0">
                <a:solidFill>
                  <a:srgbClr val="333300"/>
                </a:solidFill>
              </a:rPr>
            </a:br>
            <a:r>
              <a:rPr lang="ru-RU" sz="1800" cap="none" dirty="0">
                <a:solidFill>
                  <a:srgbClr val="333300"/>
                </a:solidFill>
              </a:rPr>
              <a:t>Предназначены для тонкой очистки газов за счет осаждения частиц пыли (до 0,05 мкм) на поверхности пористых фильтрующих перегородок. По типу фильтрующей загрузки различают тканевые фильтры (ткань, войлок, губчатая резина) и зернистые. Выбор фильтрующего материала определяется требованиями к очистке и условиями работы: степень очистки, температура, агрессивность газов, влажность, количество и размер пыли и т.д. </a:t>
            </a:r>
            <a:r>
              <a:rPr lang="ru-RU" sz="1800" cap="none" dirty="0" smtClean="0">
                <a:solidFill>
                  <a:srgbClr val="333300"/>
                </a:solidFill>
              </a:rPr>
              <a:t/>
            </a:r>
            <a:br>
              <a:rPr lang="ru-RU" sz="1800" cap="none" dirty="0" smtClean="0">
                <a:solidFill>
                  <a:srgbClr val="333300"/>
                </a:solidFill>
              </a:rPr>
            </a:br>
            <a:r>
              <a:rPr lang="ru-RU" sz="1800" cap="none" dirty="0" smtClean="0">
                <a:solidFill>
                  <a:srgbClr val="333300"/>
                </a:solidFill>
              </a:rPr>
              <a:t/>
            </a:r>
            <a:br>
              <a:rPr lang="ru-RU" sz="1800" cap="none" dirty="0" smtClean="0">
                <a:solidFill>
                  <a:srgbClr val="333300"/>
                </a:solidFill>
              </a:rPr>
            </a:br>
            <a:r>
              <a:rPr lang="ru-RU" sz="1800" b="1" cap="none" dirty="0" smtClean="0">
                <a:solidFill>
                  <a:srgbClr val="333300"/>
                </a:solidFill>
              </a:rPr>
              <a:t>Электрофильтры</a:t>
            </a:r>
            <a:r>
              <a:rPr lang="ru-RU" sz="1800" cap="none" dirty="0" smtClean="0">
                <a:solidFill>
                  <a:srgbClr val="333300"/>
                </a:solidFill>
              </a:rPr>
              <a:t> - эффективный способ очистки от взвешенных частиц пыли (0,01 мкм), от масляного тумана. Принцип действия основан на ионизации и осаждении частиц в электрическом поле. У поверхности коронирующего электрода происходит ионизация пылегазового потока. Приобретая отрицательный заряд, частицы пыли движутся к </a:t>
            </a:r>
            <a:r>
              <a:rPr lang="ru-RU" sz="1800" cap="none" dirty="0" err="1" smtClean="0">
                <a:solidFill>
                  <a:srgbClr val="333300"/>
                </a:solidFill>
              </a:rPr>
              <a:t>осадительному</a:t>
            </a:r>
            <a:r>
              <a:rPr lang="ru-RU" sz="1800" cap="none" dirty="0" smtClean="0">
                <a:solidFill>
                  <a:srgbClr val="333300"/>
                </a:solidFill>
              </a:rPr>
              <a:t> электроду, имеющему знак, противоположный заряду коронирующего электрода. По мере накопления на электродах частицы пыли падают под действием силы тяжести в сборник пыли или удаляются встряхиванием .</a:t>
            </a:r>
            <a:r>
              <a:rPr lang="ru-RU" sz="1800" dirty="0" smtClean="0">
                <a:solidFill>
                  <a:srgbClr val="333300"/>
                </a:solidFill>
              </a:rPr>
              <a:t/>
            </a:r>
            <a:br>
              <a:rPr lang="ru-RU" sz="1800" dirty="0" smtClean="0">
                <a:solidFill>
                  <a:srgbClr val="333300"/>
                </a:solidFill>
              </a:rPr>
            </a:br>
            <a:r>
              <a:rPr lang="ru-RU" sz="1800" dirty="0"/>
              <a:t/>
            </a:r>
            <a:br>
              <a:rPr lang="ru-RU" sz="1800" dirty="0"/>
            </a:br>
            <a:endParaRPr lang="ru-RU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53" t="2913" r="-995" b="57851"/>
          <a:stretch>
            <a:fillRect/>
          </a:stretch>
        </p:blipFill>
        <p:spPr>
          <a:xfrm>
            <a:off x="755650" y="4724400"/>
            <a:ext cx="3636963" cy="1512888"/>
          </a:xfrm>
        </p:spPr>
      </p:pic>
      <p:pic>
        <p:nvPicPr>
          <p:cNvPr id="7168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4797425"/>
            <a:ext cx="1655762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67" t="-2235" r="1491" b="51984"/>
          <a:stretch>
            <a:fillRect/>
          </a:stretch>
        </p:blipFill>
        <p:spPr bwMode="auto">
          <a:xfrm>
            <a:off x="755650" y="4221163"/>
            <a:ext cx="477361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5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0" t="20091" r="6847" b="1016"/>
          <a:stretch>
            <a:fillRect/>
          </a:stretch>
        </p:blipFill>
        <p:spPr bwMode="auto">
          <a:xfrm>
            <a:off x="611188" y="908050"/>
            <a:ext cx="29527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49275"/>
            <a:ext cx="230505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Рисунок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135313"/>
            <a:ext cx="3600450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8" name="Рисунок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781300"/>
            <a:ext cx="4846637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10">
            <a:duotone>
              <a:prstClr val="black"/>
              <a:schemeClr val="tx1">
                <a:tint val="45000"/>
                <a:satMod val="400000"/>
              </a:schemeClr>
            </a:duotone>
          </a:blip>
          <a:srcRect r="17033" b="4129"/>
          <a:stretch/>
        </p:blipFill>
        <p:spPr>
          <a:xfrm>
            <a:off x="3995935" y="908720"/>
            <a:ext cx="2220507" cy="1512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620713"/>
            <a:ext cx="8326438" cy="24003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ru-RU" sz="2400" b="1" dirty="0"/>
              <a:t/>
            </a:r>
            <a:br>
              <a:rPr lang="en-US" altLang="ru-RU" sz="2400" b="1" dirty="0"/>
            </a:br>
            <a:r>
              <a:rPr lang="ru-RU" altLang="ru-RU" sz="2400" b="1" dirty="0">
                <a:solidFill>
                  <a:schemeClr val="bg1"/>
                </a:solidFill>
              </a:rPr>
              <a:t>Общая схема системы очистки воздуха </a:t>
            </a:r>
            <a:br>
              <a:rPr lang="ru-RU" altLang="ru-RU" sz="2400" b="1" dirty="0">
                <a:solidFill>
                  <a:schemeClr val="bg1"/>
                </a:solidFill>
              </a:rPr>
            </a:br>
            <a:r>
              <a:rPr lang="ru-RU" altLang="ru-RU" sz="2400" b="1" dirty="0">
                <a:solidFill>
                  <a:schemeClr val="bg1"/>
                </a:solidFill>
              </a:rPr>
              <a:t>от производственных </a:t>
            </a:r>
            <a:r>
              <a:rPr lang="ru-RU" altLang="ru-RU" sz="2400" b="1" dirty="0" err="1">
                <a:solidFill>
                  <a:schemeClr val="bg1"/>
                </a:solidFill>
              </a:rPr>
              <a:t>пылей</a:t>
            </a:r>
            <a:r>
              <a:rPr lang="ru-RU" altLang="ru-RU" sz="2400" b="1" dirty="0">
                <a:solidFill>
                  <a:schemeClr val="bg1"/>
                </a:solidFill>
              </a:rPr>
              <a:t> и газов </a:t>
            </a:r>
            <a:r>
              <a:rPr lang="en-US" altLang="ru-RU" sz="2400" b="1" dirty="0">
                <a:solidFill>
                  <a:schemeClr val="bg2"/>
                </a:solidFill>
              </a:rPr>
              <a:t/>
            </a:r>
            <a:br>
              <a:rPr lang="en-US" altLang="ru-RU" sz="2400" b="1" dirty="0">
                <a:solidFill>
                  <a:schemeClr val="bg2"/>
                </a:solidFill>
              </a:rPr>
            </a:br>
            <a:r>
              <a:rPr lang="en-US" altLang="ru-RU" sz="2400" b="1" dirty="0">
                <a:solidFill>
                  <a:schemeClr val="bg2"/>
                </a:solidFill>
              </a:rPr>
              <a:t/>
            </a:r>
            <a:br>
              <a:rPr lang="en-US" altLang="ru-RU" sz="2400" b="1" dirty="0">
                <a:solidFill>
                  <a:schemeClr val="bg2"/>
                </a:solidFill>
              </a:rPr>
            </a:br>
            <a:r>
              <a:rPr lang="ru-RU" altLang="ru-RU" sz="2400" i="1" dirty="0">
                <a:solidFill>
                  <a:schemeClr val="bg1"/>
                </a:solidFill>
              </a:rPr>
              <a:t>ПГВ — </a:t>
            </a:r>
            <a:r>
              <a:rPr lang="ru-RU" altLang="ru-RU" sz="2400" i="1" dirty="0" err="1">
                <a:solidFill>
                  <a:schemeClr val="bg1"/>
                </a:solidFill>
              </a:rPr>
              <a:t>пылегазовоздушная</a:t>
            </a:r>
            <a:r>
              <a:rPr lang="ru-RU" altLang="ru-RU" sz="2400" i="1" dirty="0">
                <a:solidFill>
                  <a:schemeClr val="bg1"/>
                </a:solidFill>
              </a:rPr>
              <a:t> смесь; </a:t>
            </a:r>
            <a:r>
              <a:rPr lang="en-US" altLang="ru-RU" sz="2400" i="1" dirty="0" smtClean="0">
                <a:solidFill>
                  <a:schemeClr val="bg1"/>
                </a:solidFill>
              </a:rPr>
              <a:t/>
            </a:r>
            <a:br>
              <a:rPr lang="en-US" altLang="ru-RU" sz="2400" i="1" dirty="0" smtClean="0">
                <a:solidFill>
                  <a:schemeClr val="bg1"/>
                </a:solidFill>
              </a:rPr>
            </a:br>
            <a:r>
              <a:rPr lang="ru-RU" altLang="ru-RU" sz="2400" i="1" dirty="0" smtClean="0">
                <a:solidFill>
                  <a:schemeClr val="bg1"/>
                </a:solidFill>
              </a:rPr>
              <a:t>ПУ </a:t>
            </a:r>
            <a:r>
              <a:rPr lang="ru-RU" altLang="ru-RU" sz="2400" i="1" dirty="0">
                <a:solidFill>
                  <a:schemeClr val="bg1"/>
                </a:solidFill>
              </a:rPr>
              <a:t>— пылеулавливающая камера; </a:t>
            </a:r>
            <a:br>
              <a:rPr lang="ru-RU" altLang="ru-RU" sz="2400" i="1" dirty="0">
                <a:solidFill>
                  <a:schemeClr val="bg1"/>
                </a:solidFill>
              </a:rPr>
            </a:br>
            <a:r>
              <a:rPr lang="ru-RU" altLang="ru-RU" sz="2400" i="1" dirty="0">
                <a:solidFill>
                  <a:schemeClr val="bg1"/>
                </a:solidFill>
              </a:rPr>
              <a:t>ГВ - </a:t>
            </a:r>
            <a:r>
              <a:rPr lang="ru-RU" altLang="ru-RU" sz="2400" i="1" dirty="0" err="1">
                <a:solidFill>
                  <a:schemeClr val="bg1"/>
                </a:solidFill>
              </a:rPr>
              <a:t>газовоздушная</a:t>
            </a:r>
            <a:r>
              <a:rPr lang="ru-RU" altLang="ru-RU" sz="2400" i="1" dirty="0">
                <a:solidFill>
                  <a:schemeClr val="bg1"/>
                </a:solidFill>
              </a:rPr>
              <a:t> смесь; </a:t>
            </a:r>
            <a:r>
              <a:rPr lang="en-US" altLang="ru-RU" sz="2400" i="1" dirty="0" smtClean="0">
                <a:solidFill>
                  <a:schemeClr val="bg1"/>
                </a:solidFill>
              </a:rPr>
              <a:t/>
            </a:r>
            <a:br>
              <a:rPr lang="en-US" altLang="ru-RU" sz="2400" i="1" dirty="0" smtClean="0">
                <a:solidFill>
                  <a:schemeClr val="bg1"/>
                </a:solidFill>
              </a:rPr>
            </a:br>
            <a:r>
              <a:rPr lang="ru-RU" altLang="ru-RU" sz="2400" i="1" dirty="0" smtClean="0">
                <a:solidFill>
                  <a:schemeClr val="bg1"/>
                </a:solidFill>
              </a:rPr>
              <a:t>ПБ </a:t>
            </a:r>
            <a:r>
              <a:rPr lang="ru-RU" altLang="ru-RU" sz="2400" i="1" dirty="0">
                <a:solidFill>
                  <a:schemeClr val="bg1"/>
                </a:solidFill>
              </a:rPr>
              <a:t>— промывная башня; </a:t>
            </a:r>
            <a:br>
              <a:rPr lang="ru-RU" altLang="ru-RU" sz="2400" i="1" dirty="0">
                <a:solidFill>
                  <a:schemeClr val="bg1"/>
                </a:solidFill>
              </a:rPr>
            </a:br>
            <a:r>
              <a:rPr lang="ru-RU" altLang="ru-RU" sz="2400" i="1" dirty="0">
                <a:solidFill>
                  <a:schemeClr val="bg1"/>
                </a:solidFill>
              </a:rPr>
              <a:t>ГО — газоочистка; </a:t>
            </a:r>
            <a:r>
              <a:rPr lang="en-US" altLang="ru-RU" sz="2400" i="1" dirty="0" smtClean="0">
                <a:solidFill>
                  <a:schemeClr val="bg1"/>
                </a:solidFill>
              </a:rPr>
              <a:t/>
            </a:r>
            <a:br>
              <a:rPr lang="en-US" altLang="ru-RU" sz="2400" i="1" dirty="0" smtClean="0">
                <a:solidFill>
                  <a:schemeClr val="bg1"/>
                </a:solidFill>
              </a:rPr>
            </a:br>
            <a:r>
              <a:rPr lang="ru-RU" altLang="ru-RU" sz="2400" i="1" dirty="0" smtClean="0">
                <a:solidFill>
                  <a:schemeClr val="bg1"/>
                </a:solidFill>
              </a:rPr>
              <a:t>В </a:t>
            </a:r>
            <a:r>
              <a:rPr lang="ru-RU" altLang="ru-RU" sz="2400" i="1" dirty="0">
                <a:solidFill>
                  <a:schemeClr val="bg1"/>
                </a:solidFill>
              </a:rPr>
              <a:t>— вентилятор</a:t>
            </a:r>
          </a:p>
        </p:txBody>
      </p:sp>
      <p:pic>
        <p:nvPicPr>
          <p:cNvPr id="73731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3644900"/>
            <a:ext cx="6284912" cy="216058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115888"/>
            <a:ext cx="2016125" cy="2528887"/>
          </a:xfrm>
        </p:spPr>
      </p:pic>
      <p:pic>
        <p:nvPicPr>
          <p:cNvPr id="7475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92150"/>
            <a:ext cx="15827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6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476250"/>
            <a:ext cx="5329237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Прямоугольник 1"/>
          <p:cNvSpPr>
            <a:spLocks noChangeArrowheads="1"/>
          </p:cNvSpPr>
          <p:nvPr/>
        </p:nvSpPr>
        <p:spPr bwMode="auto">
          <a:xfrm>
            <a:off x="179388" y="3068638"/>
            <a:ext cx="8785225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>
                <a:solidFill>
                  <a:schemeClr val="bg1"/>
                </a:solidFill>
              </a:rPr>
              <a:t>При невозможности или нецелесообразности использования пылегазоулавливающих устройств применяют прием рассеивания загрязняющих веществ через высокие и сверхвысокие дымовые трубы. </a:t>
            </a:r>
          </a:p>
          <a:p>
            <a:r>
              <a:rPr lang="ru-RU" altLang="ru-RU" sz="2000">
                <a:solidFill>
                  <a:schemeClr val="bg1"/>
                </a:solidFill>
              </a:rPr>
              <a:t>Этот метод не позволяет защищать воздушную среду от поступления токсичных примесей, но дает возможность существенно снизить их приземную концентрацию до уровня ПДК. </a:t>
            </a:r>
          </a:p>
          <a:p>
            <a:r>
              <a:rPr lang="ru-RU" altLang="ru-RU" sz="2000">
                <a:solidFill>
                  <a:schemeClr val="bg1"/>
                </a:solidFill>
              </a:rPr>
              <a:t>Сущность метода заключается в том, что мощные потоки дымовых газов, двигаясь в трубе с высокой скоростью за счет естественной тяги, рассеиваются на значительном расстоянии от источника загрязнения.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708400" y="3378200"/>
          <a:ext cx="1146175" cy="1331913"/>
        </p:xfrm>
        <a:graphic>
          <a:graphicData uri="http://schemas.openxmlformats.org/drawingml/2006/table">
            <a:tbl>
              <a:tblPr/>
              <a:tblGrid>
                <a:gridCol w="114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1913">
                <a:tc>
                  <a:txBody>
                    <a:bodyPr/>
                    <a:lstStyle/>
                    <a:p>
                      <a:pPr marL="155575" marR="0" lvl="0" indent="-155575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Германия 7,4%</a:t>
                      </a:r>
                    </a:p>
                  </a:txBody>
                  <a:tcPr marL="24130" marR="2413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578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7"/>
          <a:stretch>
            <a:fillRect/>
          </a:stretch>
        </p:blipFill>
        <p:spPr bwMode="auto">
          <a:xfrm>
            <a:off x="900113" y="1844675"/>
            <a:ext cx="5903912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11072813" y="0"/>
            <a:ext cx="28797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  <a:p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  <a:p>
            <a:endParaRPr lang="ru-RU" alt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539750" y="333375"/>
            <a:ext cx="7634288" cy="122396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dirty="0">
                <a:latin typeface="Arial" charset="0"/>
              </a:rPr>
              <a:t>В поступлении на территорию Беларуси серы и азота основной вклад принадлежит странам-соседям: Польше, Германии, Украине, России 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174038" y="5951538"/>
            <a:ext cx="857250" cy="669925"/>
          </a:xfrm>
        </p:spPr>
        <p:txBody>
          <a:bodyPr/>
          <a:lstStyle/>
          <a:p>
            <a:pPr>
              <a:defRPr/>
            </a:pPr>
            <a:fld id="{BC1C97D9-E0C9-42A3-9F3D-38A8B9E22366}" type="slidenum">
              <a:rPr lang="ru-RU" altLang="ru-RU" sz="1200" smtClean="0"/>
              <a:pPr>
                <a:defRPr/>
              </a:pPr>
              <a:t>51</a:t>
            </a:fld>
            <a:endParaRPr lang="ru-RU" alt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2" t="15089"/>
          <a:stretch>
            <a:fillRect/>
          </a:stretch>
        </p:blipFill>
        <p:spPr bwMode="auto">
          <a:xfrm>
            <a:off x="4211638" y="4652963"/>
            <a:ext cx="25463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7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675188"/>
            <a:ext cx="4032250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09" t="87852" r="-19183"/>
          <a:stretch>
            <a:fillRect/>
          </a:stretch>
        </p:blipFill>
        <p:spPr bwMode="auto">
          <a:xfrm>
            <a:off x="142875" y="6326188"/>
            <a:ext cx="3421063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9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4652963"/>
            <a:ext cx="24098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07950" y="333375"/>
            <a:ext cx="89281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800" b="1" dirty="0">
                <a:solidFill>
                  <a:schemeClr val="bg1"/>
                </a:solidFill>
              </a:rPr>
              <a:t>Группа планировочных мероприятий: </a:t>
            </a:r>
          </a:p>
          <a:p>
            <a:pPr>
              <a:defRPr/>
            </a:pPr>
            <a:endParaRPr lang="ru-RU" sz="18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оптимальное расположение промышленных предприятий с учетом "розы ветров", 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создание санитарно-защитных зон вокруг промышленных предприятий, 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вынос наиболее опасных производств за черту города, 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рациональная планировка городской застройки, 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озеленение городов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сооружение кольцевых дорог, </a:t>
            </a:r>
          </a:p>
          <a:p>
            <a:pPr marL="285750" indent="-285750">
              <a:buFont typeface="Wingdings" panose="05000000000000000000" pitchFamily="2" charset="2"/>
              <a:buChar char="ü"/>
              <a:defRPr/>
            </a:pPr>
            <a:r>
              <a:rPr lang="ru-RU" sz="1800" dirty="0">
                <a:solidFill>
                  <a:schemeClr val="bg1"/>
                </a:solidFill>
              </a:rPr>
              <a:t>использование подземного пространства. </a:t>
            </a:r>
          </a:p>
        </p:txBody>
      </p:sp>
      <p:sp>
        <p:nvSpPr>
          <p:cNvPr id="77831" name="Прямоугольник 2"/>
          <p:cNvSpPr>
            <a:spLocks noChangeArrowheads="1"/>
          </p:cNvSpPr>
          <p:nvPr/>
        </p:nvSpPr>
        <p:spPr bwMode="auto">
          <a:xfrm>
            <a:off x="107950" y="3500438"/>
            <a:ext cx="9145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800" b="1">
                <a:solidFill>
                  <a:schemeClr val="bg1"/>
                </a:solidFill>
              </a:rPr>
              <a:t>Санитарно-защитная зона </a:t>
            </a:r>
            <a:r>
              <a:rPr lang="ru-RU" altLang="ru-RU" sz="1800">
                <a:solidFill>
                  <a:schemeClr val="bg1"/>
                </a:solidFill>
              </a:rPr>
              <a:t>— это территория вокруг предприятия, где возможно превышение ПДК для одного или нескольких загрязняющих веществ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02433B-14D6-4E05-8BB4-A038B6A07A78}" type="slidenum">
              <a:rPr lang="en-US" sz="1000" smtClean="0">
                <a:latin typeface="Verdana" panose="020B0604030504040204" pitchFamily="34" charset="0"/>
                <a:ea typeface="Verdana" panose="020B0604030504040204" pitchFamily="34" charset="0"/>
              </a:rPr>
              <a:pPr>
                <a:defRPr/>
              </a:pPr>
              <a:t>53</a:t>
            </a:fld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55650" y="1052513"/>
            <a:ext cx="7632700" cy="2678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b="1" dirty="0">
                <a:solidFill>
                  <a:srgbClr val="3333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Контрольно-запретительные мероприятия </a:t>
            </a:r>
          </a:p>
          <a:p>
            <a:pPr>
              <a:defRPr/>
            </a:pPr>
            <a:endParaRPr lang="ru-RU" b="1" dirty="0">
              <a:solidFill>
                <a:srgbClr val="3333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srgbClr val="3333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введение величин предельно допустимых концентраций веществ и предельно допустимых выбросов в окружающую среду, </a:t>
            </a:r>
          </a:p>
          <a:p>
            <a:pPr marL="257175" indent="-257175"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srgbClr val="3333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запрещение производства отдельных веществ, мониторинг загрязнения воздуха.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Box 1"/>
          <p:cNvSpPr txBox="1">
            <a:spLocks noChangeArrowheads="1"/>
          </p:cNvSpPr>
          <p:nvPr/>
        </p:nvSpPr>
        <p:spPr bwMode="auto">
          <a:xfrm>
            <a:off x="2071688" y="714375"/>
            <a:ext cx="4714875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altLang="ru-RU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Тепловое загрязнение атмосферы</a:t>
            </a:r>
            <a:endParaRPr lang="ru-RU" altLang="ru-RU" b="1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71688" y="1643063"/>
            <a:ext cx="4786312" cy="4286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0900" name="TextBox 3"/>
          <p:cNvSpPr txBox="1">
            <a:spLocks noChangeArrowheads="1"/>
          </p:cNvSpPr>
          <p:nvPr/>
        </p:nvSpPr>
        <p:spPr bwMode="auto">
          <a:xfrm>
            <a:off x="2643188" y="1714500"/>
            <a:ext cx="3714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altLang="ru-RU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Парниковый эффект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rot="5400000">
            <a:off x="4071144" y="1356519"/>
            <a:ext cx="428625" cy="158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902" name="Picture 2" descr="Украина устроила распродажу квот на парниковые газы - Финансы на Новостей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428875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3" name="AutoShape 4" descr="Австралия намерена уменьшить выбросы парниковых газов к 2020 г. на 10% Землянин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04" name="AutoShape 6" descr="Австралия намерена уменьшить выбросы парниковых газов к 2020 г. на 10% Землянин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05" name="AutoShape 8" descr="Австралия намерена уменьшить выбросы парниковых газов к 2020 г. на 10% Землянин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06" name="AutoShape 10" descr="Австралия намерена уменьшить выбросы парниковых газов к 2020 г. на 10% Землянин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07" name="AutoShape 12" descr="Австралия намерена уменьшить выбросы парниковых газов к 2020 г. на 10% Землянин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08" name="AutoShape 14" descr="Австралия намерена уменьшить выбросы парниковых газов к 2020 г. на 10% Землянин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09" name="AutoShape 16" descr="Австралия намерена уменьшить выбросы парниковых газов к 2020…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80910" name="AutoShape 18" descr="Австралия намерена уменьшить выбросы парниковых газов к 2020…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pic>
        <p:nvPicPr>
          <p:cNvPr id="80911" name="Picture 20" descr="Runaway Greenhouse Effect : WAOW Weather 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2857500"/>
            <a:ext cx="258445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Стрелка вправо 16"/>
          <p:cNvSpPr/>
          <p:nvPr/>
        </p:nvSpPr>
        <p:spPr>
          <a:xfrm>
            <a:off x="5357813" y="3714750"/>
            <a:ext cx="571500" cy="5715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781300"/>
            <a:ext cx="8229600" cy="114300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altLang="ja-JP" sz="6600" b="1" dirty="0" smtClean="0">
                <a:solidFill>
                  <a:schemeClr val="bg1"/>
                </a:solidFill>
                <a:latin typeface="Times New Roman" pitchFamily="18" charset="0"/>
              </a:rPr>
              <a:t>парниковые газы</a:t>
            </a:r>
            <a:r>
              <a:rPr lang="ru-RU" altLang="ja-JP" dirty="0" smtClean="0">
                <a:solidFill>
                  <a:schemeClr val="bg1"/>
                </a:solidFill>
              </a:rPr>
              <a:t> </a:t>
            </a:r>
            <a:endParaRPr lang="ru-RU" dirty="0" smtClean="0">
              <a:solidFill>
                <a:schemeClr val="bg1"/>
              </a:solidFill>
            </a:endParaRPr>
          </a:p>
        </p:txBody>
      </p:sp>
      <p:grpSp>
        <p:nvGrpSpPr>
          <p:cNvPr id="81923" name="Group 13"/>
          <p:cNvGrpSpPr>
            <a:grpSpLocks/>
          </p:cNvGrpSpPr>
          <p:nvPr/>
        </p:nvGrpSpPr>
        <p:grpSpPr bwMode="auto">
          <a:xfrm>
            <a:off x="1258888" y="4076700"/>
            <a:ext cx="3168650" cy="2160588"/>
            <a:chOff x="793" y="2568"/>
            <a:chExt cx="1996" cy="1361"/>
          </a:xfrm>
        </p:grpSpPr>
        <p:sp>
          <p:nvSpPr>
            <p:cNvPr id="81933" name="AutoShape 5"/>
            <p:cNvSpPr>
              <a:spLocks noChangeArrowheads="1"/>
            </p:cNvSpPr>
            <p:nvPr/>
          </p:nvSpPr>
          <p:spPr bwMode="auto">
            <a:xfrm>
              <a:off x="793" y="2568"/>
              <a:ext cx="1996" cy="136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2000">
                  <a:solidFill>
                    <a:srgbClr val="0F496F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>
                  <a:solidFill>
                    <a:srgbClr val="0F496F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600">
                  <a:solidFill>
                    <a:srgbClr val="0F496F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ru-RU" altLang="ru-RU" sz="2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1474" y="3067"/>
              <a:ext cx="771" cy="404"/>
            </a:xfrm>
            <a:prstGeom prst="rect">
              <a:avLst/>
            </a:prstGeom>
            <a:solidFill>
              <a:srgbClr val="FF3F8D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ru-RU" altLang="ja-JP" sz="36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С0</a:t>
              </a:r>
              <a:r>
                <a:rPr lang="ru-RU" altLang="ja-JP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2</a:t>
              </a:r>
              <a:r>
                <a:rPr lang="ru-RU" altLang="ja-JP" sz="36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 </a:t>
              </a:r>
              <a:endParaRPr lang="ru-RU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81924" name="Group 14"/>
          <p:cNvGrpSpPr>
            <a:grpSpLocks/>
          </p:cNvGrpSpPr>
          <p:nvPr/>
        </p:nvGrpSpPr>
        <p:grpSpPr bwMode="auto">
          <a:xfrm>
            <a:off x="4932363" y="4076700"/>
            <a:ext cx="3168650" cy="2160588"/>
            <a:chOff x="3107" y="2568"/>
            <a:chExt cx="1996" cy="1361"/>
          </a:xfrm>
        </p:grpSpPr>
        <p:sp>
          <p:nvSpPr>
            <p:cNvPr id="81931" name="AutoShape 6"/>
            <p:cNvSpPr>
              <a:spLocks noChangeArrowheads="1"/>
            </p:cNvSpPr>
            <p:nvPr/>
          </p:nvSpPr>
          <p:spPr bwMode="auto">
            <a:xfrm>
              <a:off x="3107" y="2568"/>
              <a:ext cx="1996" cy="136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2000">
                  <a:solidFill>
                    <a:srgbClr val="0F496F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>
                  <a:solidFill>
                    <a:srgbClr val="0F496F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600">
                  <a:solidFill>
                    <a:srgbClr val="0F496F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ru-RU" altLang="ru-RU" sz="2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50" name="Rectangle 10"/>
            <p:cNvSpPr>
              <a:spLocks noChangeArrowheads="1"/>
            </p:cNvSpPr>
            <p:nvPr/>
          </p:nvSpPr>
          <p:spPr bwMode="auto">
            <a:xfrm>
              <a:off x="3742" y="3067"/>
              <a:ext cx="816" cy="404"/>
            </a:xfrm>
            <a:prstGeom prst="rect">
              <a:avLst/>
            </a:prstGeom>
            <a:solidFill>
              <a:srgbClr val="FF3F8D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ru-RU" altLang="ja-JP" sz="3600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СН</a:t>
              </a:r>
              <a:r>
                <a:rPr lang="ru-RU" altLang="ja-JP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4</a:t>
              </a:r>
              <a:endParaRPr lang="ru-RU" b="1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81925" name="Group 15"/>
          <p:cNvGrpSpPr>
            <a:grpSpLocks/>
          </p:cNvGrpSpPr>
          <p:nvPr/>
        </p:nvGrpSpPr>
        <p:grpSpPr bwMode="auto">
          <a:xfrm>
            <a:off x="1187450" y="476250"/>
            <a:ext cx="3168650" cy="2160588"/>
            <a:chOff x="748" y="300"/>
            <a:chExt cx="1996" cy="1361"/>
          </a:xfrm>
        </p:grpSpPr>
        <p:sp>
          <p:nvSpPr>
            <p:cNvPr id="81929" name="AutoShape 7"/>
            <p:cNvSpPr>
              <a:spLocks noChangeArrowheads="1"/>
            </p:cNvSpPr>
            <p:nvPr/>
          </p:nvSpPr>
          <p:spPr bwMode="auto">
            <a:xfrm rot="10800000">
              <a:off x="748" y="300"/>
              <a:ext cx="1996" cy="136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2000">
                  <a:solidFill>
                    <a:srgbClr val="0F496F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>
                  <a:solidFill>
                    <a:srgbClr val="0F496F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600">
                  <a:solidFill>
                    <a:srgbClr val="0F496F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ru-RU" altLang="ru-RU" sz="2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51" name="Rectangle 11"/>
            <p:cNvSpPr>
              <a:spLocks noChangeArrowheads="1"/>
            </p:cNvSpPr>
            <p:nvPr/>
          </p:nvSpPr>
          <p:spPr bwMode="auto">
            <a:xfrm>
              <a:off x="1383" y="663"/>
              <a:ext cx="817" cy="404"/>
            </a:xfrm>
            <a:prstGeom prst="rect">
              <a:avLst/>
            </a:prstGeom>
            <a:solidFill>
              <a:srgbClr val="FF3F8D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ru-RU" altLang="ja-JP" sz="36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N</a:t>
              </a:r>
              <a:r>
                <a:rPr lang="ru-RU" altLang="ja-JP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2</a:t>
              </a:r>
              <a:r>
                <a:rPr lang="ru-RU" altLang="ja-JP" sz="36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0</a:t>
              </a:r>
              <a:endParaRPr lang="ru-RU" sz="3600" b="1" i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81926" name="Group 16"/>
          <p:cNvGrpSpPr>
            <a:grpSpLocks/>
          </p:cNvGrpSpPr>
          <p:nvPr/>
        </p:nvGrpSpPr>
        <p:grpSpPr bwMode="auto">
          <a:xfrm>
            <a:off x="4787900" y="476250"/>
            <a:ext cx="3168650" cy="2160588"/>
            <a:chOff x="3061" y="300"/>
            <a:chExt cx="1996" cy="1361"/>
          </a:xfrm>
        </p:grpSpPr>
        <p:sp>
          <p:nvSpPr>
            <p:cNvPr id="81927" name="AutoShape 8"/>
            <p:cNvSpPr>
              <a:spLocks noChangeArrowheads="1"/>
            </p:cNvSpPr>
            <p:nvPr/>
          </p:nvSpPr>
          <p:spPr bwMode="auto">
            <a:xfrm rot="10800000">
              <a:off x="3061" y="300"/>
              <a:ext cx="1996" cy="136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762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2000">
                  <a:solidFill>
                    <a:srgbClr val="0F496F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>
                  <a:solidFill>
                    <a:srgbClr val="0F496F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600">
                  <a:solidFill>
                    <a:srgbClr val="0F496F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1"/>
                </a:buClr>
                <a:buSzPct val="80000"/>
                <a:buFont typeface="Wingdings 3" panose="05040102010807070707" pitchFamily="18" charset="2"/>
                <a:buChar char=""/>
                <a:defRPr sz="1400">
                  <a:solidFill>
                    <a:srgbClr val="0F496F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ru-RU" altLang="ru-RU" sz="24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52" name="Rectangle 12"/>
            <p:cNvSpPr>
              <a:spLocks noChangeArrowheads="1"/>
            </p:cNvSpPr>
            <p:nvPr/>
          </p:nvSpPr>
          <p:spPr bwMode="auto">
            <a:xfrm>
              <a:off x="3742" y="663"/>
              <a:ext cx="907" cy="404"/>
            </a:xfrm>
            <a:prstGeom prst="rect">
              <a:avLst/>
            </a:prstGeom>
            <a:solidFill>
              <a:srgbClr val="FF3F8D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H</a:t>
              </a: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2</a:t>
              </a:r>
              <a:r>
                <a:rPr lang="en-US" sz="36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O</a:t>
              </a:r>
              <a:endParaRPr lang="ru-RU" sz="3600" b="1" i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</p:spTree>
  </p:cSld>
  <p:clrMapOvr>
    <a:masterClrMapping/>
  </p:clrMapOvr>
  <p:transition spd="slow" advClick="0" advTm="7000">
    <p:blinds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Объект 2"/>
          <p:cNvSpPr>
            <a:spLocks noGrp="1"/>
          </p:cNvSpPr>
          <p:nvPr>
            <p:ph idx="1"/>
          </p:nvPr>
        </p:nvSpPr>
        <p:spPr>
          <a:xfrm>
            <a:off x="250825" y="333375"/>
            <a:ext cx="8540750" cy="4422775"/>
          </a:xfrm>
        </p:spPr>
        <p:txBody>
          <a:bodyPr/>
          <a:lstStyle/>
          <a:p>
            <a:pPr marL="0" indent="0">
              <a:spcBef>
                <a:spcPct val="0"/>
              </a:spcBef>
            </a:pPr>
            <a:r>
              <a:rPr lang="ru-RU" altLang="ru-RU" smtClean="0">
                <a:solidFill>
                  <a:srgbClr val="333300"/>
                </a:solidFill>
              </a:rPr>
              <a:t>Метан — парниковый газ и в этом качестве действует сильнее, чем углекислый газ. </a:t>
            </a:r>
          </a:p>
          <a:p>
            <a:pPr marL="0" indent="0">
              <a:spcBef>
                <a:spcPct val="0"/>
              </a:spcBef>
            </a:pPr>
            <a:r>
              <a:rPr lang="ru-RU" altLang="ru-RU" smtClean="0">
                <a:solidFill>
                  <a:srgbClr val="333300"/>
                </a:solidFill>
              </a:rPr>
              <a:t>Если степень воздействия углекислого газа на климат условно принять за единицу, то парниковая активность того же молярного объёма метана составит 21—25 единиц. </a:t>
            </a:r>
          </a:p>
          <a:p>
            <a:pPr marL="0" indent="0">
              <a:spcBef>
                <a:spcPct val="0"/>
              </a:spcBef>
            </a:pPr>
            <a:r>
              <a:rPr lang="ru-RU" altLang="ru-RU" smtClean="0">
                <a:solidFill>
                  <a:srgbClr val="333300"/>
                </a:solidFill>
              </a:rPr>
              <a:t>С 2007 года глобальные концентрации метана растут со скоростью ~5—6 ррb (частей на миллиард) в год.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243888" y="5949950"/>
            <a:ext cx="387350" cy="298450"/>
          </a:xfrm>
        </p:spPr>
        <p:txBody>
          <a:bodyPr/>
          <a:lstStyle/>
          <a:p>
            <a:pPr>
              <a:defRPr/>
            </a:pPr>
            <a:fld id="{C894B0B3-9357-40B8-97B2-7282F0369E86}" type="slidenum">
              <a:rPr lang="ru-RU" altLang="ru-RU" sz="1100" smtClean="0"/>
              <a:pPr>
                <a:defRPr/>
              </a:pPr>
              <a:t>56</a:t>
            </a:fld>
            <a:endParaRPr lang="ru-RU" altLang="ru-RU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4495800"/>
            <a:ext cx="6554788" cy="1524000"/>
          </a:xfrm>
        </p:spPr>
        <p:txBody>
          <a:bodyPr/>
          <a:lstStyle/>
          <a:p>
            <a:pPr eaLnBrk="1" hangingPunct="1">
              <a:defRPr/>
            </a:pPr>
            <a:endParaRPr lang="ru-RU" smtClean="0"/>
          </a:p>
        </p:txBody>
      </p:sp>
      <p:sp>
        <p:nvSpPr>
          <p:cNvPr id="83971" name="Rectangle 4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533400"/>
            <a:ext cx="6554788" cy="3767138"/>
          </a:xfrm>
        </p:spPr>
        <p:txBody>
          <a:bodyPr/>
          <a:lstStyle/>
          <a:p>
            <a:pPr eaLnBrk="1" hangingPunct="1"/>
            <a:endParaRPr lang="ru-RU" altLang="ru-RU" smtClean="0"/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-179388" y="-171450"/>
          <a:ext cx="9323388" cy="724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5" name="Шаблон Microsoft Office PowerPoint 2007" r:id="rId3" imgW="4570530" imgH="3427616" progId="PowerPoint.Template.12">
                  <p:embed/>
                </p:oleObj>
              </mc:Choice>
              <mc:Fallback>
                <p:oleObj name="Шаблон Microsoft Office PowerPoint 2007" r:id="rId3" imgW="4570530" imgH="3427616" progId="PowerPoint.Template.1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79388" y="-171450"/>
                        <a:ext cx="9323388" cy="724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Rectangle 7"/>
          <p:cNvSpPr>
            <a:spLocks noChangeArrowheads="1"/>
          </p:cNvSpPr>
          <p:nvPr/>
        </p:nvSpPr>
        <p:spPr bwMode="auto">
          <a:xfrm>
            <a:off x="0" y="8172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ru-RU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Прямоугольник 3"/>
          <p:cNvSpPr>
            <a:spLocks noChangeArrowheads="1"/>
          </p:cNvSpPr>
          <p:nvPr/>
        </p:nvSpPr>
        <p:spPr bwMode="auto">
          <a:xfrm>
            <a:off x="214313" y="620713"/>
            <a:ext cx="8605837" cy="52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 b="1" u="sng">
                <a:solidFill>
                  <a:schemeClr val="bg2"/>
                </a:solidFill>
              </a:rPr>
              <a:t>Международное законодательство</a:t>
            </a:r>
          </a:p>
          <a:p>
            <a:endParaRPr lang="ru-RU" altLang="ru-RU" sz="1800">
              <a:solidFill>
                <a:schemeClr val="bg2"/>
              </a:solidFill>
            </a:endParaRPr>
          </a:p>
          <a:p>
            <a:pPr fontAlgn="t"/>
            <a:r>
              <a:rPr lang="ru-RU" altLang="ru-RU" sz="1800" b="1">
                <a:solidFill>
                  <a:schemeClr val="bg2"/>
                </a:solidFill>
              </a:rPr>
              <a:t>Конвенция о трансграничном загрязнении воздуха на большие расстояния </a:t>
            </a:r>
            <a:r>
              <a:rPr lang="ru-RU" altLang="ru-RU" sz="1800">
                <a:solidFill>
                  <a:schemeClr val="bg2"/>
                </a:solidFill>
              </a:rPr>
              <a:t>(LRTAP), заключенная в 1979 г</a:t>
            </a:r>
          </a:p>
          <a:p>
            <a:pPr fontAlgn="t"/>
            <a:endParaRPr lang="ru-RU" altLang="ru-RU" sz="1800">
              <a:solidFill>
                <a:schemeClr val="bg2"/>
              </a:solidFill>
            </a:endParaRPr>
          </a:p>
          <a:p>
            <a:pPr fontAlgn="t"/>
            <a:r>
              <a:rPr lang="ru-RU" altLang="ru-RU" sz="1800" b="1">
                <a:solidFill>
                  <a:schemeClr val="bg2"/>
                </a:solidFill>
              </a:rPr>
              <a:t>Венская конвенция об охране озонового слоя</a:t>
            </a:r>
            <a:r>
              <a:rPr lang="ru-RU" altLang="ru-RU" sz="1800">
                <a:solidFill>
                  <a:schemeClr val="bg2"/>
                </a:solidFill>
              </a:rPr>
              <a:t>, принятая в марте 1985 г.</a:t>
            </a:r>
          </a:p>
          <a:p>
            <a:pPr fontAlgn="t"/>
            <a:endParaRPr lang="ru-RU" altLang="ru-RU" sz="1800">
              <a:solidFill>
                <a:schemeClr val="bg2"/>
              </a:solidFill>
            </a:endParaRPr>
          </a:p>
          <a:p>
            <a:r>
              <a:rPr lang="ru-RU" altLang="ru-RU" sz="1800" b="1">
                <a:solidFill>
                  <a:schemeClr val="bg2"/>
                </a:solidFill>
              </a:rPr>
              <a:t>Рамочная конвенция об изменении климата 1992 г. </a:t>
            </a:r>
          </a:p>
          <a:p>
            <a:endParaRPr lang="ru-RU" altLang="ru-RU" sz="1800" b="1">
              <a:solidFill>
                <a:schemeClr val="bg2"/>
              </a:solidFill>
            </a:endParaRPr>
          </a:p>
          <a:p>
            <a:r>
              <a:rPr lang="ru-RU" altLang="ru-RU" sz="1800" b="1">
                <a:solidFill>
                  <a:schemeClr val="bg2"/>
                </a:solidFill>
              </a:rPr>
              <a:t>Киотский протокол 1997 г.</a:t>
            </a:r>
            <a:endParaRPr lang="en-US" altLang="ru-RU" sz="1800" b="1">
              <a:solidFill>
                <a:schemeClr val="bg2"/>
              </a:solidFill>
            </a:endParaRPr>
          </a:p>
          <a:p>
            <a:endParaRPr lang="en-US" altLang="ru-RU" sz="1800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r>
              <a:rPr lang="ru-RU" altLang="ru-RU" sz="1800" b="1">
                <a:solidFill>
                  <a:schemeClr val="bg2"/>
                </a:solidFill>
              </a:rPr>
              <a:t>Doha Amendment to the Kyoto Protocol 2012</a:t>
            </a:r>
            <a:r>
              <a:rPr lang="en-US" altLang="ru-RU" sz="1800" b="1">
                <a:solidFill>
                  <a:schemeClr val="bg2"/>
                </a:solidFill>
              </a:rPr>
              <a:t> (</a:t>
            </a:r>
            <a:r>
              <a:rPr lang="ru-RU" altLang="ru-RU" sz="1800">
                <a:solidFill>
                  <a:schemeClr val="bg2"/>
                </a:solidFill>
              </a:rPr>
              <a:t>Дохинская поправка</a:t>
            </a:r>
            <a:r>
              <a:rPr lang="en-US" altLang="ru-RU" sz="1800" b="1">
                <a:solidFill>
                  <a:schemeClr val="bg2"/>
                </a:solidFill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ru-RU" sz="1800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r>
              <a:rPr lang="ru-RU" altLang="ru-RU" sz="1800" b="1">
                <a:solidFill>
                  <a:schemeClr val="bg2"/>
                </a:solidFill>
              </a:rPr>
              <a:t>Парижское соглашение</a:t>
            </a:r>
            <a:r>
              <a:rPr lang="ru-RU" altLang="ru-RU" sz="1800">
                <a:solidFill>
                  <a:schemeClr val="bg2"/>
                </a:solidFill>
              </a:rPr>
              <a:t>, подписанное в декабре 2015 г. и вступившее в силу 4 ноября 2016 года. </a:t>
            </a:r>
          </a:p>
          <a:p>
            <a:pPr>
              <a:lnSpc>
                <a:spcPct val="110000"/>
              </a:lnSpc>
            </a:pPr>
            <a:endParaRPr lang="ru-RU" altLang="ru-RU" sz="1800" b="1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endParaRPr lang="ru-RU" altLang="ru-RU" sz="1800" b="1">
              <a:solidFill>
                <a:schemeClr val="bg2"/>
              </a:solidFill>
            </a:endParaRPr>
          </a:p>
          <a:p>
            <a:endParaRPr lang="ru-RU" altLang="ru-RU" sz="1800" b="1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857250"/>
            <a:ext cx="6858000" cy="428625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effectLst>
                  <a:outerShdw blurRad="38100" dist="38100" dir="2700000" algn="tl">
                    <a:srgbClr val="FFFFFF"/>
                  </a:outerShdw>
                </a:effectLst>
              </a:rPr>
              <a:t>История Киотского протокола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0" y="1285875"/>
            <a:ext cx="2517775" cy="4714875"/>
          </a:xfrm>
          <a:solidFill>
            <a:schemeClr val="accent1"/>
          </a:solidFill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r>
              <a:rPr lang="ru-RU" sz="1800" b="1" dirty="0">
                <a:solidFill>
                  <a:schemeClr val="tx1"/>
                </a:solidFill>
              </a:rPr>
              <a:t>1992 год:</a:t>
            </a:r>
            <a:r>
              <a:rPr lang="ru-RU" sz="1800" dirty="0">
                <a:solidFill>
                  <a:schemeClr val="tx1"/>
                </a:solidFill>
              </a:rPr>
              <a:t> Конференция ООН по окружающей среде в Рио де Жанейро, где более 150 государств подписывают рамочную конвенцию по изменениям климата.</a:t>
            </a:r>
          </a:p>
          <a:p>
            <a:pPr>
              <a:lnSpc>
                <a:spcPct val="80000"/>
              </a:lnSpc>
              <a:defRPr/>
            </a:pPr>
            <a:r>
              <a:rPr lang="ru-RU" sz="1800" b="1" dirty="0">
                <a:solidFill>
                  <a:schemeClr val="tx1"/>
                </a:solidFill>
              </a:rPr>
              <a:t>28 марта – 8 апреля 1995 года:</a:t>
            </a:r>
            <a:r>
              <a:rPr lang="ru-RU" sz="1800" dirty="0">
                <a:solidFill>
                  <a:schemeClr val="tx1"/>
                </a:solidFill>
              </a:rPr>
              <a:t> Первая конференция стран, подписавших Конвенцию, в Берлине</a:t>
            </a:r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14750" y="1339850"/>
            <a:ext cx="4286250" cy="46609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  <a:defRPr/>
            </a:pPr>
            <a:r>
              <a:rPr lang="ru-RU" sz="135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</a:t>
            </a:r>
            <a:r>
              <a:rPr lang="ru-RU" sz="1425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Обязательства:</a:t>
            </a: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r>
              <a:rPr lang="ru-RU" sz="1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Предоставлять сведения о количестве парниковых газов, выбрасываемых в атмосферу.</a:t>
            </a: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endParaRPr lang="ru-RU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r>
              <a:rPr lang="ru-RU" sz="1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Разработать национальные программы борьбы с изменением климата.</a:t>
            </a: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endParaRPr lang="ru-RU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r>
              <a:rPr lang="ru-RU" sz="1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Усилить научные и технические исследования и систематические наблюдения, касающиеся климата.</a:t>
            </a: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endParaRPr lang="ru-RU" sz="1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  <a:defRPr/>
            </a:pPr>
            <a:r>
              <a:rPr lang="ru-RU" sz="1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Развивать образовательные программы и информирование общественности о глобальном изменении климата и его возможных последствиях.</a:t>
            </a:r>
          </a:p>
          <a:p>
            <a:pPr>
              <a:lnSpc>
                <a:spcPct val="80000"/>
              </a:lnSpc>
              <a:defRPr/>
            </a:pPr>
            <a:endParaRPr lang="ru-RU" sz="1425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0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7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7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7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7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7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7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7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7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7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 descr="Подложка ЭК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3063" y="-3175"/>
            <a:ext cx="9144001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-285750" y="0"/>
            <a:ext cx="9429750" cy="1214438"/>
          </a:xfrm>
        </p:spPr>
        <p:txBody>
          <a:bodyPr/>
          <a:lstStyle/>
          <a:p>
            <a:pPr>
              <a:defRPr/>
            </a:pPr>
            <a:r>
              <a:rPr lang="ru-RU" smtClean="0">
                <a:solidFill>
                  <a:srgbClr val="008000"/>
                </a:solidFill>
                <a:latin typeface="Arial Black" pitchFamily="34" charset="0"/>
              </a:rPr>
              <a:t>Обязательства РБ по сокращению выбросов парниковых газов</a:t>
            </a:r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357313"/>
            <a:ext cx="8591550" cy="11176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ru-RU" altLang="ru-RU" sz="2600" smtClean="0">
                <a:solidFill>
                  <a:srgbClr val="008000"/>
                </a:solidFill>
              </a:rPr>
              <a:t>обязательства </a:t>
            </a:r>
            <a:r>
              <a:rPr lang="ru-RU" altLang="ru-RU" sz="2600" b="1" smtClean="0">
                <a:solidFill>
                  <a:srgbClr val="008000"/>
                </a:solidFill>
              </a:rPr>
              <a:t>– </a:t>
            </a:r>
            <a:r>
              <a:rPr lang="ru-RU" altLang="ru-RU" sz="2600" smtClean="0">
                <a:solidFill>
                  <a:srgbClr val="008000"/>
                </a:solidFill>
              </a:rPr>
              <a:t>выбросы за 2004 г </a:t>
            </a:r>
            <a:r>
              <a:rPr lang="ru-RU" altLang="ru-RU" sz="2600" b="1" smtClean="0">
                <a:solidFill>
                  <a:srgbClr val="008000"/>
                </a:solidFill>
              </a:rPr>
              <a:t>– </a:t>
            </a:r>
            <a:r>
              <a:rPr lang="ru-RU" altLang="ru-RU" sz="2600" smtClean="0">
                <a:solidFill>
                  <a:srgbClr val="008000"/>
                </a:solidFill>
              </a:rPr>
              <a:t>резерв </a:t>
            </a:r>
            <a:r>
              <a:rPr lang="ru-RU" altLang="ru-RU" sz="2600" b="1" smtClean="0">
                <a:solidFill>
                  <a:srgbClr val="008000"/>
                </a:solidFill>
              </a:rPr>
              <a:t>= свободная часть, которую можно продать </a:t>
            </a:r>
          </a:p>
        </p:txBody>
      </p:sp>
      <p:graphicFrame>
        <p:nvGraphicFramePr>
          <p:cNvPr id="5125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-214313" y="2420938"/>
          <a:ext cx="9358313" cy="4572000"/>
        </p:xfrm>
        <a:graphic>
          <a:graphicData uri="http://schemas.openxmlformats.org/drawingml/2006/table">
            <a:tbl>
              <a:tblPr/>
              <a:tblGrid>
                <a:gridCol w="6417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участвует в механизмах торговли, </a:t>
                      </a:r>
                    </a:p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т. </a:t>
                      </a: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CO</a:t>
                      </a:r>
                      <a:r>
                        <a:rPr kumimoji="0" lang="en-US" sz="25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ru-RU" sz="2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экв</a:t>
                      </a:r>
                      <a:r>
                        <a:rPr kumimoji="0" lang="ru-RU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с 2008</a:t>
                      </a:r>
                      <a:endParaRPr kumimoji="0" lang="ru-RU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81908" marR="81908" marT="53330" marB="533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173 млн. т.</a:t>
                      </a:r>
                    </a:p>
                  </a:txBody>
                  <a:tcPr marL="81908" marR="81908" marT="53330" marB="533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участвует в механизмах торговли, </a:t>
                      </a:r>
                    </a:p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т. </a:t>
                      </a: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CO</a:t>
                      </a:r>
                      <a:r>
                        <a:rPr kumimoji="0" lang="en-US" sz="25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ru-RU" sz="2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экв</a:t>
                      </a:r>
                      <a:r>
                        <a:rPr kumimoji="0" lang="ru-RU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в год</a:t>
                      </a:r>
                    </a:p>
                  </a:txBody>
                  <a:tcPr marL="81908" marR="81908" marT="53330" marB="533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34,6 млн. т.</a:t>
                      </a:r>
                    </a:p>
                  </a:txBody>
                  <a:tcPr marL="81908" marR="81908" marT="53330" marB="533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при цене 7 </a:t>
                      </a:r>
                      <a:r>
                        <a:rPr kumimoji="0" lang="en-US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€</a:t>
                      </a:r>
                      <a:r>
                        <a:rPr kumimoji="0" lang="ru-RU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за </a:t>
                      </a:r>
                      <a:r>
                        <a:rPr kumimoji="0" lang="ru-RU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т. </a:t>
                      </a:r>
                      <a:r>
                        <a:rPr kumimoji="0" lang="en-US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CO</a:t>
                      </a:r>
                      <a:r>
                        <a:rPr kumimoji="0" lang="en-US" sz="25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ru-RU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экв </a:t>
                      </a:r>
                    </a:p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может быть получено в год </a:t>
                      </a:r>
                      <a:endParaRPr kumimoji="0" lang="en-US" sz="25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81908" marR="81908" marT="53330" marB="533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430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242 млн. </a:t>
                      </a:r>
                      <a:r>
                        <a:rPr kumimoji="0" 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€</a:t>
                      </a:r>
                      <a:endParaRPr kumimoji="0" lang="ru-RU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81908" marR="81908" marT="53330" marB="5333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8912</TotalTime>
  <Words>3516</Words>
  <Application>Microsoft Office PowerPoint</Application>
  <PresentationFormat>Экран (4:3)</PresentationFormat>
  <Paragraphs>372</Paragraphs>
  <Slides>60</Slides>
  <Notes>19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60</vt:i4>
      </vt:variant>
    </vt:vector>
  </HeadingPairs>
  <TitlesOfParts>
    <vt:vector size="73" baseType="lpstr">
      <vt:lpstr>Arial</vt:lpstr>
      <vt:lpstr>Century Gothic</vt:lpstr>
      <vt:lpstr>Wingdings 3</vt:lpstr>
      <vt:lpstr>Times New Roman</vt:lpstr>
      <vt:lpstr>Calibri</vt:lpstr>
      <vt:lpstr>Verdana</vt:lpstr>
      <vt:lpstr>Wingdings</vt:lpstr>
      <vt:lpstr>Tahoma</vt:lpstr>
      <vt:lpstr>メイリオ</vt:lpstr>
      <vt:lpstr>Arial Black</vt:lpstr>
      <vt:lpstr>Сектор</vt:lpstr>
      <vt:lpstr>Слайд Microsoft PowerPoint</vt:lpstr>
      <vt:lpstr>Шаблон Microsoft Office PowerPoint 2007</vt:lpstr>
      <vt:lpstr> Атмосфера, источники загрязнения атмосферы, охрана воздушного бассейна. </vt:lpstr>
      <vt:lpstr>Презентация PowerPoint</vt:lpstr>
      <vt:lpstr>Презентация PowerPoint</vt:lpstr>
      <vt:lpstr>Презентация PowerPoint</vt:lpstr>
      <vt:lpstr>ЗАЩИТНАЯ РОЛЬ ОЗОНА В АТМОСФЕРЕ Озоновый слой - Часть стратосферы на высоте от 12 до 50 км, в которой под воздействием ультрафиолетового излучения Солнца молекулярный кислород (О2) разрушается на атомы, которые затем соединяются с другими молекулами О2, образуя озон (О3). Относительно высокая концентрация озона (около 8 мл/м3) поглощает опасные ультрафиолетовые лучи и защищает все биологические виды от губительного излучения. Наибольшая плотность озона встречается на высоте 20-25 км. Озоновый слой атмосферы также защищает от проникновения космических тел и метеоритов. </vt:lpstr>
      <vt:lpstr>  АТМОСФЕРНЫЙ ВОЗДУХ — ЭТО МЕХАНИЧЕСКАЯ СМЕСЬ ГАЗОВ С ВЗВЕШЕННЫМИ КАПЛЯМИ ВОДЫ, ПЫЛИ, КРИСТАЛЛАМИ ЛЬДА    АТМОСФЕРНЫЙ ВОЗДУХ ЯВЛЯЕТСЯ ОДНИМ ИЗ ВАЖНЕЙШИХ ЭЛЕМЕНТОВ ОКРУЖАЮЩЕЙ СРЕДЫ И ПРЕДСТАВЛЯЕТ СОБОЙ МЕХАНИЧЕСКУЮ СМЕСЬ ГАЗОВ, ПЫЛИ КАПЕЛЕК ВОДЫ, КРИСТАЛЛОВ ЛЬДА И Т. Д. </vt:lpstr>
      <vt:lpstr>Значение атмосферы</vt:lpstr>
      <vt:lpstr>  Загрязнения можно разделить на природные, возникающие в результате естественных причин и антропогенные, возникшие в результате хозяйственной деятельности человека. </vt:lpstr>
      <vt:lpstr>Загрязнение атмосферы</vt:lpstr>
      <vt:lpstr>Загрязнение атмосферного воздуха от природных источников:   Естественное загрязнение обуславливается природными процессами, таким как вулканическая деятельность, эрозия (разрушение, выветривание горных пород и почвы), дым от лесных пожаров.  В воздух попадают различные продукты растительного, животного и микробиологического происхождения.  </vt:lpstr>
      <vt:lpstr>Загрязнение атмосферы в результате пыльных бурь </vt:lpstr>
      <vt:lpstr>Загрязнение атмосферы в результате лесных пожаров</vt:lpstr>
      <vt:lpstr>Презентация PowerPoint</vt:lpstr>
      <vt:lpstr>Антропогенные источники загрязнения</vt:lpstr>
      <vt:lpstr>Структура выбросов загрязняющих веществ от автотранспорта</vt:lpstr>
      <vt:lpstr>Презентация PowerPoint</vt:lpstr>
      <vt:lpstr>Презентация PowerPoint</vt:lpstr>
      <vt:lpstr>Презентация PowerPoint</vt:lpstr>
      <vt:lpstr>Презентация PowerPoint</vt:lpstr>
      <vt:lpstr>загрязнение атмосферы выбросами двуокиси азота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индекс загрязнения атмосферы (ИЗА)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МЕТОДЫ И ОБОРУДОВАНИЕ ДЛЯ ОЧИСТКИ АТМОСФЕРЫ </vt:lpstr>
      <vt:lpstr>Презентация PowerPoint</vt:lpstr>
      <vt:lpstr>МЕТОДЫ И ОБОРУДОВАНИЕ ДЛЯ ОЧИСТКИ АТМОСФЕРЫ </vt:lpstr>
      <vt:lpstr>  </vt:lpstr>
      <vt:lpstr>Фильтры Предназначены для тонкой очистки газов за счет осаждения частиц пыли (до 0,05 мкм) на поверхности пористых фильтрующих перегородок. По типу фильтрующей загрузки различают тканевые фильтры (ткань, войлок, губчатая резина) и зернистые. Выбор фильтрующего материала определяется требованиями к очистке и условиями работы: степень очистки, температура, агрессивность газов, влажность, количество и размер пыли и т.д.   Электрофильтры - эффективный способ очистки от взвешенных частиц пыли (0,01 мкм), от масляного тумана. Принцип действия основан на ионизации и осаждении частиц в электрическом поле. У поверхности коронирующего электрода происходит ионизация пылегазового потока. Приобретая отрицательный заряд, частицы пыли движутся к осадительному электроду, имеющему знак, противоположный заряду коронирующего электрода. По мере накопления на электродах частицы пыли падают под действием силы тяжести в сборник пыли или удаляются встряхиванием .  </vt:lpstr>
      <vt:lpstr>Презентация PowerPoint</vt:lpstr>
      <vt:lpstr> Общая схема системы очистки воздуха  от производственных пылей и газов   ПГВ — пылегазовоздушная смесь;  ПУ — пылеулавливающая камера;  ГВ - газовоздушная смесь;  ПБ — промывная башня;  ГО — газоочистка;  В — вентилятор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парниковые газы </vt:lpstr>
      <vt:lpstr>Презентация PowerPoint</vt:lpstr>
      <vt:lpstr>Презентация PowerPoint</vt:lpstr>
      <vt:lpstr>Презентация PowerPoint</vt:lpstr>
      <vt:lpstr>История Киотского протокола</vt:lpstr>
      <vt:lpstr>Обязательства РБ по сокращению выбросов парниковых газов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АТМОСФЕРА</dc:title>
  <dc:creator>kostyarik</dc:creator>
  <cp:lastModifiedBy>Henadzi Babraunichy</cp:lastModifiedBy>
  <cp:revision>308</cp:revision>
  <dcterms:created xsi:type="dcterms:W3CDTF">2005-01-16T16:55:09Z</dcterms:created>
  <dcterms:modified xsi:type="dcterms:W3CDTF">2023-09-22T18:33:28Z</dcterms:modified>
</cp:coreProperties>
</file>