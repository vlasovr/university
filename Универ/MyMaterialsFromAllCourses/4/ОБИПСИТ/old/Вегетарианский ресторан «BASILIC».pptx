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8" r:id="rId5"/>
    <p:sldId id="289" r:id="rId6"/>
    <p:sldId id="290" r:id="rId7"/>
    <p:sldId id="291" r:id="rId8"/>
    <p:sldId id="294" r:id="rId9"/>
    <p:sldId id="303" r:id="rId10"/>
    <p:sldId id="292" r:id="rId11"/>
    <p:sldId id="298" r:id="rId12"/>
    <p:sldId id="304" r:id="rId13"/>
    <p:sldId id="296" r:id="rId14"/>
    <p:sldId id="305" r:id="rId15"/>
    <p:sldId id="274" r:id="rId16"/>
    <p:sldId id="299" r:id="rId17"/>
    <p:sldId id="301" r:id="rId18"/>
    <p:sldId id="293" r:id="rId19"/>
    <p:sldId id="268" r:id="rId2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7F7F7F"/>
    <a:srgbClr val="302030"/>
    <a:srgbClr val="79A466"/>
    <a:srgbClr val="A466A1"/>
    <a:srgbClr val="7C4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Стиль из темы 2 - акцент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87" autoAdjust="0"/>
    <p:restoredTop sz="94641" autoAdjust="0"/>
  </p:normalViewPr>
  <p:slideViewPr>
    <p:cSldViewPr snapToGrid="0">
      <p:cViewPr>
        <p:scale>
          <a:sx n="121" d="100"/>
          <a:sy n="121" d="100"/>
        </p:scale>
        <p:origin x="-1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85332F6-84D5-43CF-B5CE-301BBE7CB9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7AB049E7-4E52-4F78-B7E3-9EEEB887E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F9756C1-BF48-42B1-901F-CF6E0830421E}" type="datetime1">
              <a:rPr lang="ru-RU" smtClean="0"/>
              <a:t>23.03.2022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0DD62C5-62E7-4FCF-A26E-C100A22EE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4A9C5A79-BC51-4C21-A236-759CEAE5D8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3333638-148D-48F3-93EA-686F1AB9FF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0867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2611A6-6664-426A-B3B6-CAC8C8AF292C}" type="datetime1">
              <a:rPr lang="ru-RU" smtClean="0"/>
              <a:pPr/>
              <a:t>23.03.2022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6C4120E-D8D4-4AFA-B0E2-7989D1701DEB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383899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95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963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84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75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78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057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389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316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394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431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350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277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444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65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6C4120E-D8D4-4AFA-B0E2-7989D1701DE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7114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A6C4120E-D8D4-4AFA-B0E2-7989D1701DE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52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bg>
      <p:bgPr>
        <a:solidFill>
          <a:schemeClr val="accent6">
            <a:alpha val="9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18D1035F-A14F-4F81-AC61-2AF512D7F8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E05B43-D8B3-4B3A-93E9-5A84CF7F3D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6042" y="1550988"/>
            <a:ext cx="3284832" cy="2387600"/>
          </a:xfrm>
          <a:prstGeom prst="rect">
            <a:avLst/>
          </a:prstGeom>
        </p:spPr>
        <p:txBody>
          <a:bodyPr rtlCol="0" anchor="b"/>
          <a:lstStyle>
            <a:lvl1pPr algn="l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9F2A661-E12F-4DA4-89DE-F2048B1B43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6042" y="4057095"/>
            <a:ext cx="3284832" cy="155312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18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Подзаголовок слайда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F464D5FB-99FD-4266-B81F-46B0376436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54175" y="4241283"/>
            <a:ext cx="10537825" cy="261671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45000" i="1" baseline="0">
                <a:solidFill>
                  <a:schemeClr val="bg1">
                    <a:alpha val="8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337734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 нас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>
            <a:extLst>
              <a:ext uri="{FF2B5EF4-FFF2-40B4-BE49-F238E27FC236}">
                <a16:creationId xmlns:a16="http://schemas.microsoft.com/office/drawing/2014/main" xmlns="" id="{E265C839-12C3-47EF-9941-39B43796B3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1215" y="0"/>
            <a:ext cx="6830785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xmlns="" id="{E6AB2BC9-972D-4B30-981B-BAD528A7F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002437"/>
            <a:ext cx="12186555" cy="285556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5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8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Информация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E1F2E92-C9AF-47A3-84EF-181F642A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74F2C06-CE94-4D97-A7F5-08D8D7BF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210CA9D-6428-41AF-B478-FB553C04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5214FDE4-5230-4BC7-8C8A-024BF947C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901598"/>
            <a:ext cx="3684814" cy="3365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xmlns="" id="{95062B64-8BE7-421C-8F8F-F0CEEB1C5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1454764"/>
            <a:ext cx="3684814" cy="280159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Подзаголовок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51A8088E-EE7F-4006-9745-8926E1ABB691}"/>
              </a:ext>
            </a:extLst>
          </p:cNvPr>
          <p:cNvCxnSpPr>
            <a:cxnSpLocks/>
          </p:cNvCxnSpPr>
          <p:nvPr userDrawn="1"/>
        </p:nvCxnSpPr>
        <p:spPr>
          <a:xfrm>
            <a:off x="587189" y="0"/>
            <a:ext cx="0" cy="386583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95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E3D34C3A-6235-4BB3-A283-CAE0A33D37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Щелкните, чтобы добавить фотографию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09EDE6B-5E65-4F08-A24A-A9EC9067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D674259-E892-4133-9796-2A1A30C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E462A321-B440-475F-8F1F-B5B3B697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xmlns="" id="{ED1A311C-7C5B-4A6A-9430-1FDF9E65E23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6050" y="2149803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Текст слайда</a:t>
            </a:r>
          </a:p>
        </p:txBody>
      </p:sp>
      <p:sp>
        <p:nvSpPr>
          <p:cNvPr id="10" name="Текст 15">
            <a:extLst>
              <a:ext uri="{FF2B5EF4-FFF2-40B4-BE49-F238E27FC236}">
                <a16:creationId xmlns:a16="http://schemas.microsoft.com/office/drawing/2014/main" xmlns="" id="{9294BC1C-A5F3-4428-A88F-0029F652AE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6050" y="178337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 dirty="0"/>
              <a:t>Подзаголовок слайда</a:t>
            </a:r>
          </a:p>
        </p:txBody>
      </p:sp>
      <p:sp>
        <p:nvSpPr>
          <p:cNvPr id="11" name="Текст 30">
            <a:extLst>
              <a:ext uri="{FF2B5EF4-FFF2-40B4-BE49-F238E27FC236}">
                <a16:creationId xmlns:a16="http://schemas.microsoft.com/office/drawing/2014/main" xmlns="" id="{E1A93ECB-2477-4750-92EB-808431F558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4192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xmlns="" id="{1B981D60-5094-418F-8053-F9AC3EE2F6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4192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3" name="Текст 30">
            <a:extLst>
              <a:ext uri="{FF2B5EF4-FFF2-40B4-BE49-F238E27FC236}">
                <a16:creationId xmlns:a16="http://schemas.microsoft.com/office/drawing/2014/main" xmlns="" id="{D4577FD4-018C-4FC5-8B3C-5F10F8D1D7B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6050" y="4414557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 dirty="0"/>
              <a:t>Текст слайда</a:t>
            </a:r>
          </a:p>
        </p:txBody>
      </p:sp>
      <p:sp>
        <p:nvSpPr>
          <p:cNvPr id="14" name="Текст 15">
            <a:extLst>
              <a:ext uri="{FF2B5EF4-FFF2-40B4-BE49-F238E27FC236}">
                <a16:creationId xmlns:a16="http://schemas.microsoft.com/office/drawing/2014/main" xmlns="" id="{F7BB952E-0716-4503-B1A2-C64348D4C67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76050" y="4048132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 dirty="0"/>
              <a:t>Подзаголовок слайда</a:t>
            </a:r>
          </a:p>
        </p:txBody>
      </p:sp>
      <p:sp>
        <p:nvSpPr>
          <p:cNvPr id="15" name="Текст 30">
            <a:extLst>
              <a:ext uri="{FF2B5EF4-FFF2-40B4-BE49-F238E27FC236}">
                <a16:creationId xmlns:a16="http://schemas.microsoft.com/office/drawing/2014/main" xmlns="" id="{31F6468A-E1B5-499E-BE6D-B6B35AB5C0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4192" y="4414557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67A73001-AEEA-4FA6-BD1D-2FB7F79AB2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4192" y="4048132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xmlns="" id="{F7D1EE2B-BA7E-4102-A1AB-D36A04A327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6051" y="893523"/>
            <a:ext cx="5094517" cy="296198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18" name="Текст 30">
            <a:extLst>
              <a:ext uri="{FF2B5EF4-FFF2-40B4-BE49-F238E27FC236}">
                <a16:creationId xmlns:a16="http://schemas.microsoft.com/office/drawing/2014/main" xmlns="" id="{84447B14-E16C-4164-8093-80762E5341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92333" y="2149803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xmlns="" id="{0ADD1433-3072-4EBB-9720-0F0DB8DE2A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92333" y="178337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857263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ешение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4">
            <a:extLst>
              <a:ext uri="{FF2B5EF4-FFF2-40B4-BE49-F238E27FC236}">
                <a16:creationId xmlns:a16="http://schemas.microsoft.com/office/drawing/2014/main" xmlns="" id="{0BEAA80F-F328-4E79-9BF7-351D45B7B7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9788" y="1449390"/>
            <a:ext cx="15294428" cy="30765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 dirty="0"/>
              <a:t>Решение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92A1422C-C630-4C48-A1BD-5097502AC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AEAF124C-643E-4BA6-9FF7-DFF06D9A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14ACCC8-5EF3-4F6A-B7EC-5208088F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DAD665EC-5C19-4FBE-8A06-0D1AA7483E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0714" y="1863161"/>
            <a:ext cx="9993085" cy="892630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xmlns="" id="{089BE564-7E4F-4A70-9321-1F1BB911BA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7573" y="3751002"/>
            <a:ext cx="2383973" cy="158314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1821488E-83E5-4683-8C32-9E4E97E57C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7573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xmlns="" id="{14EE872B-A4DD-4519-AFD8-36F6339BAB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316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2" name="Текст 15">
            <a:extLst>
              <a:ext uri="{FF2B5EF4-FFF2-40B4-BE49-F238E27FC236}">
                <a16:creationId xmlns:a16="http://schemas.microsoft.com/office/drawing/2014/main" xmlns="" id="{1577DCED-2EF9-4095-B443-E1D09F96DE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4316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33" name="Текст 30">
            <a:extLst>
              <a:ext uri="{FF2B5EF4-FFF2-40B4-BE49-F238E27FC236}">
                <a16:creationId xmlns:a16="http://schemas.microsoft.com/office/drawing/2014/main" xmlns="" id="{0638478C-F9BC-4D44-96AB-486806CC9C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1057" y="3751002"/>
            <a:ext cx="2383973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4" name="Текст 15">
            <a:extLst>
              <a:ext uri="{FF2B5EF4-FFF2-40B4-BE49-F238E27FC236}">
                <a16:creationId xmlns:a16="http://schemas.microsoft.com/office/drawing/2014/main" xmlns="" id="{7CA913FF-6AA8-4452-95D6-DAE89F1071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1057" y="3384577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35" name="Текст 30">
            <a:extLst>
              <a:ext uri="{FF2B5EF4-FFF2-40B4-BE49-F238E27FC236}">
                <a16:creationId xmlns:a16="http://schemas.microsoft.com/office/drawing/2014/main" xmlns="" id="{513D6F39-D316-4BC6-872C-70B2AEABF2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7800" y="3751002"/>
            <a:ext cx="2383972" cy="154992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6" name="Текст 15">
            <a:extLst>
              <a:ext uri="{FF2B5EF4-FFF2-40B4-BE49-F238E27FC236}">
                <a16:creationId xmlns:a16="http://schemas.microsoft.com/office/drawing/2014/main" xmlns="" id="{812D9D34-44F4-4272-B889-6A16352E6C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7800" y="3384577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400" kern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52923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 проду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7">
            <a:extLst>
              <a:ext uri="{FF2B5EF4-FFF2-40B4-BE49-F238E27FC236}">
                <a16:creationId xmlns:a16="http://schemas.microsoft.com/office/drawing/2014/main" xmlns="" id="{FE652442-8170-498C-A898-AF94B2DD11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62439" y="0"/>
            <a:ext cx="5328822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3270AEB0-C94B-4451-9167-6BD905C0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972ADD39-75F0-48ED-9F83-73018639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446418F-6895-486C-A333-AE3A509B7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xmlns="" id="{AFEC7295-AA7A-4373-AFCC-01672D7926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2154063"/>
            <a:ext cx="2383973" cy="1452926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Текст слайда</a:t>
            </a:r>
          </a:p>
        </p:txBody>
      </p:sp>
      <p:sp>
        <p:nvSpPr>
          <p:cNvPr id="6" name="Текст 15">
            <a:extLst>
              <a:ext uri="{FF2B5EF4-FFF2-40B4-BE49-F238E27FC236}">
                <a16:creationId xmlns:a16="http://schemas.microsoft.com/office/drawing/2014/main" xmlns="" id="{598ED1F4-A00A-4498-9EE6-005CF2D8FA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787638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0" name="Текст 30">
            <a:extLst>
              <a:ext uri="{FF2B5EF4-FFF2-40B4-BE49-F238E27FC236}">
                <a16:creationId xmlns:a16="http://schemas.microsoft.com/office/drawing/2014/main" xmlns="" id="{CF8F506C-096D-434B-8C0A-B784CA4AC7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8746" y="2154063"/>
            <a:ext cx="2383972" cy="142243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1" name="Текст 15">
            <a:extLst>
              <a:ext uri="{FF2B5EF4-FFF2-40B4-BE49-F238E27FC236}">
                <a16:creationId xmlns:a16="http://schemas.microsoft.com/office/drawing/2014/main" xmlns="" id="{1DC47ED6-4130-40E7-8FC9-D611942AC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8746" y="1787638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2" name="Текст 30">
            <a:extLst>
              <a:ext uri="{FF2B5EF4-FFF2-40B4-BE49-F238E27FC236}">
                <a16:creationId xmlns:a16="http://schemas.microsoft.com/office/drawing/2014/main" xmlns="" id="{ED4BD005-97C0-42DC-8C08-6B9F4DB001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415035"/>
            <a:ext cx="2383973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xmlns="" id="{96E60615-9B40-4EAF-87C7-81C56B101A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4048610"/>
            <a:ext cx="2383973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4" name="Текст 30">
            <a:extLst>
              <a:ext uri="{FF2B5EF4-FFF2-40B4-BE49-F238E27FC236}">
                <a16:creationId xmlns:a16="http://schemas.microsoft.com/office/drawing/2014/main" xmlns="" id="{A88908D1-7E92-448F-A890-1C2E229F6C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8746" y="4415035"/>
            <a:ext cx="2383972" cy="133262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xmlns="" id="{1BD5AD54-7BC4-4C94-BE3A-18B3144A2B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48746" y="4048610"/>
            <a:ext cx="2383972" cy="464399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sz="1400" kern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D3673029-D2A1-4074-ACCA-13D6DE34D6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893045"/>
            <a:ext cx="5094517" cy="296676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892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еимущества продукта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>
            <a:extLst>
              <a:ext uri="{FF2B5EF4-FFF2-40B4-BE49-F238E27FC236}">
                <a16:creationId xmlns:a16="http://schemas.microsoft.com/office/drawing/2014/main" xmlns="" id="{20E9FD2F-C591-4424-9786-FC0584ED99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3429000"/>
            <a:ext cx="12196282" cy="342900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xmlns="" id="{53A582BA-E159-4C50-B38C-77C5DBB401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200" y="-2355262"/>
            <a:ext cx="11353799" cy="5551580"/>
          </a:xfrm>
          <a:prstGeom prst="rect">
            <a:avLst/>
          </a:prstGeom>
        </p:spPr>
        <p:txBody>
          <a:bodyPr rtlCol="0" anchor="ctr"/>
          <a:lstStyle>
            <a:lvl1pPr marL="0" indent="0" algn="r">
              <a:lnSpc>
                <a:spcPct val="100000"/>
              </a:lnSpc>
              <a:spcBef>
                <a:spcPts val="1500"/>
              </a:spcBef>
              <a:buNone/>
              <a:defRPr sz="50000" i="1" baseline="0">
                <a:solidFill>
                  <a:schemeClr val="bg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 dirty="0"/>
              <a:t>Преимущества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AF03B677-4EE8-4758-B5E7-E0E647963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048A148-5926-44EC-857E-A52EE5AB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0ACD214-48A4-4D6C-9016-FDB6AD88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4655EB74-3BFE-4C75-92A7-86B8A0870A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7508"/>
            <a:ext cx="10515600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xmlns="" id="{6EBA1834-F4E8-4C34-9017-E3D85F613D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453589"/>
            <a:ext cx="10515600" cy="1518211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11341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>
            <a:extLst>
              <a:ext uri="{FF2B5EF4-FFF2-40B4-BE49-F238E27FC236}">
                <a16:creationId xmlns:a16="http://schemas.microsoft.com/office/drawing/2014/main" xmlns="" id="{F9C9AE60-466C-4BDA-9E87-7701D81CFE3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xmlns="" id="{4DF025DF-FE0B-4046-8687-417DFBEB31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3250937" y="1278117"/>
            <a:ext cx="19788513" cy="251460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4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8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Компания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254DB932-57BE-437E-B336-17F289AFD79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3218" y="2685143"/>
            <a:ext cx="9685563" cy="1487714"/>
          </a:xfrm>
          <a:prstGeom prst="rect">
            <a:avLst/>
          </a:prstGeom>
        </p:spPr>
        <p:txBody>
          <a:bodyPr rtlCol="0" anchor="ctr"/>
          <a:lstStyle>
            <a:lvl1pPr algn="ctr">
              <a:defRPr sz="5000" cap="all" spc="2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78231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изнес-модел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xmlns="" id="{8F9D74B8-165B-49A6-ACBB-8B7950289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xmlns="" id="{00B316D0-6EE1-4FB2-A993-B0CD4CFE50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1325217" y="3977202"/>
            <a:ext cx="16229934" cy="2852057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8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Бизнес-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6D10495B-28B8-4389-8E1C-F335846C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41E258A-A128-4BAF-B8C3-723C63823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D369002-18F2-427F-A791-0E26DD2F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xmlns="" id="{23AD8AD8-9C40-44FB-8FF8-815C534582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2067161"/>
            <a:ext cx="4386945" cy="100619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Текст слайда</a:t>
            </a:r>
          </a:p>
        </p:txBody>
      </p:sp>
      <p:sp>
        <p:nvSpPr>
          <p:cNvPr id="10" name="Текст 15">
            <a:extLst>
              <a:ext uri="{FF2B5EF4-FFF2-40B4-BE49-F238E27FC236}">
                <a16:creationId xmlns:a16="http://schemas.microsoft.com/office/drawing/2014/main" xmlns="" id="{1411AFC0-5C52-4C0E-AD29-3DFFD3039C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9" y="176605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xmlns="" id="{42010AEB-C0FD-48C8-A1FA-1BD96B6A548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722217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xmlns="" id="{8B45D3B9-84F4-4A17-9D4D-8CBE603A14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199611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xmlns="" id="{27A1B57C-13D8-4BB6-9D45-D83EB1BD66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200" y="3512803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xmlns="" id="{2301C86B-1946-426F-9494-C64455A7E6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76" y="4643683"/>
            <a:ext cx="4386945" cy="464399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20" name="Текст 17">
            <a:extLst>
              <a:ext uri="{FF2B5EF4-FFF2-40B4-BE49-F238E27FC236}">
                <a16:creationId xmlns:a16="http://schemas.microsoft.com/office/drawing/2014/main" xmlns="" id="{3BD347B5-FD69-4D61-BBDA-09FB8EF51B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977" y="4956875"/>
            <a:ext cx="4386758" cy="10064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Текст слайда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xmlns="" id="{ACBD29BE-7E3F-457E-808D-E151E479D755}"/>
              </a:ext>
            </a:extLst>
          </p:cNvPr>
          <p:cNvCxnSpPr>
            <a:cxnSpLocks/>
          </p:cNvCxnSpPr>
          <p:nvPr userDrawn="1"/>
        </p:nvCxnSpPr>
        <p:spPr>
          <a:xfrm>
            <a:off x="590349" y="923365"/>
            <a:ext cx="0" cy="59346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3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 рын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 4">
            <a:extLst>
              <a:ext uri="{FF2B5EF4-FFF2-40B4-BE49-F238E27FC236}">
                <a16:creationId xmlns:a16="http://schemas.microsoft.com/office/drawing/2014/main" xmlns="" id="{4721D2A8-92CC-4A4D-9252-1D5E72D999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0"/>
            <a:ext cx="13879773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8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Рынок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D4D09877-9D5E-4728-9E1B-F801C72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3435AAD1-49C3-459F-8752-6773813AA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D0DC1F07-5ADF-4FA1-890D-55E05685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5E430114-0FFE-44D3-9D11-77F649F9B1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75483" y="1941509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xmlns="" id="{4A448A10-6C5A-42B4-AFD7-DF6DD58F0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0223" y="4076963"/>
            <a:ext cx="2834640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Добавьте текст сюда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xmlns="" id="{6D1B0E05-9C40-4BB7-B07F-D8FD6B11F6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0773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xmlns="" id="{FF94E508-0A60-413A-9DE0-DE8BDEC1FC2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28372" y="4076963"/>
            <a:ext cx="2833338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Добавьте текст сюда</a:t>
            </a:r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xmlns="" id="{3A34A8A7-647E-4685-A99B-1177931A13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219" y="4076963"/>
            <a:ext cx="2833339" cy="1151633"/>
          </a:xfrm>
          <a:prstGeom prst="rect">
            <a:avLst/>
          </a:prstGeom>
        </p:spPr>
        <p:txBody>
          <a:bodyPr rtlCol="0"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Добавьте текст сюда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xmlns="" id="{FCECDC73-A31B-4C94-AE4B-BDC32D94F1EA}"/>
              </a:ext>
            </a:extLst>
          </p:cNvPr>
          <p:cNvCxnSpPr>
            <a:cxnSpLocks/>
          </p:cNvCxnSpPr>
          <p:nvPr userDrawn="1"/>
        </p:nvCxnSpPr>
        <p:spPr>
          <a:xfrm>
            <a:off x="860223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10">
            <a:extLst>
              <a:ext uri="{FF2B5EF4-FFF2-40B4-BE49-F238E27FC236}">
                <a16:creationId xmlns:a16="http://schemas.microsoft.com/office/drawing/2014/main" xmlns="" id="{DD83A920-6634-4731-94D5-4186C82C6A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37619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xmlns="" id="{16592B16-F73C-4572-ACB3-FBB03EE7EE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04467" y="2806964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r">
              <a:buNone/>
              <a:defRPr sz="4000" kern="0" cap="all" spc="4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E8685373-D021-44D0-B9F5-DD46F7C2EACA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7411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B6020995-72BD-4944-B899-E6DA4064D131}"/>
              </a:ext>
            </a:extLst>
          </p:cNvPr>
          <p:cNvCxnSpPr>
            <a:cxnSpLocks/>
          </p:cNvCxnSpPr>
          <p:nvPr userDrawn="1"/>
        </p:nvCxnSpPr>
        <p:spPr>
          <a:xfrm>
            <a:off x="4727069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C0C8E87B-2B7F-4A86-8EE0-6B1F9CDB72CD}"/>
              </a:ext>
            </a:extLst>
          </p:cNvPr>
          <p:cNvCxnSpPr>
            <a:cxnSpLocks/>
          </p:cNvCxnSpPr>
          <p:nvPr userDrawn="1"/>
        </p:nvCxnSpPr>
        <p:spPr>
          <a:xfrm>
            <a:off x="8593917" y="3939883"/>
            <a:ext cx="290367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00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59927B5-CD76-4CF2-9218-21B4ABE3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9DE09AE-94B2-4BFF-BDCE-0B4930D63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F7DB683-0E38-45C3-A062-8642CC4CC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B3A9F833-D729-4A7C-AE1F-BAAF1214BA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xmlns="" id="{D914E175-8C78-40BB-9962-8A85F2F0E4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200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xmlns="" id="{13F63585-E36E-41A6-95F2-CD2BE2D655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6428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xmlns="" id="{10FF23F7-3892-471E-AFA1-0D8BE8F43F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6428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xmlns="" id="{24D6B59F-6577-4B1E-B7F8-134B42084E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4657" y="4428271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xmlns="" id="{39A963ED-FD03-4AAC-B023-59B209A5EB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657" y="4753993"/>
            <a:ext cx="2939143" cy="46908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23ED9778-7DC1-4EFA-92B5-2B9F0740F5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4" y="724868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8" name="Текст 14">
            <a:extLst>
              <a:ext uri="{FF2B5EF4-FFF2-40B4-BE49-F238E27FC236}">
                <a16:creationId xmlns:a16="http://schemas.microsoft.com/office/drawing/2014/main" xmlns="" id="{F1777D6D-27DD-4DA3-8C4C-B8F9BA9B18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90331" y="2383034"/>
            <a:ext cx="1837944" cy="1837944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3 млрд долл. США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B99795F1-D282-42EE-BFEC-2F47E8BE5D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78559" y="2383034"/>
            <a:ext cx="1837944" cy="183794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2 млрд долл. США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xmlns="" id="{E7EDCD32-FC44-473D-A0D4-F71DAF5728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6788" y="2383034"/>
            <a:ext cx="1837944" cy="1837944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1 млрд долл. США</a:t>
            </a:r>
          </a:p>
        </p:txBody>
      </p:sp>
    </p:spTree>
    <p:extLst>
      <p:ext uri="{BB962C8B-B14F-4D97-AF65-F5344CB8AC3E}">
        <p14:creationId xmlns:p14="http://schemas.microsoft.com/office/powerpoint/2010/main" val="86504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ши конкуренты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7">
            <a:extLst>
              <a:ext uri="{FF2B5EF4-FFF2-40B4-BE49-F238E27FC236}">
                <a16:creationId xmlns:a16="http://schemas.microsoft.com/office/drawing/2014/main" xmlns="" id="{9332B195-6B28-453B-8483-E18845F548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0"/>
            <a:ext cx="12196282" cy="244291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xmlns="" id="{70B36DB2-10C9-40E1-A939-F9F3E99AA9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-316523" y="104279"/>
            <a:ext cx="12508523" cy="2679238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40000"/>
              </a:lnSpc>
              <a:spcBef>
                <a:spcPts val="0"/>
              </a:spcBef>
              <a:buNone/>
              <a:defRPr sz="50000" baseline="0">
                <a:solidFill>
                  <a:schemeClr val="bg1">
                    <a:alpha val="20000"/>
                  </a:schemeClr>
                </a:solidFill>
                <a:latin typeface="Kunstler Script" panose="030304020206070D0D06" pitchFamily="66" charset="0"/>
              </a:defRPr>
            </a:lvl1pPr>
          </a:lstStyle>
          <a:p>
            <a:pPr rtl="0"/>
            <a:r>
              <a:rPr lang="ru-RU" noProof="0"/>
              <a:t>Конкуренты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1034CA5-4FBD-4728-A5D5-B55A51F3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EB12970-8175-4B63-9ABC-FF21E5FB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D2E5FFB0-6DFB-4547-AB5E-A22910F4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3B15B0B7-1296-4FBF-8D28-A0D282176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9728" y="2679238"/>
            <a:ext cx="4386945" cy="545148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xmlns="" id="{41958F62-D93E-4433-9FC8-4CFA9792BD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9728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23D482AA-5393-4260-A25C-77242CC39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728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xmlns="" id="{57434F13-1C2F-416A-A9F8-479D11410B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0800" y="4085594"/>
            <a:ext cx="4953000" cy="2046251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cap="none" spc="100"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xmlns="" id="{FC8B7634-CFB8-480E-9065-D580A1801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3706090"/>
            <a:ext cx="4953000" cy="426393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sz="1400" cap="all" spc="1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99710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аши конкуренты, версия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2433EF2-C2C4-4062-9D92-0FB27729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D63FBE5-A165-4D71-A770-FE4E13B1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9B91C94-93DA-4850-9EE8-968DAF89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xmlns="" id="{C9C019F9-A0CC-42FD-9A58-9A76FBC647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499" y="142547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xmlns="" id="{2F0A1D53-A949-49E7-820F-D18CEC7EA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6499" y="529432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xmlns="" id="{FC5403F6-AE51-438F-AF93-56FA7D2A56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0311" y="335435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xmlns="" id="{0494832D-1AEB-4A7B-8BC3-8AC645057F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43347" y="2194947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3" name="Текст 14">
            <a:extLst>
              <a:ext uri="{FF2B5EF4-FFF2-40B4-BE49-F238E27FC236}">
                <a16:creationId xmlns:a16="http://schemas.microsoft.com/office/drawing/2014/main" xmlns="" id="{9DED817B-58D3-4713-A66F-2E4CF578D5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79839" y="430766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D1FE5CBC-B2B8-45FE-986C-504C397B9E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2362" y="4439394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7" name="Текст 14">
            <a:extLst>
              <a:ext uri="{FF2B5EF4-FFF2-40B4-BE49-F238E27FC236}">
                <a16:creationId xmlns:a16="http://schemas.microsoft.com/office/drawing/2014/main" xmlns="" id="{CE71774F-D73F-4B7F-9152-95EC3F36DD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98712" y="4008089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1154305F-5D9B-4B4A-9F2B-6FBECE7371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3692" y="335435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xmlns="" id="{8C5FED44-231C-4E53-B41C-81293135ACB1}"/>
              </a:ext>
            </a:extLst>
          </p:cNvPr>
          <p:cNvCxnSpPr>
            <a:cxnSpLocks/>
          </p:cNvCxnSpPr>
          <p:nvPr userDrawn="1"/>
        </p:nvCxnSpPr>
        <p:spPr>
          <a:xfrm>
            <a:off x="4756662" y="360037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F2105B5D-04B2-4415-A88E-6BE695BAD6D0}"/>
              </a:ext>
            </a:extLst>
          </p:cNvPr>
          <p:cNvCxnSpPr>
            <a:cxnSpLocks/>
          </p:cNvCxnSpPr>
          <p:nvPr userDrawn="1"/>
        </p:nvCxnSpPr>
        <p:spPr>
          <a:xfrm flipV="1">
            <a:off x="7089982" y="191750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14">
            <a:extLst>
              <a:ext uri="{FF2B5EF4-FFF2-40B4-BE49-F238E27FC236}">
                <a16:creationId xmlns:a16="http://schemas.microsoft.com/office/drawing/2014/main" xmlns="" id="{8F362A87-DBB9-4FFD-9F42-9D6D5AD35E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52879" y="195471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xmlns="" id="{B6713B5A-6FE2-4827-A18D-2F81B40F069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859355" y="470809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xmlns="" id="{2B665ABC-CB0A-4595-8165-3205CED4DC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221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694769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атегия развит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F09839D-FDC1-4EDF-9E51-F73351AB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60B182A-200F-405E-B287-2F7A7F92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FE8CEAE-624C-4615-8252-893F3A04C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F8AE4140-1E60-4ABF-8C5B-6AA249168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89603" y="727515"/>
            <a:ext cx="6212793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562056E9-39CD-4DAA-AF46-D107C1680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0446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xmlns="" id="{39F4B0E4-0A8E-4F79-B6E9-9015E62C2C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09724" y="4192396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Текст 14">
            <a:extLst>
              <a:ext uri="{FF2B5EF4-FFF2-40B4-BE49-F238E27FC236}">
                <a16:creationId xmlns:a16="http://schemas.microsoft.com/office/drawing/2014/main" xmlns="" id="{7128A45A-DF71-4640-A1BF-8F1866D09CE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3400" y="4192395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xmlns="" id="{D63BCEA8-1DF2-474C-A867-36E22D2F61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9603" y="1124727"/>
            <a:ext cx="6212793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xmlns="" id="{6F23D9F0-2D86-4938-96EE-A32A42E6DB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06278" y="2482446"/>
            <a:ext cx="1581912" cy="1581912"/>
          </a:xfrm>
          <a:prstGeom prst="ellipse">
            <a:avLst/>
          </a:prstGeom>
          <a:solidFill>
            <a:schemeClr val="accent6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154C8C8A-D882-4AB4-BD1F-8D2E1EF0A8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26320" y="2482446"/>
            <a:ext cx="1581912" cy="1581912"/>
          </a:xfrm>
          <a:prstGeom prst="ellipse">
            <a:avLst/>
          </a:prstGeo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xmlns="" id="{48F571DC-88C7-42E3-8699-F9C41BE828F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69996" y="2482446"/>
            <a:ext cx="1581912" cy="1581912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</p:spTree>
    <p:extLst>
      <p:ext uri="{BB962C8B-B14F-4D97-AF65-F5344CB8AC3E}">
        <p14:creationId xmlns:p14="http://schemas.microsoft.com/office/powerpoint/2010/main" val="485222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пулярность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41F48AB2-7C16-4B56-A53A-93B714BC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BBB994E-24A9-40A8-93EB-5515D89E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0DF8D0D-83A0-4570-97D9-255518FC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F9591A4D-603C-42D9-AA8F-07BD22871E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60939" y="725448"/>
            <a:ext cx="5870122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5FB9A868-1432-40BF-A3DF-CB2F9542988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4141" y="2326023"/>
            <a:ext cx="4998576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xmlns="" id="{6772DEF8-21EE-47DD-AE5F-1EC03FDCF7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838" y="2326023"/>
            <a:ext cx="5007023" cy="44876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4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37" name="Текст 10">
            <a:extLst>
              <a:ext uri="{FF2B5EF4-FFF2-40B4-BE49-F238E27FC236}">
                <a16:creationId xmlns:a16="http://schemas.microsoft.com/office/drawing/2014/main" xmlns="" id="{BC31E94F-1411-4EA2-8AB2-A76E9A5783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160940" y="1113029"/>
            <a:ext cx="5870121" cy="56889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2000" cap="none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Подзаголовок слайда</a:t>
            </a:r>
          </a:p>
        </p:txBody>
      </p:sp>
      <p:sp>
        <p:nvSpPr>
          <p:cNvPr id="15" name="Объект 14">
            <a:extLst>
              <a:ext uri="{FF2B5EF4-FFF2-40B4-BE49-F238E27FC236}">
                <a16:creationId xmlns:a16="http://schemas.microsoft.com/office/drawing/2014/main" xmlns="" id="{AF0062E6-1EBE-4CBF-B0D1-4737DBF54008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6949" y="2925763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0" name="Объект 14">
            <a:extLst>
              <a:ext uri="{FF2B5EF4-FFF2-40B4-BE49-F238E27FC236}">
                <a16:creationId xmlns:a16="http://schemas.microsoft.com/office/drawing/2014/main" xmlns="" id="{0E683F27-7485-420D-A15D-93A48B8CFD27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261805" y="2874716"/>
            <a:ext cx="5010912" cy="2651760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53759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ухлетний план действ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9F6C305-4C96-4875-9AEF-C88E3E62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FFFF3E7-19BF-4E1B-86A9-BB3CBD89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9CD6203-1BDD-481A-8B5A-0CE7676C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26458F71-90A6-4816-BD12-E5F24297EB5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2040" y="724868"/>
            <a:ext cx="4386945" cy="639955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C65C6C0E-E988-4670-AC4F-46DF25AB1A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xmlns="" id="{D08F3328-96B5-4F00-9D88-C2B1CFB100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Текст 14">
            <a:extLst>
              <a:ext uri="{FF2B5EF4-FFF2-40B4-BE49-F238E27FC236}">
                <a16:creationId xmlns:a16="http://schemas.microsoft.com/office/drawing/2014/main" xmlns="" id="{AF2A90E7-217C-439F-A3C7-41589A223F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0365" y="3027930"/>
            <a:ext cx="615309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8" name="Текст 14">
            <a:extLst>
              <a:ext uri="{FF2B5EF4-FFF2-40B4-BE49-F238E27FC236}">
                <a16:creationId xmlns:a16="http://schemas.microsoft.com/office/drawing/2014/main" xmlns="" id="{8553117D-AEE8-4CDA-9B76-4465B03947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xmlns="" id="{D768892F-3B07-49B8-B76F-DA245223D2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5C805EDD-6FC0-466B-B5E2-AA7150A858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xmlns="" id="{9D2E9DFD-B289-41E0-A706-0DF99250C3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xmlns="" id="{29CFE769-E334-4852-98D4-D2686E7A17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7978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xmlns="" id="{656E6239-48C4-41A4-9AA4-44A85F3A09D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xmlns="" id="{677AF2E7-6E1A-4486-9E9C-831E8AA4E3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5" name="Текст 14">
            <a:extLst>
              <a:ext uri="{FF2B5EF4-FFF2-40B4-BE49-F238E27FC236}">
                <a16:creationId xmlns:a16="http://schemas.microsoft.com/office/drawing/2014/main" xmlns="" id="{54CB8F8F-95F4-4C90-B6B0-E05E3FD3906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46420" y="3027930"/>
            <a:ext cx="61531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4">
            <a:extLst>
              <a:ext uri="{FF2B5EF4-FFF2-40B4-BE49-F238E27FC236}">
                <a16:creationId xmlns:a16="http://schemas.microsoft.com/office/drawing/2014/main" xmlns="" id="{D4D4CBEB-ED3F-458B-89D4-BF7B87EEA7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027930"/>
            <a:ext cx="495300" cy="652276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xmlns="" id="{7D178BD8-37BB-4369-9089-458E4AFC02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xmlns="" id="{EB35E26F-6E4D-49E5-8B52-C3DFC5DAED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9" name="Текст 14">
            <a:extLst>
              <a:ext uri="{FF2B5EF4-FFF2-40B4-BE49-F238E27FC236}">
                <a16:creationId xmlns:a16="http://schemas.microsoft.com/office/drawing/2014/main" xmlns="" id="{57091E21-E4FD-4EFC-A957-BC31C0E5E06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365" y="4871997"/>
            <a:ext cx="615309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0" name="Текст 14">
            <a:extLst>
              <a:ext uri="{FF2B5EF4-FFF2-40B4-BE49-F238E27FC236}">
                <a16:creationId xmlns:a16="http://schemas.microsoft.com/office/drawing/2014/main" xmlns="" id="{93BD433F-C233-4D3A-A836-157F6D8E787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4">
            <a:extLst>
              <a:ext uri="{FF2B5EF4-FFF2-40B4-BE49-F238E27FC236}">
                <a16:creationId xmlns:a16="http://schemas.microsoft.com/office/drawing/2014/main" xmlns="" id="{A047DD8B-C64B-4EEF-A394-1EF5D78C91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xmlns="" id="{9F7A3216-3089-45BC-B307-8D5B15FE5D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4">
            <a:extLst>
              <a:ext uri="{FF2B5EF4-FFF2-40B4-BE49-F238E27FC236}">
                <a16:creationId xmlns:a16="http://schemas.microsoft.com/office/drawing/2014/main" xmlns="" id="{C4C055EF-54DF-4BA1-A25C-B1010981E7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4" name="Текст 14">
            <a:extLst>
              <a:ext uri="{FF2B5EF4-FFF2-40B4-BE49-F238E27FC236}">
                <a16:creationId xmlns:a16="http://schemas.microsoft.com/office/drawing/2014/main" xmlns="" id="{46C13F5D-6794-400F-906D-2D40EEEC343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7978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5" name="Текст 14">
            <a:extLst>
              <a:ext uri="{FF2B5EF4-FFF2-40B4-BE49-F238E27FC236}">
                <a16:creationId xmlns:a16="http://schemas.microsoft.com/office/drawing/2014/main" xmlns="" id="{45714E98-02E2-48DF-9367-87F55E4FB6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6" name="Текст 14">
            <a:extLst>
              <a:ext uri="{FF2B5EF4-FFF2-40B4-BE49-F238E27FC236}">
                <a16:creationId xmlns:a16="http://schemas.microsoft.com/office/drawing/2014/main" xmlns="" id="{9C13007C-3478-4694-B3D7-8AE2F4C80DE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7" name="Текст 14">
            <a:extLst>
              <a:ext uri="{FF2B5EF4-FFF2-40B4-BE49-F238E27FC236}">
                <a16:creationId xmlns:a16="http://schemas.microsoft.com/office/drawing/2014/main" xmlns="" id="{0F8E2313-703C-4CF3-9F33-F2FA123ED3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6420" y="4871997"/>
            <a:ext cx="61531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8" name="Текст 14">
            <a:extLst>
              <a:ext uri="{FF2B5EF4-FFF2-40B4-BE49-F238E27FC236}">
                <a16:creationId xmlns:a16="http://schemas.microsoft.com/office/drawing/2014/main" xmlns="" id="{11BB185B-EE3A-4221-9885-0A23F6BB9B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51" name="Текст 14">
            <a:extLst>
              <a:ext uri="{FF2B5EF4-FFF2-40B4-BE49-F238E27FC236}">
                <a16:creationId xmlns:a16="http://schemas.microsoft.com/office/drawing/2014/main" xmlns="" id="{ABA1EBA0-06C6-4473-9072-0B46D901EE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6804" y="2618463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год</a:t>
            </a:r>
          </a:p>
        </p:txBody>
      </p:sp>
      <p:sp>
        <p:nvSpPr>
          <p:cNvPr id="52" name="Текст 14">
            <a:extLst>
              <a:ext uri="{FF2B5EF4-FFF2-40B4-BE49-F238E27FC236}">
                <a16:creationId xmlns:a16="http://schemas.microsoft.com/office/drawing/2014/main" xmlns="" id="{E3E7422E-C8DE-4304-BC2C-D7A9200338B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804" y="4449901"/>
            <a:ext cx="10210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год</a:t>
            </a: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xmlns="" id="{E5B67A4A-03EA-4C59-B052-C3AC8624919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54" name="Текст 14">
            <a:extLst>
              <a:ext uri="{FF2B5EF4-FFF2-40B4-BE49-F238E27FC236}">
                <a16:creationId xmlns:a16="http://schemas.microsoft.com/office/drawing/2014/main" xmlns="" id="{386D9727-6EAF-44BD-B5BB-FF9FB2E38F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55" name="Текст 14">
            <a:extLst>
              <a:ext uri="{FF2B5EF4-FFF2-40B4-BE49-F238E27FC236}">
                <a16:creationId xmlns:a16="http://schemas.microsoft.com/office/drawing/2014/main" xmlns="" id="{8ED3541C-CC4E-4C36-9758-9D66DDE2BA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58310"/>
            <a:ext cx="1440088" cy="469597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56" name="Текст 14">
            <a:extLst>
              <a:ext uri="{FF2B5EF4-FFF2-40B4-BE49-F238E27FC236}">
                <a16:creationId xmlns:a16="http://schemas.microsoft.com/office/drawing/2014/main" xmlns="" id="{5C4B9123-0034-44EB-AE51-BE0E95C36F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57" name="Текст 14">
            <a:extLst>
              <a:ext uri="{FF2B5EF4-FFF2-40B4-BE49-F238E27FC236}">
                <a16:creationId xmlns:a16="http://schemas.microsoft.com/office/drawing/2014/main" xmlns="" id="{F6EBC080-B92D-4FC1-91BB-CBB73125903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 dirty="0"/>
              <a:t>Текст слайда</a:t>
            </a:r>
          </a:p>
        </p:txBody>
      </p:sp>
      <p:sp>
        <p:nvSpPr>
          <p:cNvPr id="58" name="Текст 14">
            <a:extLst>
              <a:ext uri="{FF2B5EF4-FFF2-40B4-BE49-F238E27FC236}">
                <a16:creationId xmlns:a16="http://schemas.microsoft.com/office/drawing/2014/main" xmlns="" id="{45A0B38A-6949-43DC-8059-9B50415B16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4003137"/>
            <a:ext cx="1440088" cy="408780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38423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нсовые показатели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7">
            <a:extLst>
              <a:ext uri="{FF2B5EF4-FFF2-40B4-BE49-F238E27FC236}">
                <a16:creationId xmlns:a16="http://schemas.microsoft.com/office/drawing/2014/main" xmlns="" id="{216878F0-817D-4F26-8B43-746016119A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4661647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B0B4271A-ED63-46FF-9282-ECA9140CB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3F05D42-821E-4E1A-ACD8-5D4B39CF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E2A47555-EEE6-41B1-9AA5-E70CA2B6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88D863BC-52D6-4182-94E2-EA35621A8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60889" y="729426"/>
            <a:ext cx="5903262" cy="635397"/>
          </a:xfrm>
          <a:prstGeom prst="rect">
            <a:avLst/>
          </a:prstGeom>
        </p:spPr>
        <p:txBody>
          <a:bodyPr rtlCol="0" anchor="ctr"/>
          <a:lstStyle>
            <a:lvl1pPr algn="l">
              <a:defRPr sz="2200" cap="all" spc="2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4F792BF5-C216-472F-93C8-9E12D88E6B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60988" y="1625600"/>
            <a:ext cx="5903912" cy="4429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4057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накомство с командой от 4 человек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4">
            <a:extLst>
              <a:ext uri="{FF2B5EF4-FFF2-40B4-BE49-F238E27FC236}">
                <a16:creationId xmlns:a16="http://schemas.microsoft.com/office/drawing/2014/main" xmlns="" id="{71C49FEB-B8EF-4D85-AF1E-FF1A08DED4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" y="1"/>
            <a:ext cx="12192000" cy="2514600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5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 dirty="0"/>
              <a:t>Коллектив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2751E4D1-453A-486C-AC10-C42024603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BD6862B-8836-4F15-B05B-24B5EFF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E7F95F47-BBF4-4271-B6F5-E9C3507A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B06E153E-70D2-4FA6-AE08-1FF5408973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1655011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9" name="Рисунок 9">
            <a:extLst>
              <a:ext uri="{FF2B5EF4-FFF2-40B4-BE49-F238E27FC236}">
                <a16:creationId xmlns:a16="http://schemas.microsoft.com/office/drawing/2014/main" xmlns="" id="{DC04EBE4-2F20-469F-8A53-9BEC2E37822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44345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xmlns="" id="{B4BA6AEB-B1AF-4446-A7B4-97B679BC93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4655" y="4463647"/>
            <a:ext cx="2330873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Добавьте имя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A3462D3F-0728-4C38-B170-389153ED5A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655" y="4779469"/>
            <a:ext cx="2330873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xmlns="" id="{3E3EC61F-D3A5-4658-8BA3-A91338AF2F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33091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3" name="Рисунок 9">
            <a:extLst>
              <a:ext uri="{FF2B5EF4-FFF2-40B4-BE49-F238E27FC236}">
                <a16:creationId xmlns:a16="http://schemas.microsoft.com/office/drawing/2014/main" xmlns="" id="{CDB9F756-6446-412A-9650-AAB15FCA362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21836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4" name="Рисунок 9">
            <a:extLst>
              <a:ext uri="{FF2B5EF4-FFF2-40B4-BE49-F238E27FC236}">
                <a16:creationId xmlns:a16="http://schemas.microsoft.com/office/drawing/2014/main" xmlns="" id="{382166CD-0B9A-4F3F-9C64-C140FABE85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10582" y="2757949"/>
            <a:ext cx="1451493" cy="146222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xmlns="" id="{40DF12CD-BCB4-467F-B7E3-499EC97EFE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93400" y="4463647"/>
            <a:ext cx="2330874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Добавьте имя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xmlns="" id="{5A467C8A-05E4-4C98-85BA-9199B1C1E1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93400" y="4779469"/>
            <a:ext cx="2330874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xmlns="" id="{9058072E-F9B0-4371-960E-E67B496E30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82145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Добавьте имя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xmlns="" id="{0A657816-CBF3-4FE7-86AD-21BF42DD15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2145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xmlns="" id="{886C1499-EEAF-4BF5-99C2-BE435BED3F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70891" y="4463647"/>
            <a:ext cx="2330875" cy="44229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sz="1200" cap="all" spc="1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Добавьте имя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xmlns="" id="{58984A54-7368-4F62-B02D-6A06236600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70891" y="4779469"/>
            <a:ext cx="2330875" cy="442298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939626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накомство с командой от 8 человек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386F087D-92DE-4035-8192-586AF5C8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A9928F3-1B10-463F-9157-B6A079A7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46BA99F-4B60-460A-B00E-4D0B0DDD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Рисунок 9">
            <a:extLst>
              <a:ext uri="{FF2B5EF4-FFF2-40B4-BE49-F238E27FC236}">
                <a16:creationId xmlns:a16="http://schemas.microsoft.com/office/drawing/2014/main" xmlns="" id="{5A869ECF-2DFC-48EE-97D9-84DCD25E547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979488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0" name="Текст 14">
            <a:extLst>
              <a:ext uri="{FF2B5EF4-FFF2-40B4-BE49-F238E27FC236}">
                <a16:creationId xmlns:a16="http://schemas.microsoft.com/office/drawing/2014/main" xmlns="" id="{156C8A56-CD27-4C90-94A0-6C6EE02744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529" y="3495484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xmlns="" id="{22104C50-BDDE-4917-8F64-30BB543A734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59819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12" name="Текст 14">
            <a:extLst>
              <a:ext uri="{FF2B5EF4-FFF2-40B4-BE49-F238E27FC236}">
                <a16:creationId xmlns:a16="http://schemas.microsoft.com/office/drawing/2014/main" xmlns="" id="{16490CE7-7241-4A9F-9A19-0D1533BA52E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59818" y="3495484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3" name="Текст 14">
            <a:extLst>
              <a:ext uri="{FF2B5EF4-FFF2-40B4-BE49-F238E27FC236}">
                <a16:creationId xmlns:a16="http://schemas.microsoft.com/office/drawing/2014/main" xmlns="" id="{02C7036D-56D2-4D6E-8F25-344484C61A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4108" y="3269684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14" name="Текст 14">
            <a:extLst>
              <a:ext uri="{FF2B5EF4-FFF2-40B4-BE49-F238E27FC236}">
                <a16:creationId xmlns:a16="http://schemas.microsoft.com/office/drawing/2014/main" xmlns="" id="{420E5CE0-16E9-48C3-AEAE-C29C2448D7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34107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532463BC-AC80-43A6-8BB3-50F5A28E80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08394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xmlns="" id="{4CF5287C-0936-4244-B1EE-226996FEC9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08391" y="3495484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38" name="Текст 14">
            <a:extLst>
              <a:ext uri="{FF2B5EF4-FFF2-40B4-BE49-F238E27FC236}">
                <a16:creationId xmlns:a16="http://schemas.microsoft.com/office/drawing/2014/main" xmlns="" id="{80E59778-6A5E-4CAE-8EB2-BBEBB43F6D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5530" y="3269516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47" name="Текст 14">
            <a:extLst>
              <a:ext uri="{FF2B5EF4-FFF2-40B4-BE49-F238E27FC236}">
                <a16:creationId xmlns:a16="http://schemas.microsoft.com/office/drawing/2014/main" xmlns="" id="{393D72E6-E684-4731-B139-4BA8111999D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85442" y="5546241"/>
            <a:ext cx="2085792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xmlns="" id="{17AF8A36-96BD-4383-BD10-0AF6C3CAA21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59819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xmlns="" id="{F26B5D3A-6C13-4204-9756-1BCA5AE8D12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59730" y="5546241"/>
            <a:ext cx="208579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50" name="Текст 14">
            <a:extLst>
              <a:ext uri="{FF2B5EF4-FFF2-40B4-BE49-F238E27FC236}">
                <a16:creationId xmlns:a16="http://schemas.microsoft.com/office/drawing/2014/main" xmlns="" id="{80D112F0-B8AB-4FA9-B732-BE08CD1234D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4108" y="532044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51" name="Текст 14">
            <a:extLst>
              <a:ext uri="{FF2B5EF4-FFF2-40B4-BE49-F238E27FC236}">
                <a16:creationId xmlns:a16="http://schemas.microsoft.com/office/drawing/2014/main" xmlns="" id="{4784D9A7-36A5-4F3B-AA7B-CB5E2D6559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4063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52" name="Текст 14">
            <a:extLst>
              <a:ext uri="{FF2B5EF4-FFF2-40B4-BE49-F238E27FC236}">
                <a16:creationId xmlns:a16="http://schemas.microsoft.com/office/drawing/2014/main" xmlns="" id="{D7A99E46-923F-4364-BF2F-FBB534A1064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608394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xmlns="" id="{506EFF4D-3C39-4F6E-A14E-EFF1C741CCC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608391" y="5546241"/>
            <a:ext cx="2085791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1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57" name="Текст 14">
            <a:extLst>
              <a:ext uri="{FF2B5EF4-FFF2-40B4-BE49-F238E27FC236}">
                <a16:creationId xmlns:a16="http://schemas.microsoft.com/office/drawing/2014/main" xmlns="" id="{0C5A43DB-AE3F-48FC-B6D4-8879D4CDADB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85530" y="532027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1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имя</a:t>
            </a:r>
          </a:p>
        </p:txBody>
      </p:sp>
      <p:sp>
        <p:nvSpPr>
          <p:cNvPr id="33" name="Рисунок 9">
            <a:extLst>
              <a:ext uri="{FF2B5EF4-FFF2-40B4-BE49-F238E27FC236}">
                <a16:creationId xmlns:a16="http://schemas.microsoft.com/office/drawing/2014/main" xmlns="" id="{BF616705-4A53-4806-B16C-BA39A5A02D2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353776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39" name="Рисунок 9">
            <a:extLst>
              <a:ext uri="{FF2B5EF4-FFF2-40B4-BE49-F238E27FC236}">
                <a16:creationId xmlns:a16="http://schemas.microsoft.com/office/drawing/2014/main" xmlns="" id="{12C5AB77-7FB0-4FE2-A742-FA3672277633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728064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0" name="Рисунок 9">
            <a:extLst>
              <a:ext uri="{FF2B5EF4-FFF2-40B4-BE49-F238E27FC236}">
                <a16:creationId xmlns:a16="http://schemas.microsoft.com/office/drawing/2014/main" xmlns="" id="{8A37ED26-A40F-40E4-9FB0-0F305BCB23F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102352" y="1979244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1" name="Рисунок 9">
            <a:extLst>
              <a:ext uri="{FF2B5EF4-FFF2-40B4-BE49-F238E27FC236}">
                <a16:creationId xmlns:a16="http://schemas.microsoft.com/office/drawing/2014/main" xmlns="" id="{B6231166-8699-4C7F-8542-01C947970C37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979488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2" name="Рисунок 9">
            <a:extLst>
              <a:ext uri="{FF2B5EF4-FFF2-40B4-BE49-F238E27FC236}">
                <a16:creationId xmlns:a16="http://schemas.microsoft.com/office/drawing/2014/main" xmlns="" id="{C8BBF1DC-9382-4EDC-8A43-26FBDBA89C7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4353776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3" name="Рисунок 9">
            <a:extLst>
              <a:ext uri="{FF2B5EF4-FFF2-40B4-BE49-F238E27FC236}">
                <a16:creationId xmlns:a16="http://schemas.microsoft.com/office/drawing/2014/main" xmlns="" id="{E1600B1D-A51F-4CD2-B131-483A6088B90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728064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44" name="Рисунок 9">
            <a:extLst>
              <a:ext uri="{FF2B5EF4-FFF2-40B4-BE49-F238E27FC236}">
                <a16:creationId xmlns:a16="http://schemas.microsoft.com/office/drawing/2014/main" xmlns="" id="{C6C004ED-2B06-4144-9164-96A4CDC0539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02352" y="4028080"/>
            <a:ext cx="1097876" cy="109787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xmlns="" id="{4002D7BD-981B-493B-A5A0-DA83B65931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869747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нсирова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636A6C4-760E-4DFC-9166-0346E320E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AA830E9-38B9-41B2-9047-8F900363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705897FB-ACEE-45BF-9704-D517B9B95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6">
                    <a:lumMod val="25000"/>
                    <a:lumOff val="75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xmlns="" id="{4F61A60D-EA13-4C4C-9816-85480A2E2A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33903" y="724868"/>
            <a:ext cx="6324194" cy="639955"/>
          </a:xfrm>
          <a:prstGeom prst="rect">
            <a:avLst/>
          </a:prstGeom>
        </p:spPr>
        <p:txBody>
          <a:bodyPr rtlCol="0" anchor="ctr"/>
          <a:lstStyle>
            <a:lvl1pPr algn="ct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1C424B8B-6301-4675-9015-050DF1DF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xmlns="" id="{44297A50-8392-4EB9-9BF6-451C4B9977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0511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xmlns="" id="{01B3A901-BBC6-44D9-9C97-6CFD76C17C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84039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xmlns="" id="{C60306D6-8D77-403B-B3D3-93E771A63E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xmlns="" id="{156D61BA-EB24-4A41-8CAD-DF8D3ACF23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7567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25" name="Текст 14">
            <a:extLst>
              <a:ext uri="{FF2B5EF4-FFF2-40B4-BE49-F238E27FC236}">
                <a16:creationId xmlns:a16="http://schemas.microsoft.com/office/drawing/2014/main" xmlns="" id="{7D92CD70-81FF-405A-B419-FCACE6F2F9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4">
            <a:extLst>
              <a:ext uri="{FF2B5EF4-FFF2-40B4-BE49-F238E27FC236}">
                <a16:creationId xmlns:a16="http://schemas.microsoft.com/office/drawing/2014/main" xmlns="" id="{1F7A98D9-A50A-41D8-BD51-327D4B647F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51094" y="405964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cap="all" spc="2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Заголовок слайда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xmlns="" id="{CD4953C5-A270-4C37-B878-3D3E51E01A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65139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xmlns="" id="{B419FAA5-674D-4D1B-B6F0-7F6B786D9D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xmlns="" id="{4301E9A5-7F5A-49AF-A4F3-EA73CC5590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xmlns="" id="{44658DCD-8753-4536-A41F-2975ECE9D0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xmlns="" id="{2708ADA9-A84B-4176-A4A4-3BEEB2F71F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ru-RU" noProof="0"/>
              <a:t>Добавить 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275720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>
            <a:extLst>
              <a:ext uri="{FF2B5EF4-FFF2-40B4-BE49-F238E27FC236}">
                <a16:creationId xmlns:a16="http://schemas.microsoft.com/office/drawing/2014/main" xmlns="" id="{9FD50E8B-97D3-485C-9645-AACC303DDF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281" y="-1"/>
            <a:ext cx="12196282" cy="2917371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6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xmlns="" id="{44211F90-6E18-443B-BDFF-5A72A79502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4006735"/>
            <a:ext cx="12192000" cy="2851264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50000"/>
              </a:lnSpc>
              <a:spcBef>
                <a:spcPts val="0"/>
              </a:spcBef>
              <a:buNone/>
              <a:defRPr sz="50000" i="1" baseline="0">
                <a:solidFill>
                  <a:schemeClr val="bg1">
                    <a:alpha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(сумма)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0B2CC2F-A541-4A4B-985A-73901B9F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B1D1C2B-CD69-4515-87A0-866E32DC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63F4DBC1-4594-4961-A9D3-27E0113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C15AE508-339B-4118-9121-4A160D09F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122721"/>
            <a:ext cx="2895600" cy="1111250"/>
          </a:xfrm>
          <a:prstGeom prst="rect">
            <a:avLst/>
          </a:prstGeom>
        </p:spPr>
        <p:txBody>
          <a:bodyPr rtlCol="0" anchor="ctr"/>
          <a:lstStyle>
            <a:lvl1pPr algn="r">
              <a:defRPr sz="2200" cap="all" spc="20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xmlns="" id="{43A3F931-4B84-489F-8B0A-7FEF462532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2514" y="3833158"/>
            <a:ext cx="7021287" cy="1690377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291993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>
            <a:extLst>
              <a:ext uri="{FF2B5EF4-FFF2-40B4-BE49-F238E27FC236}">
                <a16:creationId xmlns:a16="http://schemas.microsoft.com/office/drawing/2014/main" xmlns="" id="{61D6F08F-239E-4E92-B5E7-36638ED465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7715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accent1"/>
                </a:solidFill>
                <a:latin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Щелкните, чтобы добавить фотографию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E88D0F4F-65EB-4DC2-B7AD-AD23E6DB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03/08/20ГГ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66CF9EC8-F9C6-4CE1-91F5-A956792CB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3156857" cy="365125"/>
          </a:xfrm>
        </p:spPr>
        <p:txBody>
          <a:bodyPr rtlCol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89721C21-E285-4AF2-9E8D-243F4CBC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EC201BA1-98C5-4728-9204-5B3A2F7B03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87939" y="1638359"/>
            <a:ext cx="3058885" cy="1111250"/>
          </a:xfrm>
          <a:prstGeom prst="rect">
            <a:avLst/>
          </a:prstGeom>
        </p:spPr>
        <p:txBody>
          <a:bodyPr rtlCol="0" anchor="b"/>
          <a:lstStyle>
            <a:lvl1pPr algn="l">
              <a:defRPr sz="2200" cap="all" spc="200" baseline="0">
                <a:solidFill>
                  <a:schemeClr val="accent6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ru-RU" noProof="0"/>
              <a:t>Заголовок слайда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xmlns="" id="{75C106A2-F65A-4519-B7A6-CB7477C684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87939" y="3135086"/>
            <a:ext cx="3058885" cy="2388450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  <a:buNone/>
              <a:defRPr sz="1400" spc="100" baseline="0">
                <a:solidFill>
                  <a:schemeClr val="accent6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Подзаголовок слайда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xmlns="" id="{2E7A08CD-CF6C-4ABF-B086-481F36611730}"/>
              </a:ext>
            </a:extLst>
          </p:cNvPr>
          <p:cNvCxnSpPr>
            <a:cxnSpLocks/>
          </p:cNvCxnSpPr>
          <p:nvPr userDrawn="1"/>
        </p:nvCxnSpPr>
        <p:spPr>
          <a:xfrm>
            <a:off x="8130026" y="0"/>
            <a:ext cx="0" cy="4572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Текст 4">
            <a:extLst>
              <a:ext uri="{FF2B5EF4-FFF2-40B4-BE49-F238E27FC236}">
                <a16:creationId xmlns:a16="http://schemas.microsoft.com/office/drawing/2014/main" xmlns="" id="{E4AB2649-B78D-4A9D-9F1D-F447A521EEB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35" y="4698088"/>
            <a:ext cx="11996058" cy="2059185"/>
          </a:xfrm>
          <a:prstGeom prst="rect">
            <a:avLst/>
          </a:prstGeom>
        </p:spPr>
        <p:txBody>
          <a:bodyPr rtlCol="0"/>
          <a:lstStyle>
            <a:lvl1pPr marL="0" indent="0" algn="r">
              <a:lnSpc>
                <a:spcPct val="37000"/>
              </a:lnSpc>
              <a:spcBef>
                <a:spcPts val="0"/>
              </a:spcBef>
              <a:buNone/>
              <a:defRPr sz="50000" i="1" baseline="0">
                <a:solidFill>
                  <a:schemeClr val="accent6">
                    <a:lumMod val="10000"/>
                    <a:lumOff val="90000"/>
                    <a:alpha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ru-RU" noProof="0"/>
              <a:t>Чем</a:t>
            </a:r>
          </a:p>
        </p:txBody>
      </p:sp>
    </p:spTree>
    <p:extLst>
      <p:ext uri="{BB962C8B-B14F-4D97-AF65-F5344CB8AC3E}">
        <p14:creationId xmlns:p14="http://schemas.microsoft.com/office/powerpoint/2010/main" val="238296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1A4C966-5542-475A-B224-2E541D9AE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noProof="0" dirty="0"/>
              <a:t>03/08/20ГГ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8F1E08C-E5A1-412C-88D3-C6BF9430DA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noProof="0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6BAFCC-DBDE-4891-B3DD-4B3754E7D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4F6357DA-28E9-40D3-918C-4D14E8263D81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88795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6" r:id="rId13"/>
    <p:sldLayoutId id="2147483667" r:id="rId14"/>
    <p:sldLayoutId id="2147483668" r:id="rId15"/>
    <p:sldLayoutId id="2147483669" r:id="rId16"/>
    <p:sldLayoutId id="2147483663" r:id="rId17"/>
    <p:sldLayoutId id="2147483665" r:id="rId18"/>
    <p:sldLayoutId id="2147483664" r:id="rId19"/>
    <p:sldLayoutId id="2147483661" r:id="rId20"/>
    <p:sldLayoutId id="214748366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934056CF-DEDB-4079-BF11-FA4761D09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6673" y="1550988"/>
            <a:ext cx="4154905" cy="2387600"/>
          </a:xfrm>
        </p:spPr>
        <p:txBody>
          <a:bodyPr rtlCol="0"/>
          <a:lstStyle/>
          <a:p>
            <a:pPr rtl="0"/>
            <a:r>
              <a:rPr lang="ru-RU" sz="3600" dirty="0"/>
              <a:t>Вегетарианский ресторан «</a:t>
            </a:r>
            <a:r>
              <a:rPr lang="en-US" sz="3600" dirty="0"/>
              <a:t>BASILIC</a:t>
            </a:r>
            <a:r>
              <a:rPr lang="ru-RU" sz="3600" dirty="0"/>
              <a:t>»</a:t>
            </a:r>
            <a:br>
              <a:rPr lang="ru-RU" sz="3600" dirty="0"/>
            </a:br>
            <a:r>
              <a:rPr lang="ru-RU" sz="3600" dirty="0"/>
              <a:t>Бизнес-план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xmlns="" id="{D79862A8-72F8-4043-A021-816AC74E8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6042" y="4057095"/>
            <a:ext cx="3284832" cy="1553129"/>
          </a:xfrm>
        </p:spPr>
        <p:txBody>
          <a:bodyPr rtlCol="0"/>
          <a:lstStyle/>
          <a:p>
            <a:pPr rtl="0"/>
            <a:r>
              <a:rPr lang="ru-RU" dirty="0"/>
              <a:t>Ангелина </a:t>
            </a:r>
            <a:r>
              <a:rPr lang="ru-RU" dirty="0" err="1"/>
              <a:t>Селицкая</a:t>
            </a:r>
            <a:endParaRPr lang="ru-RU" dirty="0"/>
          </a:p>
          <a:p>
            <a:pPr rtl="0"/>
            <a:r>
              <a:rPr lang="ru-RU" dirty="0"/>
              <a:t>Мария Сорока</a:t>
            </a:r>
          </a:p>
          <a:p>
            <a:pPr rtl="0"/>
            <a:r>
              <a:rPr lang="ru-RU" dirty="0"/>
              <a:t>Алёна Струневская</a:t>
            </a:r>
          </a:p>
        </p:txBody>
      </p:sp>
      <p:pic>
        <p:nvPicPr>
          <p:cNvPr id="19" name="Рисунок 18" descr="Часть полукабинета, стол и стул в ресторане">
            <a:extLst>
              <a:ext uri="{FF2B5EF4-FFF2-40B4-BE49-F238E27FC236}">
                <a16:creationId xmlns:a16="http://schemas.microsoft.com/office/drawing/2014/main" xmlns="" id="{43474057-1F43-4A8C-A00F-A151DC1D10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677150" cy="6858000"/>
          </a:xfrm>
        </p:spPr>
      </p:pic>
    </p:spTree>
    <p:extLst>
      <p:ext uri="{BB962C8B-B14F-4D97-AF65-F5344CB8AC3E}">
        <p14:creationId xmlns:p14="http://schemas.microsoft.com/office/powerpoint/2010/main" val="28357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16">
            <a:extLst>
              <a:ext uri="{FF2B5EF4-FFF2-40B4-BE49-F238E27FC236}">
                <a16:creationId xmlns:a16="http://schemas.microsoft.com/office/drawing/2014/main" xmlns="" id="{9B7C68D5-425C-4465-842E-6EC3B305D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901598"/>
            <a:ext cx="3684814" cy="336548"/>
          </a:xfrm>
        </p:spPr>
        <p:txBody>
          <a:bodyPr rtlCol="0"/>
          <a:lstStyle/>
          <a:p>
            <a:pPr rtl="0"/>
            <a:r>
              <a:rPr lang="ru-RU" dirty="0"/>
              <a:t>Резюме</a:t>
            </a:r>
          </a:p>
        </p:txBody>
      </p:sp>
      <p:sp>
        <p:nvSpPr>
          <p:cNvPr id="18" name="Подзаголовок 17">
            <a:extLst>
              <a:ext uri="{FF2B5EF4-FFF2-40B4-BE49-F238E27FC236}">
                <a16:creationId xmlns:a16="http://schemas.microsoft.com/office/drawing/2014/main" xmlns="" id="{37F7ED61-C894-4A41-AC49-EFA304B05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58" y="1262260"/>
            <a:ext cx="4767657" cy="3438078"/>
          </a:xfrm>
        </p:spPr>
        <p:txBody>
          <a:bodyPr rtlCol="0"/>
          <a:lstStyle/>
          <a:p>
            <a:pPr rtl="0"/>
            <a: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Вегетарианство в Беларуси не отстает от мировых тенденций. В стране проживает 4% истинных вегетарианцев. Конкуренция на этом рынке слабая. Даже в Минске открыто не столь много точек питания, направленных на вегетарианцев. Технология приготовления вегетарианских блюд — простая и не затратная. Важно только следить за свежестью и качеством продуктов. Проект для города с населением 1,5 миллионов человек способен окупить вложения меньше чем за год. Учитывая рентабельность на уровне — 30%, что является средним показателем по отрасли в Беларуси. Срок окупаемости — 11 месяцев</a:t>
            </a:r>
            <a:b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</a:br>
            <a: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Первоначальные вложения — 360000 рублей</a:t>
            </a:r>
            <a:b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</a:br>
            <a: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Точка безубыточности на 3 месяц работы</a:t>
            </a:r>
            <a:b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</a:br>
            <a:r>
              <a:rPr lang="ru-RU" b="0" i="0" u="none" strike="noStrike" dirty="0"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Средняя ежемесячная прибыль — 42000 рублей</a:t>
            </a:r>
            <a:endParaRPr lang="ru-RU" dirty="0">
              <a:solidFill>
                <a:schemeClr val="bg2"/>
              </a:solidFill>
            </a:endParaRPr>
          </a:p>
        </p:txBody>
      </p:sp>
      <p:pic>
        <p:nvPicPr>
          <p:cNvPr id="8" name="Рисунок 7" descr="Человек держит растение">
            <a:extLst>
              <a:ext uri="{FF2B5EF4-FFF2-40B4-BE49-F238E27FC236}">
                <a16:creationId xmlns:a16="http://schemas.microsoft.com/office/drawing/2014/main" xmlns="" id="{173CF312-33FE-4C78-AF0C-38012741291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61215" y="0"/>
            <a:ext cx="6830785" cy="6858000"/>
          </a:xfr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E419B032-9B39-4E33-A8E4-7843247F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90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xmlns="" id="{FCC2A221-B199-4A29-BC00-83D349B94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6051" y="893523"/>
            <a:ext cx="6977749" cy="45719"/>
          </a:xfrm>
        </p:spPr>
        <p:txBody>
          <a:bodyPr rtlCol="0"/>
          <a:lstStyle/>
          <a:p>
            <a:pPr rtl="0"/>
            <a:r>
              <a:rPr lang="ru-RU" dirty="0"/>
              <a:t>Вегетарианский ресторан «</a:t>
            </a:r>
            <a:r>
              <a:rPr lang="en-US" dirty="0"/>
              <a:t>Basilic</a:t>
            </a:r>
            <a:r>
              <a:rPr lang="ru-RU" dirty="0"/>
              <a:t>»</a:t>
            </a:r>
          </a:p>
        </p:txBody>
      </p:sp>
      <p:sp>
        <p:nvSpPr>
          <p:cNvPr id="12" name="Подзаголовок 11">
            <a:extLst>
              <a:ext uri="{FF2B5EF4-FFF2-40B4-BE49-F238E27FC236}">
                <a16:creationId xmlns:a16="http://schemas.microsoft.com/office/drawing/2014/main" xmlns="" id="{4C47F3D7-2E0A-4565-95F1-798A78C80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6050" y="2149802"/>
            <a:ext cx="7575318" cy="2460421"/>
          </a:xfrm>
        </p:spPr>
        <p:txBody>
          <a:bodyPr rtlCol="0"/>
          <a:lstStyle/>
          <a:p>
            <a:pPr rtl="0">
              <a:spcBef>
                <a:spcPts val="0"/>
              </a:spcBef>
              <a:spcAft>
                <a:spcPts val="1100"/>
              </a:spcAft>
            </a:pPr>
            <a:r>
              <a:rPr lang="ru-RU" sz="1600" b="0" i="0" u="none" strike="noStrike" dirty="0">
                <a:solidFill>
                  <a:schemeClr val="bg1"/>
                </a:solidFill>
                <a:effectLst/>
                <a:cs typeface="Times New Roman" panose="02020603050405020304" pitchFamily="18" charset="0"/>
              </a:rPr>
              <a:t>Проектом бизнес-плана рассматривает открытие торговой точки в центре города с населением от 1,5 млн. человек. Ежедневный поток посетителей — до 50 человек. В месяц —1200-1600. 15% продукции будет продаваться по индивидуальным заказам и корпоративным клиентам.</a:t>
            </a:r>
            <a:endParaRPr lang="ru-RU" sz="1600" b="0" dirty="0"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1"/>
                </a:solidFill>
                <a:cs typeface="Times New Roman" panose="02020603050405020304" pitchFamily="18" charset="0"/>
              </a:rPr>
              <a:t/>
            </a:r>
            <a:br>
              <a:rPr lang="ru-RU" sz="1600" dirty="0">
                <a:solidFill>
                  <a:schemeClr val="bg1"/>
                </a:solidFill>
                <a:cs typeface="Times New Roman" panose="02020603050405020304" pitchFamily="18" charset="0"/>
              </a:rPr>
            </a:br>
            <a:endParaRPr lang="ru-RU" sz="16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xmlns="" id="{515C45EA-3D67-4B00-9B3A-CF3180E412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76050" y="1783378"/>
            <a:ext cx="2383973" cy="464399"/>
          </a:xfrm>
        </p:spPr>
        <p:txBody>
          <a:bodyPr rtlCol="0"/>
          <a:lstStyle/>
          <a:p>
            <a:pPr rtl="0"/>
            <a:r>
              <a:rPr lang="ru-RU" sz="1800" dirty="0"/>
              <a:t>Описание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4192C76-963F-40D9-85E5-6FACCA8B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49238CC2-FA16-42D5-87D1-633C2363C86F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6" r="2055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3A462E4B-072E-4C42-BF51-7B779A049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457" y="181208"/>
            <a:ext cx="9993085" cy="892630"/>
          </a:xfrm>
        </p:spPr>
        <p:txBody>
          <a:bodyPr rtlCol="0"/>
          <a:lstStyle/>
          <a:p>
            <a:pPr rtl="0"/>
            <a:r>
              <a:rPr lang="ru-RU" dirty="0"/>
              <a:t>Описание продукции</a:t>
            </a: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xmlns="" id="{314E48D9-B460-4807-930C-B2FD99DD4C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3143" y="2195933"/>
            <a:ext cx="2383973" cy="464399"/>
          </a:xfrm>
        </p:spPr>
        <p:txBody>
          <a:bodyPr rtlCol="0"/>
          <a:lstStyle/>
          <a:p>
            <a:pPr rtl="0"/>
            <a:r>
              <a:rPr lang="ru-RU" sz="1800" dirty="0"/>
              <a:t>Супы и горячее:</a:t>
            </a:r>
          </a:p>
        </p:txBody>
      </p:sp>
      <p:sp>
        <p:nvSpPr>
          <p:cNvPr id="22" name="Подзаголовок 21">
            <a:extLst>
              <a:ext uri="{FF2B5EF4-FFF2-40B4-BE49-F238E27FC236}">
                <a16:creationId xmlns:a16="http://schemas.microsoft.com/office/drawing/2014/main" xmlns="" id="{55719757-528E-45B6-B6AF-D44DC6956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143" y="2883197"/>
            <a:ext cx="2383973" cy="2033161"/>
          </a:xfrm>
        </p:spPr>
        <p:txBody>
          <a:bodyPr rtlCol="0"/>
          <a:lstStyle/>
          <a:p>
            <a:pPr rtl="0"/>
            <a:r>
              <a:rPr lang="ru-RU" sz="1800" dirty="0">
                <a:solidFill>
                  <a:schemeClr val="bg1"/>
                </a:solidFill>
              </a:rPr>
              <a:t>Зелёный борщ</a:t>
            </a:r>
          </a:p>
          <a:p>
            <a:pPr rtl="0"/>
            <a:r>
              <a:rPr lang="ru-RU" sz="1800" dirty="0">
                <a:solidFill>
                  <a:schemeClr val="bg1"/>
                </a:solidFill>
              </a:rPr>
              <a:t>Свекольник</a:t>
            </a:r>
          </a:p>
          <a:p>
            <a:pPr rtl="0"/>
            <a:r>
              <a:rPr lang="ru-RU" sz="1800" dirty="0">
                <a:solidFill>
                  <a:schemeClr val="bg1"/>
                </a:solidFill>
              </a:rPr>
              <a:t>Гороховый суп</a:t>
            </a:r>
          </a:p>
          <a:p>
            <a:pPr rtl="0"/>
            <a:r>
              <a:rPr lang="ru-RU" sz="1800" dirty="0" err="1">
                <a:solidFill>
                  <a:schemeClr val="bg1"/>
                </a:solidFill>
              </a:rPr>
              <a:t>Боул</a:t>
            </a:r>
            <a:endParaRPr lang="ru-RU" sz="1800" dirty="0">
              <a:solidFill>
                <a:schemeClr val="bg1"/>
              </a:solidFill>
            </a:endParaRPr>
          </a:p>
          <a:p>
            <a:pPr rtl="0"/>
            <a:r>
              <a:rPr lang="ru-RU" sz="1800" dirty="0">
                <a:solidFill>
                  <a:schemeClr val="bg1"/>
                </a:solidFill>
              </a:rPr>
              <a:t>Паста</a:t>
            </a:r>
          </a:p>
          <a:p>
            <a:pPr rtl="0"/>
            <a:r>
              <a:rPr lang="ru-RU" sz="1800" dirty="0">
                <a:solidFill>
                  <a:schemeClr val="bg1"/>
                </a:solidFill>
              </a:rPr>
              <a:t>Каши</a:t>
            </a:r>
          </a:p>
          <a:p>
            <a:pPr rtl="0"/>
            <a:endParaRPr lang="ru-RU" sz="1800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xmlns="" id="{D02825D8-98D5-4B9D-8506-D66839B22A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39886" y="2195933"/>
            <a:ext cx="2383972" cy="464399"/>
          </a:xfrm>
        </p:spPr>
        <p:txBody>
          <a:bodyPr rtlCol="0"/>
          <a:lstStyle/>
          <a:p>
            <a:pPr rtl="0"/>
            <a:r>
              <a:rPr lang="ru-RU" sz="1800" dirty="0"/>
              <a:t>Гарниры с овощами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xmlns="" id="{5DBF1837-AF2C-4BDC-A7D4-5CCFD68A3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39886" y="2883198"/>
            <a:ext cx="2383972" cy="1830388"/>
          </a:xfrm>
        </p:spPr>
        <p:txBody>
          <a:bodyPr rtlCol="0"/>
          <a:lstStyle/>
          <a:p>
            <a:pPr rtl="0"/>
            <a:r>
              <a:rPr lang="ru-RU" sz="1800" dirty="0"/>
              <a:t>Тефтели из моркови/свеклы</a:t>
            </a:r>
          </a:p>
          <a:p>
            <a:pPr rtl="0"/>
            <a:r>
              <a:rPr lang="ru-RU" sz="1800" dirty="0"/>
              <a:t>Капустные роллы</a:t>
            </a:r>
          </a:p>
          <a:p>
            <a:pPr rtl="0"/>
            <a:r>
              <a:rPr lang="ru-RU" sz="1800" dirty="0"/>
              <a:t>Пельмени и вареники с папоротником, вишней, малиной</a:t>
            </a:r>
          </a:p>
          <a:p>
            <a:pPr rtl="0"/>
            <a:endParaRPr lang="ru-RU" sz="1800" dirty="0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xmlns="" id="{60B39D88-A52B-426B-A853-E65BD4FC50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6627" y="2195933"/>
            <a:ext cx="2383973" cy="464399"/>
          </a:xfrm>
        </p:spPr>
        <p:txBody>
          <a:bodyPr rtlCol="0"/>
          <a:lstStyle/>
          <a:p>
            <a:pPr rtl="0"/>
            <a:r>
              <a:rPr lang="ru-RU" sz="1800" dirty="0"/>
              <a:t>Салаты из овощей и фруктов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xmlns="" id="{E07A9FA1-2AC9-4B1D-B7BA-8ED1D91F40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6627" y="2883198"/>
            <a:ext cx="2383973" cy="1830388"/>
          </a:xfrm>
        </p:spPr>
        <p:txBody>
          <a:bodyPr rtlCol="0"/>
          <a:lstStyle/>
          <a:p>
            <a:pPr rtl="0"/>
            <a:r>
              <a:rPr lang="ru-RU" sz="1800" dirty="0"/>
              <a:t>Зелёный с огурцами</a:t>
            </a:r>
          </a:p>
          <a:p>
            <a:pPr rtl="0"/>
            <a:r>
              <a:rPr lang="ru-RU" sz="1800" dirty="0"/>
              <a:t>С нутом</a:t>
            </a:r>
          </a:p>
          <a:p>
            <a:pPr rtl="0"/>
            <a:r>
              <a:rPr lang="ru-RU" sz="1800" dirty="0"/>
              <a:t>Лепёшка со шпинатом</a:t>
            </a:r>
          </a:p>
          <a:p>
            <a:pPr rtl="0"/>
            <a:endParaRPr lang="ru-RU" sz="1800" dirty="0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xmlns="" id="{41BA5E91-1995-47D0-BB5C-58C90377D3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13370" y="2085101"/>
            <a:ext cx="2383972" cy="464399"/>
          </a:xfrm>
        </p:spPr>
        <p:txBody>
          <a:bodyPr rtlCol="0"/>
          <a:lstStyle/>
          <a:p>
            <a:pPr rtl="0"/>
            <a:r>
              <a:rPr lang="ru-RU" sz="1800" dirty="0"/>
              <a:t>Напитки и десерты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xmlns="" id="{758BA41F-3849-457C-9696-BAB0D3B3AE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013370" y="2883197"/>
            <a:ext cx="2383972" cy="2160271"/>
          </a:xfrm>
        </p:spPr>
        <p:txBody>
          <a:bodyPr rtlCol="0"/>
          <a:lstStyle/>
          <a:p>
            <a:pPr rtl="0"/>
            <a:r>
              <a:rPr lang="ru-RU" sz="1800" dirty="0"/>
              <a:t>Соки, муссы</a:t>
            </a:r>
          </a:p>
          <a:p>
            <a:pPr rtl="0"/>
            <a:r>
              <a:rPr lang="ru-RU" sz="1800" dirty="0"/>
              <a:t>Желе из овощей, фруктов, ягод</a:t>
            </a:r>
          </a:p>
          <a:p>
            <a:pPr rtl="0"/>
            <a:r>
              <a:rPr lang="ru-RU" sz="1800" dirty="0"/>
              <a:t>Кексы</a:t>
            </a:r>
          </a:p>
          <a:p>
            <a:pPr rtl="0"/>
            <a:r>
              <a:rPr lang="ru-RU" sz="1800" dirty="0"/>
              <a:t>Чиа пуддинг</a:t>
            </a:r>
          </a:p>
          <a:p>
            <a:pPr rtl="0"/>
            <a:r>
              <a:rPr lang="ru-RU" sz="1800" dirty="0"/>
              <a:t>Ягодный </a:t>
            </a:r>
            <a:r>
              <a:rPr lang="ru-RU" sz="1800" dirty="0" err="1"/>
              <a:t>тарт</a:t>
            </a: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32F04BB0-DB84-4BBE-9370-8BA7BC2C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40D9458-AFC3-4C56-90FE-1220B457D31C}"/>
              </a:ext>
            </a:extLst>
          </p:cNvPr>
          <p:cNvSpPr txBox="1"/>
          <p:nvPr/>
        </p:nvSpPr>
        <p:spPr>
          <a:xfrm>
            <a:off x="3336759" y="1073838"/>
            <a:ext cx="6380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Меню будет состоять из 4 видов блюд:</a:t>
            </a:r>
          </a:p>
        </p:txBody>
      </p:sp>
    </p:spTree>
    <p:extLst>
      <p:ext uri="{BB962C8B-B14F-4D97-AF65-F5344CB8AC3E}">
        <p14:creationId xmlns:p14="http://schemas.microsoft.com/office/powerpoint/2010/main" val="58616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xmlns="" id="{5DCE6DAE-BA1C-4544-A93F-91EC2AE67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F4762EB9-446A-44B8-A794-7B5F6B46E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68570"/>
            <a:ext cx="12192000" cy="859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C485600-56AE-4F29-A387-D7525B6B99C1}"/>
              </a:ext>
            </a:extLst>
          </p:cNvPr>
          <p:cNvSpPr txBox="1"/>
          <p:nvPr/>
        </p:nvSpPr>
        <p:spPr>
          <a:xfrm>
            <a:off x="7528560" y="5440680"/>
            <a:ext cx="3980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5400" dirty="0">
                <a:latin typeface="Bahnschrift Light" panose="020B0502040204020203" pitchFamily="34" charset="0"/>
              </a:rPr>
              <a:t>План офиса</a:t>
            </a:r>
            <a:endParaRPr lang="ru-RU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165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3A462E4B-072E-4C42-BF51-7B779A049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457" y="181208"/>
            <a:ext cx="9993085" cy="892630"/>
          </a:xfrm>
        </p:spPr>
        <p:txBody>
          <a:bodyPr rtlCol="0"/>
          <a:lstStyle/>
          <a:p>
            <a:pPr rtl="0"/>
            <a:r>
              <a:rPr lang="ru-RU" dirty="0"/>
              <a:t>Анализ рынков сбыта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xmlns="" id="{5DBF1837-AF2C-4BDC-A7D4-5CCFD68A3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166" y="1634306"/>
            <a:ext cx="11739154" cy="2114734"/>
          </a:xfrm>
        </p:spPr>
        <p:txBody>
          <a:bodyPr rtlCol="0"/>
          <a:lstStyle/>
          <a:p>
            <a:pPr rtl="0"/>
            <a:r>
              <a:rPr lang="ru-RU" dirty="0"/>
              <a:t>По данным агентства </a:t>
            </a:r>
            <a:r>
              <a:rPr lang="ru-RU" dirty="0" err="1"/>
              <a:t>Euromonitor</a:t>
            </a:r>
            <a:r>
              <a:rPr lang="ru-RU" dirty="0"/>
              <a:t> </a:t>
            </a:r>
            <a:r>
              <a:rPr lang="ru-RU" dirty="0" err="1"/>
              <a:t>International</a:t>
            </a:r>
            <a:r>
              <a:rPr lang="ru-RU" dirty="0"/>
              <a:t> в 2018 году мировой объем </a:t>
            </a:r>
            <a:r>
              <a:rPr lang="ru-RU" sz="1600" dirty="0"/>
              <a:t>рынка</a:t>
            </a:r>
            <a:r>
              <a:rPr lang="ru-RU" dirty="0"/>
              <a:t> продуктов для вегетарианцев составил 1 млрд долларов.</a:t>
            </a:r>
          </a:p>
          <a:p>
            <a:pPr rtl="0"/>
            <a:r>
              <a:rPr lang="ru-RU" dirty="0"/>
              <a:t>Другая особенность рынка —рост количества инвестиций в стартапы, связанные с вегетарианской кухней. Их число выросло в три раза за последние три года — с 1.5% в 2015 году до 4.5% в 2018 году. В эту отрасль бизнеса инвестируют в основном известные бизнесмены, шоумены и спортсмены.</a:t>
            </a:r>
          </a:p>
          <a:p>
            <a:pPr rtl="0"/>
            <a:r>
              <a:rPr lang="ru-RU" dirty="0"/>
              <a:t>Конкуренция на рынке вегетарианской кухни — небольшая. Однако, появляются сетевые компании вегетарианской кухни, например, </a:t>
            </a:r>
            <a:r>
              <a:rPr lang="ru-RU" dirty="0" err="1"/>
              <a:t>Джаганнат</a:t>
            </a:r>
            <a:r>
              <a:rPr lang="ru-RU" dirty="0"/>
              <a:t>, Авокадо, Кашмир, RA </a:t>
            </a:r>
            <a:r>
              <a:rPr lang="ru-RU" dirty="0" err="1"/>
              <a:t>Family</a:t>
            </a:r>
            <a:r>
              <a:rPr lang="ru-RU" dirty="0"/>
              <a:t>.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xmlns="" id="{60B39D88-A52B-426B-A853-E65BD4FC50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887203"/>
            <a:ext cx="12085320" cy="295595"/>
          </a:xfrm>
        </p:spPr>
        <p:txBody>
          <a:bodyPr rtlCol="0"/>
          <a:lstStyle/>
          <a:p>
            <a:pPr rtl="0"/>
            <a:r>
              <a:rPr lang="ru-RU" sz="1800" dirty="0"/>
              <a:t>Объемная и динамическая оценка потенциальной емкости рынка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xmlns="" id="{E07A9FA1-2AC9-4B1D-B7BA-8ED1D91F40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6166" y="4415340"/>
            <a:ext cx="11739154" cy="1830388"/>
          </a:xfrm>
        </p:spPr>
        <p:txBody>
          <a:bodyPr rtlCol="0"/>
          <a:lstStyle/>
          <a:p>
            <a:pPr rtl="0"/>
            <a:r>
              <a:rPr lang="ru-RU" sz="1600" dirty="0"/>
              <a:t>Для города с населением 500-700 тысяч человек потенциальный объем клиентов может составить 30-35 тысяч человек. Принимая в расчет низкий уровень конкуренции, можно рассчитывать на долю клиентов в размере 5-7 тысяч человек. Принимая, что в среднем каждый вегетарианец, хотя бы раз в неделю посещает вегетарианское кафе, при среднем чеке в 150 руб., то капитализация доли рынка может составить 7.5 млн руб. или порядка 30 млн руб. в месяц.</a:t>
            </a:r>
          </a:p>
          <a:p>
            <a:pPr rtl="0"/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32F04BB0-DB84-4BBE-9370-8BA7BC2C1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40D9458-AFC3-4C56-90FE-1220B457D31C}"/>
              </a:ext>
            </a:extLst>
          </p:cNvPr>
          <p:cNvSpPr txBox="1"/>
          <p:nvPr/>
        </p:nvSpPr>
        <p:spPr>
          <a:xfrm>
            <a:off x="3908659" y="912886"/>
            <a:ext cx="4374681" cy="464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Основные показатели рынка</a:t>
            </a:r>
          </a:p>
        </p:txBody>
      </p:sp>
    </p:spTree>
    <p:extLst>
      <p:ext uri="{BB962C8B-B14F-4D97-AF65-F5344CB8AC3E}">
        <p14:creationId xmlns:p14="http://schemas.microsoft.com/office/powerpoint/2010/main" val="402246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xmlns="" id="{FA666E47-001E-4F4E-B62E-8A6D933DF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588245"/>
            <a:ext cx="5094517" cy="296676"/>
          </a:xfrm>
        </p:spPr>
        <p:txBody>
          <a:bodyPr rtlCol="0"/>
          <a:lstStyle/>
          <a:p>
            <a:pPr rtl="0"/>
            <a:r>
              <a:rPr lang="ru-RU" dirty="0"/>
              <a:t>Стратегия маркетинга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xmlns="" id="{9A66EBC9-050A-41F3-AD91-30F38B701D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1960" y="1064865"/>
            <a:ext cx="2383973" cy="464399"/>
          </a:xfrm>
        </p:spPr>
        <p:txBody>
          <a:bodyPr rtlCol="0"/>
          <a:lstStyle/>
          <a:p>
            <a:pPr rtl="0"/>
            <a:r>
              <a:rPr lang="ru-RU" dirty="0"/>
              <a:t>Продажа услуг:</a:t>
            </a:r>
          </a:p>
        </p:txBody>
      </p:sp>
      <p:sp>
        <p:nvSpPr>
          <p:cNvPr id="23" name="Подзаголовок 22">
            <a:extLst>
              <a:ext uri="{FF2B5EF4-FFF2-40B4-BE49-F238E27FC236}">
                <a16:creationId xmlns:a16="http://schemas.microsoft.com/office/drawing/2014/main" xmlns="" id="{C907DFB3-F9A2-4EFE-B9BC-63862DC81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960" y="1431290"/>
            <a:ext cx="2383973" cy="1452926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ru-RU" dirty="0">
                <a:solidFill>
                  <a:schemeClr val="bg1"/>
                </a:solidFill>
              </a:rPr>
              <a:t>Продажа в кафе</a:t>
            </a:r>
          </a:p>
          <a:p>
            <a:pPr marL="342900" indent="-342900" rtl="0">
              <a:buAutoNum type="arabicParenR"/>
            </a:pPr>
            <a:r>
              <a:rPr lang="ru-RU" dirty="0">
                <a:solidFill>
                  <a:schemeClr val="bg1"/>
                </a:solidFill>
              </a:rPr>
              <a:t>Индивидуальные заказы частных и корпоративных клиентов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xmlns="" id="{91F01E51-19DF-4541-BE5B-8E19C0823D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2842" y="3960645"/>
            <a:ext cx="4236720" cy="465063"/>
          </a:xfrm>
        </p:spPr>
        <p:txBody>
          <a:bodyPr rtlCol="0"/>
          <a:lstStyle/>
          <a:p>
            <a:pPr rtl="0"/>
            <a:r>
              <a:rPr lang="ru-RU" dirty="0"/>
              <a:t>Рекламные методы и инструменты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xmlns="" id="{A692C241-09A4-4DAB-B0EC-982F014CDF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92843" y="4425707"/>
            <a:ext cx="3936357" cy="1844047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ru-RU" dirty="0"/>
              <a:t>Реклама в региональных СМИ</a:t>
            </a:r>
          </a:p>
          <a:p>
            <a:pPr marL="342900" indent="-342900" rtl="0">
              <a:buAutoNum type="arabicParenR"/>
            </a:pPr>
            <a:r>
              <a:rPr lang="ru-RU" dirty="0"/>
              <a:t>Реклама в печатных буклетах в точках продаж овощей и фруктов, в спортивных учреждениях, фитнес-центрах, бассейнах, </a:t>
            </a:r>
            <a:r>
              <a:rPr lang="ru-RU" dirty="0" err="1"/>
              <a:t>спа</a:t>
            </a:r>
            <a:r>
              <a:rPr lang="ru-RU" dirty="0"/>
              <a:t>-салонах</a:t>
            </a:r>
          </a:p>
          <a:p>
            <a:pPr marL="342900" indent="-342900" rtl="0">
              <a:buAutoNum type="arabicParenR"/>
            </a:pPr>
            <a:r>
              <a:rPr lang="ru-RU" dirty="0"/>
              <a:t>Реклама в интернете, в т. ч. у блогеров, пропагандирующих здоровый образ жизни</a:t>
            </a: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xmlns="" id="{3B635C66-907A-4B1E-B906-8C17503D23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17225" y="1064865"/>
            <a:ext cx="3648973" cy="464399"/>
          </a:xfrm>
        </p:spPr>
        <p:txBody>
          <a:bodyPr rtlCol="0"/>
          <a:lstStyle/>
          <a:p>
            <a:pPr rtl="0"/>
            <a:r>
              <a:rPr lang="ru-RU" dirty="0"/>
              <a:t>Целевая аудитория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xmlns="" id="{BF3C0964-198B-4E8D-A938-CF60D49DD7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17225" y="1431290"/>
            <a:ext cx="3648973" cy="1422437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ru-RU" dirty="0"/>
              <a:t>Молодые люди до 35 лет</a:t>
            </a:r>
          </a:p>
          <a:p>
            <a:pPr marL="342900" indent="-342900" rtl="0">
              <a:buAutoNum type="arabicParenR"/>
            </a:pPr>
            <a:r>
              <a:rPr lang="ru-RU" dirty="0"/>
              <a:t>Люди, имеющие средний уровень достатка</a:t>
            </a:r>
          </a:p>
          <a:p>
            <a:pPr marL="342900" indent="-342900" rtl="0">
              <a:buAutoNum type="arabicParenR"/>
            </a:pPr>
            <a:r>
              <a:rPr lang="ru-RU" dirty="0"/>
              <a:t>Офисный персонал бизнесов и учреждений</a:t>
            </a:r>
          </a:p>
          <a:p>
            <a:pPr marL="342900" indent="-342900" rtl="0">
              <a:buAutoNum type="arabicParenR"/>
            </a:pPr>
            <a:r>
              <a:rPr lang="ru-RU" dirty="0"/>
              <a:t>Представители среднего управленческого звена, владельцы малого и среднего бизнеса</a:t>
            </a:r>
          </a:p>
          <a:p>
            <a:pPr marL="342900" indent="-342900" rtl="0">
              <a:buAutoNum type="arabicParenR"/>
            </a:pPr>
            <a:r>
              <a:rPr lang="ru-RU" dirty="0"/>
              <a:t>Высокооплачиваемые специалисты</a:t>
            </a:r>
          </a:p>
        </p:txBody>
      </p:sp>
      <p:pic>
        <p:nvPicPr>
          <p:cNvPr id="9" name="Рисунок 8" descr="Стопка тарелок крупным планом">
            <a:extLst>
              <a:ext uri="{FF2B5EF4-FFF2-40B4-BE49-F238E27FC236}">
                <a16:creationId xmlns:a16="http://schemas.microsoft.com/office/drawing/2014/main" xmlns="" id="{085E5B6A-0758-4158-877E-C7279ECA01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62439" y="0"/>
            <a:ext cx="5328822" cy="68580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DD90521C-0778-4218-AC9C-D1774B90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951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Рисунок 138" descr="Ряды длинных французских батонов">
            <a:extLst>
              <a:ext uri="{FF2B5EF4-FFF2-40B4-BE49-F238E27FC236}">
                <a16:creationId xmlns:a16="http://schemas.microsoft.com/office/drawing/2014/main" xmlns="" id="{75A3233C-6AA5-4B0A-8F24-6E96068D01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81" y="0"/>
            <a:ext cx="12196282" cy="2442916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85DD343D-FFFF-49FD-B58D-FEB0901A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442915"/>
          </a:xfrm>
        </p:spPr>
        <p:txBody>
          <a:bodyPr rtlCol="0"/>
          <a:lstStyle/>
          <a:p>
            <a:pPr algn="ctr" rtl="0"/>
            <a:r>
              <a:rPr lang="ru-RU" sz="7200" dirty="0">
                <a:solidFill>
                  <a:schemeClr val="bg1"/>
                </a:solidFill>
              </a:rPr>
              <a:t>Производственный план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564A7177-0CC1-43DC-8029-5CEC9F04FC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2048" y="2442914"/>
            <a:ext cx="4953000" cy="426393"/>
          </a:xfrm>
        </p:spPr>
        <p:txBody>
          <a:bodyPr rtlCol="0"/>
          <a:lstStyle/>
          <a:p>
            <a:pPr rtl="0"/>
            <a:r>
              <a:rPr lang="ru-RU" sz="1800" dirty="0"/>
              <a:t>Регистрация бизнеса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370C771E-BA39-483A-A7F7-8763F92FDE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2048" y="3022265"/>
            <a:ext cx="4953000" cy="2952568"/>
          </a:xfrm>
        </p:spPr>
        <p:txBody>
          <a:bodyPr rtlCol="0"/>
          <a:lstStyle/>
          <a:p>
            <a:pPr rtl="0"/>
            <a:r>
              <a:rPr lang="ru-RU" sz="1300" dirty="0"/>
              <a:t>Для регистрации бизнеса вегетарианского кафе оптимальным вариантом является использование формы ИП. Это позволит использовать преимущества упрощенной системы ведения налоговой и бухгалтерской отчетности (УСН) и самой низкой налоговой ставки — 6% от полученных доходов.</a:t>
            </a:r>
          </a:p>
          <a:p>
            <a:pPr rtl="0"/>
            <a:r>
              <a:rPr lang="ru-RU" sz="1300" dirty="0"/>
              <a:t>Для регистрации ИП применяется стандартная схема в виде подачи заявления в местное подразделение ФНС по юридическому адресу предприятия или места жительства учредителя. Срок регистрации — 3 рабочих дня. Стоимость регистрации — 500 рублей.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xmlns="" id="{0C7F433D-063C-45DA-AAE6-5D6735A548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85048" y="3022265"/>
            <a:ext cx="6574904" cy="3134695"/>
          </a:xfrm>
        </p:spPr>
        <p:txBody>
          <a:bodyPr rtlCol="0"/>
          <a:lstStyle/>
          <a:p>
            <a:pPr rtl="0"/>
            <a:r>
              <a:rPr lang="ru-RU" sz="1300" dirty="0"/>
              <a:t>При оформлении заявления в ФНС, в подаваемом заявлении на регистрацию, следует указать следующие виды деятельности по специальному классификатору — ОКВЭД:</a:t>
            </a:r>
          </a:p>
          <a:p>
            <a:pPr rtl="0"/>
            <a:r>
              <a:rPr lang="ru-RU" sz="1300" dirty="0"/>
              <a:t>56.1 «Деятельность ресторанов и оказание услуг по доставке продуктов»</a:t>
            </a:r>
          </a:p>
          <a:p>
            <a:pPr rtl="0"/>
            <a:r>
              <a:rPr lang="ru-RU" sz="1300" dirty="0"/>
              <a:t>56.10.1 «Заведения ресторанов и кафе с полным обслуживанием клиентов, а также рестораны быстрого обслуживания»</a:t>
            </a:r>
          </a:p>
          <a:p>
            <a:pPr rtl="0"/>
            <a:r>
              <a:rPr lang="ru-RU" sz="1300" dirty="0"/>
              <a:t>56.10.2 «Приготовление пищи с последующей реализацией и употреблением на месте»</a:t>
            </a:r>
          </a:p>
          <a:p>
            <a:pPr rtl="0"/>
            <a:r>
              <a:rPr lang="ru-RU" sz="1300" dirty="0"/>
              <a:t>47.11.2 «Розничная торговля незамороженными продуктами, напитками в неспециализированных точках»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F4DC327-9994-42EA-95A4-1EB64231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02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Рисунок 138" descr="Ряды длинных французских батонов">
            <a:extLst>
              <a:ext uri="{FF2B5EF4-FFF2-40B4-BE49-F238E27FC236}">
                <a16:creationId xmlns:a16="http://schemas.microsoft.com/office/drawing/2014/main" xmlns="" id="{75A3233C-6AA5-4B0A-8F24-6E96068D01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81" y="0"/>
            <a:ext cx="12196282" cy="2442916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85DD343D-FFFF-49FD-B58D-FEB0901AC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442915"/>
          </a:xfrm>
        </p:spPr>
        <p:txBody>
          <a:bodyPr rtlCol="0"/>
          <a:lstStyle/>
          <a:p>
            <a:pPr algn="ctr" rtl="0"/>
            <a:r>
              <a:rPr lang="ru-RU" sz="7200" dirty="0">
                <a:solidFill>
                  <a:schemeClr val="bg1"/>
                </a:solidFill>
              </a:rPr>
              <a:t>Производственный план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xmlns="" id="{564A7177-0CC1-43DC-8029-5CEC9F04FC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2048" y="2442914"/>
            <a:ext cx="4953000" cy="426393"/>
          </a:xfrm>
        </p:spPr>
        <p:txBody>
          <a:bodyPr rtlCol="0"/>
          <a:lstStyle/>
          <a:p>
            <a:pPr rtl="0"/>
            <a:r>
              <a:rPr lang="ru-RU" sz="1800" dirty="0"/>
              <a:t>Регистрация бизнеса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370C771E-BA39-483A-A7F7-8763F92FDE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3928" y="2822875"/>
            <a:ext cx="8187112" cy="3533475"/>
          </a:xfrm>
        </p:spPr>
        <p:txBody>
          <a:bodyPr rtlCol="0"/>
          <a:lstStyle/>
          <a:p>
            <a:pPr rtl="0">
              <a:spcBef>
                <a:spcPts val="0"/>
              </a:spcBef>
              <a:spcAft>
                <a:spcPts val="1100"/>
              </a:spcAft>
            </a:pPr>
            <a:r>
              <a:rPr lang="ru-RU" sz="13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Кроме юридической регистрации кафе, как предприятия, также потребуется оформить пакет разрешительных документов. В этот перечень входят документы:                                                                                                        1) сертификат соответствия (разрешение на открытие и эксплуатацию) на оказание услуг кафе. Этот документ выдается органами Роспотребнадзора;                                                                              2) сертификат на эксплуатацию помещения кафе, выдаваемый муниципальными органами Санэпиднадзора;                                                                                                                             3) пожарный сертификат на соответствие помещений кафе нормам пожарной безопасности — выдается подразделениями МЧС или Государственным пожарным надзором;                                                                                                                  4) заключение или акт проведения дератизации и дезинфекции помещений кафе — выдается органами санэпиднадзора и соответствующими организациями, проводящими такие санитарные мероприятия;                                                                                                                                  5) документы, подтверждающие прохождение регистрации контрольной кассовой техники ККМ, платежных терминалов (POS терминалы). Такие документы выдаются подразделениями ФНС по месту расположения компании.</a:t>
            </a:r>
          </a:p>
          <a:p>
            <a:pPr rtl="0"/>
            <a:endParaRPr lang="ru-RU" sz="1300" dirty="0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xmlns="" id="{0C7F433D-063C-45DA-AAE6-5D6735A548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21040" y="2869307"/>
            <a:ext cx="3538912" cy="3134695"/>
          </a:xfrm>
        </p:spPr>
        <p:txBody>
          <a:bodyPr rtlCol="0"/>
          <a:lstStyle/>
          <a:p>
            <a:pPr rtl="0"/>
            <a:r>
              <a:rPr lang="ru-RU" sz="1300" dirty="0"/>
              <a:t>Кроме этого, потребуется заключение контрактов с поставщиками электроэнергии, водоснабжения, обслуживания прилегающей территории.</a:t>
            </a:r>
          </a:p>
          <a:p>
            <a:pPr rtl="0"/>
            <a:r>
              <a:rPr lang="ru-RU" sz="1300" dirty="0"/>
              <a:t>На все расходы по регистрации вегетарианского кафе, получение необходимых разрешений и согласований предусмотрен бюджет в 100 000 рублей.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F4DC327-9994-42EA-95A4-1EB64231B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468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8" descr="Изображение винограда с листьями на деревянном столе">
            <a:extLst>
              <a:ext uri="{FF2B5EF4-FFF2-40B4-BE49-F238E27FC236}">
                <a16:creationId xmlns:a16="http://schemas.microsoft.com/office/drawing/2014/main" xmlns="" id="{CF7C2A40-D3E7-4D1B-9DDF-B0A6443AEA3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4339" y="0"/>
            <a:ext cx="5967662" cy="68580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79A93A47-486D-4EC7-8BD7-622BB9444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10</a:t>
            </a:fld>
            <a:endParaRPr lang="ru-RU"/>
          </a:p>
        </p:txBody>
      </p:sp>
      <p:sp>
        <p:nvSpPr>
          <p:cNvPr id="29" name="Подзаголовок 28">
            <a:extLst>
              <a:ext uri="{FF2B5EF4-FFF2-40B4-BE49-F238E27FC236}">
                <a16:creationId xmlns:a16="http://schemas.microsoft.com/office/drawing/2014/main" xmlns="" id="{FF31A41E-8202-40FC-B2C6-C7EB5EDA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84" y="889799"/>
            <a:ext cx="5582655" cy="3291479"/>
          </a:xfrm>
        </p:spPr>
        <p:txBody>
          <a:bodyPr rtlCol="0"/>
          <a:lstStyle/>
          <a:p>
            <a:pPr rtl="0"/>
            <a:r>
              <a:rPr lang="ru-RU" dirty="0"/>
              <a:t>Помещение под кафе должно располагаться как можно ближе к месту концентрации потенциальных клиентов — это деловая часть города и примыкающие к ней жилые районы.</a:t>
            </a:r>
          </a:p>
          <a:p>
            <a:pPr rtl="0"/>
            <a:r>
              <a:rPr lang="ru-RU" dirty="0"/>
              <a:t>Помещение должно содержать обеденную или клиентскую зону, площадью не менее 50 кв. м. Потолки в зале кафе и кухонном отделении должны иметь высоту не ниже 3.5 метров. Кроме этого обязательно наличие запасных выходов (для эвакуации на случай пожара). Помещения кафе имеют следующие функциональные зоны:</a:t>
            </a:r>
          </a:p>
          <a:p>
            <a:pPr rtl="0"/>
            <a:r>
              <a:rPr lang="ru-RU" dirty="0"/>
              <a:t>клиентская — 50 кв. м.</a:t>
            </a:r>
          </a:p>
          <a:p>
            <a:pPr rtl="0"/>
            <a:r>
              <a:rPr lang="ru-RU" dirty="0"/>
              <a:t>помещение кухни, включая провизионные кладовые — 40 кв. м</a:t>
            </a:r>
          </a:p>
          <a:p>
            <a:pPr rtl="0"/>
            <a:r>
              <a:rPr lang="ru-RU" dirty="0"/>
              <a:t>Офисное место для управляющего и места отдыха персонала — 35 кв.</a:t>
            </a:r>
          </a:p>
          <a:p>
            <a:pPr rtl="0"/>
            <a:r>
              <a:rPr lang="ru-RU" dirty="0"/>
              <a:t>Желательно иметь парковку для нескольких машин или размещения небольшого навеса со столиками для угощения посетителей на улице в летний период.</a:t>
            </a:r>
          </a:p>
          <a:p>
            <a:pPr rtl="0"/>
            <a:r>
              <a:rPr lang="ru-RU" dirty="0"/>
              <a:t>Общая площадь помещения кафе, предусмотренная в проекте, составляет 120-130 кв. м. Кафе будет располагаться на первом этаже одного из административных зданий в центре города.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74713F65-A47E-465C-963B-E10AC5351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0957"/>
            <a:ext cx="4386945" cy="639955"/>
          </a:xfrm>
        </p:spPr>
        <p:txBody>
          <a:bodyPr rtlCol="0"/>
          <a:lstStyle/>
          <a:p>
            <a:pPr rtl="0"/>
            <a:r>
              <a:rPr lang="ru-RU" dirty="0"/>
              <a:t>Помещение</a:t>
            </a:r>
          </a:p>
        </p:txBody>
      </p:sp>
    </p:spTree>
    <p:extLst>
      <p:ext uri="{BB962C8B-B14F-4D97-AF65-F5344CB8AC3E}">
        <p14:creationId xmlns:p14="http://schemas.microsoft.com/office/powerpoint/2010/main" val="2365296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xmlns="" id="{0F65BBA0-595D-4970-8768-2D8DC31F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8280" y="334645"/>
            <a:ext cx="6903719" cy="635397"/>
          </a:xfrm>
        </p:spPr>
        <p:txBody>
          <a:bodyPr rtlCol="0"/>
          <a:lstStyle/>
          <a:p>
            <a:pPr rtl="0"/>
            <a:r>
              <a:rPr lang="ru-RU" dirty="0"/>
              <a:t>Оборудование</a:t>
            </a:r>
          </a:p>
        </p:txBody>
      </p:sp>
      <p:pic>
        <p:nvPicPr>
          <p:cNvPr id="10" name="Рисунок 9" descr="Вилка и нож крупным планом">
            <a:extLst>
              <a:ext uri="{FF2B5EF4-FFF2-40B4-BE49-F238E27FC236}">
                <a16:creationId xmlns:a16="http://schemas.microsoft.com/office/drawing/2014/main" xmlns="" id="{4091BEB8-367A-43EC-85AA-BF46CFFE3E0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661647" cy="68580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1055283C-F40F-4ABA-B7D5-4D429358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26F0529-FD37-4FD4-BFD5-7D5C8F69FED6}"/>
              </a:ext>
            </a:extLst>
          </p:cNvPr>
          <p:cNvSpPr txBox="1"/>
          <p:nvPr/>
        </p:nvSpPr>
        <p:spPr>
          <a:xfrm>
            <a:off x="4983480" y="970042"/>
            <a:ext cx="6705600" cy="540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1100"/>
              </a:spcAft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и тип оборудования, приобретаемого для проекта кафе, не отличается особой уникальностью. Его можно приобрести на региональных оптовых рынках или складах почти в полном комплекте. Минимальный необходимый перечень такого оборудования для кафе может иметь следующий вид:</a:t>
            </a:r>
            <a:endParaRPr lang="ru-RU" sz="1400" b="0" dirty="0">
              <a:solidFill>
                <a:schemeClr val="bg1">
                  <a:lumMod val="9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Вентиляционная система (климат контроль)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Кухонная плита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Холодильник на 250 л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Микроволновая печь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Миксеры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Соковыжималка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Блендер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Разделочные доски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Кухонный инвентарь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Столы и стулья для клиентской зоны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Платежный терминал и ККТ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Спецодежда и униформа персонала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Упаковочный автомат (для продажи блюд на вынос или по заказам)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Компьютеры и оргтехника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Мебель для офиса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Мебель для комнаты отдыха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Хозяйственный инвентарь (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Автомобиль -</a:t>
            </a:r>
            <a:r>
              <a:rPr lang="ru-RU" sz="1400" b="0" i="0" u="none" strike="noStrike" dirty="0" err="1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микрогрузовик</a:t>
            </a: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(фургон термос)</a:t>
            </a:r>
          </a:p>
          <a:p>
            <a:pPr marL="1905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видеонаблюдения</a:t>
            </a:r>
          </a:p>
          <a:p>
            <a:pPr marL="190500" rtl="0" fontAlgn="base">
              <a:spcBef>
                <a:spcPts val="0"/>
              </a:spcBef>
              <a:spcAft>
                <a:spcPts val="2200"/>
              </a:spcAft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Пожарный инвентарь</a:t>
            </a:r>
          </a:p>
        </p:txBody>
      </p:sp>
    </p:spTree>
    <p:extLst>
      <p:ext uri="{BB962C8B-B14F-4D97-AF65-F5344CB8AC3E}">
        <p14:creationId xmlns:p14="http://schemas.microsoft.com/office/powerpoint/2010/main" val="215146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xmlns="" id="{9A10B49F-A2AF-46DE-89E1-741462CAE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0939" y="276679"/>
            <a:ext cx="5870122" cy="639955"/>
          </a:xfrm>
        </p:spPr>
        <p:txBody>
          <a:bodyPr rtlCol="0"/>
          <a:lstStyle/>
          <a:p>
            <a:pPr rtl="0"/>
            <a:r>
              <a:rPr lang="ru-RU" dirty="0"/>
              <a:t>Организационная структура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xmlns="" id="{994EE154-010E-49F2-85BA-AC4F2CE3C6C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09974" y="916634"/>
            <a:ext cx="5007023" cy="448769"/>
          </a:xfrm>
        </p:spPr>
        <p:txBody>
          <a:bodyPr rtlCol="0"/>
          <a:lstStyle/>
          <a:p>
            <a:pPr rtl="0"/>
            <a:r>
              <a:rPr lang="ru-RU" dirty="0"/>
              <a:t>Вид штатного расписания</a:t>
            </a:r>
          </a:p>
        </p:txBody>
      </p:sp>
      <p:graphicFrame>
        <p:nvGraphicFramePr>
          <p:cNvPr id="47" name="Объект 46">
            <a:extLst>
              <a:ext uri="{FF2B5EF4-FFF2-40B4-BE49-F238E27FC236}">
                <a16:creationId xmlns:a16="http://schemas.microsoft.com/office/drawing/2014/main" xmlns="" id="{7067412F-5C14-436D-9C59-432BFE7E6B6D}"/>
              </a:ext>
            </a:extLst>
          </p:cNvPr>
          <p:cNvGraphicFramePr>
            <a:graphicFrameLocks noGrp="1"/>
          </p:cNvGraphicFramePr>
          <p:nvPr>
            <p:ph sz="quarter" idx="36"/>
            <p:extLst>
              <p:ext uri="{D42A27DB-BD31-4B8C-83A1-F6EECF244321}">
                <p14:modId xmlns:p14="http://schemas.microsoft.com/office/powerpoint/2010/main" val="675164336"/>
              </p:ext>
            </p:extLst>
          </p:nvPr>
        </p:nvGraphicFramePr>
        <p:xfrm>
          <a:off x="701040" y="1365403"/>
          <a:ext cx="10652760" cy="471057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888448">
                  <a:extLst>
                    <a:ext uri="{9D8B030D-6E8A-4147-A177-3AD203B41FA5}">
                      <a16:colId xmlns:a16="http://schemas.microsoft.com/office/drawing/2014/main" xmlns="" val="1517755082"/>
                    </a:ext>
                  </a:extLst>
                </a:gridCol>
                <a:gridCol w="2188322">
                  <a:extLst>
                    <a:ext uri="{9D8B030D-6E8A-4147-A177-3AD203B41FA5}">
                      <a16:colId xmlns:a16="http://schemas.microsoft.com/office/drawing/2014/main" xmlns="" val="2446386500"/>
                    </a:ext>
                  </a:extLst>
                </a:gridCol>
                <a:gridCol w="2756584">
                  <a:extLst>
                    <a:ext uri="{9D8B030D-6E8A-4147-A177-3AD203B41FA5}">
                      <a16:colId xmlns:a16="http://schemas.microsoft.com/office/drawing/2014/main" xmlns="" val="3308918160"/>
                    </a:ext>
                  </a:extLst>
                </a:gridCol>
                <a:gridCol w="2819406">
                  <a:extLst>
                    <a:ext uri="{9D8B030D-6E8A-4147-A177-3AD203B41FA5}">
                      <a16:colId xmlns:a16="http://schemas.microsoft.com/office/drawing/2014/main" xmlns="" val="1854486728"/>
                    </a:ext>
                  </a:extLst>
                </a:gridCol>
              </a:tblGrid>
              <a:tr h="575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cap="all" spc="2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</a:rPr>
                        <a:t>Персонал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600" b="0" cap="all" spc="2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</a:rPr>
                        <a:t>Количество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600" b="0" cap="all" spc="2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</a:rPr>
                        <a:t>Зарплата на 1 сотрудника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600" b="0" cap="all" spc="2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anose="020F0502020204030204" pitchFamily="34" charset="0"/>
                        </a:rPr>
                        <a:t>Зарплата итого</a:t>
                      </a:r>
                    </a:p>
                  </a:txBody>
                  <a:tcPr marL="78782" marR="78782" marT="39391" marB="39391" anchor="ctr"/>
                </a:tc>
                <a:extLst>
                  <a:ext uri="{0D108BD9-81ED-4DB2-BD59-A6C34878D82A}">
                    <a16:rowId xmlns:a16="http://schemas.microsoft.com/office/drawing/2014/main" xmlns="" val="3100351803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Управляющий кафе</a:t>
                      </a:r>
                      <a:endParaRPr lang="ru-RU" sz="1600" b="0" i="0" spc="10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82" marR="78782" marT="39391" marB="39391"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1 500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1 500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1628125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Шеф-повар - технолог</a:t>
                      </a:r>
                      <a:endParaRPr lang="ru-RU" sz="1600" b="0" i="0" spc="10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35382780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spc="10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Повар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396987622"/>
                  </a:ext>
                </a:extLst>
              </a:tr>
              <a:tr h="53900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Водитель-экспедитор</a:t>
                      </a:r>
                      <a:endParaRPr lang="ru-RU" sz="1600" b="0" i="0" spc="100" baseline="0" noProof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82" marR="78782" marT="39391" marB="39391"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1​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anchor="ctr">
                    <a:solidFill>
                      <a:schemeClr val="accent6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2084003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spc="10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Официант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849756459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spc="10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Кухонный рабочий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92456502"/>
                  </a:ext>
                </a:extLst>
              </a:tr>
              <a:tr h="513658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spc="10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Бухгалтер (аутсорсинг)</a:t>
                      </a:r>
                    </a:p>
                  </a:txBody>
                  <a:tcPr marL="78782" marR="78782" marT="39391" marB="39391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  <a:endParaRPr lang="ru-RU" sz="16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  <a:endParaRPr lang="ru-RU" sz="16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66608905"/>
                  </a:ext>
                </a:extLst>
              </a:tr>
              <a:tr h="513658"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ru-RU" sz="1600" b="0" i="0" spc="100" baseline="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Общий фонд ЗП</a:t>
                      </a:r>
                    </a:p>
                  </a:txBody>
                  <a:tcPr marL="78782" marR="78782" marT="39391" marB="39391" anchor="ctr"/>
                </a:tc>
                <a:tc hMerge="1">
                  <a:txBody>
                    <a:bodyPr/>
                    <a:lstStyle/>
                    <a:p>
                      <a:pPr algn="ctr" rtl="0" fontAlgn="base"/>
                      <a:endParaRPr lang="ru-RU" sz="1100" b="0" i="0" noProof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rtl="0" fontAlgn="base"/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278043260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983F2185-3C0A-49BD-B0D2-30D7AAFD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8703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xmlns="" id="{0F65BBA0-595D-4970-8768-2D8DC31F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8280" y="334645"/>
            <a:ext cx="6903719" cy="635397"/>
          </a:xfrm>
        </p:spPr>
        <p:txBody>
          <a:bodyPr rtlCol="0"/>
          <a:lstStyle/>
          <a:p>
            <a:pPr rtl="0"/>
            <a:r>
              <a:rPr lang="ru-RU" dirty="0"/>
              <a:t>Прогнозирование финансово-хозяйственной деятельности</a:t>
            </a:r>
          </a:p>
        </p:txBody>
      </p:sp>
      <p:pic>
        <p:nvPicPr>
          <p:cNvPr id="10" name="Рисунок 9" descr="Вилка и нож крупным планом">
            <a:extLst>
              <a:ext uri="{FF2B5EF4-FFF2-40B4-BE49-F238E27FC236}">
                <a16:creationId xmlns:a16="http://schemas.microsoft.com/office/drawing/2014/main" xmlns="" id="{4091BEB8-367A-43EC-85AA-BF46CFFE3E0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661647" cy="68580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1055283C-F40F-4ABA-B7D5-4D429358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13</a:t>
            </a:fld>
            <a:endParaRPr lang="ru-RU"/>
          </a:p>
        </p:txBody>
      </p:sp>
      <p:graphicFrame>
        <p:nvGraphicFramePr>
          <p:cNvPr id="12" name="Объект 46">
            <a:extLst>
              <a:ext uri="{FF2B5EF4-FFF2-40B4-BE49-F238E27FC236}">
                <a16:creationId xmlns:a16="http://schemas.microsoft.com/office/drawing/2014/main" xmlns="" id="{7D323716-A6C4-4F92-BFB1-22686149C0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452457"/>
              </p:ext>
            </p:extLst>
          </p:nvPr>
        </p:nvGraphicFramePr>
        <p:xfrm>
          <a:off x="5130182" y="1320933"/>
          <a:ext cx="6545764" cy="474547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080209">
                  <a:extLst>
                    <a:ext uri="{9D8B030D-6E8A-4147-A177-3AD203B41FA5}">
                      <a16:colId xmlns:a16="http://schemas.microsoft.com/office/drawing/2014/main" xmlns="" val="1517755082"/>
                    </a:ext>
                  </a:extLst>
                </a:gridCol>
                <a:gridCol w="1465555">
                  <a:extLst>
                    <a:ext uri="{9D8B030D-6E8A-4147-A177-3AD203B41FA5}">
                      <a16:colId xmlns:a16="http://schemas.microsoft.com/office/drawing/2014/main" xmlns="" val="1808496511"/>
                    </a:ext>
                  </a:extLst>
                </a:gridCol>
              </a:tblGrid>
              <a:tr h="246623">
                <a:tc gridSpan="2">
                  <a:txBody>
                    <a:bodyPr/>
                    <a:lstStyle/>
                    <a:p>
                      <a:pPr algn="l" rtl="0"/>
                      <a:r>
                        <a:rPr lang="ru-RU" sz="1100" cap="all" spc="400" baseline="0" noProof="0" dirty="0">
                          <a:solidFill>
                            <a:schemeClr val="bg1"/>
                          </a:solidFill>
                        </a:rPr>
                        <a:t>Инвестиции на открытие</a:t>
                      </a:r>
                      <a:endParaRPr lang="ru-RU" sz="1100" cap="all" spc="400" baseline="0" noProof="0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 hMerge="1">
                  <a:txBody>
                    <a:bodyPr/>
                    <a:lstStyle/>
                    <a:p>
                      <a:pPr algn="ctr" rtl="0"/>
                      <a:endParaRPr lang="ru-RU" sz="1100" b="0" cap="all" spc="200" noProof="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8782" marR="78782" marT="39391" marB="39391" anchor="ctr"/>
                </a:tc>
                <a:extLst>
                  <a:ext uri="{0D108BD9-81ED-4DB2-BD59-A6C34878D82A}">
                    <a16:rowId xmlns:a16="http://schemas.microsoft.com/office/drawing/2014/main" xmlns="" val="3852010641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Регистрация, включая получение всех разрешений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280162812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Ремонт и дизайн помещения кафе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150 000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363538278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Расходы на первый месяц работы кафе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2282084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Реклама на открытие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84975645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</a:rPr>
                        <a:t>Расходы на аренду помещения в первые 2 месяцы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12 000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77967294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Закупка оборудования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151 000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91828909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Прочее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4 000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362172594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Итого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167 000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92870104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cap="all" spc="400" baseline="0" noProof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Ежемесячные затраты</a:t>
                      </a: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04759853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ФОТ (включая отчисления)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3 098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320806993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Аренда помещения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6 000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5076936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Амортизация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2 278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8493909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Коммунальные услуги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3381846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Реклама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45928812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Бухгалтерия (удалённая)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09971328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Закупка корма и расходных материалов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700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351526764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Расходы на услуги охраны ЧОП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400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40403496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i="0" spc="100" noProof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Итого</a:t>
                      </a:r>
                      <a:endParaRPr lang="ru-RU" sz="1100" b="0" i="0" noProof="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904" marR="70904" marT="35452" marB="35452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ru-RU" sz="1100" b="0" i="0" noProof="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13 676</a:t>
                      </a:r>
                    </a:p>
                  </a:txBody>
                  <a:tcPr marL="82296" marR="82296" marT="41148" marB="41148" anchor="ctr"/>
                </a:tc>
                <a:extLst>
                  <a:ext uri="{0D108BD9-81ED-4DB2-BD59-A6C34878D82A}">
                    <a16:rowId xmlns:a16="http://schemas.microsoft.com/office/drawing/2014/main" xmlns="" val="177252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319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xmlns="" id="{FF3F220D-927F-4B7C-A500-DB0603148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122721"/>
            <a:ext cx="2895600" cy="1111250"/>
          </a:xfrm>
        </p:spPr>
        <p:txBody>
          <a:bodyPr rtlCol="0"/>
          <a:lstStyle/>
          <a:p>
            <a:pPr rtl="0"/>
            <a:r>
              <a:rPr lang="ru-RU" dirty="0"/>
              <a:t>Факторы риска</a:t>
            </a:r>
          </a:p>
        </p:txBody>
      </p:sp>
      <p:sp>
        <p:nvSpPr>
          <p:cNvPr id="12" name="Подзаголовок 11">
            <a:extLst>
              <a:ext uri="{FF2B5EF4-FFF2-40B4-BE49-F238E27FC236}">
                <a16:creationId xmlns:a16="http://schemas.microsoft.com/office/drawing/2014/main" xmlns="" id="{79CF9814-FBB9-4B07-A6FC-F4816BAF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2514" y="3833158"/>
            <a:ext cx="7021287" cy="1690377"/>
          </a:xfrm>
        </p:spPr>
        <p:txBody>
          <a:bodyPr rtlCol="0"/>
          <a:lstStyle/>
          <a:p>
            <a:pPr marL="342900" indent="-342900" rtl="0">
              <a:buAutoNum type="arabicParenR"/>
            </a:pPr>
            <a:r>
              <a:rPr lang="ru-RU" dirty="0"/>
              <a:t>Фактор сезонности – большинство овощей и фруктов доступно по приемлемым ценам только в летний период</a:t>
            </a:r>
          </a:p>
          <a:p>
            <a:pPr marL="342900" indent="-342900" rtl="0">
              <a:buAutoNum type="arabicParenR"/>
            </a:pPr>
            <a:r>
              <a:rPr lang="ru-RU" dirty="0"/>
              <a:t>Валютные риски – часть овощей и фруктов – импортные</a:t>
            </a:r>
          </a:p>
          <a:p>
            <a:pPr marL="342900" indent="-342900" rtl="0">
              <a:buAutoNum type="arabicParenR"/>
            </a:pPr>
            <a:r>
              <a:rPr lang="ru-RU" dirty="0"/>
              <a:t>Риски, связанные с хранением – скоропортящийся продукт</a:t>
            </a:r>
          </a:p>
        </p:txBody>
      </p:sp>
      <p:pic>
        <p:nvPicPr>
          <p:cNvPr id="9" name="Рисунок 8" descr="Грозди винограда на лозе, лежащие на деревянной поверхности, крупным планом">
            <a:extLst>
              <a:ext uri="{FF2B5EF4-FFF2-40B4-BE49-F238E27FC236}">
                <a16:creationId xmlns:a16="http://schemas.microsoft.com/office/drawing/2014/main" xmlns="" id="{B1FA7CA3-31C3-4909-8F30-8FFC7F515C5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281" y="-1"/>
            <a:ext cx="12196282" cy="2917371"/>
          </a:xfr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xmlns="" id="{6037A493-2155-4C68-89F5-005884779C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4038600" y="0"/>
            <a:ext cx="0" cy="552353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FDB445F3-9517-4EFE-9147-CEE3B0EB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27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xmlns="" id="{FB511D9F-5321-4CAD-95C0-76E67D5E7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6525"/>
            <a:ext cx="10515600" cy="639955"/>
          </a:xfrm>
        </p:spPr>
        <p:txBody>
          <a:bodyPr rtlCol="0"/>
          <a:lstStyle/>
          <a:p>
            <a:pPr rtl="0"/>
            <a:r>
              <a:rPr lang="ru-RU" dirty="0"/>
              <a:t>Юридический план</a:t>
            </a:r>
          </a:p>
        </p:txBody>
      </p:sp>
      <p:sp>
        <p:nvSpPr>
          <p:cNvPr id="13" name="Подзаголовок 12">
            <a:extLst>
              <a:ext uri="{FF2B5EF4-FFF2-40B4-BE49-F238E27FC236}">
                <a16:creationId xmlns:a16="http://schemas.microsoft.com/office/drawing/2014/main" xmlns="" id="{90F45D4F-EB5A-4603-854A-26619144B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" y="672314"/>
            <a:ext cx="11551920" cy="1518211"/>
          </a:xfrm>
        </p:spPr>
        <p:txBody>
          <a:bodyPr rtlCol="0"/>
          <a:lstStyle/>
          <a:p>
            <a:pPr rtl="0"/>
            <a:r>
              <a:rPr lang="ru-RU" dirty="0"/>
              <a:t>Кафе "BASILIC" будет функционировать в форме частнопредпринимательского предприятия, которое будет осуществлять свою деятельность в соответствии с общими правилами, определенными для частных предприятий.</a:t>
            </a:r>
          </a:p>
          <a:p>
            <a:pPr rtl="0"/>
            <a:r>
              <a:rPr lang="ru-RU" dirty="0"/>
              <a:t>Предпринимательство осуществляется с образованием юридического лица, с использованием наемного труда.</a:t>
            </a:r>
          </a:p>
          <a:p>
            <a:pPr rtl="0"/>
            <a:r>
              <a:rPr lang="ru-RU" dirty="0"/>
              <a:t>Статус предпринимателя приобретается посредством государственной регистрации, которая для предпринимателей, осуществляющих свою деятельность с образованием юридического лица, производится на основании существующего законодательства. Основанием для регистрации являются: заявление предпринимателя, лицензия (данный вид деятельности подлежит лицензированию) и документы подтверждающие квалификацию предпринимателя, если его деятельность может представлять угрозу жизни и здоровью людей или окружающей среде.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F7FA530A-B4CE-4E7D-A264-1F116A07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ru-RU"/>
              <a:t>03/08/20ГГ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FE21AC8F-EE79-4E5B-B18E-0A780EC9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ru-RU"/>
              <a:t>НАБОР СЛАЙДОВ ДЛЯ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9E81D65-1539-4865-BEC2-CB15EF2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15</a:t>
            </a:fld>
            <a:endParaRPr lang="ru-RU"/>
          </a:p>
        </p:txBody>
      </p:sp>
      <p:pic>
        <p:nvPicPr>
          <p:cNvPr id="15" name="Рисунок 9" descr="Десертное меню на планшете в корзине">
            <a:extLst>
              <a:ext uri="{FF2B5EF4-FFF2-40B4-BE49-F238E27FC236}">
                <a16:creationId xmlns:a16="http://schemas.microsoft.com/office/drawing/2014/main" xmlns="" id="{5A8F35B9-A355-4114-947F-4F5A6386357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763" y="3429000"/>
            <a:ext cx="12196763" cy="3429000"/>
          </a:xfrm>
        </p:spPr>
      </p:pic>
    </p:spTree>
    <p:extLst>
      <p:ext uri="{BB962C8B-B14F-4D97-AF65-F5344CB8AC3E}">
        <p14:creationId xmlns:p14="http://schemas.microsoft.com/office/powerpoint/2010/main" val="1756300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xmlns="" id="{D284643B-288B-4193-AFF3-324BA95A7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7939" y="1638359"/>
            <a:ext cx="3058885" cy="1111250"/>
          </a:xfrm>
        </p:spPr>
        <p:txBody>
          <a:bodyPr rtlCol="0"/>
          <a:lstStyle/>
          <a:p>
            <a:pPr rtl="0"/>
            <a:r>
              <a:rPr lang="ru-RU" dirty="0"/>
              <a:t>Спасибо</a:t>
            </a:r>
          </a:p>
        </p:txBody>
      </p:sp>
      <p:sp>
        <p:nvSpPr>
          <p:cNvPr id="17" name="Подзаголовок 16">
            <a:extLst>
              <a:ext uri="{FF2B5EF4-FFF2-40B4-BE49-F238E27FC236}">
                <a16:creationId xmlns:a16="http://schemas.microsoft.com/office/drawing/2014/main" xmlns="" id="{AEAA1571-277D-4DF6-83F9-1438CBE64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7939" y="3135086"/>
            <a:ext cx="3058885" cy="2388450"/>
          </a:xfrm>
        </p:spPr>
        <p:txBody>
          <a:bodyPr rtlCol="0"/>
          <a:lstStyle/>
          <a:p>
            <a:pPr rtl="0"/>
            <a:r>
              <a:rPr lang="ru-RU" dirty="0"/>
              <a:t>Ангелина </a:t>
            </a:r>
            <a:r>
              <a:rPr lang="ru-RU" dirty="0" err="1"/>
              <a:t>Селицкая</a:t>
            </a:r>
            <a:r>
              <a:rPr lang="ru-RU" dirty="0"/>
              <a:t>            Мария Сорока                         Алёна Струневская</a:t>
            </a:r>
          </a:p>
          <a:p>
            <a:pPr rtl="0"/>
            <a:r>
              <a:rPr lang="ru-RU" dirty="0"/>
              <a:t>851004</a:t>
            </a:r>
          </a:p>
        </p:txBody>
      </p:sp>
      <p:pic>
        <p:nvPicPr>
          <p:cNvPr id="8" name="Рисунок 7" descr="Овощи крупным планом">
            <a:extLst>
              <a:ext uri="{FF2B5EF4-FFF2-40B4-BE49-F238E27FC236}">
                <a16:creationId xmlns:a16="http://schemas.microsoft.com/office/drawing/2014/main" xmlns="" id="{553FC3EB-D4C2-4C52-9AAB-3A4530ED79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677150" cy="68580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965E6C65-AC3A-49C1-A182-26B5AA40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4F6357DA-28E9-40D3-918C-4D14E8263D81}" type="slidenum">
              <a:rPr lang="ru-RU" smtClean="0"/>
              <a:pPr rtl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457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21">
      <a:dk1>
        <a:sysClr val="windowText" lastClr="000000"/>
      </a:dk1>
      <a:lt1>
        <a:sysClr val="window" lastClr="FFFFFF"/>
      </a:lt1>
      <a:dk2>
        <a:srgbClr val="E3C375"/>
      </a:dk2>
      <a:lt2>
        <a:srgbClr val="E7E6E6"/>
      </a:lt2>
      <a:accent1>
        <a:srgbClr val="485441"/>
      </a:accent1>
      <a:accent2>
        <a:srgbClr val="EBFFE4"/>
      </a:accent2>
      <a:accent3>
        <a:srgbClr val="AAC59E"/>
      </a:accent3>
      <a:accent4>
        <a:srgbClr val="7C4B79"/>
      </a:accent4>
      <a:accent5>
        <a:srgbClr val="C59EC3"/>
      </a:accent5>
      <a:accent6>
        <a:srgbClr val="302030"/>
      </a:accent6>
      <a:hlink>
        <a:srgbClr val="0563C1"/>
      </a:hlink>
      <a:folHlink>
        <a:srgbClr val="954F72"/>
      </a:folHlink>
    </a:clrScheme>
    <a:fontScheme name="Custom 74">
      <a:majorFont>
        <a:latin typeface="Avenir Next LT Pro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_59391977_TF16411246_Win32" id="{2BD89117-A0B3-495A-8DB2-8C139F5796E8}" vid="{72690631-4DA7-4FF2-8E5E-E197584AC81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6BC72-0158-4AB8-9F35-F365C88D29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CF18AE-D61A-46A3-9130-AB96E8088727}">
  <ds:schemaRefs>
    <ds:schemaRef ds:uri="http://purl.org/dc/elements/1.1/"/>
    <ds:schemaRef ds:uri="16c05727-aa75-4e4a-9b5f-8a80a1165891"/>
    <ds:schemaRef ds:uri="http://purl.org/dc/terms/"/>
    <ds:schemaRef ds:uri="71af3243-3dd4-4a8d-8c0d-dd76da1f02a5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509A09C-A249-4D30-8888-26F183AD87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для ресторана</Template>
  <TotalTime>195</TotalTime>
  <Words>1447</Words>
  <Application>Microsoft Office PowerPoint</Application>
  <PresentationFormat>Произвольный</PresentationFormat>
  <Paragraphs>214</Paragraphs>
  <Slides>16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Вегетарианский ресторан «BASILIC» Бизнес-план</vt:lpstr>
      <vt:lpstr>Резюме</vt:lpstr>
      <vt:lpstr>Вегетарианский ресторан «Basilic»</vt:lpstr>
      <vt:lpstr>Описание продукции</vt:lpstr>
      <vt:lpstr>Презентация PowerPoint</vt:lpstr>
      <vt:lpstr>Анализ рынков сбыта</vt:lpstr>
      <vt:lpstr>Стратегия маркетинга</vt:lpstr>
      <vt:lpstr>Производственный план</vt:lpstr>
      <vt:lpstr>Производственный план</vt:lpstr>
      <vt:lpstr>Помещение</vt:lpstr>
      <vt:lpstr>Оборудование</vt:lpstr>
      <vt:lpstr>Организационная структура</vt:lpstr>
      <vt:lpstr>Прогнозирование финансово-хозяйственной деятельности</vt:lpstr>
      <vt:lpstr>Факторы риска</vt:lpstr>
      <vt:lpstr>Юридический план</vt:lpstr>
      <vt:lpstr>Спасибо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Вегетарианский ресторан «BASILIC» Бизнес-план</dc:title>
  <dc:creator>Алёна Струневская</dc:creator>
  <cp:lastModifiedBy>Горностай Л.Ч.</cp:lastModifiedBy>
  <cp:revision>4</cp:revision>
  <dcterms:created xsi:type="dcterms:W3CDTF">2022-03-14T18:09:28Z</dcterms:created>
  <dcterms:modified xsi:type="dcterms:W3CDTF">2022-03-23T07:05:24Z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