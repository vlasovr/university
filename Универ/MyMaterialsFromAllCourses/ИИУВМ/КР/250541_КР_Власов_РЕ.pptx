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1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7" r:id="rId8"/>
    <p:sldId id="268" r:id="rId9"/>
    <p:sldId id="261" r:id="rId10"/>
    <p:sldId id="263" r:id="rId11"/>
    <p:sldId id="264" r:id="rId12"/>
    <p:sldId id="265" r:id="rId13"/>
    <p:sldId id="270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6"/>
    <p:restoredTop sz="94695"/>
  </p:normalViewPr>
  <p:slideViewPr>
    <p:cSldViewPr snapToGrid="0">
      <p:cViewPr varScale="1">
        <p:scale>
          <a:sx n="127" d="100"/>
          <a:sy n="127" d="100"/>
        </p:scale>
        <p:origin x="216" y="1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99527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0068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1218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45608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83645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1640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0443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76609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7917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086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8774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06310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867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13509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22025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3606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C2F03-10F3-9D43-A14D-7D9B95ACDA75}" type="datetimeFigureOut">
              <a:rPr lang="ru-BY" smtClean="0"/>
              <a:t>09.11.2025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9D356D-0B20-884E-9343-7D2ED2A7588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9249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7E6A2-0207-C947-F9DA-87A47363D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2" y="1426866"/>
            <a:ext cx="9414680" cy="3811512"/>
          </a:xfrm>
        </p:spPr>
        <p:txBody>
          <a:bodyPr/>
          <a:lstStyle/>
          <a:p>
            <a:pPr algn="ctr"/>
            <a:r>
              <a:rPr lang="ru-BY" sz="4000" dirty="0">
                <a:solidFill>
                  <a:schemeClr val="tx1"/>
                </a:solidFill>
              </a:rPr>
              <a:t>Дисплеи и проекторы</a:t>
            </a:r>
            <a:br>
              <a:rPr lang="ru-BY" sz="4000" dirty="0">
                <a:solidFill>
                  <a:schemeClr val="tx1"/>
                </a:solidFill>
              </a:rPr>
            </a:br>
            <a:r>
              <a:rPr lang="ru-RU" sz="40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Физические основы и принципы работы. Технологии </a:t>
            </a:r>
            <a:r>
              <a:rPr lang="en-US" sz="40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LCD,</a:t>
            </a:r>
            <a:br>
              <a:rPr lang="en-US" sz="40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</a:br>
            <a:r>
              <a:rPr lang="ru-RU" sz="4000" dirty="0">
                <a:solidFill>
                  <a:schemeClr val="tx1"/>
                </a:solidFill>
                <a:effectLst/>
                <a:latin typeface="Helvetica Neue" panose="02000503000000020004" pitchFamily="2" charset="0"/>
              </a:rPr>
              <a:t>характеристики, реализации.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4314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B3A36B-07E5-8810-DFC5-121CE5731510}"/>
              </a:ext>
            </a:extLst>
          </p:cNvPr>
          <p:cNvSpPr txBox="1"/>
          <p:nvPr/>
        </p:nvSpPr>
        <p:spPr>
          <a:xfrm>
            <a:off x="168626" y="80006"/>
            <a:ext cx="9749095" cy="6697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Дисплей – основное устройство вывода информации в вычислительной системе, предназначенное для визуального отображения цифровых, текстовых и графических данных. Первоначально дисплеи использовались преимущественно для текстовой информации, но с развитием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видеотехнологий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современные мониторы поддерживают вывод графики и видео. Дисплей управляется содержимым видеопамяти через дисплейный процессор или графический адаптер, который преобразует кадры из памяти в аналоговые или цифровые сигналы для экрана.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b="1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Классификация графических дисплеев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По способу формирования изображения: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- Векторные (произвольного сканирования).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-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Растровые (построчно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отрисовывающие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изображение).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По технологии изготовления: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Дисплеи на электронно-лучевых трубках (ЭЛТ, CRT)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, </a:t>
            </a:r>
            <a:r>
              <a:rPr lang="en-US" kern="1400" spc="25" dirty="0">
                <a:solidFill>
                  <a:srgbClr val="00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;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идкокристаллические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(LCD)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,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плазменные панели (PDP)</a:t>
            </a:r>
            <a:r>
              <a:rPr lang="ru-RU" kern="1400" spc="25" dirty="0">
                <a:solidFill>
                  <a:srgbClr val="00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, с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ветодиодные панели (LED), </a:t>
            </a:r>
            <a:r>
              <a:rPr lang="ru-RU" kern="1400" spc="25" dirty="0">
                <a:solidFill>
                  <a:srgbClr val="00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л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азерные системы.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По назначению: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Простейшие светодиодные или ЖК-индикаторы (алфавитно-цифровые табло).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Индивидуальные дисплеи (мониторы ПК, мобильные устройства).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Большие коллективные экраны (рекламные стенды, видеоэкраны).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41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4AB9C1-FBC0-D5B6-C486-092EE1983E55}"/>
              </a:ext>
            </a:extLst>
          </p:cNvPr>
          <p:cNvSpPr txBox="1"/>
          <p:nvPr/>
        </p:nvSpPr>
        <p:spPr>
          <a:xfrm>
            <a:off x="0" y="120580"/>
            <a:ext cx="9149023" cy="369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Основные характеристики дисплея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Диагональ экрана.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Разрешение (число пикселей по горизонтали и вертикали).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Соотношение сторон (формат).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Частота обновления изображения.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Яркость в кд/м² (для проекторов — световой поток в люменах).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Контрастность (отношение яркости белого и черного).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Глубина цвета (число бит на пиксель или количество оттенков).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Размер пикселя и углы обзора.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Графические возможности: поддерживаемые цветовые модели, максимальная частота обновления кадров и т. д.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26" name="Picture 2" descr="OZNYX91w+RkAAAAASUVORK5CYII=">
            <a:extLst>
              <a:ext uri="{FF2B5EF4-FFF2-40B4-BE49-F238E27FC236}">
                <a16:creationId xmlns:a16="http://schemas.microsoft.com/office/drawing/2014/main" id="{FB416A5D-86D2-A8DF-CC4F-31CDA2C4A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006" y="3819285"/>
            <a:ext cx="4686300" cy="250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E48684-6CAD-A278-6AFA-7397CA120E40}"/>
              </a:ext>
            </a:extLst>
          </p:cNvPr>
          <p:cNvSpPr txBox="1"/>
          <p:nvPr/>
        </p:nvSpPr>
        <p:spPr>
          <a:xfrm>
            <a:off x="553706" y="4747069"/>
            <a:ext cx="468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u="none" strike="noStrike" dirty="0">
                <a:solidFill>
                  <a:srgbClr val="182244"/>
                </a:solidFill>
                <a:effectLst/>
                <a:latin typeface="-apple-system"/>
              </a:rPr>
              <a:t>Типовая блок-схема системы отображения информации в ЭВМ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60095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796D2-EC60-C4BF-D9D9-77DEEAEF1325}"/>
              </a:ext>
            </a:extLst>
          </p:cNvPr>
          <p:cNvSpPr txBox="1"/>
          <p:nvPr/>
        </p:nvSpPr>
        <p:spPr>
          <a:xfrm>
            <a:off x="-1" y="0"/>
            <a:ext cx="9636370" cy="554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b="1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Жидкокристаллические дисплеи (LCD)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ЖК-дисплеи заменили ЭЛТ благодаря компактности и энергоэффективности. ЖК сами по себе не излучают свет, они изменяют поляризацию проходящего света, поэтому требуется подсветка.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Структура ЖК-ячейки: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Две стеклянные панели с прозрачными электродами и ориентационными слоями.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Между ними — слой жидких кристаллов; снаружи — поляризаторы.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Изменяя напряжение на электродах, задают ориентацию молекул и управляют яркостью пикселя.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Компоненты панели:</a:t>
            </a:r>
            <a:endParaRPr lang="ru-BY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Подсветка (исторически CCFL, сейчас — LED).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Поляризаторы.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Жидкокристаллическая матрица.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Тонкоплёночные транзисторы (TFT) у каждого пикселя.</a:t>
            </a:r>
            <a:endParaRPr lang="ru-BY" sz="18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642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F2232B-D5FE-1447-EB17-0DD0AE489CCC}"/>
              </a:ext>
            </a:extLst>
          </p:cNvPr>
          <p:cNvSpPr txBox="1"/>
          <p:nvPr/>
        </p:nvSpPr>
        <p:spPr>
          <a:xfrm>
            <a:off x="-1" y="0"/>
            <a:ext cx="967656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 ЖК-панели.</a:t>
            </a:r>
          </a:p>
          <a:p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Основой LCD является многослойная плоская панель, в которой жидкие кристаллы выполняют роль управляемого оптического затвора: они модулируют свет подсветки и тем самым задают яркость субпикселей. Слой ЖК заключён между двумя стеклянными подложками с ориентационным рельефом (полимерные насечки) на внутренней стороне. На этих поверхностях также расположены:</a:t>
            </a:r>
          </a:p>
          <a:p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токопроводящая матрица (прозрачные электроды), подводящая управляющие сигналы к ячейкам;</a:t>
            </a:r>
          </a:p>
          <a:p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«чёрная матрица», экранирующая области управления;</a:t>
            </a:r>
          </a:p>
          <a:p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цветовые светофильтры над каждой ЖК-ячейкой;</a:t>
            </a:r>
          </a:p>
          <a:p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дистанционирующие элементы (spacers), чаще шариковые, поддерживающие равномерный зазор.</a:t>
            </a:r>
          </a:p>
        </p:txBody>
      </p:sp>
      <p:pic>
        <p:nvPicPr>
          <p:cNvPr id="4098" name="Picture 2" descr="W2h89Ygr8EAAAAASUVORK5CYII=">
            <a:extLst>
              <a:ext uri="{FF2B5EF4-FFF2-40B4-BE49-F238E27FC236}">
                <a16:creationId xmlns:a16="http://schemas.microsoft.com/office/drawing/2014/main" id="{9524956E-B42A-EC27-1D54-8F9AA7E42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147" y="2426220"/>
            <a:ext cx="6290268" cy="443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54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143C25-26FE-0EFC-0F31-A20160FEDEC5}"/>
              </a:ext>
            </a:extLst>
          </p:cNvPr>
          <p:cNvSpPr txBox="1"/>
          <p:nvPr/>
        </p:nvSpPr>
        <p:spPr>
          <a:xfrm>
            <a:off x="155749" y="-18251"/>
            <a:ext cx="9962941" cy="242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Технологии LCD:</a:t>
            </a:r>
            <a:r>
              <a:rPr lang="ru-RU" sz="1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800" kern="1400" spc="25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r>
              <a:rPr lang="en-US" kern="1400" spc="25" dirty="0">
                <a:solidFill>
                  <a:srgbClr val="000000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N —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базовая и самая доступная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LCD-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технология: простая конструкция, но более скромные характеристики.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Нематические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ЖК размещены между стеклами с перпендикулярными поляризаторами: без напряжения закрученная структура поворачивает поляризацию и пропускает свет, при подаче напряжения кристаллы выпрямляются и свет частично блокируется. Из-за неполного перекрытия потока контраст невысокий, а при взгляде под углом заметны сдвиги яркости и цвета.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459C54-36D6-5E7A-3FF9-576CE7042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50" y="2009590"/>
            <a:ext cx="4874236" cy="484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0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BDD669-E8E3-4FF3-620B-277FC9B2B387}"/>
              </a:ext>
            </a:extLst>
          </p:cNvPr>
          <p:cNvSpPr txBox="1"/>
          <p:nvPr/>
        </p:nvSpPr>
        <p:spPr>
          <a:xfrm>
            <a:off x="80387" y="1"/>
            <a:ext cx="7737231" cy="2614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Технология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IPS (In-Plane Switching)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использует планарную схему: электроды размещаются на одной — нижней — подложке, а молекулы жидкого кристалла ориентированы параллельно её плоскости и выровнены вдоль одной оси. При подаче напряжения молекулы поворачиваются в плоскости, изменяя поляризацию проходящего света, благодаря чему он проходит через верхний поляризатор. Такие панели обеспечивают очень широкие углы обзора и стабильную цветопередачу за счёт точного контроля угла поворота кристаллов.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050" name="Picture 2" descr="wgLJQAAAAASUVORK5CYII=">
            <a:extLst>
              <a:ext uri="{FF2B5EF4-FFF2-40B4-BE49-F238E27FC236}">
                <a16:creationId xmlns:a16="http://schemas.microsoft.com/office/drawing/2014/main" id="{37CFDA20-A584-DE8C-BE8F-2F2EBF56A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97" y="2859552"/>
            <a:ext cx="6346734" cy="363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0g266ObatbYDXghgrBklYtamcs0BkpKaPbfjnqibbDLRZOyX8AAACESURBVK94e4cngYSTgDMm8laZyrPsxLoDyEXBP9cCiUTH5SLahB3lsl52zburgra6aDz4dPPIccXxKRWiZxJMyDs8CSSWBJwxMbF49bjxJOBJwJNAvCXghWyKt4Q9+p4EPAlUJAl4mFiRRsvj1ZOAJ4F4S8DDxHhL2KPvScCTQEWSwP8Bu0w487IuEjAAAAAASUVORK5CYII=">
            <a:extLst>
              <a:ext uri="{FF2B5EF4-FFF2-40B4-BE49-F238E27FC236}">
                <a16:creationId xmlns:a16="http://schemas.microsoft.com/office/drawing/2014/main" id="{D7FCF4B7-41C1-0DE8-E567-B9900445F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618" y="793820"/>
            <a:ext cx="4266668" cy="56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87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17A34-CD5D-DB01-282F-014BD61DC6F2}"/>
              </a:ext>
            </a:extLst>
          </p:cNvPr>
          <p:cNvSpPr txBox="1"/>
          <p:nvPr/>
        </p:nvSpPr>
        <p:spPr>
          <a:xfrm>
            <a:off x="-246185" y="119983"/>
            <a:ext cx="8917912" cy="2614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 панелях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VA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используется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гомеотропная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конфигурация: молекулы ориентированы перпендикулярно плоскости подложек, поэтому без приложенного напряжения слой свет не пропускает. Применяется отрицательная диэлектрическая анизотропия — под действием электрического поля молекулы не выстраиваются вдоль его линий, а отклоняются от них. Подача напряжения изменяет ориентацию доменов, и свет начинает проходить через верхний поляризатор. В варианте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MVA (Multi-Domain Vertical Alignment)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на подложках формируют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микровыступы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, задающие несколько начальных направлений ориентации молекул.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074" name="Picture 2" descr="5v7gTkHNA0QAAAAASUVORK5CYII=">
            <a:extLst>
              <a:ext uri="{FF2B5EF4-FFF2-40B4-BE49-F238E27FC236}">
                <a16:creationId xmlns:a16="http://schemas.microsoft.com/office/drawing/2014/main" id="{1216A77C-743E-BA24-487A-22671752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435" y="2945632"/>
            <a:ext cx="563084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54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0B015-6737-E466-D6EE-50B7C454F31F}"/>
              </a:ext>
            </a:extLst>
          </p:cNvPr>
          <p:cNvSpPr txBox="1"/>
          <p:nvPr/>
        </p:nvSpPr>
        <p:spPr>
          <a:xfrm>
            <a:off x="165798" y="110762"/>
            <a:ext cx="80035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none" strike="noStrike" dirty="0">
                <a:solidFill>
                  <a:srgbClr val="182244"/>
                </a:solidFill>
                <a:effectLst/>
                <a:latin typeface="-apple-system"/>
              </a:rPr>
              <a:t> Палитры цветов в системах цветопередачи</a:t>
            </a:r>
            <a:endParaRPr lang="ru-RU" b="0" i="0" u="none" strike="noStrike" dirty="0">
              <a:solidFill>
                <a:srgbClr val="182244"/>
              </a:solidFill>
              <a:effectLst/>
              <a:latin typeface="-apple-system"/>
            </a:endParaRPr>
          </a:p>
          <a:p>
            <a:pPr algn="l"/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      1.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RGB-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палитра цветов формируется путем сложения красного, зеленого и синего цветов (на восприятии излучаемого цвета). Уровень интенсивности цвета задается от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min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до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max (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десятичными кодами) в мониторах ПК, телевизорах.</a:t>
            </a:r>
            <a:b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</a:b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      2.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CMYK - (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основные голубой, пурпурный, желтый) путем наложения Г,П,Ж и Черной красок (на восприятии отражаемого цвета). В полиграфии, струйных принтерах.</a:t>
            </a:r>
            <a:b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</a:b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      3.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HSV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путем установки значений оттенка цвета, насыщенности и яркости. (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Hue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тон,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Saturation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насыщенность, </a:t>
            </a: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Value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значение) удобна для создания изображений художниками. В ней координатами цвета являются:</a:t>
            </a:r>
          </a:p>
          <a:p>
            <a:pPr algn="l"/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Hue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цветовой тон, обычно варьируется в пределах 0-360°, где 0° - красный, 120° - зеленый, 240° - синий (тон цвета задается в градусах);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Saturation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насыщенность, изменяется в пределах 0;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Value - </a:t>
            </a:r>
            <a:r>
              <a:rPr lang="ru-RU" b="0" i="0" u="none" strike="noStrike" dirty="0">
                <a:solidFill>
                  <a:srgbClr val="182244"/>
                </a:solidFill>
                <a:effectLst/>
                <a:latin typeface="-apple-system"/>
              </a:rPr>
              <a:t>яркость, задается в пределах 0-100 или 0-1.</a:t>
            </a:r>
          </a:p>
        </p:txBody>
      </p:sp>
    </p:spTree>
    <p:extLst>
      <p:ext uri="{BB962C8B-B14F-4D97-AF65-F5344CB8AC3E}">
        <p14:creationId xmlns:p14="http://schemas.microsoft.com/office/powerpoint/2010/main" val="205859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F0DF8-515B-A3D0-C4E8-20305B8CB8AD}"/>
              </a:ext>
            </a:extLst>
          </p:cNvPr>
          <p:cNvSpPr txBox="1"/>
          <p:nvPr/>
        </p:nvSpPr>
        <p:spPr>
          <a:xfrm>
            <a:off x="95460" y="60935"/>
            <a:ext cx="9822264" cy="346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600" b="0" i="0" u="none" strike="noStrike" dirty="0">
                <a:solidFill>
                  <a:srgbClr val="1822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изображения на экране ЖКД выполняется растровым способом - ячейки ЖК организованы в матрицу. Управление ячейками выполняется с помощью матрицы электродов и подведенных к ним линий </a:t>
            </a:r>
            <a:r>
              <a:rPr lang="en-US" sz="1600" b="0" i="0" u="none" strike="noStrike" dirty="0">
                <a:solidFill>
                  <a:srgbClr val="1822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bus </a:t>
            </a:r>
            <a:r>
              <a:rPr lang="ru-RU" sz="1600" b="0" i="0" u="none" strike="noStrike" dirty="0">
                <a:solidFill>
                  <a:srgbClr val="1822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600" b="0" i="0" u="none" strike="noStrike" dirty="0">
                <a:solidFill>
                  <a:srgbClr val="1822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Gate bus.</a:t>
            </a:r>
            <a:r>
              <a:rPr lang="ru-RU" sz="1600" b="0" i="0" u="none" strike="noStrike" dirty="0">
                <a:solidFill>
                  <a:srgbClr val="1822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Пассивные матрицы применяются главным образом в самых недорогих дисплеях. Поскольку жидкокристаллическая ячейка (по сути, конденсатор) разряжается очень быстро — ещё до поступления следующего кадрового сигнала — такие экраны обеспечивают низкую среднюю яркость. В активной матрице у каждого пикселя есть ключевой транзистор, который заряжает «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подпиксельный</a:t>
            </a:r>
            <a:r>
              <a:rPr lang="ru-RU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конденсатор и запирает его до следующей выборки, не позволяя молекулам ЖК преждевременно терять заряд. Тонкоплёночные транзисторы изготавливают на аморфном кремнии (</a:t>
            </a:r>
            <a:r>
              <a:rPr lang="en-US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A-Si) </a:t>
            </a:r>
            <a:r>
              <a:rPr lang="ru-RU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 на низкотемпературном поликремнии (</a:t>
            </a:r>
            <a:r>
              <a:rPr lang="en-US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LTPS). </a:t>
            </a:r>
            <a:r>
              <a:rPr lang="ru-RU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Второй вариант дороже, но благодаря существенно большей (в 100–150 раз) подвижности носителей заметно улучшает характеристики панели, прежде всего контраст и насыщенность. Транзистор соединён с пиксельным электродом; общий электрод с постоянным потенциалом наносится либо на противоположную панель (</a:t>
            </a:r>
            <a:r>
              <a:rPr lang="en-US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TN, PVA/MVA), </a:t>
            </a:r>
            <a:r>
              <a:rPr lang="ru-RU" sz="16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либо на ту же. Оба электрода выполняются прозрачными.</a:t>
            </a:r>
            <a:endParaRPr lang="ru-BY" sz="16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D564CC-1AC5-1B0C-818C-9E583338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19826"/>
            <a:ext cx="5751006" cy="308354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FF2731-7632-F34D-31F7-3256785F8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0" y="3604329"/>
            <a:ext cx="5557136" cy="30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3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88D8A9-95C0-A63C-1216-45DBDDFCC438}"/>
              </a:ext>
            </a:extLst>
          </p:cNvPr>
          <p:cNvSpPr txBox="1"/>
          <p:nvPr/>
        </p:nvSpPr>
        <p:spPr>
          <a:xfrm>
            <a:off x="70339" y="0"/>
            <a:ext cx="9299748" cy="5357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ru-B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Подсветка ЖК:</a:t>
            </a:r>
            <a:r>
              <a:rPr lang="ru-B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Обычно используется фоновая подсветка. Ранее применялись люминесцентные лампы с холодным катодом (CCFL). Сейчас почти повсеместно – светодиодная подсветка (LED) благодаря более ровному спектру, меньшему энергопотреблению и лучшему управлению (локальное затемнение для повышения контраста) . Современный ЖК-монитор потребляет около  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ru-B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-20 Вт – значительно меньше, чем типичный ЭЛТ (~100–150 Вт) .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Преимущества ЖК: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Тонкие плоские панели, малая масса, низкое энергопотребление, отсутствие ионизирующего излучения.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Высокая резкость и яркость изображения (особенно с LED-подсветкой).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Недостатки ЖК: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У TN — ограниченные углы обзора и цвет.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Возможны неравномерность подсветки и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засветы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по краям.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Без правильной настройки и компенсации возможны шлейфы в динамике.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Встречаются дефектные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субпиксели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согласно допускам производителя.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72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65C07-6B6B-252F-C3A4-56D14C521624}"/>
              </a:ext>
            </a:extLst>
          </p:cNvPr>
          <p:cNvSpPr txBox="1"/>
          <p:nvPr/>
        </p:nvSpPr>
        <p:spPr>
          <a:xfrm>
            <a:off x="-1" y="0"/>
            <a:ext cx="10892414" cy="191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Проекционные системы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Типы проекции: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Front-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projection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: проектор формирует изображение на внешнем отражающем экране.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Rear-projection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: проецирование на тыльную сторону полупрозрачного экрана с использованием зеркал.</a:t>
            </a:r>
            <a:b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 них используются одни и те же технологии, но по-разному формируется изображение.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D3E51-343B-5533-A688-3F676399ACC4}"/>
              </a:ext>
            </a:extLst>
          </p:cNvPr>
          <p:cNvSpPr txBox="1"/>
          <p:nvPr/>
        </p:nvSpPr>
        <p:spPr>
          <a:xfrm>
            <a:off x="120580" y="1915653"/>
            <a:ext cx="11224009" cy="2234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Технологии формирования изображения: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CRT: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Три электронно-лучевые трубки (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,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G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,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B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), термоэлектронная эмиссия, фокусировка и развертка по люминофору.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Глубокий чёрный, широкий динамический диапазон, точная цветопередача, низкий акустический шум.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Габариты, масса, трудоёмкая настройка; сегодня практически вытеснен.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122" name="Picture 2" descr="mSCaVDAAAAAASUVORK5CYII=">
            <a:extLst>
              <a:ext uri="{FF2B5EF4-FFF2-40B4-BE49-F238E27FC236}">
                <a16:creationId xmlns:a16="http://schemas.microsoft.com/office/drawing/2014/main" id="{3540BA21-165C-B72A-4884-E1834D8AC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428" y="4254387"/>
            <a:ext cx="4895222" cy="260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52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F929D-4E15-DE0F-D5FF-A4D62DB02261}"/>
              </a:ext>
            </a:extLst>
          </p:cNvPr>
          <p:cNvSpPr txBox="1"/>
          <p:nvPr/>
        </p:nvSpPr>
        <p:spPr>
          <a:xfrm>
            <a:off x="1" y="70337"/>
            <a:ext cx="6921498" cy="4654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LCD-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проекторах кадр формирует просветная ЖК-матрица: свет источника проходит через поляризаторы и пиксели, чья прозрачность управляется напряжением. Преимущества — высокая удельная яркость и невысокая цена матриц. Недостатки — возможные «битые» пиксели, старение панели, ограниченная контрастность, проблемы сведения и слабая детализация теней.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3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LCD: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дихроичные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зеркала делят поток на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R/G/B,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каждая компонента проходит собственную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полисиликоновую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ЖК-матрицу, после чего изображения сводятся призмой. Итог — высокая яркость, ровные цвета, нет «радужного» эффекта, но уровень чёрного ограничен. Альтернатива — временное разделение цветов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: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свет проходит через сегменты цветового колеса, матрица выдаёт последовательность монохромных кадров, которые сливаются в один цветной.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6148" name="Picture 4" descr="8yVAuUfGHmgAAAAAElFTkSuQmCC">
            <a:extLst>
              <a:ext uri="{FF2B5EF4-FFF2-40B4-BE49-F238E27FC236}">
                <a16:creationId xmlns:a16="http://schemas.microsoft.com/office/drawing/2014/main" id="{5CE99303-E4F4-BA43-03FF-8E5A6336F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160" y="288890"/>
            <a:ext cx="52705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17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27E91-1058-2CC9-9E06-EE4421617BD5}"/>
              </a:ext>
            </a:extLst>
          </p:cNvPr>
          <p:cNvSpPr txBox="1"/>
          <p:nvPr/>
        </p:nvSpPr>
        <p:spPr>
          <a:xfrm>
            <a:off x="0" y="0"/>
            <a:ext cx="9149023" cy="2424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LCoS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/ D-ILA (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отражающие ЖК).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Технология на жидких кристаллах, но не просветная, а отражающая: слой ЖК нанесён на кремниевую подложку, а электроника находится под зеркальными электродами. Это даёт высокий коэффициент заполнения, «гладкое» изображение и точную цветопередачу. Минусы — высокая стоимость и типичные для </a:t>
            </a:r>
            <a:r>
              <a:rPr lang="en-US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LCD </a:t>
            </a: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ограничения (нужна подсветка, ограничение контраста по чёрному). Применяется в основном в премиальных проекторах, в массовом сегменте встречается реже.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170" name="Picture 2" descr="Nmi8GCwncZQlo0gjCa9D5Bgk2Z51FJya2XQkIG6F59+YGWndh4TdPfGL0XZeAJhtBaIS7fovEBQgJtKIENGkE4TW04s0QpxISaPMSEBqhzd8icYFCAq0oAaERWlHY4lRCAm1eAv8HabUhZz2atYoAAAAASUVORK5CYII=">
            <a:extLst>
              <a:ext uri="{FF2B5EF4-FFF2-40B4-BE49-F238E27FC236}">
                <a16:creationId xmlns:a16="http://schemas.microsoft.com/office/drawing/2014/main" id="{41BCC064-0FFB-B13C-9231-A1EDD02C9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137" y="2773249"/>
            <a:ext cx="4085842" cy="332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915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427AB-BD9D-CB8D-5D5C-7E8C4B61402A}"/>
              </a:ext>
            </a:extLst>
          </p:cNvPr>
          <p:cNvSpPr txBox="1"/>
          <p:nvPr/>
        </p:nvSpPr>
        <p:spPr>
          <a:xfrm>
            <a:off x="216040" y="73973"/>
            <a:ext cx="9892602" cy="592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Источники света и экран: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Ртутные и ксеноновые лампы высокого давления; светодиодные и лазерные модули; гибридные лазер-LED решения.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Лампы: высокая светимость при умеренной цене, необходима замена.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LED/лазер: быстрый старт, долгий ресурс, стабильность цветов.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Яркость — в ANSI-люменах; важны контраст, равномерность и параметры экрана (усиление, угол обзора, ALR-покрытия).</a:t>
            </a:r>
            <a:endParaRPr lang="en-US" sz="1800" kern="1400" spc="25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</a:pP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Интерфейсы подключения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VGA, DVI, DVI-I, HDMI, </a:t>
            </a:r>
            <a:r>
              <a:rPr lang="ru-RU" sz="1800" kern="1400" spc="25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DisplayPort</a:t>
            </a:r>
            <a:endParaRPr lang="en-US" sz="1800" kern="1400" spc="25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endParaRPr lang="ru-RU" kern="1400" spc="25" dirty="0">
              <a:solidFill>
                <a:srgbClr val="000000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Тракт вывода:</a:t>
            </a:r>
            <a:endParaRPr lang="ru-BY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Видеосистема формирует кадр в кадровом буфере.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Контроллер таймингов преобразует его в поток пиксельных данных и синхросигналов для выбранного интерфейса.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-"/>
            </a:pPr>
            <a:r>
              <a:rPr lang="ru-RU" sz="1800" kern="14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На стороне монитора/проектора выполняются приём, обработка таймингов, масштабирование, коррекция гаммы и цвета</a:t>
            </a:r>
            <a:endParaRPr lang="ru-BY" sz="1400" dirty="0">
              <a:effectLst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99053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{8ACCF3F3-E26D-224A-9DA7-C58BED41275D}tf10001060</Template>
  <TotalTime>492</TotalTime>
  <Words>1557</Words>
  <Application>Microsoft Macintosh PowerPoint</Application>
  <PresentationFormat>Широкоэкранный</PresentationFormat>
  <Paragraphs>85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-apple-system</vt:lpstr>
      <vt:lpstr>Arial</vt:lpstr>
      <vt:lpstr>Cambria</vt:lpstr>
      <vt:lpstr>Helvetica Neue</vt:lpstr>
      <vt:lpstr>Times New Roman</vt:lpstr>
      <vt:lpstr>Trebuchet MS</vt:lpstr>
      <vt:lpstr>Wingdings 3</vt:lpstr>
      <vt:lpstr>Аспект</vt:lpstr>
      <vt:lpstr>Дисплеи и проекторы Физические основы и принципы работы. Технологии LCD, характеристики, реализации.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Дисплеи и проекторы</dc:title>
  <dc:creator>Roman</dc:creator>
  <cp:lastModifiedBy>Roman</cp:lastModifiedBy>
  <cp:revision>3</cp:revision>
  <dcterms:created xsi:type="dcterms:W3CDTF">2025-11-02T12:55:08Z</dcterms:created>
  <dcterms:modified xsi:type="dcterms:W3CDTF">2025-11-09T09:59:50Z</dcterms:modified>
</cp:coreProperties>
</file>