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1" r:id="rId3"/>
    <p:sldId id="262" r:id="rId4"/>
    <p:sldId id="263" r:id="rId5"/>
    <p:sldId id="265" r:id="rId6"/>
    <p:sldId id="257" r:id="rId7"/>
    <p:sldId id="258" r:id="rId8"/>
    <p:sldId id="259" r:id="rId9"/>
    <p:sldId id="264" r:id="rId10"/>
    <p:sldId id="266" r:id="rId11"/>
    <p:sldId id="267" r:id="rId12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cs=0&amp;sca_esv=e2652fd8ccfa33d1&amp;q=%D0%BF%D0%BE%D1%80%D1%82%D1%80%D0%B5%D1%82%D0%BE%D0%B2+%D0%BF%D0%BE%D0%BA%D1%83%D0%BF%D0%B0%D1%82%D0%B5%D0%BB%D0%B5%D0%B9&amp;sa=X&amp;ved=2ahUKEwjH4Njp6u6PAxVPbvEDHSe1OqoQxccNegQIIRAB&amp;mstk=AUtExfDoHkb9FID00_WyZhVBWsrAl4WfxV76sYfqhgaTMHw_b9dSnbGJ1hTupmZW9gdyt3EtxJP4oMs47aqZw0VPNdrJFRl5WPwT2_aMeHjSRAV1QOXc_RKIWzqS7S3qxJ4Woo8&amp;csui=3" TargetMode="External"/><Relationship Id="rId2" Type="http://schemas.openxmlformats.org/officeDocument/2006/relationships/hyperlink" Target="https://www.google.com/search?cs=0&amp;sca_esv=e2652fd8ccfa33d1&amp;q=SWOT-%D0%B0%D0%BD%D0%B0%D0%BB%D0%B8%D0%B7%D0%B0&amp;sa=X&amp;ved=2ahUKEwjH4Njp6u6PAxVPbvEDHSe1OqoQxccNegQIFRAB&amp;mstk=AUtExfDoHkb9FID00_WyZhVBWsrAl4WfxV76sYfqhgaTMHw_b9dSnbGJ1hTupmZW9gdyt3EtxJP4oMs47aqZw0VPNdrJFRl5WPwT2_aMeHjSRAV1QOXc_RKIWzqS7S3qxJ4Woo8&amp;csui=3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cs=0&amp;sca_esv=e2652fd8ccfa33d1&amp;q=%D0%B8%D0%BD%D1%82%D0%B5%D1%80%D0%B0%D0%BA%D1%82%D0%B8%D0%B2%D0%BD%D1%8B%D1%85+%D1%80%D0%B0%D1%81%D1%81%D1%8B%D0%BB%D0%BE%D0%BA&amp;sa=X&amp;ved=2ahUKEwjH4Njp6u6PAxVPbvEDHSe1OqoQxccNegQINBAB&amp;mstk=AUtExfDoHkb9FID00_WyZhVBWsrAl4WfxV76sYfqhgaTMHw_b9dSnbGJ1hTupmZW9gdyt3EtxJP4oMs47aqZw0VPNdrJFRl5WPwT2_aMeHjSRAV1QOXc_RKIWzqS7S3qxJ4Woo8&amp;csui=3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ntegrus.ru/blog/internet-marketing-decisions/kontekstnaya-reklama-it.html" TargetMode="External"/><Relationship Id="rId2" Type="http://schemas.openxmlformats.org/officeDocument/2006/relationships/hyperlink" Target="https://integrus.ru/blog/internet-marketing-decisions/seo-dlya-it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tegrus.ru/blog/internet-marketing-decisions/pr-dlya-it-kompanij.html" TargetMode="External"/><Relationship Id="rId5" Type="http://schemas.openxmlformats.org/officeDocument/2006/relationships/hyperlink" Target="https://integrus.ru/blog/internet-marketing-decisions/smm-dlya-it.html" TargetMode="External"/><Relationship Id="rId4" Type="http://schemas.openxmlformats.org/officeDocument/2006/relationships/hyperlink" Target="https://integrus.ru/blog/internet-marketing-decisions/targetirovannaya-reklama-it.html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89212" y="666572"/>
            <a:ext cx="8915399" cy="1606609"/>
          </a:xfrm>
        </p:spPr>
        <p:txBody>
          <a:bodyPr>
            <a:noAutofit/>
          </a:bodyPr>
          <a:lstStyle/>
          <a:p>
            <a:r>
              <a:rPr lang="ru-RU" sz="2800" dirty="0"/>
              <a:t>Презентация на тему: </a:t>
            </a:r>
            <a:r>
              <a:rPr lang="ru-RU" sz="2800" b="1" dirty="0"/>
              <a:t>«Организация маркетинговой деятельности </a:t>
            </a:r>
            <a:r>
              <a:rPr lang="en-US" sz="2800" b="1" dirty="0"/>
              <a:t>I</a:t>
            </a:r>
            <a:r>
              <a:rPr lang="ru-RU" sz="2800" b="1" dirty="0"/>
              <a:t>Т-компании» </a:t>
            </a:r>
            <a:r>
              <a:rPr lang="ru-RU" sz="2800" dirty="0"/>
              <a:t>Вариант 4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468882" y="4367181"/>
            <a:ext cx="3035729" cy="1495234"/>
          </a:xfrm>
        </p:spPr>
        <p:txBody>
          <a:bodyPr>
            <a:normAutofit/>
          </a:bodyPr>
          <a:lstStyle/>
          <a:p>
            <a:r>
              <a:rPr lang="ru-RU" dirty="0"/>
              <a:t>Подготовил:</a:t>
            </a:r>
          </a:p>
          <a:p>
            <a:r>
              <a:rPr lang="ru-RU" dirty="0"/>
              <a:t>Студент группы 250541</a:t>
            </a:r>
          </a:p>
          <a:p>
            <a:r>
              <a:rPr lang="ru-RU" dirty="0"/>
              <a:t>Власов Роман Евгеньевич</a:t>
            </a:r>
          </a:p>
        </p:txBody>
      </p:sp>
    </p:spTree>
    <p:extLst>
      <p:ext uri="{BB962C8B-B14F-4D97-AF65-F5344CB8AC3E}">
        <p14:creationId xmlns:p14="http://schemas.microsoft.com/office/powerpoint/2010/main" val="121533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Отличия </a:t>
            </a:r>
            <a:r>
              <a:rPr lang="en-US" b="1" dirty="0"/>
              <a:t>I</a:t>
            </a:r>
            <a:r>
              <a:rPr lang="ru-RU" b="1" dirty="0"/>
              <a:t>T от другого бизнеса: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IT компании часто выходят на международной рынок: </a:t>
            </a:r>
            <a:r>
              <a:rPr lang="ru-RU" dirty="0" err="1"/>
              <a:t>айтишники</a:t>
            </a:r>
            <a:r>
              <a:rPr lang="ru-RU" dirty="0"/>
              <a:t> реализуют продукт больших известных зарубежных компаний (</a:t>
            </a:r>
            <a:r>
              <a:rPr lang="ru-RU" dirty="0" err="1"/>
              <a:t>Microsoft</a:t>
            </a:r>
            <a:r>
              <a:rPr lang="ru-RU" dirty="0"/>
              <a:t>, </a:t>
            </a:r>
            <a:r>
              <a:rPr lang="ru-RU" dirty="0" err="1"/>
              <a:t>Intel</a:t>
            </a:r>
            <a:r>
              <a:rPr lang="ru-RU" dirty="0"/>
              <a:t>), предлагают услуги клиентам из других стран.</a:t>
            </a:r>
          </a:p>
          <a:p>
            <a:r>
              <a:rPr lang="ru-RU" dirty="0"/>
              <a:t>Большая часть клиентов в IT маркетинге относится к В2В сегменту (бизнес продает продукт или услуги другому виду бизнеса).</a:t>
            </a:r>
          </a:p>
          <a:p>
            <a:r>
              <a:rPr lang="ru-RU" dirty="0"/>
              <a:t>Решение воспользоваться IT услугами всегда командное, его принимают несколько человек. У каждого из них свои представления и задачи, поэтому убеждать нужно каждого по отдельности на понятном ему языке.</a:t>
            </a:r>
          </a:p>
          <a:p>
            <a:r>
              <a:rPr lang="ru-RU" dirty="0"/>
              <a:t>IT проекты отличаются масштабностью, они достаточно редкие, требуют больших денег, поэтому и привлечение </a:t>
            </a:r>
            <a:r>
              <a:rPr lang="ru-RU" dirty="0" err="1"/>
              <a:t>лида</a:t>
            </a:r>
            <a:r>
              <a:rPr lang="ru-RU" dirty="0"/>
              <a:t>, превращение его в клиента не может быть дешевым.</a:t>
            </a:r>
          </a:p>
          <a:p>
            <a:r>
              <a:rPr lang="ru-RU" dirty="0"/>
              <a:t>Многие IT компании работают с крупными предприятиями, государственными организациями, напрямую влияют на развитие экономики страны.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9769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Направления в IT сфере :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создание собственного продукта – приложений, программ для автоматизации, учета, финансирования, анализа;</a:t>
            </a:r>
          </a:p>
          <a:p>
            <a:r>
              <a:rPr lang="ru-RU" dirty="0"/>
              <a:t>продажа и обслуживание готовых IT продуктов – установка и обеспечение ПО;</a:t>
            </a:r>
          </a:p>
          <a:p>
            <a:r>
              <a:rPr lang="ru-RU" dirty="0"/>
              <a:t>производство, сборка, продажа компьютерной техники, мобильных устройств;</a:t>
            </a:r>
          </a:p>
          <a:p>
            <a:r>
              <a:rPr lang="ru-RU" dirty="0"/>
              <a:t>телекоммуникации, в том числе развитие спутниковой связи, </a:t>
            </a:r>
            <a:r>
              <a:rPr lang="ru-RU" dirty="0" err="1"/>
              <a:t>Wi-Fi</a:t>
            </a:r>
            <a:r>
              <a:rPr lang="ru-RU" dirty="0"/>
              <a:t>;</a:t>
            </a:r>
          </a:p>
          <a:p>
            <a:r>
              <a:rPr lang="ru-RU" dirty="0"/>
              <a:t>аутсорсинг – полное обслуживание информационной системы другого предприятия;</a:t>
            </a:r>
          </a:p>
          <a:p>
            <a:r>
              <a:rPr lang="ru-RU" dirty="0"/>
              <a:t>обучение специалистов;</a:t>
            </a:r>
          </a:p>
          <a:p>
            <a:r>
              <a:rPr lang="ru-RU" dirty="0"/>
              <a:t>проведение экспертизы и консультаций (бизнес-консалтинг);</a:t>
            </a:r>
          </a:p>
          <a:p>
            <a:r>
              <a:rPr lang="ru-RU" dirty="0"/>
              <a:t>предоставление услуги удаленной IT команды для решения конкретной задачи клиента.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30042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760292" y="649480"/>
            <a:ext cx="68195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/>
              <a:t>Особенности IT-маркетинга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76770" y="1632247"/>
            <a:ext cx="2922662" cy="49235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 Обязательно должна быть разработана </a:t>
            </a:r>
            <a:r>
              <a:rPr lang="ru-RU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стратегия маркетинга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на уровне компании, которой подчиняются все дальнейшие действия – планирование рекламы, набор персонала, позиционирование на рынке. Маркетинг каждого направления, услуги будет иметь свою специфику, реклама должна быть нацелена на разные аудитории.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281443" y="1632247"/>
            <a:ext cx="2529556" cy="27596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 </a:t>
            </a: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Акцент на бренд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Развивать при помощи инструментов маркетинга нужно прежде всего бренд IT компании, потому что многие продукты и услуги одинаковые у всех конкурентов.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6810999" y="1632247"/>
            <a:ext cx="2333000" cy="4821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 </a:t>
            </a: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Входящий маркетинг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 продвижения услуг в IT задействуйте разные каналы: одни дадут результат быстрее, другие будут полезны на перспективу. </a:t>
            </a:r>
            <a:r>
              <a:rPr lang="ru-RU" dirty="0">
                <a:latin typeface="Calibri" panose="020F0502020204030204" pitchFamily="34" charset="0"/>
                <a:cs typeface="Calibri" panose="020F0502020204030204" pitchFamily="34" charset="0"/>
              </a:rPr>
              <a:t>Использование SEO, оптимизации скорости сайта и качественного контента для привлечения клиентов.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9143998" y="1632247"/>
            <a:ext cx="2392824" cy="4241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* </a:t>
            </a:r>
            <a:r>
              <a:rPr lang="ru-RU" b="1" dirty="0">
                <a:latin typeface="Calibri" panose="020F0502020204030204" pitchFamily="34" charset="0"/>
                <a:cs typeface="Calibri" panose="020F0502020204030204" pitchFamily="34" charset="0"/>
              </a:rPr>
              <a:t>Долгий цикл сделки </a:t>
            </a:r>
            <a:r>
              <a:rPr lang="ru-RU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 старта нужен внушительный бюджет, а первые выводы об эффективности маркетинга можно делать спустя 2–3 месяца, потому что статистика накапливается достаточно медленно, сделки крупные и редкие.</a:t>
            </a:r>
          </a:p>
        </p:txBody>
      </p:sp>
    </p:spTree>
    <p:extLst>
      <p:ext uri="{BB962C8B-B14F-4D97-AF65-F5344CB8AC3E}">
        <p14:creationId xmlns:p14="http://schemas.microsoft.com/office/powerpoint/2010/main" val="3948522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Текст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Рисунок 9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654" y="1"/>
            <a:ext cx="9737888" cy="6627042"/>
          </a:xfrm>
        </p:spPr>
      </p:pic>
    </p:spTree>
    <p:extLst>
      <p:ext uri="{BB962C8B-B14F-4D97-AF65-F5344CB8AC3E}">
        <p14:creationId xmlns:p14="http://schemas.microsoft.com/office/powerpoint/2010/main" val="423722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 </a:t>
            </a:r>
            <a:r>
              <a:rPr lang="ru-RU" b="1" dirty="0"/>
              <a:t>Разработка маркетинговой стратегии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ru-RU" b="1" dirty="0"/>
              <a:t>Определение бизнес-целей:</a:t>
            </a:r>
            <a:r>
              <a:rPr lang="ru-RU" dirty="0"/>
              <a:t> </a:t>
            </a:r>
          </a:p>
          <a:p>
            <a:pPr marL="0" indent="0">
              <a:buNone/>
            </a:pPr>
            <a:r>
              <a:rPr lang="ru-RU" dirty="0"/>
              <a:t>Согласование маркетинговых целей с общими бизнес-целями компании. </a:t>
            </a:r>
          </a:p>
          <a:p>
            <a:pPr lvl="0"/>
            <a:r>
              <a:rPr lang="ru-RU" b="1" dirty="0"/>
              <a:t>Анализ рынка и конкурентов:</a:t>
            </a:r>
            <a:r>
              <a:rPr lang="ru-RU" dirty="0"/>
              <a:t> </a:t>
            </a:r>
          </a:p>
          <a:p>
            <a:pPr marL="0" indent="0">
              <a:buNone/>
            </a:pPr>
            <a:r>
              <a:rPr lang="ru-RU" dirty="0"/>
              <a:t>Изучение текущей ситуации на рынке и действий конкурентов (например, с помощью </a:t>
            </a:r>
            <a:r>
              <a:rPr lang="ru-RU" u="sng" dirty="0">
                <a:hlinkClick r:id="rId2"/>
              </a:rPr>
              <a:t>SWOT-анализа</a:t>
            </a:r>
            <a:r>
              <a:rPr lang="ru-RU" dirty="0"/>
              <a:t>). </a:t>
            </a:r>
          </a:p>
          <a:p>
            <a:pPr lvl="0"/>
            <a:r>
              <a:rPr lang="ru-RU" b="1" dirty="0"/>
              <a:t>Сегментация и определение целевой аудитории:</a:t>
            </a:r>
            <a:r>
              <a:rPr lang="ru-RU" dirty="0"/>
              <a:t> </a:t>
            </a:r>
          </a:p>
          <a:p>
            <a:pPr marL="0" indent="0">
              <a:buNone/>
            </a:pPr>
            <a:r>
              <a:rPr lang="ru-RU" dirty="0"/>
              <a:t>Выделение ключевых сегментов рынка и создание детальных </a:t>
            </a:r>
            <a:r>
              <a:rPr lang="ru-RU" dirty="0">
                <a:solidFill>
                  <a:schemeClr val="tx1"/>
                </a:solidFill>
                <a:hlinkClick r:id="rId3"/>
              </a:rPr>
              <a:t>портретов покупателей</a:t>
            </a:r>
            <a:r>
              <a:rPr lang="ru-RU" dirty="0"/>
              <a:t>. </a:t>
            </a:r>
          </a:p>
          <a:p>
            <a:pPr lvl="0"/>
            <a:r>
              <a:rPr lang="ru-RU" b="1" dirty="0"/>
              <a:t>Формирование уникального торгового предложения (УТП) и позиционирование:</a:t>
            </a:r>
            <a:r>
              <a:rPr lang="ru-RU" dirty="0"/>
              <a:t> </a:t>
            </a:r>
          </a:p>
          <a:p>
            <a:pPr marL="0" indent="0">
              <a:buNone/>
            </a:pPr>
            <a:r>
              <a:rPr lang="ru-RU" dirty="0"/>
              <a:t>Определение того, чем компания отличается от конкурентов и как она будет восприниматься на рынке.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9420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Создание маркетингового плана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97181"/>
          </a:xfrm>
        </p:spPr>
        <p:txBody>
          <a:bodyPr>
            <a:normAutofit fontScale="85000" lnSpcReduction="10000"/>
          </a:bodyPr>
          <a:lstStyle/>
          <a:p>
            <a:pPr lvl="0"/>
            <a:r>
              <a:rPr lang="ru-RU" b="1" dirty="0"/>
              <a:t>Выбор маркетинговых каналов:</a:t>
            </a:r>
            <a:r>
              <a:rPr lang="ru-RU" dirty="0"/>
              <a:t> </a:t>
            </a:r>
          </a:p>
          <a:p>
            <a:pPr marL="0" indent="0">
              <a:buNone/>
            </a:pPr>
            <a:r>
              <a:rPr lang="ru-RU" dirty="0"/>
              <a:t>Использование </a:t>
            </a:r>
            <a:r>
              <a:rPr lang="ru-RU" dirty="0" err="1"/>
              <a:t>омниканального</a:t>
            </a:r>
            <a:r>
              <a:rPr lang="ru-RU" dirty="0"/>
              <a:t> подхода, комбинируя каналы, такие как SEO, контент-маркетинг, платная реклама, социальные сети, </a:t>
            </a:r>
            <a:r>
              <a:rPr lang="ru-RU" dirty="0" err="1"/>
              <a:t>вебинары</a:t>
            </a:r>
            <a:r>
              <a:rPr lang="ru-RU" dirty="0"/>
              <a:t> и отраслевые мероприятия. </a:t>
            </a:r>
          </a:p>
          <a:p>
            <a:pPr lvl="0"/>
            <a:r>
              <a:rPr lang="ru-RU" b="1" dirty="0"/>
              <a:t>Разработка контент-стратегии:</a:t>
            </a:r>
            <a:r>
              <a:rPr lang="ru-RU" dirty="0"/>
              <a:t> </a:t>
            </a:r>
          </a:p>
          <a:p>
            <a:pPr marL="0" indent="0">
              <a:buNone/>
            </a:pPr>
            <a:r>
              <a:rPr lang="ru-RU" dirty="0"/>
              <a:t>Создание экспертного контента, кейсов, статей и видео, решающих "боли" целевой аудитории. </a:t>
            </a:r>
          </a:p>
          <a:p>
            <a:pPr lvl="0"/>
            <a:r>
              <a:rPr lang="ru-RU" b="1" dirty="0"/>
              <a:t>Генерация </a:t>
            </a:r>
            <a:r>
              <a:rPr lang="ru-RU" b="1" dirty="0" err="1"/>
              <a:t>лидов</a:t>
            </a:r>
            <a:r>
              <a:rPr lang="ru-RU" b="1" dirty="0"/>
              <a:t>:</a:t>
            </a:r>
            <a:r>
              <a:rPr lang="ru-RU" dirty="0"/>
              <a:t> </a:t>
            </a:r>
          </a:p>
          <a:p>
            <a:pPr marL="0" indent="0">
              <a:buNone/>
            </a:pPr>
            <a:r>
              <a:rPr lang="ru-RU" dirty="0"/>
              <a:t>Использование </a:t>
            </a:r>
            <a:r>
              <a:rPr lang="ru-RU" dirty="0" err="1"/>
              <a:t>лид</a:t>
            </a:r>
            <a:r>
              <a:rPr lang="ru-RU" dirty="0"/>
              <a:t>-магнитов, бесплатных триалов и </a:t>
            </a:r>
            <a:r>
              <a:rPr lang="ru-RU" dirty="0">
                <a:solidFill>
                  <a:schemeClr val="tx1"/>
                </a:solidFill>
                <a:hlinkClick r:id="rId2"/>
              </a:rPr>
              <a:t>интерактивных рассылок</a:t>
            </a:r>
            <a:r>
              <a:rPr lang="ru-RU" dirty="0"/>
              <a:t> для привлечения потенциальных клиентов. </a:t>
            </a:r>
          </a:p>
          <a:p>
            <a:pPr lvl="0"/>
            <a:r>
              <a:rPr lang="ru-RU" b="1" dirty="0"/>
              <a:t>Определение метрик и KPI:</a:t>
            </a:r>
            <a:r>
              <a:rPr lang="ru-RU" dirty="0"/>
              <a:t> </a:t>
            </a:r>
          </a:p>
          <a:p>
            <a:pPr marL="0" indent="0">
              <a:buNone/>
            </a:pPr>
            <a:r>
              <a:rPr lang="ru-RU" dirty="0"/>
              <a:t>Установка ключевых показателей эффективности для оценки успешности маркетинговых кампаний. </a:t>
            </a:r>
          </a:p>
          <a:p>
            <a:pPr marL="0" indent="0">
              <a:buNone/>
            </a:pPr>
            <a:r>
              <a:rPr lang="ru-RU" dirty="0"/>
              <a:t>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72306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Организационная структура и процессы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/>
            <a:r>
              <a:rPr lang="ru-RU" b="1" dirty="0"/>
              <a:t>Формирование отдела маркетинга:</a:t>
            </a:r>
            <a:r>
              <a:rPr lang="ru-RU" dirty="0"/>
              <a:t> </a:t>
            </a:r>
          </a:p>
          <a:p>
            <a:pPr marL="0" indent="0">
              <a:buNone/>
            </a:pPr>
            <a:r>
              <a:rPr lang="ru-RU" dirty="0"/>
              <a:t>Подбор специалистов необходимой квалификации, таких как интернет-маркетологи, аналитики, копирайтеры. </a:t>
            </a:r>
          </a:p>
          <a:p>
            <a:pPr lvl="0"/>
            <a:r>
              <a:rPr lang="ru-RU" b="1" dirty="0"/>
              <a:t>Распределение задач и ответственности:</a:t>
            </a:r>
            <a:r>
              <a:rPr lang="ru-RU" dirty="0"/>
              <a:t> </a:t>
            </a:r>
          </a:p>
          <a:p>
            <a:pPr marL="0" indent="0">
              <a:buNone/>
            </a:pPr>
            <a:r>
              <a:rPr lang="ru-RU" dirty="0"/>
              <a:t>Четкое распределение прав, обязанностей и ответственности внутри отдела. </a:t>
            </a:r>
          </a:p>
          <a:p>
            <a:pPr lvl="0"/>
            <a:r>
              <a:rPr lang="ru-RU" b="1" dirty="0"/>
              <a:t>Координация работы:</a:t>
            </a:r>
            <a:r>
              <a:rPr lang="ru-RU" dirty="0"/>
              <a:t> </a:t>
            </a:r>
          </a:p>
          <a:p>
            <a:pPr marL="0" indent="0">
              <a:buNone/>
            </a:pPr>
            <a:r>
              <a:rPr lang="ru-RU" dirty="0"/>
              <a:t>Взаимодействие маркетинга с другими отделами, например, с разработчиками и дизайнерами. </a:t>
            </a:r>
          </a:p>
          <a:p>
            <a:pPr lvl="0"/>
            <a:r>
              <a:rPr lang="ru-RU" b="1" dirty="0"/>
              <a:t>Автоматизация процессов:</a:t>
            </a:r>
            <a:r>
              <a:rPr lang="ru-RU" dirty="0"/>
              <a:t> </a:t>
            </a:r>
          </a:p>
          <a:p>
            <a:pPr marL="0" indent="0">
              <a:buNone/>
            </a:pPr>
            <a:r>
              <a:rPr lang="ru-RU" dirty="0"/>
              <a:t>Внедрение автоматизированных воронок и CRM-систем для ведения клиента по циклу продаж. 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6909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Основные инструменты взаимодействия с клиентом 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ru-RU" b="1" dirty="0"/>
              <a:t>интернет-маркетинг</a:t>
            </a:r>
            <a:r>
              <a:rPr lang="ru-RU" dirty="0"/>
              <a:t>: </a:t>
            </a:r>
            <a:r>
              <a:rPr lang="ru-RU" dirty="0">
                <a:hlinkClick r:id="rId2"/>
              </a:rPr>
              <a:t>SEO</a:t>
            </a:r>
            <a:r>
              <a:rPr lang="ru-RU" dirty="0"/>
              <a:t>, </a:t>
            </a:r>
            <a:r>
              <a:rPr lang="ru-RU" dirty="0">
                <a:hlinkClick r:id="rId3"/>
              </a:rPr>
              <a:t>контекстная</a:t>
            </a:r>
            <a:r>
              <a:rPr lang="ru-RU" dirty="0"/>
              <a:t> и </a:t>
            </a:r>
            <a:r>
              <a:rPr lang="ru-RU" dirty="0" err="1">
                <a:hlinkClick r:id="rId4"/>
              </a:rPr>
              <a:t>таргетированная</a:t>
            </a:r>
            <a:r>
              <a:rPr lang="ru-RU" dirty="0">
                <a:hlinkClick r:id="rId4"/>
              </a:rPr>
              <a:t> реклама</a:t>
            </a:r>
            <a:r>
              <a:rPr lang="ru-RU" dirty="0"/>
              <a:t>, </a:t>
            </a:r>
            <a:r>
              <a:rPr lang="ru-RU" dirty="0">
                <a:hlinkClick r:id="rId5"/>
              </a:rPr>
              <a:t>SMM</a:t>
            </a:r>
            <a:r>
              <a:rPr lang="ru-RU" dirty="0"/>
              <a:t>, CPA-сети;</a:t>
            </a:r>
          </a:p>
          <a:p>
            <a:pPr lvl="0"/>
            <a:r>
              <a:rPr lang="ru-RU" b="1" dirty="0"/>
              <a:t>CRM</a:t>
            </a:r>
            <a:r>
              <a:rPr lang="ru-RU" dirty="0"/>
              <a:t>—</a:t>
            </a:r>
            <a:r>
              <a:rPr lang="ru-RU" b="1" dirty="0"/>
              <a:t>маркетинг</a:t>
            </a:r>
            <a:r>
              <a:rPr lang="ru-RU" dirty="0"/>
              <a:t>: рассылки по базе клиентов и партнеров, взращивание </a:t>
            </a:r>
            <a:r>
              <a:rPr lang="ru-RU" dirty="0" err="1"/>
              <a:t>лидов</a:t>
            </a:r>
            <a:r>
              <a:rPr lang="ru-RU" dirty="0"/>
              <a:t>;</a:t>
            </a:r>
          </a:p>
          <a:p>
            <a:pPr lvl="0"/>
            <a:r>
              <a:rPr lang="ru-RU" b="1" dirty="0" err="1"/>
              <a:t>Event</a:t>
            </a:r>
            <a:r>
              <a:rPr lang="ru-RU" b="1" dirty="0"/>
              <a:t>-маркетинг</a:t>
            </a:r>
            <a:r>
              <a:rPr lang="ru-RU" dirty="0"/>
              <a:t>: участие в профильных офлайн и онлайн-мероприятиях, проведение собственных конференций, </a:t>
            </a:r>
            <a:r>
              <a:rPr lang="ru-RU" dirty="0" err="1"/>
              <a:t>вебинаров</a:t>
            </a:r>
            <a:r>
              <a:rPr lang="ru-RU" dirty="0"/>
              <a:t>, </a:t>
            </a:r>
            <a:r>
              <a:rPr lang="ru-RU" dirty="0" err="1"/>
              <a:t>митапов</a:t>
            </a:r>
            <a:r>
              <a:rPr lang="ru-RU" dirty="0"/>
              <a:t>, участие в выставках;</a:t>
            </a:r>
          </a:p>
          <a:p>
            <a:pPr lvl="0"/>
            <a:r>
              <a:rPr lang="ru-RU" b="1" dirty="0">
                <a:solidFill>
                  <a:srgbClr val="FF0000"/>
                </a:solidFill>
                <a:hlinkClick r:id="rId6"/>
              </a:rPr>
              <a:t>PR и реклам</a:t>
            </a:r>
            <a:r>
              <a:rPr lang="ru-RU" b="1" dirty="0">
                <a:solidFill>
                  <a:srgbClr val="FF0000"/>
                </a:solidFill>
              </a:rPr>
              <a:t>а</a:t>
            </a:r>
            <a:r>
              <a:rPr lang="ru-RU" dirty="0"/>
              <a:t>: присутствие в СМИ, участие в конкурсах, рейтингах, исследования, </a:t>
            </a:r>
            <a:r>
              <a:rPr lang="ru-RU" dirty="0" err="1"/>
              <a:t>инфлюэнс</a:t>
            </a:r>
            <a:r>
              <a:rPr lang="ru-RU" dirty="0"/>
              <a:t>-маркетинг, создание экспертного контента, демонстрация кейсов;</a:t>
            </a:r>
          </a:p>
          <a:p>
            <a:pPr lvl="0"/>
            <a:r>
              <a:rPr lang="ru-RU" b="1" dirty="0"/>
              <a:t>прямой маркетинг</a:t>
            </a:r>
            <a:r>
              <a:rPr lang="ru-RU" dirty="0"/>
              <a:t>, учитывающий непосредственную работу с лицами, принимающими решения о приобретении IT-продуктов.</a:t>
            </a:r>
          </a:p>
        </p:txBody>
      </p:sp>
    </p:spTree>
    <p:extLst>
      <p:ext uri="{BB962C8B-B14F-4D97-AF65-F5344CB8AC3E}">
        <p14:creationId xmlns:p14="http://schemas.microsoft.com/office/powerpoint/2010/main" val="41703877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9049178" cy="1509490"/>
          </a:xfrm>
        </p:spPr>
        <p:txBody>
          <a:bodyPr>
            <a:normAutofit/>
          </a:bodyPr>
          <a:lstStyle/>
          <a:p>
            <a:r>
              <a:rPr lang="ru-RU" sz="2800" b="1" dirty="0"/>
              <a:t>Подведем итоги. Правильную организацию отдела маркетинга в IT-компании характеризуют :</a:t>
            </a:r>
            <a:endParaRPr lang="ru-RU" sz="28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endParaRPr lang="ru-RU" b="1" dirty="0"/>
          </a:p>
          <a:p>
            <a:r>
              <a:rPr lang="ru-RU" sz="2300" b="1" dirty="0"/>
              <a:t>Наличие оцифрованных маркетинговых целей и скоординированных планов их достижения, системы скользящего регулирования планов и контроля за их исполнением. Это ответственность директора по маркетингу.</a:t>
            </a:r>
          </a:p>
          <a:p>
            <a:r>
              <a:rPr lang="ru-RU" sz="2300" b="1" dirty="0"/>
              <a:t>Взвешенный подход к делегированию отдельных задач отдела маркетинга на сторону – для экономии времени и целевого расходования ресурсов отдела.</a:t>
            </a:r>
          </a:p>
          <a:p>
            <a:r>
              <a:rPr lang="ru-RU" sz="2300" b="1" dirty="0"/>
              <a:t>Налаженный продуктовый маркетинг, который выступает основой для развития и позиционирования ПО, а также для его продвижения. Ядро отдела маркетинга – </a:t>
            </a:r>
            <a:r>
              <a:rPr lang="ru-RU" sz="2300" b="1" dirty="0" err="1"/>
              <a:t>продакт</a:t>
            </a:r>
            <a:r>
              <a:rPr lang="ru-RU" sz="2300" b="1" dirty="0"/>
              <a:t>-менеджеры: они обеспечивают связь маркетинга с внешним миром и коммуникации внутри компании с бизнес-аналитиками, разработчиками, проектным офисом и др. Менеджеры по продукту – главный источник информации о программных продуктах компании для разработчиков, </a:t>
            </a:r>
            <a:r>
              <a:rPr lang="ru-RU" sz="2300" b="1" dirty="0" err="1"/>
              <a:t>сейлов</a:t>
            </a:r>
            <a:r>
              <a:rPr lang="ru-RU" sz="2300" b="1" dirty="0"/>
              <a:t>, контент-маркетологов, пресс-службы и др.</a:t>
            </a:r>
          </a:p>
          <a:p>
            <a:r>
              <a:rPr lang="ru-RU" sz="2300" b="1" dirty="0"/>
              <a:t>Синергия маркетинга и продаж, обеспечивающая необходимый достаточный уровень новых обращений в IT-компанию и их эффективную обработку. Контролировать наличие и актуальность «орудий труда и средств производства» продавцов для каждого программного продукта и его новой версии – базовая задача отдела маркетинга.</a:t>
            </a:r>
          </a:p>
          <a:p>
            <a:r>
              <a:rPr lang="ru-RU" sz="2300" b="1" dirty="0"/>
              <a:t>Налаженная система коммуникаций с профильными и предметно-ориентированными СМИ, а также внутренняя технология генерации информационных поводов, чтобы не исчезнуть с горизонта потенциального клиента.</a:t>
            </a:r>
          </a:p>
          <a:p>
            <a:r>
              <a:rPr lang="ru-RU" sz="2300" b="1" dirty="0"/>
              <a:t>Зрелый контент-маркетинг, формирующий экспертный имидж IT-компании и лояльность потенциальных клиентов. Будущие заказчики, оснащенные новыми знаниями и компетенциями, рано или поздно проголосуют рублем.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31509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06484"/>
          </a:xfrm>
        </p:spPr>
        <p:txBody>
          <a:bodyPr>
            <a:normAutofit/>
          </a:bodyPr>
          <a:lstStyle/>
          <a:p>
            <a:r>
              <a:rPr lang="ru-RU" sz="2400" b="1" dirty="0"/>
              <a:t>СПИСОК ИСПОЛЬЗОВАННЫХ ИСТОЧНИКОВ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>
              <a:buAutoNum type="arabicPeriod"/>
            </a:pPr>
            <a:r>
              <a:rPr lang="ru-RU" dirty="0"/>
              <a:t>Абрамов, B.П. Маркетинговое управление конкурентоспособностью экономических систем / В.П. Абрамов // Маркетинг в России и за рубежом. 2005.-№5.-С. 100–107. </a:t>
            </a:r>
          </a:p>
          <a:p>
            <a:pPr>
              <a:buAutoNum type="arabicPeriod"/>
            </a:pPr>
            <a:r>
              <a:rPr lang="ru-RU" dirty="0"/>
              <a:t>Андреева, А. Н. Маркетинг роскоши: современные стратегии / А. Н. Андреева, Л. Н. Богомолова - СПб.: Изд-во С.-</a:t>
            </a:r>
            <a:r>
              <a:rPr lang="ru-RU" dirty="0" err="1"/>
              <a:t>Петерб.ун</a:t>
            </a:r>
            <a:r>
              <a:rPr lang="ru-RU" dirty="0"/>
              <a:t>-та, 2008. - 336 с. </a:t>
            </a:r>
          </a:p>
          <a:p>
            <a:pPr>
              <a:buAutoNum type="arabicPeriod"/>
            </a:pPr>
            <a:r>
              <a:rPr lang="ru-RU" dirty="0"/>
              <a:t>Афанасьев, Н. П. Маркетинг: стратегия и тактика фирмы / Н. П. Афанасьев - М.: </a:t>
            </a:r>
            <a:r>
              <a:rPr lang="ru-RU" dirty="0" err="1"/>
              <a:t>Финстатинформ</a:t>
            </a:r>
            <a:r>
              <a:rPr lang="ru-RU" dirty="0"/>
              <a:t>, 2005.- 290 с</a:t>
            </a:r>
          </a:p>
          <a:p>
            <a:pPr>
              <a:buAutoNum type="arabicPeriod"/>
            </a:pPr>
            <a:r>
              <a:rPr lang="ru-RU" dirty="0"/>
              <a:t>Винер Рассел, С. Управление продуктом / С. Винер Рассел, Р. </a:t>
            </a:r>
            <a:r>
              <a:rPr lang="ru-RU" dirty="0" err="1"/>
              <a:t>Леманн</a:t>
            </a:r>
            <a:r>
              <a:rPr lang="ru-RU" dirty="0"/>
              <a:t> Дональд - М.: </a:t>
            </a:r>
            <a:r>
              <a:rPr lang="ru-RU" dirty="0" err="1"/>
              <a:t>Юнити</a:t>
            </a:r>
            <a:r>
              <a:rPr lang="ru-RU" dirty="0"/>
              <a:t>, 2008 - 719 с. 13.</a:t>
            </a:r>
          </a:p>
          <a:p>
            <a:pPr>
              <a:buAutoNum type="arabicPeriod"/>
            </a:pPr>
            <a:r>
              <a:rPr lang="ru-RU" dirty="0"/>
              <a:t>Гайдаенко, Т. А. Маркетинговое управление / Т. А. Гайдаенко - М.: </a:t>
            </a:r>
            <a:r>
              <a:rPr lang="ru-RU" dirty="0" err="1"/>
              <a:t>Эксмо</a:t>
            </a:r>
            <a:r>
              <a:rPr lang="ru-RU" dirty="0"/>
              <a:t>, 2008 - 512 с. </a:t>
            </a:r>
          </a:p>
          <a:p>
            <a:pPr>
              <a:buAutoNum type="arabicPeriod"/>
            </a:pPr>
            <a:r>
              <a:rPr lang="ru-RU" dirty="0"/>
              <a:t>Голубков, Е. П. Маркетинг: Выбор лучшего решения / Е. П. Голубков - М.: Экономика, 2008 - 355 с. </a:t>
            </a:r>
          </a:p>
          <a:p>
            <a:pPr>
              <a:buAutoNum type="arabicPeriod"/>
            </a:pPr>
            <a:r>
              <a:rPr lang="ru-RU" dirty="0" err="1"/>
              <a:t>Кеворков</a:t>
            </a:r>
            <a:r>
              <a:rPr lang="ru-RU" dirty="0"/>
              <a:t>, В.В. Практический маркетинг: руководство по внедрению / В.В. </a:t>
            </a:r>
            <a:r>
              <a:rPr lang="ru-RU" dirty="0" err="1"/>
              <a:t>Кеворков</a:t>
            </a:r>
            <a:r>
              <a:rPr lang="ru-RU" dirty="0"/>
              <a:t>. — М.: РИП-Холдинг, 2002 — 252 с. </a:t>
            </a:r>
          </a:p>
          <a:p>
            <a:pPr>
              <a:buAutoNum type="arabicPeriod"/>
            </a:pPr>
            <a:r>
              <a:rPr lang="ru-RU" dirty="0" err="1"/>
              <a:t>Котлер</a:t>
            </a:r>
            <a:r>
              <a:rPr lang="ru-RU" dirty="0"/>
              <a:t>, Ф. Основы маркетинга / Ф. </a:t>
            </a:r>
            <a:r>
              <a:rPr lang="ru-RU" dirty="0" err="1"/>
              <a:t>Котлер</a:t>
            </a:r>
            <a:r>
              <a:rPr lang="ru-RU" dirty="0"/>
              <a:t>, пер. с англ.- М.: Проспект, 2005 - 733 с. </a:t>
            </a:r>
          </a:p>
          <a:p>
            <a:pPr>
              <a:buAutoNum type="arabicPeriod"/>
            </a:pPr>
            <a:r>
              <a:rPr lang="ru-RU" dirty="0"/>
              <a:t>Лебедев, О. Т. Основы маркетинга: учеб. пособие / О. Т. Лебедев, Т. Ю. Филиппов - СПб.: </a:t>
            </a:r>
            <a:r>
              <a:rPr lang="ru-RU" dirty="0" err="1"/>
              <a:t>МиМ</a:t>
            </a:r>
            <a:r>
              <a:rPr lang="ru-RU" dirty="0"/>
              <a:t>, 2007 - 221 с. </a:t>
            </a:r>
          </a:p>
          <a:p>
            <a:pPr>
              <a:buAutoNum type="arabicPeriod"/>
            </a:pPr>
            <a:r>
              <a:rPr lang="ru-RU" dirty="0"/>
              <a:t> </a:t>
            </a:r>
            <a:r>
              <a:rPr lang="ru-RU" dirty="0" err="1"/>
              <a:t>Малхотра</a:t>
            </a:r>
            <a:r>
              <a:rPr lang="ru-RU" dirty="0"/>
              <a:t>, Н. К. Маркетинговые исследования: </a:t>
            </a:r>
            <a:r>
              <a:rPr lang="ru-RU" dirty="0" err="1"/>
              <a:t>практ</a:t>
            </a:r>
            <a:r>
              <a:rPr lang="ru-RU" dirty="0"/>
              <a:t>. руководство / Н.К. </a:t>
            </a:r>
            <a:r>
              <a:rPr lang="ru-RU" dirty="0" err="1"/>
              <a:t>Малхотра</a:t>
            </a:r>
            <a:r>
              <a:rPr lang="ru-RU" dirty="0"/>
              <a:t> — 3-е изд.: пер. с англ. -М.: Изд. дом «Вильяме», 2003 — 960 с. </a:t>
            </a:r>
          </a:p>
          <a:p>
            <a:pPr>
              <a:buAutoNum type="arabicPeriod"/>
            </a:pPr>
            <a:r>
              <a:rPr lang="ru-RU" dirty="0"/>
              <a:t>Мельник, А. Н. Стратегическое планирование деятельности фирмы на этапе перехода к рыночным отношениям / А. Н. Мельник - СПб.: </a:t>
            </a:r>
            <a:r>
              <a:rPr lang="ru-RU" dirty="0" err="1"/>
              <a:t>СПбУЭФ</a:t>
            </a:r>
            <a:r>
              <a:rPr lang="ru-RU" dirty="0"/>
              <a:t>, 2006 - 102 с</a:t>
            </a:r>
          </a:p>
          <a:p>
            <a:pPr>
              <a:buAutoNum type="arabicPeriod"/>
            </a:pPr>
            <a:r>
              <a:rPr lang="ru-RU" dirty="0"/>
              <a:t>Феоктистова, Е. М. Маркетинг: теория и практика / Е. М. Феоктистова, И.Н. </a:t>
            </a:r>
            <a:r>
              <a:rPr lang="ru-RU" dirty="0" err="1"/>
              <a:t>Краснюк</a:t>
            </a:r>
            <a:r>
              <a:rPr lang="ru-RU" dirty="0"/>
              <a:t> - М.: Высшая школа, 2003 - 237 с. </a:t>
            </a:r>
          </a:p>
          <a:p>
            <a:pPr>
              <a:buAutoNum type="arabicPeriod"/>
            </a:pPr>
            <a:r>
              <a:rPr lang="ru-RU" dirty="0"/>
              <a:t>Эванс Дж., Берман Б. Маркетинг / Пер. с англ. - М.: </a:t>
            </a:r>
            <a:r>
              <a:rPr lang="ru-RU" dirty="0" err="1"/>
              <a:t>АспектПресс</a:t>
            </a:r>
            <a:r>
              <a:rPr lang="ru-RU" dirty="0"/>
              <a:t>, 2007 - 417 с.</a:t>
            </a:r>
          </a:p>
        </p:txBody>
      </p:sp>
    </p:spTree>
    <p:extLst>
      <p:ext uri="{BB962C8B-B14F-4D97-AF65-F5344CB8AC3E}">
        <p14:creationId xmlns:p14="http://schemas.microsoft.com/office/powerpoint/2010/main" val="269917396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158</TotalTime>
  <Words>1326</Words>
  <Application>Microsoft Macintosh PowerPoint</Application>
  <PresentationFormat>Широкоэкранный</PresentationFormat>
  <Paragraphs>80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Легкий дым</vt:lpstr>
      <vt:lpstr>Презентация на тему: «Организация маркетинговой деятельности IТ-компании» Вариант 4</vt:lpstr>
      <vt:lpstr>Отличия IT от другого бизнеса: </vt:lpstr>
      <vt:lpstr>Направления в IT сфере : </vt:lpstr>
      <vt:lpstr>Презентация PowerPoint</vt:lpstr>
      <vt:lpstr>Презентация PowerPoint</vt:lpstr>
      <vt:lpstr> Разработка маркетинговой стратегии</vt:lpstr>
      <vt:lpstr>Создание маркетингового плана</vt:lpstr>
      <vt:lpstr>Организационная структура и процессы</vt:lpstr>
      <vt:lpstr>Основные инструменты взаимодействия с клиентом :</vt:lpstr>
      <vt:lpstr>Подведем итоги. Правильную организацию отдела маркетинга в IT-компании характеризуют :</vt:lpstr>
      <vt:lpstr>СПИСОК ИСПОЛЬЗОВАННЫХ ИСТОЧНИКОВ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Организация маркетинговой деятельности ИТ-компании</dc:title>
  <dc:creator>User</dc:creator>
  <cp:lastModifiedBy>Roman</cp:lastModifiedBy>
  <cp:revision>16</cp:revision>
  <cp:lastPrinted>2025-09-30T10:13:56Z</cp:lastPrinted>
  <dcterms:created xsi:type="dcterms:W3CDTF">2025-09-29T14:18:40Z</dcterms:created>
  <dcterms:modified xsi:type="dcterms:W3CDTF">2025-10-05T17:48:38Z</dcterms:modified>
</cp:coreProperties>
</file>